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35" r:id="rId1"/>
  </p:sldMasterIdLst>
  <p:notesMasterIdLst>
    <p:notesMasterId r:id="rId29"/>
  </p:notesMasterIdLst>
  <p:handoutMasterIdLst>
    <p:handoutMasterId r:id="rId30"/>
  </p:handoutMasterIdLst>
  <p:sldIdLst>
    <p:sldId id="292" r:id="rId2"/>
    <p:sldId id="2142533524" r:id="rId3"/>
    <p:sldId id="4878" r:id="rId4"/>
    <p:sldId id="12567" r:id="rId5"/>
    <p:sldId id="12570" r:id="rId6"/>
    <p:sldId id="12571" r:id="rId7"/>
    <p:sldId id="12576" r:id="rId8"/>
    <p:sldId id="12573" r:id="rId9"/>
    <p:sldId id="12579" r:id="rId10"/>
    <p:sldId id="12581" r:id="rId11"/>
    <p:sldId id="2142533541" r:id="rId12"/>
    <p:sldId id="4863" r:id="rId13"/>
    <p:sldId id="12569" r:id="rId14"/>
    <p:sldId id="12568" r:id="rId15"/>
    <p:sldId id="2142533539" r:id="rId16"/>
    <p:sldId id="2142533544" r:id="rId17"/>
    <p:sldId id="2142533545" r:id="rId18"/>
    <p:sldId id="4846" r:id="rId19"/>
    <p:sldId id="4849" r:id="rId20"/>
    <p:sldId id="4852" r:id="rId21"/>
    <p:sldId id="4855" r:id="rId22"/>
    <p:sldId id="4858" r:id="rId23"/>
    <p:sldId id="4861" r:id="rId24"/>
    <p:sldId id="12561" r:id="rId25"/>
    <p:sldId id="2142533546" r:id="rId26"/>
    <p:sldId id="2142533543" r:id="rId27"/>
    <p:sldId id="2142533547" r:id="rId2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277BC8CD-D372-E64C-AC24-CC293C2274ED}">
          <p14:sldIdLst>
            <p14:sldId id="292"/>
          </p14:sldIdLst>
        </p14:section>
        <p14:section name="Content Slides" id="{E55EE8F5-757D-F043-B4AC-B3149886FF7C}">
          <p14:sldIdLst>
            <p14:sldId id="2142533524"/>
            <p14:sldId id="4878"/>
            <p14:sldId id="12567"/>
            <p14:sldId id="12570"/>
            <p14:sldId id="12571"/>
            <p14:sldId id="12576"/>
            <p14:sldId id="12573"/>
            <p14:sldId id="12579"/>
            <p14:sldId id="12581"/>
            <p14:sldId id="2142533541"/>
            <p14:sldId id="4863"/>
            <p14:sldId id="12569"/>
            <p14:sldId id="12568"/>
            <p14:sldId id="2142533539"/>
            <p14:sldId id="2142533544"/>
            <p14:sldId id="2142533545"/>
            <p14:sldId id="4846"/>
            <p14:sldId id="4849"/>
            <p14:sldId id="4852"/>
            <p14:sldId id="4855"/>
            <p14:sldId id="4858"/>
            <p14:sldId id="4861"/>
            <p14:sldId id="12561"/>
            <p14:sldId id="2142533546"/>
            <p14:sldId id="2142533543"/>
            <p14:sldId id="2142533547"/>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guide id="3" orient="horz" pos="2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4"/>
    <a:srgbClr val="005DA2"/>
    <a:srgbClr val="387C2B"/>
    <a:srgbClr val="DC0A0A"/>
    <a:srgbClr val="77A22D"/>
    <a:srgbClr val="A00000"/>
    <a:srgbClr val="6E3AB7"/>
    <a:srgbClr val="621F95"/>
    <a:srgbClr val="631F95"/>
    <a:srgbClr val="D0D0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03" autoAdjust="0"/>
    <p:restoredTop sz="92803" autoAdjust="0"/>
  </p:normalViewPr>
  <p:slideViewPr>
    <p:cSldViewPr snapToGrid="0" showGuides="1">
      <p:cViewPr varScale="1">
        <p:scale>
          <a:sx n="74" d="100"/>
          <a:sy n="74" d="100"/>
        </p:scale>
        <p:origin x="1022" y="72"/>
      </p:cViewPr>
      <p:guideLst>
        <p:guide orient="horz" pos="2160"/>
        <p:guide pos="3839"/>
        <p:guide orient="horz" pos="2904"/>
      </p:guideLst>
    </p:cSldViewPr>
  </p:slideViewPr>
  <p:notesTextViewPr>
    <p:cViewPr>
      <p:scale>
        <a:sx n="100" d="100"/>
        <a:sy n="100" d="100"/>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8CF200-366C-7945-B17E-8F9BCA8CCEA0}" type="datetimeFigureOut">
              <a:rPr lang="en-US" smtClean="0">
                <a:latin typeface="Arial" panose="020B0604020202020204" pitchFamily="34" charset="0"/>
              </a:rPr>
              <a:pPr/>
              <a:t>11/19/2021</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F4E71F0-BF95-784A-BFE2-E5A55BE95A82}" type="slidenum">
              <a:rPr lang="en-US" smtClean="0">
                <a:latin typeface="Arial" panose="020B0604020202020204" pitchFamily="34" charset="0"/>
              </a:rPr>
              <a:pPr/>
              <a:t>‹#›</a:t>
            </a:fld>
            <a:endParaRPr lang="en-US" dirty="0">
              <a:latin typeface="Arial" panose="020B0604020202020204" pitchFamily="34" charset="0"/>
            </a:endParaRPr>
          </a:p>
        </p:txBody>
      </p:sp>
    </p:spTree>
    <p:extLst>
      <p:ext uri="{BB962C8B-B14F-4D97-AF65-F5344CB8AC3E}">
        <p14:creationId xmlns:p14="http://schemas.microsoft.com/office/powerpoint/2010/main" val="581093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D263873A-69C9-704E-BAD8-1E2DEE3691AB}" type="datetimeFigureOut">
              <a:rPr lang="en-US" smtClean="0"/>
              <a:pPr/>
              <a:t>11/19/2021</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8503FDD3-146F-A846-9B4B-E8300F35F598}" type="slidenum">
              <a:rPr lang="en-US" smtClean="0"/>
              <a:pPr/>
              <a:t>‹#›</a:t>
            </a:fld>
            <a:endParaRPr lang="en-US" dirty="0"/>
          </a:p>
        </p:txBody>
      </p:sp>
    </p:spTree>
    <p:extLst>
      <p:ext uri="{BB962C8B-B14F-4D97-AF65-F5344CB8AC3E}">
        <p14:creationId xmlns:p14="http://schemas.microsoft.com/office/powerpoint/2010/main" val="47769015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panose="020B0604020202020204" pitchFamily="34" charset="0"/>
        <a:ea typeface="+mn-ea"/>
        <a:cs typeface="+mn-cs"/>
      </a:defRPr>
    </a:lvl1pPr>
    <a:lvl2pPr marL="457200" algn="l" defTabSz="457200" rtl="0" eaLnBrk="1" latinLnBrk="0" hangingPunct="1">
      <a:defRPr sz="1200" kern="1200">
        <a:solidFill>
          <a:schemeClr val="tx1"/>
        </a:solidFill>
        <a:latin typeface="Arial" panose="020B0604020202020204" pitchFamily="34" charset="0"/>
        <a:ea typeface="+mn-ea"/>
        <a:cs typeface="+mn-cs"/>
      </a:defRPr>
    </a:lvl2pPr>
    <a:lvl3pPr marL="914400" algn="l" defTabSz="457200" rtl="0" eaLnBrk="1" latinLnBrk="0" hangingPunct="1">
      <a:defRPr sz="1200" kern="1200">
        <a:solidFill>
          <a:schemeClr val="tx1"/>
        </a:solidFill>
        <a:latin typeface="Arial" panose="020B0604020202020204" pitchFamily="34" charset="0"/>
        <a:ea typeface="+mn-ea"/>
        <a:cs typeface="+mn-cs"/>
      </a:defRPr>
    </a:lvl3pPr>
    <a:lvl4pPr marL="1371600" algn="l" defTabSz="457200" rtl="0" eaLnBrk="1" latinLnBrk="0" hangingPunct="1">
      <a:defRPr sz="1200" kern="1200">
        <a:solidFill>
          <a:schemeClr val="tx1"/>
        </a:solidFill>
        <a:latin typeface="Arial" panose="020B0604020202020204" pitchFamily="34" charset="0"/>
        <a:ea typeface="+mn-ea"/>
        <a:cs typeface="+mn-cs"/>
      </a:defRPr>
    </a:lvl4pPr>
    <a:lvl5pPr marL="1828800" algn="l" defTabSz="457200" rtl="0" eaLnBrk="1" latinLnBrk="0" hangingPunct="1">
      <a:defRPr sz="1200" kern="1200">
        <a:solidFill>
          <a:schemeClr val="tx1"/>
        </a:solidFill>
        <a:latin typeface="Arial" panose="020B0604020202020204" pitchFamily="34" charset="0"/>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 Greetings. My name is XX and I’m here today to discuss law firm productivity and how Thomson Reuters can help you with that. </a:t>
            </a:r>
          </a:p>
        </p:txBody>
      </p:sp>
      <p:sp>
        <p:nvSpPr>
          <p:cNvPr id="4" name="Slide Number Placeholder 3"/>
          <p:cNvSpPr>
            <a:spLocks noGrp="1"/>
          </p:cNvSpPr>
          <p:nvPr>
            <p:ph type="sldNum" sz="quarter" idx="5"/>
          </p:nvPr>
        </p:nvSpPr>
        <p:spPr/>
        <p:txBody>
          <a:bodyPr/>
          <a:lstStyle/>
          <a:p>
            <a:fld id="{8503FDD3-146F-A846-9B4B-E8300F35F598}" type="slidenum">
              <a:rPr lang="en-US" smtClean="0"/>
              <a:pPr/>
              <a:t>1</a:t>
            </a:fld>
            <a:endParaRPr lang="en-US" dirty="0"/>
          </a:p>
        </p:txBody>
      </p:sp>
    </p:spTree>
    <p:extLst>
      <p:ext uri="{BB962C8B-B14F-4D97-AF65-F5344CB8AC3E}">
        <p14:creationId xmlns:p14="http://schemas.microsoft.com/office/powerpoint/2010/main" val="3200159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Before we get started, I’d like to share with you where things are sitting in the legal market with some of our Market Research—pulled from our Peer Monitor Index and surveys from </a:t>
            </a:r>
            <a:r>
              <a:rPr lang="en-US" sz="1200" kern="1200" dirty="0" err="1">
                <a:solidFill>
                  <a:schemeClr val="tx1"/>
                </a:solidFill>
                <a:effectLst/>
                <a:latin typeface="Arial" panose="020B0604020202020204" pitchFamily="34" charset="0"/>
                <a:ea typeface="+mn-ea"/>
                <a:cs typeface="+mn-cs"/>
              </a:rPr>
              <a:t>Acritas</a:t>
            </a:r>
            <a:r>
              <a:rPr lang="en-US" sz="1200" kern="1200" dirty="0">
                <a:solidFill>
                  <a:schemeClr val="tx1"/>
                </a:solidFill>
                <a:effectLst/>
                <a:latin typeface="Arial" panose="020B0604020202020204" pitchFamily="34" charset="0"/>
                <a:ea typeface="+mn-ea"/>
                <a:cs typeface="+mn-cs"/>
              </a:rPr>
              <a:t>. Then I’d love to hear if this maps to your firms’ situation, and explore, after validation, some ways we at Thomson Reuters could help.</a:t>
            </a:r>
          </a:p>
        </p:txBody>
      </p:sp>
      <p:sp>
        <p:nvSpPr>
          <p:cNvPr id="4" name="Slide Number Placeholder 3"/>
          <p:cNvSpPr>
            <a:spLocks noGrp="1"/>
          </p:cNvSpPr>
          <p:nvPr>
            <p:ph type="sldNum" sz="quarter" idx="5"/>
          </p:nvPr>
        </p:nvSpPr>
        <p:spPr/>
        <p:txBody>
          <a:bodyPr/>
          <a:lstStyle/>
          <a:p>
            <a:fld id="{8503FDD3-146F-A846-9B4B-E8300F35F598}" type="slidenum">
              <a:rPr lang="en-US" smtClean="0"/>
              <a:pPr/>
              <a:t>2</a:t>
            </a:fld>
            <a:endParaRPr lang="en-US" dirty="0"/>
          </a:p>
        </p:txBody>
      </p:sp>
    </p:spTree>
    <p:extLst>
      <p:ext uri="{BB962C8B-B14F-4D97-AF65-F5344CB8AC3E}">
        <p14:creationId xmlns:p14="http://schemas.microsoft.com/office/powerpoint/2010/main" val="4067747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beginning of 2020 started out very similar to 2019’s full year performance.</a:t>
            </a:r>
            <a:r>
              <a:rPr lang="en-US" dirty="0"/>
              <a:t> </a:t>
            </a:r>
            <a:endParaRPr lang="en-US" sz="1200" kern="1200" dirty="0">
              <a:solidFill>
                <a:schemeClr val="tx1"/>
              </a:solidFill>
              <a:effectLst/>
              <a:latin typeface="+mn-lt"/>
              <a:ea typeface="+mn-ea"/>
              <a:cs typeface="+mn-cs"/>
            </a:endParaRPr>
          </a:p>
          <a:p>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[click]</a:t>
            </a:r>
            <a:endParaRPr lang="en-US" sz="1200" i="1" kern="1200" dirty="0">
              <a:solidFill>
                <a:schemeClr val="tx1"/>
              </a:solidFill>
              <a:effectLst/>
              <a:latin typeface="+mn-lt"/>
              <a:cs typeface="Calibri"/>
            </a:endParaRP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Demand</a:t>
            </a:r>
            <a:r>
              <a:rPr lang="en-US" sz="1200" kern="1200" dirty="0">
                <a:solidFill>
                  <a:schemeClr val="tx1"/>
                </a:solidFill>
                <a:effectLst/>
                <a:latin typeface="+mn-lt"/>
                <a:ea typeface="+mn-ea"/>
                <a:cs typeface="+mn-cs"/>
              </a:rPr>
              <a:t> was somewhat flat, growing </a:t>
            </a:r>
            <a:r>
              <a:rPr lang="en-US" dirty="0"/>
              <a:t>at</a:t>
            </a:r>
            <a:r>
              <a:rPr lang="en-US" sz="1200" kern="1200" dirty="0">
                <a:solidFill>
                  <a:schemeClr val="tx1"/>
                </a:solidFill>
                <a:effectLst/>
                <a:latin typeface="+mn-lt"/>
                <a:ea typeface="+mn-ea"/>
                <a:cs typeface="+mn-cs"/>
              </a:rPr>
              <a:t> 0.4</a:t>
            </a:r>
            <a:r>
              <a:rPr lang="en-US" dirty="0"/>
              <a:t>%.</a:t>
            </a:r>
            <a:r>
              <a:rPr lang="en-US" sz="1200" kern="1200" dirty="0">
                <a:solidFill>
                  <a:schemeClr val="tx1"/>
                </a:solidFill>
                <a:effectLst/>
                <a:latin typeface="+mn-lt"/>
                <a:ea typeface="+mn-ea"/>
                <a:cs typeface="+mn-cs"/>
              </a:rPr>
              <a:t> Worked rates climbed to new heights for the second quarter, and expenses remained high, indicating that perhaps firms were still generally comfortable with current market conditions. </a:t>
            </a:r>
            <a:endParaRPr lang="en-US" sz="1200" kern="1200" dirty="0">
              <a:solidFill>
                <a:schemeClr val="tx1"/>
              </a:solidFill>
              <a:effectLst/>
              <a:latin typeface="+mn-lt"/>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1"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And then came COVID.</a:t>
            </a:r>
            <a:r>
              <a:rPr lang="en-US" sz="1200" kern="1200" dirty="0">
                <a:solidFill>
                  <a:schemeClr val="tx1"/>
                </a:solidFill>
                <a:effectLst/>
                <a:latin typeface="+mn-lt"/>
                <a:ea typeface="+mn-ea"/>
                <a:cs typeface="+mn-cs"/>
              </a:rPr>
              <a:t> By mid-late March, the world as we knew it began to change. Lawyers went from working in their downtown offices to working 100% from home overnight.</a:t>
            </a:r>
            <a:r>
              <a:rPr lang="en-US" dirty="0"/>
              <a:t> </a:t>
            </a:r>
            <a:endParaRPr lang="en-US" sz="1200"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[click]</a:t>
            </a:r>
            <a:endParaRPr lang="en-US" sz="1200" i="1"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r>
              <a:rPr lang="en-US" dirty="0"/>
              <a:t>Mid-Law </a:t>
            </a:r>
            <a:r>
              <a:rPr lang="en-US" sz="1200" kern="1200" dirty="0">
                <a:solidFill>
                  <a:schemeClr val="tx1"/>
                </a:solidFill>
                <a:effectLst/>
                <a:latin typeface="+mn-lt"/>
                <a:ea typeface="+mn-ea"/>
                <a:cs typeface="+mn-cs"/>
              </a:rPr>
              <a:t>firms saw the demand for legal services drop by </a:t>
            </a:r>
            <a:r>
              <a:rPr lang="en-US" dirty="0"/>
              <a:t>6.7%</a:t>
            </a:r>
            <a:r>
              <a:rPr lang="en-US" sz="1200" kern="1200" dirty="0">
                <a:solidFill>
                  <a:schemeClr val="tx1"/>
                </a:solidFill>
                <a:effectLst/>
                <a:latin typeface="+mn-lt"/>
                <a:ea typeface="+mn-ea"/>
                <a:cs typeface="+mn-cs"/>
              </a:rPr>
              <a:t> </a:t>
            </a:r>
            <a:r>
              <a:rPr lang="en-US" dirty="0"/>
              <a:t>compared to Q2 2019. </a:t>
            </a:r>
            <a:endParaRPr lang="en-US" sz="1200"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[click]</a:t>
            </a:r>
            <a:endParaRPr lang="en-US" sz="1200" i="1" kern="1200" dirty="0">
              <a:solidFill>
                <a:schemeClr val="tx1"/>
              </a:solidFill>
              <a:effectLst/>
              <a:latin typeface="+mn-lt"/>
              <a:cs typeface="Calibri"/>
            </a:endParaRPr>
          </a:p>
          <a:p>
            <a:endParaRPr lang="en-US" sz="1200" b="1" kern="1200" dirty="0">
              <a:solidFill>
                <a:schemeClr val="tx1"/>
              </a:solidFill>
              <a:effectLst/>
              <a:latin typeface="+mn-lt"/>
              <a:ea typeface="+mn-ea"/>
              <a:cs typeface="+mn-cs"/>
            </a:endParaRPr>
          </a:p>
          <a:p>
            <a:endParaRPr lang="en-US" sz="1200" kern="1200" dirty="0">
              <a:solidFill>
                <a:schemeClr val="tx1"/>
              </a:solidFill>
              <a:effectLst/>
              <a:latin typeface="+mn-lt"/>
              <a:cs typeface="Calibri"/>
            </a:endParaRPr>
          </a:p>
          <a:p>
            <a:r>
              <a:rPr lang="en-US" sz="1200" i="1" kern="1200" dirty="0">
                <a:solidFill>
                  <a:schemeClr val="tx1"/>
                </a:solidFill>
                <a:effectLst/>
                <a:latin typeface="+mn-lt"/>
                <a:ea typeface="+mn-ea"/>
                <a:cs typeface="+mn-cs"/>
              </a:rPr>
              <a:t>[Open the door: Does this resonate? How has your firm managed this disruption? [Listen, and allow this to inform your Why TR conversation downstream.] </a:t>
            </a:r>
            <a:endParaRPr lang="en-US" sz="1200" i="1" kern="1200" dirty="0">
              <a:solidFill>
                <a:schemeClr val="tx1"/>
              </a:solidFill>
              <a:effectLst/>
              <a:latin typeface="+mn-lt"/>
              <a:cs typeface="Calibri"/>
            </a:endParaRPr>
          </a:p>
        </p:txBody>
      </p:sp>
      <p:sp>
        <p:nvSpPr>
          <p:cNvPr id="4" name="Slide Number Placeholder 3"/>
          <p:cNvSpPr>
            <a:spLocks noGrp="1"/>
          </p:cNvSpPr>
          <p:nvPr>
            <p:ph type="sldNum" sz="quarter" idx="5"/>
          </p:nvPr>
        </p:nvSpPr>
        <p:spPr/>
        <p:txBody>
          <a:bodyPr/>
          <a:lstStyle/>
          <a:p>
            <a:fld id="{BAAB3FD8-1E62-4142-B3B0-509B6E627B15}" type="slidenum">
              <a:rPr lang="en-US" smtClean="0"/>
              <a:t>3</a:t>
            </a:fld>
            <a:endParaRPr lang="en-US"/>
          </a:p>
        </p:txBody>
      </p:sp>
    </p:spTree>
    <p:extLst>
      <p:ext uri="{BB962C8B-B14F-4D97-AF65-F5344CB8AC3E}">
        <p14:creationId xmlns:p14="http://schemas.microsoft.com/office/powerpoint/2010/main" val="1351566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cs typeface="Calibri"/>
              </a:rPr>
              <a:t>NOTE – OPTIONAL SLIDE</a:t>
            </a:r>
            <a:endParaRPr lang="en-US" b="1" dirty="0"/>
          </a:p>
          <a:p>
            <a:endParaRPr lang="en-US" dirty="0"/>
          </a:p>
          <a:p>
            <a:r>
              <a:rPr lang="en-US" sz="1200" kern="1200" dirty="0">
                <a:solidFill>
                  <a:schemeClr val="tx1"/>
                </a:solidFill>
                <a:effectLst/>
                <a:latin typeface="+mn-lt"/>
                <a:ea typeface="+mn-ea"/>
                <a:cs typeface="+mn-cs"/>
              </a:rPr>
              <a:t>In Q1 2020</a:t>
            </a:r>
            <a:r>
              <a:rPr lang="en-US" sz="1200" b="1" kern="1200" dirty="0">
                <a:solidFill>
                  <a:schemeClr val="tx1"/>
                </a:solidFill>
                <a:effectLst/>
                <a:latin typeface="+mn-lt"/>
                <a:ea typeface="+mn-ea"/>
                <a:cs typeface="+mn-cs"/>
              </a:rPr>
              <a:t>, 42% of corporate counsel said they would be increasing their overall spend </a:t>
            </a:r>
            <a:r>
              <a:rPr lang="en-US" sz="1200" kern="1200" dirty="0">
                <a:solidFill>
                  <a:schemeClr val="tx1"/>
                </a:solidFill>
                <a:effectLst/>
                <a:latin typeface="+mn-lt"/>
                <a:ea typeface="+mn-ea"/>
                <a:cs typeface="+mn-cs"/>
              </a:rPr>
              <a:t>in the next 12 months, </a:t>
            </a:r>
            <a:r>
              <a:rPr lang="en-US" sz="1200" b="1" kern="1200" dirty="0">
                <a:solidFill>
                  <a:schemeClr val="tx1"/>
                </a:solidFill>
                <a:effectLst/>
                <a:latin typeface="+mn-lt"/>
                <a:ea typeface="+mn-ea"/>
                <a:cs typeface="+mn-cs"/>
              </a:rPr>
              <a:t>dropping to 24% in Q2</a:t>
            </a:r>
            <a:r>
              <a:rPr lang="en-US" sz="1200" kern="1200" dirty="0">
                <a:solidFill>
                  <a:schemeClr val="tx1"/>
                </a:solidFill>
                <a:effectLst/>
                <a:latin typeface="+mn-lt"/>
                <a:ea typeface="+mn-ea"/>
                <a:cs typeface="+mn-cs"/>
              </a:rPr>
              <a:t>.</a:t>
            </a:r>
            <a:r>
              <a:rPr lang="en-US" dirty="0"/>
              <a:t> </a:t>
            </a:r>
            <a:endParaRPr lang="en-US" dirty="0">
              <a:ea typeface="+mn-ea"/>
              <a:cs typeface="+mn-cs"/>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[click]</a:t>
            </a:r>
            <a:endParaRPr lang="en-US" sz="1200" i="1"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Despite this drop in anticipated spend, GCs say they are busier than ever and </a:t>
            </a:r>
            <a:r>
              <a:rPr lang="en-US" sz="1200" b="1" kern="1200" dirty="0">
                <a:solidFill>
                  <a:schemeClr val="tx1"/>
                </a:solidFill>
                <a:effectLst/>
                <a:latin typeface="+mn-lt"/>
                <a:ea typeface="+mn-ea"/>
                <a:cs typeface="+mn-cs"/>
              </a:rPr>
              <a:t>demand is up.</a:t>
            </a:r>
            <a:r>
              <a:rPr lang="en-US" b="1" dirty="0"/>
              <a:t> </a:t>
            </a:r>
            <a:endParaRPr lang="en-US" sz="1200" b="1"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[click]</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result is a </a:t>
            </a:r>
            <a:r>
              <a:rPr lang="en-US" sz="1200" b="1" kern="1200" dirty="0">
                <a:solidFill>
                  <a:schemeClr val="tx1"/>
                </a:solidFill>
                <a:effectLst/>
                <a:latin typeface="+mn-lt"/>
                <a:ea typeface="+mn-ea"/>
                <a:cs typeface="+mn-cs"/>
              </a:rPr>
              <a:t>surge in their workload </a:t>
            </a:r>
            <a:r>
              <a:rPr lang="en-US" sz="1200" kern="1200" dirty="0">
                <a:solidFill>
                  <a:schemeClr val="tx1"/>
                </a:solidFill>
                <a:effectLst/>
                <a:latin typeface="+mn-lt"/>
                <a:ea typeface="+mn-ea"/>
                <a:cs typeface="+mn-cs"/>
              </a:rPr>
              <a:t>that they need to accommodate, and GCs are often looking to their law firms to help </a:t>
            </a:r>
            <a:r>
              <a:rPr lang="en-US" sz="1200" b="1" kern="1200" dirty="0">
                <a:solidFill>
                  <a:schemeClr val="tx1"/>
                </a:solidFill>
                <a:effectLst/>
                <a:latin typeface="+mn-lt"/>
                <a:ea typeface="+mn-ea"/>
                <a:cs typeface="+mn-cs"/>
              </a:rPr>
              <a:t>fill the gap for free</a:t>
            </a:r>
            <a:r>
              <a:rPr lang="en-US" sz="1200" kern="1200" dirty="0">
                <a:solidFill>
                  <a:schemeClr val="tx1"/>
                </a:solidFill>
                <a:effectLst/>
                <a:latin typeface="+mn-lt"/>
                <a:ea typeface="+mn-ea"/>
                <a:cs typeface="+mn-cs"/>
              </a:rPr>
              <a:t>. </a:t>
            </a:r>
            <a:endParaRPr lang="en-US" sz="1200"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[Open the door: Are you contending with this challenge of doing more with less? If so, what have you done to address it? Again—LISTEN and proceed as appropriate.] </a:t>
            </a:r>
            <a:endParaRPr lang="en-US" sz="1200" i="1" kern="1200" dirty="0">
              <a:solidFill>
                <a:schemeClr val="tx1"/>
              </a:solidFill>
              <a:effectLst/>
              <a:latin typeface="+mn-lt"/>
              <a:cs typeface="Calibri"/>
            </a:endParaRPr>
          </a:p>
        </p:txBody>
      </p:sp>
      <p:sp>
        <p:nvSpPr>
          <p:cNvPr id="4" name="Slide Number Placeholder 3"/>
          <p:cNvSpPr>
            <a:spLocks noGrp="1"/>
          </p:cNvSpPr>
          <p:nvPr>
            <p:ph type="sldNum" sz="quarter" idx="5"/>
          </p:nvPr>
        </p:nvSpPr>
        <p:spPr/>
        <p:txBody>
          <a:bodyPr/>
          <a:lstStyle/>
          <a:p>
            <a:fld id="{BAAB3FD8-1E62-4142-B3B0-509B6E627B15}" type="slidenum">
              <a:rPr lang="en-US" smtClean="0"/>
              <a:t>4</a:t>
            </a:fld>
            <a:endParaRPr lang="en-US"/>
          </a:p>
        </p:txBody>
      </p:sp>
    </p:spTree>
    <p:extLst>
      <p:ext uri="{BB962C8B-B14F-4D97-AF65-F5344CB8AC3E}">
        <p14:creationId xmlns:p14="http://schemas.microsoft.com/office/powerpoint/2010/main" val="77800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Although early on in the pandemic, all practice areas besides bankruptcy declined….</a:t>
            </a:r>
          </a:p>
          <a:p>
            <a:endParaRPr lang="en-US" sz="1200" b="1"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a:solidFill>
                  <a:schemeClr val="tx1"/>
                </a:solidFill>
                <a:effectLst/>
                <a:latin typeface="+mn-lt"/>
                <a:ea typeface="+mn-ea"/>
                <a:cs typeface="+mn-cs"/>
              </a:rPr>
              <a:t>[click]</a:t>
            </a:r>
          </a:p>
          <a:p>
            <a:endParaRPr lang="en-US" sz="1200" b="1"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…legal departments have indicated they anticipate their labor &amp; employment spending to increase in the next six months. </a:t>
            </a:r>
          </a:p>
          <a:p>
            <a:r>
              <a:rPr lang="en-US" sz="1200" kern="1200">
                <a:solidFill>
                  <a:schemeClr val="tx1"/>
                </a:solidFill>
                <a:effectLst/>
                <a:latin typeface="+mn-lt"/>
                <a:ea typeface="+mn-ea"/>
                <a:cs typeface="+mn-cs"/>
              </a:rPr>
              <a:t>When it comes to spending on disputes, it’s a mixed response – with nearly a 1 to 1 ratio saying it’ll increase or decrease. </a:t>
            </a:r>
          </a:p>
          <a:p>
            <a:endParaRPr lang="en-US" sz="1200" kern="1200">
              <a:solidFill>
                <a:schemeClr val="tx1"/>
              </a:solidFill>
              <a:effectLst/>
              <a:latin typeface="+mn-lt"/>
              <a:ea typeface="+mn-ea"/>
              <a:cs typeface="+mn-cs"/>
            </a:endParaRPr>
          </a:p>
          <a:p>
            <a:endParaRPr lang="en-US" sz="1200" i="1" kern="1200">
              <a:solidFill>
                <a:schemeClr val="tx1"/>
              </a:solidFill>
              <a:effectLst/>
              <a:latin typeface="+mn-lt"/>
              <a:ea typeface="+mn-ea"/>
              <a:cs typeface="+mn-cs"/>
            </a:endParaRPr>
          </a:p>
          <a:p>
            <a:r>
              <a:rPr lang="en-US" sz="1200" kern="1200">
                <a:solidFill>
                  <a:schemeClr val="tx1"/>
                </a:solidFill>
                <a:effectLst/>
                <a:latin typeface="+mn-lt"/>
                <a:ea typeface="+mn-ea"/>
                <a:cs typeface="+mn-cs"/>
              </a:rPr>
              <a:t>So what does this mean for law firms? </a:t>
            </a:r>
            <a:r>
              <a:rPr lang="en-US" sz="1200" b="1" kern="1200">
                <a:solidFill>
                  <a:schemeClr val="tx1"/>
                </a:solidFill>
                <a:effectLst/>
                <a:latin typeface="+mn-lt"/>
                <a:ea typeface="+mn-ea"/>
                <a:cs typeface="+mn-cs"/>
              </a:rPr>
              <a:t>That you need to drastically cut your prices to earn business? That you need to eliminate all expenses in order to sustain the pandemic? </a:t>
            </a:r>
            <a:r>
              <a:rPr lang="en-US" sz="1200" kern="1200">
                <a:solidFill>
                  <a:schemeClr val="tx1"/>
                </a:solidFill>
                <a:effectLst/>
                <a:latin typeface="+mn-lt"/>
                <a:ea typeface="+mn-ea"/>
                <a:cs typeface="+mn-cs"/>
              </a:rPr>
              <a:t>The answer is neither of those. </a:t>
            </a:r>
          </a:p>
          <a:p>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a:solidFill>
                  <a:schemeClr val="tx1"/>
                </a:solidFill>
                <a:effectLst/>
                <a:latin typeface="+mn-lt"/>
                <a:ea typeface="+mn-ea"/>
                <a:cs typeface="+mn-cs"/>
              </a:rPr>
              <a:t>[click]</a:t>
            </a:r>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When GCs were recently surveyed about </a:t>
            </a:r>
            <a:r>
              <a:rPr lang="en-US" sz="1200" b="1" kern="1200">
                <a:solidFill>
                  <a:schemeClr val="tx1"/>
                </a:solidFill>
                <a:effectLst/>
                <a:latin typeface="+mn-lt"/>
                <a:ea typeface="+mn-ea"/>
                <a:cs typeface="+mn-cs"/>
              </a:rPr>
              <a:t>why they choose one firm over the other</a:t>
            </a:r>
            <a:r>
              <a:rPr lang="en-US" sz="1200" kern="1200">
                <a:solidFill>
                  <a:schemeClr val="tx1"/>
                </a:solidFill>
                <a:effectLst/>
                <a:latin typeface="+mn-lt"/>
                <a:ea typeface="+mn-ea"/>
                <a:cs typeface="+mn-cs"/>
              </a:rPr>
              <a:t>--especially now during the pandemic, the answer still comes back to </a:t>
            </a:r>
            <a:r>
              <a:rPr lang="en-US" sz="1200" b="1" kern="1200">
                <a:solidFill>
                  <a:schemeClr val="tx1"/>
                </a:solidFill>
                <a:effectLst/>
                <a:latin typeface="+mn-lt"/>
                <a:ea typeface="+mn-ea"/>
                <a:cs typeface="+mn-cs"/>
              </a:rPr>
              <a:t>value versus price</a:t>
            </a:r>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Even further, price is less of a factor to clients when choosing a firm during this pandemic. </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What matters now to clients in terms of value is:</a:t>
            </a:r>
          </a:p>
          <a:p>
            <a:pPr marL="171450" indent="-171450">
              <a:buFont typeface="Arial" panose="020B0604020202020204" pitchFamily="34" charset="0"/>
              <a:buChar char="•"/>
            </a:pPr>
            <a:r>
              <a:rPr lang="en-US" sz="1200" kern="1200">
                <a:solidFill>
                  <a:schemeClr val="tx1"/>
                </a:solidFill>
                <a:effectLst/>
                <a:latin typeface="+mn-lt"/>
                <a:ea typeface="+mn-ea"/>
                <a:cs typeface="+mn-cs"/>
              </a:rPr>
              <a:t>Responsiveness </a:t>
            </a:r>
          </a:p>
          <a:p>
            <a:pPr marL="171450" indent="-171450">
              <a:buFont typeface="Arial" panose="020B0604020202020204" pitchFamily="34" charset="0"/>
              <a:buChar char="•"/>
            </a:pPr>
            <a:r>
              <a:rPr lang="en-US" sz="1200" kern="1200">
                <a:solidFill>
                  <a:schemeClr val="tx1"/>
                </a:solidFill>
                <a:effectLst/>
                <a:latin typeface="+mn-lt"/>
                <a:ea typeface="+mn-ea"/>
                <a:cs typeface="+mn-cs"/>
              </a:rPr>
              <a:t>Strong individual players and individuals they have a historical relationship based on trust. </a:t>
            </a:r>
          </a:p>
          <a:p>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So how can a firm deliver what their clients are looking for while we’re experiencing one of the most disruptive times in our history? </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a:solidFill>
                  <a:schemeClr val="tx1"/>
                </a:solidFill>
                <a:effectLst/>
                <a:latin typeface="+mn-lt"/>
                <a:ea typeface="+mn-ea"/>
                <a:cs typeface="+mn-cs"/>
              </a:rPr>
              <a:t>[click]</a:t>
            </a:r>
            <a:endParaRPr lang="en-US" sz="1200" kern="1200">
              <a:solidFill>
                <a:schemeClr val="tx1"/>
              </a:solidFill>
              <a:effectLst/>
              <a:latin typeface="+mn-lt"/>
              <a:ea typeface="+mn-ea"/>
              <a:cs typeface="+mn-cs"/>
            </a:endParaRPr>
          </a:p>
          <a:p>
            <a:br>
              <a:rPr lang="en-US" sz="1200" kern="1200">
                <a:solidFill>
                  <a:schemeClr val="tx1"/>
                </a:solidFill>
                <a:effectLst/>
                <a:latin typeface="+mn-lt"/>
                <a:ea typeface="+mn-ea"/>
                <a:cs typeface="+mn-cs"/>
              </a:rPr>
            </a:br>
            <a:r>
              <a:rPr lang="en-US" sz="1200" b="1" kern="1200">
                <a:solidFill>
                  <a:schemeClr val="tx1"/>
                </a:solidFill>
                <a:effectLst/>
                <a:latin typeface="+mn-lt"/>
                <a:ea typeface="+mn-ea"/>
                <a:cs typeface="+mn-cs"/>
              </a:rPr>
              <a:t>The answer is technology. </a:t>
            </a:r>
            <a:r>
              <a:rPr lang="en-US" sz="1200" kern="1200">
                <a:solidFill>
                  <a:schemeClr val="tx1"/>
                </a:solidFill>
                <a:effectLst/>
                <a:latin typeface="+mn-lt"/>
                <a:ea typeface="+mn-ea"/>
                <a:cs typeface="+mn-cs"/>
              </a:rPr>
              <a:t>As the pandemic progressed, </a:t>
            </a:r>
            <a:r>
              <a:rPr lang="en-US" sz="1200" b="1" kern="1200">
                <a:solidFill>
                  <a:schemeClr val="tx1"/>
                </a:solidFill>
                <a:effectLst/>
                <a:latin typeface="+mn-lt"/>
                <a:ea typeface="+mn-ea"/>
                <a:cs typeface="+mn-cs"/>
              </a:rPr>
              <a:t>mid-size firms increased their technology spend from 6.7% to 16%</a:t>
            </a:r>
            <a:r>
              <a:rPr lang="en-US" sz="1200" kern="1200">
                <a:solidFill>
                  <a:schemeClr val="tx1"/>
                </a:solidFill>
                <a:effectLst/>
                <a:latin typeface="+mn-lt"/>
                <a:ea typeface="+mn-ea"/>
                <a:cs typeface="+mn-cs"/>
              </a:rPr>
              <a:t>. Although seemingly a positive step forward for mid-size firms, </a:t>
            </a:r>
            <a:r>
              <a:rPr lang="en-US" sz="1200" b="1" kern="1200">
                <a:solidFill>
                  <a:schemeClr val="tx1"/>
                </a:solidFill>
                <a:effectLst/>
                <a:latin typeface="+mn-lt"/>
                <a:ea typeface="+mn-ea"/>
                <a:cs typeface="+mn-cs"/>
              </a:rPr>
              <a:t>a lot of their technology spend was panic-based buying versus a strategic spend</a:t>
            </a:r>
            <a:r>
              <a:rPr lang="en-US" sz="1200" kern="1200">
                <a:solidFill>
                  <a:schemeClr val="tx1"/>
                </a:solidFill>
                <a:effectLst/>
                <a:latin typeface="+mn-lt"/>
                <a:ea typeface="+mn-ea"/>
                <a:cs typeface="+mn-cs"/>
              </a:rPr>
              <a:t>. </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In order to weather times like these, firms need to change their mindset on technology, </a:t>
            </a:r>
            <a:r>
              <a:rPr lang="en-US" sz="1200" b="1" kern="1200">
                <a:solidFill>
                  <a:schemeClr val="tx1"/>
                </a:solidFill>
                <a:effectLst/>
                <a:latin typeface="+mn-lt"/>
                <a:ea typeface="+mn-ea"/>
                <a:cs typeface="+mn-cs"/>
              </a:rPr>
              <a:t>changing it from disaster response to disaster preparedness. </a:t>
            </a:r>
            <a:r>
              <a:rPr lang="en-US" sz="1200" kern="1200">
                <a:solidFill>
                  <a:schemeClr val="tx1"/>
                </a:solidFill>
                <a:effectLst/>
                <a:latin typeface="+mn-lt"/>
                <a:ea typeface="+mn-ea"/>
                <a:cs typeface="+mn-cs"/>
              </a:rPr>
              <a:t>Firms that do are in a much stronger position to go unphased. </a:t>
            </a:r>
          </a:p>
          <a:p>
            <a:endParaRPr lang="en-US" sz="1200"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Tech Discovery Q:</a:t>
            </a:r>
            <a:r>
              <a:rPr lang="en-US" sz="1200" i="1" kern="1200">
                <a:solidFill>
                  <a:schemeClr val="tx1"/>
                </a:solidFill>
                <a:effectLst/>
                <a:latin typeface="+mn-lt"/>
                <a:ea typeface="+mn-ea"/>
                <a:cs typeface="+mn-cs"/>
              </a:rPr>
              <a:t> How has your firm adopted/invested in technology to weather this pandemic and ensure your teams have what they need to continue to serve clients? If vague, ask on kinds of tech, and how is that working out?] </a:t>
            </a:r>
          </a:p>
          <a:p>
            <a:endParaRPr lang="en-US" sz="1200" i="1"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Client Demands Discovery:</a:t>
            </a:r>
            <a:r>
              <a:rPr lang="en-US" sz="1200" i="1" kern="1200">
                <a:solidFill>
                  <a:schemeClr val="tx1"/>
                </a:solidFill>
                <a:effectLst/>
                <a:latin typeface="+mn-lt"/>
                <a:ea typeface="+mn-ea"/>
                <a:cs typeface="+mn-cs"/>
              </a:rPr>
              <a:t> What type of shift have you seen in the demands from your clients during COVID? And how have you been able to pivot to meet those demands?] </a:t>
            </a:r>
          </a:p>
        </p:txBody>
      </p:sp>
      <p:sp>
        <p:nvSpPr>
          <p:cNvPr id="4" name="Slide Number Placeholder 3"/>
          <p:cNvSpPr>
            <a:spLocks noGrp="1"/>
          </p:cNvSpPr>
          <p:nvPr>
            <p:ph type="sldNum" sz="quarter" idx="5"/>
          </p:nvPr>
        </p:nvSpPr>
        <p:spPr/>
        <p:txBody>
          <a:bodyPr/>
          <a:lstStyle/>
          <a:p>
            <a:fld id="{BAAB3FD8-1E62-4142-B3B0-509B6E627B15}" type="slidenum">
              <a:rPr lang="en-US" smtClean="0"/>
              <a:t>5</a:t>
            </a:fld>
            <a:endParaRPr lang="en-US"/>
          </a:p>
        </p:txBody>
      </p:sp>
    </p:spTree>
    <p:extLst>
      <p:ext uri="{BB962C8B-B14F-4D97-AF65-F5344CB8AC3E}">
        <p14:creationId xmlns:p14="http://schemas.microsoft.com/office/powerpoint/2010/main" val="2410403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a:solidFill>
                  <a:schemeClr val="tx1"/>
                </a:solidFill>
                <a:effectLst/>
                <a:latin typeface="+mn-lt"/>
                <a:ea typeface="+mn-ea"/>
                <a:cs typeface="+mn-cs"/>
              </a:rPr>
              <a:t>Depending on their answer to the questions prior, the lead in for this slide could be a little different.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If prospect mentions technology spend, open this slide with something like: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“Okay, so it sounds like the technology you have has allowed you to weather the storm. Could it also help you gain a bigger share of your clients’ wallets?” </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And if they admit they haven’t had the right technology in place, maybe the lead in is something like </a:t>
            </a:r>
          </a:p>
          <a:p>
            <a:r>
              <a:rPr lang="en-US" sz="1200" kern="1200" dirty="0">
                <a:solidFill>
                  <a:schemeClr val="tx1"/>
                </a:solidFill>
                <a:effectLst/>
                <a:latin typeface="+mn-lt"/>
                <a:ea typeface="+mn-ea"/>
                <a:cs typeface="+mn-cs"/>
              </a:rPr>
              <a:t>“So you realize that your technology wasn’t sufficient for helping your teams weather the pandemic. If that isn’t enough reason to invest more strategically in technology, there’s another reason you should.”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 Share of Wallet survey conducted by </a:t>
            </a:r>
            <a:r>
              <a:rPr lang="en-US" sz="1200" kern="1200" dirty="0" err="1">
                <a:solidFill>
                  <a:schemeClr val="tx1"/>
                </a:solidFill>
                <a:effectLst/>
                <a:latin typeface="+mn-lt"/>
                <a:ea typeface="+mn-ea"/>
                <a:cs typeface="+mn-cs"/>
              </a:rPr>
              <a:t>Acritas</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they found that </a:t>
            </a:r>
            <a:r>
              <a:rPr lang="en-US" sz="1200" b="1" kern="1200" dirty="0">
                <a:solidFill>
                  <a:schemeClr val="tx1"/>
                </a:solidFill>
                <a:effectLst/>
                <a:latin typeface="+mn-lt"/>
                <a:ea typeface="+mn-ea"/>
                <a:cs typeface="+mn-cs"/>
              </a:rPr>
              <a:t>the typical firm receives 14% of a client’s external spend</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[click]</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whereas firms that provide clients with an </a:t>
            </a:r>
            <a:r>
              <a:rPr lang="en-US" sz="1200" b="1" kern="1200" dirty="0">
                <a:solidFill>
                  <a:schemeClr val="tx1"/>
                </a:solidFill>
                <a:effectLst/>
                <a:latin typeface="+mn-lt"/>
                <a:ea typeface="+mn-ea"/>
                <a:cs typeface="+mn-cs"/>
              </a:rPr>
              <a:t>innovative approach increase that share to 32%</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[click]</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additionally, firms that have </a:t>
            </a:r>
            <a:r>
              <a:rPr lang="en-US" sz="1200" b="1" kern="1200" dirty="0">
                <a:solidFill>
                  <a:schemeClr val="tx1"/>
                </a:solidFill>
                <a:effectLst/>
                <a:latin typeface="+mn-lt"/>
                <a:ea typeface="+mn-ea"/>
                <a:cs typeface="+mn-cs"/>
              </a:rPr>
              <a:t>collaborative teams increase that share to 56%! </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[If asked]</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GCs define a collaborative team is one that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Has a strong leader / point of contact that pre-processes information for the client;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Shares information throughout the firm so that the client isn’t re-educating everyone who works with their company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provide a more holistic approach to handling legal issues from the business perspective – </a:t>
            </a:r>
          </a:p>
          <a:p>
            <a:r>
              <a:rPr lang="en-US" sz="1200" kern="1200" dirty="0">
                <a:solidFill>
                  <a:schemeClr val="tx1"/>
                </a:solidFill>
                <a:effectLst/>
                <a:latin typeface="+mn-lt"/>
                <a:ea typeface="+mn-ea"/>
                <a:cs typeface="+mn-cs"/>
              </a:rPr>
              <a:t>This is seen in the types of communications, alerts, etc. that the firm shares with the client; can easily and effectively bring in the best resources from the firm to help address issues – even if they arise quickly. </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[Tech Discovery Q: How is your firm using technology to show your clients you’re a collaborative firm (in their definition)? Where are you seeing success with it? Where are you seeing gaps?]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2289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kern="1200" dirty="0">
                <a:solidFill>
                  <a:schemeClr val="tx1"/>
                </a:solidFill>
                <a:effectLst/>
                <a:latin typeface="+mn-lt"/>
                <a:ea typeface="+mn-ea"/>
                <a:cs typeface="+mn-cs"/>
              </a:rPr>
              <a:t>So let’s talk about the first the first insight – why GCs choose one firm over another, specifically on value – but their definition of value has changed a little. </a:t>
            </a:r>
            <a:br>
              <a:rPr lang="en-US" sz="1200" kern="1200" dirty="0">
                <a:solidFill>
                  <a:schemeClr val="tx1"/>
                </a:solidFill>
                <a:effectLst/>
                <a:latin typeface="+mn-lt"/>
                <a:ea typeface="+mn-ea"/>
                <a:cs typeface="+mn-cs"/>
              </a:rPr>
            </a:br>
            <a:endParaRPr lang="en-US" sz="1200" i="1" kern="1200" dirty="0">
              <a:solidFill>
                <a:schemeClr val="tx1"/>
              </a:solidFill>
              <a:effectLst/>
              <a:latin typeface="+mn-lt"/>
              <a:ea typeface="+mn-ea"/>
              <a:cs typeface="+mn-cs"/>
            </a:endParaRPr>
          </a:p>
          <a:p>
            <a:pPr marL="0" indent="0">
              <a:buFont typeface="Arial" panose="020B0604020202020204" pitchFamily="34" charset="0"/>
              <a:buNone/>
            </a:pPr>
            <a:r>
              <a:rPr lang="en-US" sz="1200" i="1" kern="1200" dirty="0">
                <a:solidFill>
                  <a:schemeClr val="tx1"/>
                </a:solidFill>
                <a:effectLst/>
                <a:latin typeface="+mn-lt"/>
                <a:ea typeface="+mn-ea"/>
                <a:cs typeface="+mn-cs"/>
              </a:rPr>
              <a:t>[if not reviewed before]</a:t>
            </a:r>
          </a:p>
          <a:p>
            <a:pPr marL="0" indent="0">
              <a:buFont typeface="Arial" panose="020B0604020202020204" pitchFamily="34" charset="0"/>
              <a:buNone/>
            </a:pPr>
            <a:r>
              <a:rPr lang="en-US" sz="1200" kern="1200" dirty="0">
                <a:solidFill>
                  <a:schemeClr val="tx1"/>
                </a:solidFill>
                <a:effectLst/>
                <a:latin typeface="+mn-lt"/>
                <a:ea typeface="+mn-ea"/>
                <a:cs typeface="+mn-cs"/>
              </a:rPr>
              <a:t>As mentioned, client focus is 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responsiveness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strong individual players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having a historical relationship that they can trust. </a:t>
            </a:r>
          </a:p>
          <a:p>
            <a:endParaRPr lang="en-US" sz="1200"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[Pause for validation:]</a:t>
            </a:r>
            <a:r>
              <a:rPr lang="en-US" sz="1200" i="1" kern="1200" dirty="0">
                <a:solidFill>
                  <a:schemeClr val="tx1"/>
                </a:solidFill>
                <a:effectLst/>
                <a:latin typeface="+mn-lt"/>
                <a:ea typeface="+mn-ea"/>
                <a:cs typeface="+mn-cs"/>
              </a:rPr>
              <a:t> </a:t>
            </a:r>
            <a:r>
              <a:rPr lang="en-US" sz="1200" i="0" kern="1200" dirty="0">
                <a:solidFill>
                  <a:schemeClr val="tx1"/>
                </a:solidFill>
                <a:effectLst/>
                <a:latin typeface="+mn-lt"/>
                <a:ea typeface="+mn-ea"/>
                <a:cs typeface="+mn-cs"/>
              </a:rPr>
              <a:t>Would you agree with this insight? If so, how are you managing client needs on those focus areas? How is that going? </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Status Quo check] </a:t>
            </a:r>
          </a:p>
          <a:p>
            <a:r>
              <a:rPr lang="en-US" sz="1200" i="0" kern="1200" dirty="0">
                <a:solidFill>
                  <a:schemeClr val="tx1"/>
                </a:solidFill>
                <a:effectLst/>
                <a:latin typeface="+mn-lt"/>
                <a:ea typeface="+mn-ea"/>
                <a:cs typeface="+mn-cs"/>
              </a:rPr>
              <a:t>Listen and leverage the talking points below if the prospect mentions pain(think cost/time) around: </a:t>
            </a:r>
          </a:p>
          <a:p>
            <a:pPr marL="171450" indent="-171450">
              <a:buFont typeface="Arial" panose="020B0604020202020204" pitchFamily="34" charset="0"/>
              <a:buChar char="•"/>
            </a:pPr>
            <a:r>
              <a:rPr lang="en-US" sz="1200" i="0" kern="1200" dirty="0">
                <a:solidFill>
                  <a:schemeClr val="tx1"/>
                </a:solidFill>
                <a:effectLst/>
                <a:latin typeface="+mn-lt"/>
                <a:ea typeface="+mn-ea"/>
                <a:cs typeface="+mn-cs"/>
              </a:rPr>
              <a:t>client portals</a:t>
            </a:r>
          </a:p>
          <a:p>
            <a:pPr marL="171450" indent="-171450">
              <a:buFont typeface="Arial" panose="020B0604020202020204" pitchFamily="34" charset="0"/>
              <a:buChar char="•"/>
            </a:pPr>
            <a:r>
              <a:rPr lang="en-US" sz="1200" i="0" kern="1200" dirty="0">
                <a:solidFill>
                  <a:schemeClr val="tx1"/>
                </a:solidFill>
                <a:effectLst/>
                <a:latin typeface="+mn-lt"/>
                <a:ea typeface="+mn-ea"/>
                <a:cs typeface="+mn-cs"/>
              </a:rPr>
              <a:t>manual workflows/processes</a:t>
            </a:r>
          </a:p>
          <a:p>
            <a:pPr marL="171450" indent="-171450">
              <a:buFont typeface="Arial" panose="020B0604020202020204" pitchFamily="34" charset="0"/>
              <a:buChar char="•"/>
            </a:pPr>
            <a:r>
              <a:rPr lang="en-US" sz="1200" i="0" kern="1200" dirty="0">
                <a:solidFill>
                  <a:schemeClr val="tx1"/>
                </a:solidFill>
                <a:effectLst/>
                <a:latin typeface="+mn-lt"/>
                <a:ea typeface="+mn-ea"/>
                <a:cs typeface="+mn-cs"/>
              </a:rPr>
              <a:t>legal document intake and management</a:t>
            </a:r>
          </a:p>
          <a:p>
            <a:pPr marL="171450" indent="-171450">
              <a:buFont typeface="Arial" panose="020B0604020202020204" pitchFamily="34" charset="0"/>
              <a:buChar char="•"/>
            </a:pPr>
            <a:r>
              <a:rPr lang="en-US" sz="1200" i="0" kern="1200" dirty="0">
                <a:solidFill>
                  <a:schemeClr val="tx1"/>
                </a:solidFill>
                <a:effectLst/>
                <a:latin typeface="+mn-lt"/>
                <a:ea typeface="+mn-ea"/>
                <a:cs typeface="+mn-cs"/>
              </a:rPr>
              <a:t>administrative management bottlenecks</a:t>
            </a:r>
          </a:p>
          <a:p>
            <a:pPr marL="171450" indent="-171450">
              <a:buFont typeface="Arial" panose="020B0604020202020204" pitchFamily="34" charset="0"/>
              <a:buChar char="•"/>
            </a:pPr>
            <a:r>
              <a:rPr lang="en-US" sz="1200" i="0" kern="1200" dirty="0">
                <a:solidFill>
                  <a:schemeClr val="tx1"/>
                </a:solidFill>
                <a:effectLst/>
                <a:latin typeface="+mn-lt"/>
                <a:ea typeface="+mn-ea"/>
                <a:cs typeface="+mn-cs"/>
              </a:rPr>
              <a:t>special, high touch client requests that may have been out of scope in easier days.</a:t>
            </a:r>
          </a:p>
          <a:p>
            <a:endParaRPr lang="en-US" sz="1200" i="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[click]</a:t>
            </a:r>
          </a:p>
          <a:p>
            <a:endParaRPr lang="en-US" sz="1200" i="1"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at have solution called HighQ that can help your firm ensure that you’re providing the type of service your clients are need now. </a:t>
            </a:r>
            <a:endParaRPr lang="en-US" sz="1200" i="1"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how can HighQ help here? </a:t>
            </a:r>
          </a:p>
          <a:p>
            <a:r>
              <a:rPr lang="en-US" sz="1200" kern="1200" dirty="0">
                <a:solidFill>
                  <a:schemeClr val="tx1"/>
                </a:solidFill>
                <a:effectLst/>
                <a:latin typeface="+mn-lt"/>
                <a:ea typeface="+mn-ea"/>
                <a:cs typeface="+mn-cs"/>
              </a:rPr>
              <a:t>First off, with HighQ you’re able to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easily build </a:t>
            </a:r>
            <a:r>
              <a:rPr lang="en-US" sz="1200" b="1" kern="1200" dirty="0">
                <a:solidFill>
                  <a:schemeClr val="tx1"/>
                </a:solidFill>
                <a:effectLst/>
                <a:latin typeface="+mn-lt"/>
                <a:ea typeface="+mn-ea"/>
                <a:cs typeface="+mn-cs"/>
              </a:rPr>
              <a:t>firm branded extranets</a:t>
            </a:r>
            <a:r>
              <a:rPr lang="en-US" sz="1200" kern="1200" dirty="0">
                <a:solidFill>
                  <a:schemeClr val="tx1"/>
                </a:solidFill>
                <a:effectLst/>
                <a:latin typeface="+mn-lt"/>
                <a:ea typeface="+mn-ea"/>
                <a:cs typeface="+mn-cs"/>
              </a:rPr>
              <a:t> for your clients at scale, delivering a personalized &amp; engaging workspace where you can:</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easily and </a:t>
            </a:r>
            <a:r>
              <a:rPr lang="en-US" sz="1200" b="1" kern="1200" dirty="0">
                <a:solidFill>
                  <a:schemeClr val="tx1"/>
                </a:solidFill>
                <a:effectLst/>
                <a:latin typeface="+mn-lt"/>
                <a:ea typeface="+mn-ea"/>
                <a:cs typeface="+mn-cs"/>
              </a:rPr>
              <a:t>securely share information &amp; documents (with the ability to have an audit trail)</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streamline the intake process through online forms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workflow &amp; process automation</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provide </a:t>
            </a:r>
            <a:r>
              <a:rPr lang="en-US" sz="1200" b="1" kern="1200" dirty="0">
                <a:solidFill>
                  <a:schemeClr val="tx1"/>
                </a:solidFill>
                <a:effectLst/>
                <a:latin typeface="+mn-lt"/>
                <a:ea typeface="+mn-ea"/>
                <a:cs typeface="+mn-cs"/>
              </a:rPr>
              <a:t>24-7 self-service access </a:t>
            </a:r>
            <a:r>
              <a:rPr lang="en-US" sz="1200" kern="1200" dirty="0">
                <a:solidFill>
                  <a:schemeClr val="tx1"/>
                </a:solidFill>
                <a:effectLst/>
                <a:latin typeface="+mn-lt"/>
                <a:ea typeface="+mn-ea"/>
                <a:cs typeface="+mn-cs"/>
              </a:rPr>
              <a:t>to expert content that you’re able to manage &amp; publish through HighQ</a:t>
            </a: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[Anecdotal case study]</a:t>
            </a:r>
          </a:p>
          <a:p>
            <a:r>
              <a:rPr lang="en-US" sz="1200" kern="1200" dirty="0">
                <a:solidFill>
                  <a:schemeClr val="tx1"/>
                </a:solidFill>
                <a:effectLst/>
                <a:latin typeface="+mn-lt"/>
                <a:ea typeface="+mn-ea"/>
                <a:cs typeface="+mn-cs"/>
              </a:rPr>
              <a:t>We have firms that regularly use HighQ to provide client extranets. And because it’s so simple to set up, one of our customers literally has a staff of one that supports 200 internal and 900 external users’ use of the sites. Another one of our customers is using HighQ for one of their real estate clients for a due diligence project. Instead of having to remember to send updates twice a week to the client, they provided the client access to the site where she can view real-time status of the project every morning on her iPhone. </a:t>
            </a: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Better way:</a:t>
            </a:r>
            <a:r>
              <a:rPr lang="en-US" sz="1200" i="1" kern="1200" dirty="0">
                <a:solidFill>
                  <a:schemeClr val="tx1"/>
                </a:solidFill>
                <a:effectLst/>
                <a:latin typeface="+mn-lt"/>
                <a:ea typeface="+mn-ea"/>
                <a:cs typeface="+mn-cs"/>
              </a:rPr>
              <a:t> How does that sound? My guess is that part of HighQ would be a great, no-low-code solution to help move away from the non-billable hours your staff is spending addressing supporting these types of client needs, and focused instead on a blue chip for your firm. </a:t>
            </a:r>
          </a:p>
          <a:p>
            <a:endParaRPr lang="en-US" sz="12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kern="1200" dirty="0">
                <a:solidFill>
                  <a:schemeClr val="tx1"/>
                </a:solidFill>
                <a:effectLst/>
                <a:latin typeface="+mn-lt"/>
                <a:ea typeface="+mn-ea"/>
                <a:cs typeface="+mn-cs"/>
              </a:rPr>
              <a:t>What do you think? What are some areas you’d like to spend more time? [suggest a few based on your research of the firm: I.e., Compliance Management, Transaction Management, </a:t>
            </a:r>
            <a:r>
              <a:rPr lang="en-US" sz="1200" i="1" kern="1200" dirty="0" err="1">
                <a:solidFill>
                  <a:schemeClr val="tx1"/>
                </a:solidFill>
                <a:effectLst/>
                <a:latin typeface="+mn-lt"/>
                <a:ea typeface="+mn-ea"/>
                <a:cs typeface="+mn-cs"/>
              </a:rPr>
              <a:t>etc</a:t>
            </a:r>
            <a:r>
              <a:rPr lang="en-US" sz="1200" i="1" kern="1200" dirty="0">
                <a:solidFill>
                  <a:schemeClr val="tx1"/>
                </a:solidFill>
                <a:effectLst/>
                <a:latin typeface="+mn-lt"/>
                <a:ea typeface="+mn-ea"/>
                <a:cs typeface="+mn-cs"/>
              </a:rPr>
              <a:t>] </a:t>
            </a:r>
          </a:p>
          <a:p>
            <a:endParaRPr lang="en-US" sz="1200" i="1" kern="1200" dirty="0">
              <a:solidFill>
                <a:schemeClr val="tx1"/>
              </a:solidFill>
              <a:effectLst/>
              <a:latin typeface="+mn-lt"/>
              <a:ea typeface="+mn-ea"/>
              <a:cs typeface="+mn-cs"/>
            </a:endParaRPr>
          </a:p>
          <a:p>
            <a:r>
              <a:rPr lang="en-US" sz="1200" b="1" i="1" kern="1200" dirty="0">
                <a:solidFill>
                  <a:schemeClr val="tx1"/>
                </a:solidFill>
                <a:effectLst/>
                <a:latin typeface="+mn-lt"/>
                <a:ea typeface="+mn-ea"/>
                <a:cs typeface="+mn-cs"/>
              </a:rPr>
              <a:t>Listen and proceed </a:t>
            </a:r>
            <a:r>
              <a:rPr lang="en-US" sz="1200" i="1" kern="1200" dirty="0">
                <a:solidFill>
                  <a:schemeClr val="tx1"/>
                </a:solidFill>
                <a:effectLst/>
                <a:latin typeface="+mn-lt"/>
                <a:ea typeface="+mn-ea"/>
                <a:cs typeface="+mn-cs"/>
              </a:rPr>
              <a:t>depending on the response] </a:t>
            </a:r>
          </a:p>
          <a:p>
            <a:r>
              <a:rPr lang="en-US" sz="1200" i="1"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Qualify </a:t>
            </a:r>
            <a:r>
              <a:rPr lang="en-US" sz="1200" i="1" kern="1200" dirty="0">
                <a:solidFill>
                  <a:schemeClr val="tx1"/>
                </a:solidFill>
                <a:effectLst/>
                <a:latin typeface="+mn-lt"/>
                <a:ea typeface="+mn-ea"/>
                <a:cs typeface="+mn-cs"/>
              </a:rPr>
              <a:t>for Client Engagement/Document Automation/Doc Collaboration/Legal Project Management based on their answers] </a:t>
            </a:r>
          </a:p>
          <a:p>
            <a:endParaRPr lang="en-US" i="1" dirty="0"/>
          </a:p>
          <a:p>
            <a:r>
              <a:rPr lang="en-US" sz="1200" i="1"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Discovery on Client Management]</a:t>
            </a:r>
            <a:r>
              <a:rPr lang="en-US" sz="1200" i="1" kern="1200" dirty="0">
                <a:solidFill>
                  <a:schemeClr val="tx1"/>
                </a:solidFill>
                <a:effectLst/>
                <a:latin typeface="+mn-lt"/>
                <a:ea typeface="+mn-ea"/>
                <a:cs typeface="+mn-cs"/>
              </a:rPr>
              <a:t> How about the second insight—Getting Chosen. Did that sound right to you? Are clients asking for one point of contact? </a:t>
            </a:r>
          </a:p>
          <a:p>
            <a:r>
              <a:rPr lang="en-US" sz="1200" i="1" kern="1200" dirty="0">
                <a:solidFill>
                  <a:schemeClr val="tx1"/>
                </a:solidFill>
                <a:effectLst/>
                <a:latin typeface="+mn-lt"/>
                <a:ea typeface="+mn-ea"/>
                <a:cs typeface="+mn-cs"/>
              </a:rPr>
              <a:t>If so, how are you currently managing that? (if no, skip) </a:t>
            </a:r>
          </a:p>
          <a:p>
            <a:endParaRPr lang="en-US" i="1"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6775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Understood—and while there is no technology that can replace that strong point of contact individual in your firm, with HighQ you can:</a:t>
            </a:r>
          </a:p>
          <a:p>
            <a:r>
              <a:rPr lang="en-US" sz="1200" kern="1200">
                <a:solidFill>
                  <a:schemeClr val="tx1"/>
                </a:solidFill>
                <a:effectLst/>
                <a:latin typeface="+mn-lt"/>
                <a:ea typeface="+mn-ea"/>
                <a:cs typeface="+mn-cs"/>
              </a:rPr>
              <a:t>create </a:t>
            </a:r>
            <a:r>
              <a:rPr lang="en-US" sz="1200" b="1" kern="1200">
                <a:solidFill>
                  <a:schemeClr val="tx1"/>
                </a:solidFill>
                <a:effectLst/>
                <a:latin typeface="+mn-lt"/>
                <a:ea typeface="+mn-ea"/>
                <a:cs typeface="+mn-cs"/>
              </a:rPr>
              <a:t>client sites</a:t>
            </a:r>
            <a:r>
              <a:rPr lang="en-US" sz="1200" kern="1200">
                <a:solidFill>
                  <a:schemeClr val="tx1"/>
                </a:solidFill>
                <a:effectLst/>
                <a:latin typeface="+mn-lt"/>
                <a:ea typeface="+mn-ea"/>
                <a:cs typeface="+mn-cs"/>
              </a:rPr>
              <a:t> to share information easily &amp; securely amongst your team, helping them build up their strengths/knowledge when it comes to your client. </a:t>
            </a:r>
          </a:p>
          <a:p>
            <a:endParaRPr lang="en-US" sz="1200" i="1"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[click]</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With its granular </a:t>
            </a:r>
            <a:r>
              <a:rPr lang="en-US" sz="1200" b="1" kern="1200" err="1">
                <a:solidFill>
                  <a:schemeClr val="tx1"/>
                </a:solidFill>
                <a:effectLst/>
                <a:latin typeface="+mn-lt"/>
                <a:ea typeface="+mn-ea"/>
                <a:cs typeface="+mn-cs"/>
              </a:rPr>
              <a:t>permissioning</a:t>
            </a:r>
            <a:r>
              <a:rPr lang="en-US" sz="1200" kern="1200">
                <a:solidFill>
                  <a:schemeClr val="tx1"/>
                </a:solidFill>
                <a:effectLst/>
                <a:latin typeface="+mn-lt"/>
                <a:ea typeface="+mn-ea"/>
                <a:cs typeface="+mn-cs"/>
              </a:rPr>
              <a:t> levels, you can feel confident that you’re able to share the right level of information to the right team member. </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Additionally, the </a:t>
            </a:r>
            <a:r>
              <a:rPr lang="en-US" sz="1200" b="1" kern="1200">
                <a:solidFill>
                  <a:schemeClr val="tx1"/>
                </a:solidFill>
                <a:effectLst/>
                <a:latin typeface="+mn-lt"/>
                <a:ea typeface="+mn-ea"/>
                <a:cs typeface="+mn-cs"/>
              </a:rPr>
              <a:t>automated workflow </a:t>
            </a:r>
            <a:r>
              <a:rPr lang="en-US" sz="1200" kern="1200">
                <a:solidFill>
                  <a:schemeClr val="tx1"/>
                </a:solidFill>
                <a:effectLst/>
                <a:latin typeface="+mn-lt"/>
                <a:ea typeface="+mn-ea"/>
                <a:cs typeface="+mn-cs"/>
              </a:rPr>
              <a:t>allows you to automate &amp; standardize time-consuming, manual tasks, freeing your team up to focus on more valuable, strategic work for your client.</a:t>
            </a:r>
          </a:p>
          <a:p>
            <a:endParaRPr lang="en-US" sz="1200"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Internal Collaborative Clarity: </a:t>
            </a: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assign tasks to team members </a:t>
            </a:r>
          </a:p>
          <a:p>
            <a:pPr marL="171450" indent="-171450">
              <a:buFont typeface="Arial" panose="020B0604020202020204" pitchFamily="34" charset="0"/>
              <a:buChar char="•"/>
            </a:pPr>
            <a:r>
              <a:rPr lang="en-US" sz="1200" kern="1200">
                <a:solidFill>
                  <a:schemeClr val="tx1"/>
                </a:solidFill>
                <a:effectLst/>
                <a:latin typeface="+mn-lt"/>
                <a:ea typeface="+mn-ea"/>
                <a:cs typeface="+mn-cs"/>
              </a:rPr>
              <a:t>know who has the next step</a:t>
            </a:r>
          </a:p>
          <a:p>
            <a:pPr marL="171450" indent="-171450">
              <a:buFont typeface="Arial" panose="020B0604020202020204" pitchFamily="34" charset="0"/>
              <a:buChar char="•"/>
            </a:pPr>
            <a:r>
              <a:rPr lang="en-US" sz="1200" kern="1200">
                <a:solidFill>
                  <a:schemeClr val="tx1"/>
                </a:solidFill>
                <a:effectLst/>
                <a:latin typeface="+mn-lt"/>
                <a:ea typeface="+mn-ea"/>
                <a:cs typeface="+mn-cs"/>
              </a:rPr>
              <a:t>ensuring you’re all working harmoniously</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Lastly, </a:t>
            </a:r>
            <a:r>
              <a:rPr lang="en-US" sz="1200" b="1" kern="1200">
                <a:solidFill>
                  <a:schemeClr val="tx1"/>
                </a:solidFill>
                <a:effectLst/>
                <a:latin typeface="+mn-lt"/>
                <a:ea typeface="+mn-ea"/>
                <a:cs typeface="+mn-cs"/>
              </a:rPr>
              <a:t>Client Transparency</a:t>
            </a:r>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provide real-time client access to </a:t>
            </a:r>
          </a:p>
          <a:p>
            <a:pPr marL="171450" indent="-171450">
              <a:buFont typeface="Arial" panose="020B0604020202020204" pitchFamily="34" charset="0"/>
              <a:buChar char="•"/>
            </a:pPr>
            <a:r>
              <a:rPr lang="en-US" sz="1200" kern="1200">
                <a:solidFill>
                  <a:schemeClr val="tx1"/>
                </a:solidFill>
                <a:effectLst/>
                <a:latin typeface="+mn-lt"/>
                <a:ea typeface="+mn-ea"/>
                <a:cs typeface="+mn-cs"/>
              </a:rPr>
              <a:t>spend-versus-budget dashboards</a:t>
            </a:r>
          </a:p>
          <a:p>
            <a:pPr marL="171450" indent="-171450">
              <a:buFont typeface="Arial" panose="020B0604020202020204" pitchFamily="34" charset="0"/>
              <a:buChar char="•"/>
            </a:pPr>
            <a:r>
              <a:rPr lang="en-US" sz="1200" kern="1200">
                <a:solidFill>
                  <a:schemeClr val="tx1"/>
                </a:solidFill>
                <a:effectLst/>
                <a:latin typeface="+mn-lt"/>
                <a:ea typeface="+mn-ea"/>
                <a:cs typeface="+mn-cs"/>
              </a:rPr>
              <a:t>project trackers</a:t>
            </a:r>
          </a:p>
          <a:p>
            <a:pPr marL="171450" indent="-171450">
              <a:buFont typeface="Arial" panose="020B0604020202020204" pitchFamily="34" charset="0"/>
              <a:buChar char="•"/>
            </a:pPr>
            <a:r>
              <a:rPr lang="en-US" sz="1200" kern="1200">
                <a:solidFill>
                  <a:schemeClr val="tx1"/>
                </a:solidFill>
                <a:effectLst/>
                <a:latin typeface="+mn-lt"/>
                <a:ea typeface="+mn-ea"/>
                <a:cs typeface="+mn-cs"/>
              </a:rPr>
              <a:t>status updates </a:t>
            </a:r>
          </a:p>
          <a:p>
            <a:pPr marL="171450" indent="-171450">
              <a:buFont typeface="Arial" panose="020B0604020202020204" pitchFamily="34" charset="0"/>
              <a:buChar char="•"/>
            </a:pPr>
            <a:r>
              <a:rPr lang="en-US" sz="1200" kern="1200">
                <a:solidFill>
                  <a:schemeClr val="tx1"/>
                </a:solidFill>
                <a:effectLst/>
                <a:latin typeface="+mn-lt"/>
                <a:ea typeface="+mn-ea"/>
                <a:cs typeface="+mn-cs"/>
              </a:rPr>
              <a:t>automated alerts </a:t>
            </a:r>
          </a:p>
          <a:p>
            <a:endParaRPr lang="en-US" sz="1200" b="1" kern="1200">
              <a:solidFill>
                <a:schemeClr val="tx1"/>
              </a:solidFill>
              <a:effectLst/>
              <a:latin typeface="+mn-lt"/>
              <a:ea typeface="+mn-ea"/>
              <a:cs typeface="+mn-cs"/>
            </a:endParaRPr>
          </a:p>
          <a:p>
            <a:r>
              <a:rPr lang="en-US" sz="1200" b="1" i="1" kern="1200">
                <a:solidFill>
                  <a:schemeClr val="tx1"/>
                </a:solidFill>
                <a:effectLst/>
                <a:latin typeface="+mn-lt"/>
                <a:ea typeface="+mn-ea"/>
                <a:cs typeface="+mn-cs"/>
              </a:rPr>
              <a:t>[Discovery on Client Engagement ]</a:t>
            </a:r>
            <a:r>
              <a:rPr lang="en-US" sz="1200" i="1" kern="1200">
                <a:solidFill>
                  <a:schemeClr val="tx1"/>
                </a:solidFill>
                <a:effectLst/>
                <a:latin typeface="+mn-lt"/>
                <a:ea typeface="+mn-ea"/>
                <a:cs typeface="+mn-cs"/>
              </a:rPr>
              <a:t> What are you currently doing to build up the “strength” of your team to help further develop relationships with clients? </a:t>
            </a:r>
          </a:p>
          <a:p>
            <a:r>
              <a:rPr lang="en-US" sz="1200" i="1" kern="1200">
                <a:solidFill>
                  <a:schemeClr val="tx1"/>
                </a:solidFill>
                <a:effectLst/>
                <a:latin typeface="+mn-lt"/>
                <a:ea typeface="+mn-ea"/>
                <a:cs typeface="+mn-cs"/>
              </a:rPr>
              <a:t>How do you help them to understand the client and its business to help further develop trust in the firm? </a:t>
            </a:r>
          </a:p>
          <a:p>
            <a:endParaRPr lang="en-US" sz="1200" i="1" kern="1200">
              <a:solidFill>
                <a:schemeClr val="tx1"/>
              </a:solidFill>
              <a:effectLst/>
              <a:latin typeface="+mn-lt"/>
              <a:ea typeface="+mn-ea"/>
              <a:cs typeface="+mn-cs"/>
            </a:endParaRPr>
          </a:p>
          <a:p>
            <a:r>
              <a:rPr lang="en-US" sz="1200" b="1" i="1" kern="1200">
                <a:solidFill>
                  <a:schemeClr val="tx1"/>
                </a:solidFill>
                <a:effectLst/>
                <a:latin typeface="+mn-lt"/>
                <a:ea typeface="+mn-ea"/>
                <a:cs typeface="+mn-cs"/>
              </a:rPr>
              <a:t>[Qualify for Client Engagement/Team Collaboration </a:t>
            </a:r>
            <a:r>
              <a:rPr lang="en-US" sz="1200" i="1" kern="1200">
                <a:solidFill>
                  <a:schemeClr val="tx1"/>
                </a:solidFill>
                <a:effectLst/>
                <a:latin typeface="+mn-lt"/>
                <a:ea typeface="+mn-ea"/>
                <a:cs typeface="+mn-cs"/>
              </a:rPr>
              <a:t>based on their answers]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74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So I’ve now shown you ways in which HighQ can help you be the firm chosen by GCs. Let’s talk about increasing your share of their wallet. Does that sound good to you? </a:t>
            </a:r>
          </a:p>
          <a:p>
            <a:endParaRPr lang="en-US" sz="1200"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Proceed </a:t>
            </a:r>
            <a:r>
              <a:rPr lang="en-US" sz="1200" i="1" kern="1200">
                <a:solidFill>
                  <a:schemeClr val="tx1"/>
                </a:solidFill>
                <a:effectLst/>
                <a:latin typeface="+mn-lt"/>
                <a:ea typeface="+mn-ea"/>
                <a:cs typeface="+mn-cs"/>
              </a:rPr>
              <a:t>if validated] </a:t>
            </a:r>
            <a:endParaRPr lang="en-US" sz="1200" i="1" kern="1200">
              <a:solidFill>
                <a:schemeClr val="tx1"/>
              </a:solidFill>
              <a:effectLst/>
              <a:latin typeface="+mn-lt"/>
              <a:cs typeface="Calibri"/>
            </a:endParaRP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As I mentioned, in a recent </a:t>
            </a:r>
            <a:r>
              <a:rPr lang="en-US" sz="1200" kern="1200" err="1">
                <a:solidFill>
                  <a:schemeClr val="tx1"/>
                </a:solidFill>
                <a:effectLst/>
                <a:latin typeface="+mn-lt"/>
                <a:ea typeface="+mn-ea"/>
                <a:cs typeface="+mn-cs"/>
              </a:rPr>
              <a:t>Acritas</a:t>
            </a:r>
            <a:r>
              <a:rPr lang="en-US" sz="1200" kern="1200">
                <a:solidFill>
                  <a:schemeClr val="tx1"/>
                </a:solidFill>
                <a:effectLst/>
                <a:latin typeface="+mn-lt"/>
                <a:ea typeface="+mn-ea"/>
                <a:cs typeface="+mn-cs"/>
              </a:rPr>
              <a:t> survey</a:t>
            </a:r>
            <a:r>
              <a:rPr lang="en-US"/>
              <a:t>*,</a:t>
            </a:r>
            <a:r>
              <a:rPr lang="en-US" sz="1200" kern="1200">
                <a:solidFill>
                  <a:schemeClr val="tx1"/>
                </a:solidFill>
                <a:effectLst/>
                <a:latin typeface="+mn-lt"/>
                <a:ea typeface="+mn-ea"/>
                <a:cs typeface="+mn-cs"/>
              </a:rPr>
              <a:t> it was shown that firms that provide an innovative approach increase their share of the wallet by 18%. And firms that show they have a collaborative team increase that share an additional 24% to a total of 56% of wallet share. </a:t>
            </a:r>
            <a:endParaRPr lang="en-US" sz="1200" kern="1200">
              <a:solidFill>
                <a:schemeClr val="tx1"/>
              </a:solidFill>
              <a:effectLst/>
              <a:latin typeface="+mn-lt"/>
              <a:cs typeface="Calibri"/>
            </a:endParaRPr>
          </a:p>
          <a:p>
            <a:endParaRPr lang="en-US" sz="1200" b="0" i="1" kern="1200">
              <a:solidFill>
                <a:schemeClr val="tx1"/>
              </a:solidFill>
              <a:effectLst/>
              <a:latin typeface="+mn-lt"/>
              <a:ea typeface="+mn-ea"/>
              <a:cs typeface="+mn-cs"/>
            </a:endParaRPr>
          </a:p>
          <a:p>
            <a:r>
              <a:rPr lang="en-US" sz="1200" b="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Discovery Process Management:</a:t>
            </a:r>
            <a:r>
              <a:rPr lang="en-US" sz="1200" i="1" kern="1200">
                <a:solidFill>
                  <a:schemeClr val="tx1"/>
                </a:solidFill>
                <a:effectLst/>
                <a:latin typeface="+mn-lt"/>
                <a:ea typeface="+mn-ea"/>
                <a:cs typeface="+mn-cs"/>
              </a:rPr>
              <a:t> Can I ask how does your staff manage processes currently? </a:t>
            </a:r>
            <a:endParaRPr lang="en-US" sz="1200" i="1" kern="1200">
              <a:solidFill>
                <a:schemeClr val="tx1"/>
              </a:solidFill>
              <a:effectLst/>
              <a:latin typeface="+mn-lt"/>
              <a:cs typeface="Calibri"/>
            </a:endParaRPr>
          </a:p>
          <a:p>
            <a:r>
              <a:rPr lang="en-US" sz="120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Listen.</a:t>
            </a:r>
            <a:r>
              <a:rPr lang="en-US" sz="1200" i="1" kern="1200">
                <a:solidFill>
                  <a:schemeClr val="tx1"/>
                </a:solidFill>
                <a:effectLst/>
                <a:latin typeface="+mn-lt"/>
                <a:ea typeface="+mn-ea"/>
                <a:cs typeface="+mn-cs"/>
              </a:rPr>
              <a:t> How is that working?] </a:t>
            </a:r>
            <a:endParaRPr lang="en-US" sz="1200" i="1" kern="1200">
              <a:solidFill>
                <a:schemeClr val="tx1"/>
              </a:solidFill>
              <a:effectLst/>
              <a:latin typeface="+mn-lt"/>
              <a:cs typeface="Calibri"/>
            </a:endParaRPr>
          </a:p>
          <a:p>
            <a:endParaRPr lang="en-US" sz="1200" i="1"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[click]</a:t>
            </a:r>
            <a:endParaRPr lang="en-US" sz="1200" i="1" kern="1200">
              <a:solidFill>
                <a:schemeClr val="tx1"/>
              </a:solidFill>
              <a:effectLst/>
              <a:latin typeface="+mn-lt"/>
              <a:cs typeface="Calibri"/>
            </a:endParaRP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Let’s talk about innovative approaches to process management. HighQ can aid a firm in innovating a multitude of processes – from Litigation Management, transaction management, document collaboration &amp; more.</a:t>
            </a:r>
            <a:r>
              <a:rPr lang="en-US"/>
              <a:t> </a:t>
            </a:r>
          </a:p>
          <a:p>
            <a:endParaRPr lang="en-US" i="1">
              <a:cs typeface="Calibri" panose="020F0502020204030204"/>
            </a:endParaRPr>
          </a:p>
          <a:p>
            <a:r>
              <a:rPr lang="en-US" sz="1200" i="1" kern="1200">
                <a:solidFill>
                  <a:schemeClr val="tx1"/>
                </a:solidFill>
                <a:effectLst/>
                <a:latin typeface="+mn-lt"/>
                <a:ea typeface="+mn-ea"/>
                <a:cs typeface="+mn-cs"/>
              </a:rPr>
              <a:t>[anecdotal client case study 1]</a:t>
            </a:r>
            <a:endParaRPr lang="en-US" sz="1200" i="1" kern="1200">
              <a:solidFill>
                <a:schemeClr val="tx1"/>
              </a:solidFill>
              <a:effectLst/>
              <a:latin typeface="+mn-lt"/>
              <a:cs typeface="Calibri"/>
            </a:endParaRPr>
          </a:p>
          <a:p>
            <a:r>
              <a:rPr lang="en-US" sz="1200" kern="1200">
                <a:solidFill>
                  <a:schemeClr val="tx1"/>
                </a:solidFill>
                <a:effectLst/>
                <a:latin typeface="+mn-lt"/>
                <a:ea typeface="+mn-ea"/>
                <a:cs typeface="+mn-cs"/>
              </a:rPr>
              <a:t>One HighQ customer used it to pitch a portfolio management project to a client. The firm prior to them was only able to review 1 document/hour.</a:t>
            </a:r>
            <a:endParaRPr lang="en-US" sz="1200" kern="1200">
              <a:solidFill>
                <a:schemeClr val="tx1"/>
              </a:solidFill>
              <a:effectLst/>
              <a:latin typeface="+mn-lt"/>
              <a:cs typeface="Calibri"/>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With HighQ this our customer pitched that they could increase that to 3 documents reviewed/hour.</a:t>
            </a:r>
            <a:r>
              <a:rPr lang="en-US"/>
              <a:t> </a:t>
            </a:r>
            <a:endParaRPr lang="en-US" sz="1200" kern="1200">
              <a:solidFill>
                <a:schemeClr val="tx1"/>
              </a:solidFill>
              <a:effectLst/>
              <a:latin typeface="+mn-lt"/>
              <a:cs typeface="Calibri"/>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In the end, they actually increased it to 4 docs reviewed/hour.</a:t>
            </a:r>
            <a:r>
              <a:rPr lang="en-US"/>
              <a:t> </a:t>
            </a:r>
            <a:endParaRPr lang="en-US" sz="1200" kern="1200">
              <a:solidFill>
                <a:schemeClr val="tx1"/>
              </a:solidFill>
              <a:effectLst/>
              <a:latin typeface="+mn-lt"/>
              <a:cs typeface="Calibri"/>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Net productivity of 400%.</a:t>
            </a:r>
            <a:endParaRPr lang="en-US" sz="1200" kern="1200">
              <a:solidFill>
                <a:schemeClr val="tx1"/>
              </a:solidFill>
              <a:effectLst/>
              <a:latin typeface="+mn-lt"/>
              <a:cs typeface="Calibri"/>
            </a:endParaRPr>
          </a:p>
          <a:p>
            <a:endParaRPr lang="en-US" sz="1200"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[anecdotal Large Team Collaboration proof point]</a:t>
            </a:r>
            <a:endParaRPr lang="en-US" sz="1200" i="1" kern="1200">
              <a:solidFill>
                <a:schemeClr val="tx1"/>
              </a:solidFill>
              <a:effectLst/>
              <a:latin typeface="+mn-lt"/>
              <a:cs typeface="Calibri"/>
            </a:endParaRPr>
          </a:p>
          <a:p>
            <a:r>
              <a:rPr lang="en-US" sz="1200" kern="1200">
                <a:solidFill>
                  <a:schemeClr val="tx1"/>
                </a:solidFill>
                <a:effectLst/>
                <a:latin typeface="+mn-lt"/>
                <a:ea typeface="+mn-ea"/>
                <a:cs typeface="+mn-cs"/>
              </a:rPr>
              <a:t>They had 20 attorneys working on the project, and by using </a:t>
            </a:r>
            <a:r>
              <a:rPr lang="en-US" sz="1200" b="1" kern="1200">
                <a:solidFill>
                  <a:schemeClr val="tx1"/>
                </a:solidFill>
                <a:effectLst/>
                <a:latin typeface="+mn-lt"/>
                <a:ea typeface="+mn-ea"/>
                <a:cs typeface="+mn-cs"/>
              </a:rPr>
              <a:t>workflow automation </a:t>
            </a:r>
            <a:r>
              <a:rPr lang="en-US" sz="1200" kern="1200">
                <a:solidFill>
                  <a:schemeClr val="tx1"/>
                </a:solidFill>
                <a:effectLst/>
                <a:latin typeface="+mn-lt"/>
                <a:ea typeface="+mn-ea"/>
                <a:cs typeface="+mn-cs"/>
              </a:rPr>
              <a:t>they were able to:</a:t>
            </a:r>
            <a:endParaRPr lang="en-US" sz="1200" kern="1200">
              <a:solidFill>
                <a:schemeClr val="tx1"/>
              </a:solidFill>
              <a:effectLst/>
              <a:latin typeface="+mn-lt"/>
              <a:cs typeface="Calibri"/>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Easily manage &amp; assign tasks</a:t>
            </a:r>
            <a:r>
              <a:rPr lang="en-US"/>
              <a:t> </a:t>
            </a:r>
            <a:endParaRPr lang="en-US" sz="1200" kern="1200">
              <a:solidFill>
                <a:schemeClr val="tx1"/>
              </a:solidFill>
              <a:effectLst/>
              <a:latin typeface="+mn-lt"/>
              <a:cs typeface="Calibri"/>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Know the status of the project in real-time</a:t>
            </a:r>
            <a:endParaRPr lang="en-US" sz="1200" kern="1200">
              <a:solidFill>
                <a:schemeClr val="tx1"/>
              </a:solidFill>
              <a:effectLst/>
              <a:latin typeface="+mn-lt"/>
              <a:cs typeface="Calibri"/>
            </a:endParaRPr>
          </a:p>
          <a:p>
            <a:endParaRPr lang="en-US" sz="1200" i="1"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[anecdotal client case study 2]</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Another firm has used it to provide a </a:t>
            </a:r>
            <a:r>
              <a:rPr lang="en-US" sz="1200" b="1" kern="1200">
                <a:solidFill>
                  <a:schemeClr val="tx1"/>
                </a:solidFill>
                <a:effectLst/>
                <a:latin typeface="+mn-lt"/>
                <a:ea typeface="+mn-ea"/>
                <a:cs typeface="+mn-cs"/>
              </a:rPr>
              <a:t>project plan </a:t>
            </a:r>
            <a:r>
              <a:rPr lang="en-US" sz="1200" kern="1200">
                <a:solidFill>
                  <a:schemeClr val="tx1"/>
                </a:solidFill>
                <a:effectLst/>
                <a:latin typeface="+mn-lt"/>
                <a:ea typeface="+mn-ea"/>
                <a:cs typeface="+mn-cs"/>
              </a:rPr>
              <a:t>for their client.</a:t>
            </a:r>
            <a:r>
              <a:rPr lang="en-US"/>
              <a:t> </a:t>
            </a:r>
            <a:endParaRPr lang="en-US" sz="1200" kern="1200">
              <a:solidFill>
                <a:schemeClr val="tx1"/>
              </a:solidFill>
              <a:effectLst/>
              <a:latin typeface="+mn-lt"/>
              <a:cs typeface="Calibri"/>
            </a:endParaRPr>
          </a:p>
          <a:p>
            <a:r>
              <a:rPr lang="en-US" sz="1200" kern="1200">
                <a:solidFill>
                  <a:schemeClr val="tx1"/>
                </a:solidFill>
                <a:effectLst/>
                <a:latin typeface="+mn-lt"/>
                <a:ea typeface="+mn-ea"/>
                <a:cs typeface="+mn-cs"/>
              </a:rPr>
              <a:t>Both the firm &amp; the GC </a:t>
            </a:r>
            <a:r>
              <a:rPr lang="en-US" sz="1200" b="1" kern="1200">
                <a:solidFill>
                  <a:schemeClr val="tx1"/>
                </a:solidFill>
                <a:effectLst/>
                <a:latin typeface="+mn-lt"/>
                <a:ea typeface="+mn-ea"/>
                <a:cs typeface="+mn-cs"/>
              </a:rPr>
              <a:t>have joint responsibilities on the matter,</a:t>
            </a:r>
            <a:r>
              <a:rPr lang="en-US" sz="1200" kern="1200">
                <a:solidFill>
                  <a:schemeClr val="tx1"/>
                </a:solidFill>
                <a:effectLst/>
                <a:latin typeface="+mn-lt"/>
                <a:ea typeface="+mn-ea"/>
                <a:cs typeface="+mn-cs"/>
              </a:rPr>
              <a:t> and with the use of workflow they’re able to make sure everyone stays on top of their responsibilities and not lose time. </a:t>
            </a:r>
            <a:endParaRPr lang="en-US" sz="1200" kern="1200">
              <a:solidFill>
                <a:schemeClr val="tx1"/>
              </a:solidFill>
              <a:effectLst/>
              <a:latin typeface="+mn-lt"/>
              <a:cs typeface="Calibri"/>
            </a:endParaRPr>
          </a:p>
          <a:p>
            <a:endParaRPr lang="en-US" sz="1200"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Validate</a:t>
            </a:r>
            <a:r>
              <a:rPr lang="en-US" sz="1200" i="1" kern="1200">
                <a:solidFill>
                  <a:schemeClr val="tx1"/>
                </a:solidFill>
                <a:effectLst/>
                <a:latin typeface="+mn-lt"/>
                <a:ea typeface="+mn-ea"/>
                <a:cs typeface="+mn-cs"/>
              </a:rPr>
              <a:t>: Does that sound like an approach you could see working at your firm? ] </a:t>
            </a:r>
            <a:endParaRPr lang="en-US" sz="1200" i="1" kern="1200">
              <a:solidFill>
                <a:schemeClr val="tx1"/>
              </a:solidFill>
              <a:effectLst/>
              <a:latin typeface="+mn-lt"/>
              <a:cs typeface="Calibri"/>
            </a:endParaRPr>
          </a:p>
          <a:p>
            <a:endParaRPr lang="en-US" sz="1200" i="1" kern="1200">
              <a:solidFill>
                <a:schemeClr val="tx1"/>
              </a:solidFill>
              <a:effectLst/>
              <a:latin typeface="+mn-lt"/>
              <a:ea typeface="+mn-ea"/>
              <a:cs typeface="+mn-cs"/>
            </a:endParaRPr>
          </a:p>
          <a:p>
            <a:r>
              <a:rPr lang="en-US" sz="1200" i="1" kern="1200">
                <a:solidFill>
                  <a:schemeClr val="tx1"/>
                </a:solidFill>
                <a:effectLst/>
                <a:latin typeface="+mn-lt"/>
                <a:ea typeface="+mn-ea"/>
                <a:cs typeface="+mn-cs"/>
              </a:rPr>
              <a:t>[</a:t>
            </a:r>
            <a:r>
              <a:rPr lang="en-US" sz="1200" b="1" i="1" kern="1200">
                <a:solidFill>
                  <a:schemeClr val="tx1"/>
                </a:solidFill>
                <a:effectLst/>
                <a:latin typeface="+mn-lt"/>
                <a:ea typeface="+mn-ea"/>
                <a:cs typeface="+mn-cs"/>
              </a:rPr>
              <a:t>Qualify</a:t>
            </a:r>
            <a:r>
              <a:rPr lang="en-US" sz="1200" i="1" kern="1200">
                <a:solidFill>
                  <a:schemeClr val="tx1"/>
                </a:solidFill>
                <a:effectLst/>
                <a:latin typeface="+mn-lt"/>
                <a:ea typeface="+mn-ea"/>
                <a:cs typeface="+mn-cs"/>
              </a:rPr>
              <a:t>: If yes, dig in and qualify for any of the processes above to build a use case stack for the demo]</a:t>
            </a:r>
            <a:endParaRPr lang="en-US" sz="1200" i="1" kern="1200">
              <a:solidFill>
                <a:schemeClr val="tx1"/>
              </a:solidFill>
              <a:effectLst/>
              <a:latin typeface="+mn-lt"/>
              <a:cs typeface="Calibri"/>
            </a:endParaRPr>
          </a:p>
          <a:p>
            <a:endParaRPr lang="en-US" sz="1200" i="1" kern="1200">
              <a:solidFill>
                <a:schemeClr val="tx1"/>
              </a:solidFill>
              <a:effectLst/>
              <a:latin typeface="+mn-lt"/>
              <a:cs typeface="Calibri"/>
            </a:endParaRPr>
          </a:p>
          <a:p>
            <a:r>
              <a:rPr lang="en-US" i="1">
                <a:cs typeface="Calibri"/>
              </a:rPr>
              <a:t>*</a:t>
            </a:r>
            <a:r>
              <a:rPr lang="en-US" b="1" i="1">
                <a:cs typeface="Calibri"/>
              </a:rPr>
              <a:t>The </a:t>
            </a:r>
            <a:r>
              <a:rPr lang="en-US" b="1" i="1" err="1">
                <a:cs typeface="Calibri"/>
              </a:rPr>
              <a:t>Acritas</a:t>
            </a:r>
            <a:r>
              <a:rPr lang="en-US" b="1" i="1">
                <a:cs typeface="Calibri"/>
              </a:rPr>
              <a:t> survey was conducted in Q2 2020, surveying 300 General Counsel and 1200 law firm attorneys.</a:t>
            </a:r>
            <a:endParaRPr lang="en-US" sz="1200" i="1" kern="1200">
              <a:solidFill>
                <a:schemeClr val="tx1"/>
              </a:solidFill>
              <a:effectLst/>
              <a:latin typeface="+mn-lt"/>
              <a:cs typeface="Calibri"/>
            </a:endParaRPr>
          </a:p>
          <a:p>
            <a:endParaRPr lang="en-US" sz="1200" i="1" kern="1200">
              <a:solidFill>
                <a:schemeClr val="tx1"/>
              </a:solidFill>
              <a:effectLst/>
              <a:latin typeface="+mn-lt"/>
              <a:ea typeface="+mn-ea"/>
              <a:cs typeface="+mn-cs"/>
            </a:endParaRPr>
          </a:p>
          <a:p>
            <a:endParaRPr lang="en-US" i="1">
              <a:cs typeface="Calibri" panose="020F0502020204030204"/>
            </a:endParaRPr>
          </a:p>
          <a:p>
            <a:endParaRPr lang="en-US" i="1">
              <a:cs typeface="Calibri" panose="020F0502020204030204"/>
            </a:endParaRPr>
          </a:p>
        </p:txBody>
      </p:sp>
      <p:sp>
        <p:nvSpPr>
          <p:cNvPr id="4" name="Slide Number Placeholder 3"/>
          <p:cNvSpPr>
            <a:spLocks noGrp="1"/>
          </p:cNvSpPr>
          <p:nvPr>
            <p:ph type="sldNum" sz="quarter" idx="5"/>
          </p:nvPr>
        </p:nvSpPr>
        <p:spPr/>
        <p:txBody>
          <a:bodyPr/>
          <a:lstStyle/>
          <a:p>
            <a:fld id="{BAAB3FD8-1E62-4142-B3B0-509B6E627B15}" type="slidenum">
              <a:rPr lang="en-US" smtClean="0"/>
              <a:t>9</a:t>
            </a:fld>
            <a:endParaRPr lang="en-US"/>
          </a:p>
        </p:txBody>
      </p:sp>
    </p:spTree>
    <p:extLst>
      <p:ext uri="{BB962C8B-B14F-4D97-AF65-F5344CB8AC3E}">
        <p14:creationId xmlns:p14="http://schemas.microsoft.com/office/powerpoint/2010/main" val="753559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Lastly, let’s talk about how to show you have a collaborative team – again, to get to the highest level of wallet share with your clients.</a:t>
            </a:r>
            <a:r>
              <a:rPr lang="en-US" dirty="0"/>
              <a:t> </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Remember that </a:t>
            </a:r>
            <a:r>
              <a:rPr lang="en-US" sz="1200" b="1" kern="1200" dirty="0">
                <a:solidFill>
                  <a:schemeClr val="tx1"/>
                </a:solidFill>
                <a:effectLst/>
                <a:latin typeface="+mn-lt"/>
                <a:ea typeface="+mn-ea"/>
                <a:cs typeface="+mn-cs"/>
              </a:rPr>
              <a:t>GCs define a collaborative team</a:t>
            </a:r>
            <a:r>
              <a:rPr lang="en-US" b="1" dirty="0"/>
              <a:t> </a:t>
            </a:r>
            <a:endParaRPr lang="en-US" sz="1200" b="1" kern="1200" dirty="0">
              <a:solidFill>
                <a:schemeClr val="tx1"/>
              </a:solidFill>
              <a:effectLst/>
              <a:latin typeface="+mn-lt"/>
              <a:cs typeface="Calibri"/>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Has a strong leader / point of contact that pre-processes information for the client;</a:t>
            </a:r>
            <a:r>
              <a:rPr lang="en-US" dirty="0"/>
              <a:t> </a:t>
            </a:r>
            <a:endParaRPr lang="en-US" sz="1200" kern="1200" dirty="0">
              <a:solidFill>
                <a:schemeClr val="tx1"/>
              </a:solidFill>
              <a:effectLst/>
              <a:latin typeface="+mn-lt"/>
              <a:cs typeface="Calibri"/>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Shares information throughout the firm so that the client isn’t re-educating everyone who works with their company</a:t>
            </a:r>
            <a:endParaRPr lang="en-US" sz="1200" kern="1200" dirty="0">
              <a:solidFill>
                <a:schemeClr val="tx1"/>
              </a:solidFill>
              <a:effectLst/>
              <a:latin typeface="+mn-lt"/>
              <a:cs typeface="Calibri"/>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provide a more holistic approach to handling legal issues from the business perspective –</a:t>
            </a:r>
            <a:r>
              <a:rPr lang="en-US" dirty="0"/>
              <a:t> </a:t>
            </a:r>
            <a:endParaRPr lang="en-US" sz="1200" kern="1200" dirty="0">
              <a:solidFill>
                <a:schemeClr val="tx1"/>
              </a:solidFill>
              <a:effectLst/>
              <a:latin typeface="+mn-lt"/>
              <a:cs typeface="Calibri"/>
            </a:endParaRPr>
          </a:p>
          <a:p>
            <a:r>
              <a:rPr lang="en-US" sz="1200" kern="1200" dirty="0">
                <a:solidFill>
                  <a:schemeClr val="tx1"/>
                </a:solidFill>
                <a:effectLst/>
                <a:latin typeface="+mn-lt"/>
                <a:ea typeface="+mn-ea"/>
                <a:cs typeface="+mn-cs"/>
              </a:rPr>
              <a:t>This is seen in the types of communications, alerts, etc. that the firm shares with the client; can easily and effectively bring in the best resources from the firm to help address issues – even if they arise quickly.</a:t>
            </a:r>
            <a:r>
              <a:rPr lang="en-US" dirty="0"/>
              <a:t> </a:t>
            </a:r>
            <a:endParaRPr lang="en-US" sz="1200" kern="1200" dirty="0">
              <a:solidFill>
                <a:schemeClr val="tx1"/>
              </a:solidFill>
              <a:effectLst/>
              <a:latin typeface="+mn-lt"/>
              <a:cs typeface="Calibri"/>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[click]</a:t>
            </a:r>
            <a:endParaRPr lang="en-US" sz="1200" i="1"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Because HighQ is a single </a:t>
            </a:r>
            <a:r>
              <a:rPr lang="en-US" sz="1200" dirty="0">
                <a:solidFill>
                  <a:schemeClr val="bg1"/>
                </a:solidFill>
                <a:latin typeface="Knowledge2017 Medium"/>
              </a:rPr>
              <a:t>solution</a:t>
            </a:r>
            <a:r>
              <a:rPr lang="en-US" sz="1200" kern="1200" dirty="0">
                <a:solidFill>
                  <a:schemeClr val="tx1"/>
                </a:solidFill>
                <a:effectLst/>
                <a:latin typeface="+mn-lt"/>
                <a:ea typeface="+mn-ea"/>
                <a:cs typeface="+mn-cs"/>
              </a:rPr>
              <a:t> that can be used for filing sharing, document collaboration, workflow automation, task assigning and more</a:t>
            </a:r>
            <a:r>
              <a:rPr lang="en-US" dirty="0"/>
              <a:t> </a:t>
            </a:r>
            <a:endParaRPr lang="en-US" sz="1200" kern="1200" dirty="0">
              <a:solidFill>
                <a:schemeClr val="tx1"/>
              </a:solidFill>
              <a:effectLst/>
              <a:latin typeface="+mn-lt"/>
              <a:cs typeface="Calibri"/>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You can easily prove to your clients that you have collaborative teams by </a:t>
            </a:r>
            <a:r>
              <a:rPr lang="en-US" sz="1200" b="1" kern="1200" dirty="0">
                <a:solidFill>
                  <a:schemeClr val="tx1"/>
                </a:solidFill>
                <a:effectLst/>
                <a:latin typeface="+mn-lt"/>
                <a:ea typeface="+mn-ea"/>
                <a:cs typeface="+mn-cs"/>
              </a:rPr>
              <a:t>creating client sites </a:t>
            </a:r>
            <a:r>
              <a:rPr lang="en-US" sz="1200" kern="1200" dirty="0">
                <a:solidFill>
                  <a:schemeClr val="tx1"/>
                </a:solidFill>
                <a:effectLst/>
                <a:latin typeface="+mn-lt"/>
                <a:ea typeface="+mn-ea"/>
                <a:cs typeface="+mn-cs"/>
              </a:rPr>
              <a:t>for your teams</a:t>
            </a:r>
            <a:endParaRPr lang="en-US" sz="1200" kern="1200" dirty="0">
              <a:solidFill>
                <a:schemeClr val="tx1"/>
              </a:solidFill>
              <a:effectLst/>
              <a:latin typeface="+mn-lt"/>
              <a:cs typeface="Calibri"/>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they </a:t>
            </a:r>
            <a:r>
              <a:rPr lang="en-US" sz="1200" b="1" kern="1200" dirty="0">
                <a:solidFill>
                  <a:schemeClr val="tx1"/>
                </a:solidFill>
                <a:effectLst/>
                <a:latin typeface="+mn-lt"/>
                <a:ea typeface="+mn-ea"/>
                <a:cs typeface="+mn-cs"/>
              </a:rPr>
              <a:t>can easily share informatio</a:t>
            </a:r>
            <a:r>
              <a:rPr lang="en-US" sz="1200" kern="1200" dirty="0">
                <a:solidFill>
                  <a:schemeClr val="tx1"/>
                </a:solidFill>
                <a:effectLst/>
                <a:latin typeface="+mn-lt"/>
                <a:ea typeface="+mn-ea"/>
                <a:cs typeface="+mn-cs"/>
              </a:rPr>
              <a:t>n across the matter</a:t>
            </a:r>
            <a:r>
              <a:rPr lang="en-US" sz="1200" b="1" kern="1200" dirty="0">
                <a:solidFill>
                  <a:schemeClr val="tx1"/>
                </a:solidFill>
                <a:effectLst/>
                <a:latin typeface="+mn-lt"/>
                <a:ea typeface="+mn-ea"/>
                <a:cs typeface="+mn-cs"/>
              </a:rPr>
              <a:t>; assign tasks across the team </a:t>
            </a:r>
            <a:r>
              <a:rPr lang="en-US" sz="1200" kern="1200" dirty="0">
                <a:solidFill>
                  <a:schemeClr val="tx1"/>
                </a:solidFill>
                <a:effectLst/>
                <a:latin typeface="+mn-lt"/>
                <a:ea typeface="+mn-ea"/>
                <a:cs typeface="+mn-cs"/>
              </a:rPr>
              <a:t>based on skillset, expertise or bandwidth.</a:t>
            </a:r>
            <a:r>
              <a:rPr lang="en-US" dirty="0"/>
              <a:t> </a:t>
            </a:r>
            <a:endParaRPr lang="en-US" sz="1200" kern="1200" dirty="0">
              <a:solidFill>
                <a:schemeClr val="tx1"/>
              </a:solidFill>
              <a:effectLst/>
              <a:latin typeface="+mn-lt"/>
              <a:cs typeface="Calibri"/>
            </a:endParaRPr>
          </a:p>
          <a:p>
            <a:br>
              <a:rPr lang="en-US" sz="1200" b="1" kern="1200" dirty="0">
                <a:solidFill>
                  <a:schemeClr val="tx1"/>
                </a:solidFill>
                <a:effectLst/>
                <a:latin typeface="+mn-lt"/>
                <a:ea typeface="+mn-ea"/>
                <a:cs typeface="+mn-cs"/>
              </a:rPr>
            </a:br>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We’ve seen teams use HighQ to track &amp; share executive orders pertaining to COVID</a:t>
            </a:r>
            <a:r>
              <a:rPr lang="en-US" sz="1200" kern="1200" dirty="0">
                <a:solidFill>
                  <a:schemeClr val="tx1"/>
                </a:solidFill>
                <a:effectLst/>
                <a:latin typeface="+mn-lt"/>
                <a:ea typeface="+mn-ea"/>
                <a:cs typeface="+mn-cs"/>
              </a:rPr>
              <a:t>, so that everyone has up-to-date information on a fast-moving disruption to business continuity.</a:t>
            </a:r>
            <a:r>
              <a:rPr lang="en-US" dirty="0"/>
              <a:t> </a:t>
            </a:r>
            <a:endParaRPr lang="en-US" sz="1200"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We’ve even seen customers share it with</a:t>
            </a:r>
            <a:r>
              <a:rPr lang="en-US" sz="1200" b="1" kern="1200" dirty="0">
                <a:solidFill>
                  <a:schemeClr val="tx1"/>
                </a:solidFill>
                <a:effectLst/>
                <a:latin typeface="+mn-lt"/>
                <a:ea typeface="+mn-ea"/>
                <a:cs typeface="+mn-cs"/>
              </a:rPr>
              <a:t> every administrative department</a:t>
            </a:r>
            <a:r>
              <a:rPr lang="en-US" sz="1200" kern="1200" dirty="0">
                <a:solidFill>
                  <a:schemeClr val="tx1"/>
                </a:solidFill>
                <a:effectLst/>
                <a:latin typeface="+mn-lt"/>
                <a:ea typeface="+mn-ea"/>
                <a:cs typeface="+mn-cs"/>
              </a:rPr>
              <a:t>, to ensure the back-office flows smoothly for clients as well. </a:t>
            </a:r>
            <a:endParaRPr lang="en-US" sz="1200" kern="1200" dirty="0">
              <a:solidFill>
                <a:schemeClr val="tx1"/>
              </a:solidFill>
              <a:effectLst/>
              <a:latin typeface="+mn-lt"/>
              <a:cs typeface="Calibri"/>
            </a:endParaRPr>
          </a:p>
          <a:p>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a:t>
            </a:r>
            <a:r>
              <a:rPr lang="en-US" sz="1200" b="1" i="1" kern="1200" dirty="0">
                <a:solidFill>
                  <a:schemeClr val="tx1"/>
                </a:solidFill>
                <a:effectLst/>
                <a:latin typeface="+mn-lt"/>
                <a:ea typeface="+mn-ea"/>
                <a:cs typeface="+mn-cs"/>
              </a:rPr>
              <a:t>Validate:</a:t>
            </a:r>
            <a:r>
              <a:rPr lang="en-US" sz="1200" i="1" kern="1200" dirty="0">
                <a:solidFill>
                  <a:schemeClr val="tx1"/>
                </a:solidFill>
                <a:effectLst/>
                <a:latin typeface="+mn-lt"/>
                <a:ea typeface="+mn-ea"/>
                <a:cs typeface="+mn-cs"/>
              </a:rPr>
              <a:t> Do you think your staff could benefit from client sites that leverage document management appropriately to each individual, and defray any client handoff concerns? </a:t>
            </a:r>
            <a:endParaRPr lang="en-US" sz="1200" i="1" kern="1200" dirty="0">
              <a:solidFill>
                <a:schemeClr val="tx1"/>
              </a:solidFill>
              <a:effectLst/>
              <a:latin typeface="+mn-lt"/>
              <a:cs typeface="Calibri"/>
            </a:endParaRPr>
          </a:p>
          <a:p>
            <a:r>
              <a:rPr lang="en-US" sz="1200" i="1" kern="1200" dirty="0">
                <a:solidFill>
                  <a:schemeClr val="tx1"/>
                </a:solidFill>
                <a:effectLst/>
                <a:latin typeface="+mn-lt"/>
                <a:ea typeface="+mn-ea"/>
                <a:cs typeface="+mn-cs"/>
              </a:rPr>
              <a:t>If yes, Qualify for Doc Automation, Doc Collaboration, Workflow Automation, Client Engagement, Team Collaboration] </a:t>
            </a:r>
            <a:endParaRPr lang="en-US" sz="1200" i="1" kern="1200" dirty="0">
              <a:solidFill>
                <a:schemeClr val="tx1"/>
              </a:solidFill>
              <a:effectLst/>
              <a:latin typeface="+mn-lt"/>
              <a:cs typeface="Calibri"/>
            </a:endParaRPr>
          </a:p>
        </p:txBody>
      </p:sp>
      <p:sp>
        <p:nvSpPr>
          <p:cNvPr id="4" name="Slide Number Placeholder 3"/>
          <p:cNvSpPr>
            <a:spLocks noGrp="1"/>
          </p:cNvSpPr>
          <p:nvPr>
            <p:ph type="sldNum" sz="quarter" idx="5"/>
          </p:nvPr>
        </p:nvSpPr>
        <p:spPr/>
        <p:txBody>
          <a:bodyPr/>
          <a:lstStyle/>
          <a:p>
            <a:fld id="{BAAB3FD8-1E62-4142-B3B0-509B6E627B15}" type="slidenum">
              <a:rPr lang="en-US" smtClean="0"/>
              <a:t>10</a:t>
            </a:fld>
            <a:endParaRPr lang="en-US"/>
          </a:p>
        </p:txBody>
      </p:sp>
    </p:spTree>
    <p:extLst>
      <p:ext uri="{BB962C8B-B14F-4D97-AF65-F5344CB8AC3E}">
        <p14:creationId xmlns:p14="http://schemas.microsoft.com/office/powerpoint/2010/main" val="1869919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what I heard is [</a:t>
            </a:r>
            <a:r>
              <a:rPr lang="en-US" sz="1200" kern="1200" dirty="0" err="1">
                <a:solidFill>
                  <a:schemeClr val="tx1"/>
                </a:solidFill>
                <a:effectLst/>
                <a:latin typeface="+mn-lt"/>
                <a:ea typeface="+mn-ea"/>
                <a:cs typeface="+mn-cs"/>
              </a:rPr>
              <a:t>x,y,z</a:t>
            </a:r>
            <a:r>
              <a:rPr lang="en-US" sz="1200" kern="1200" dirty="0">
                <a:solidFill>
                  <a:schemeClr val="tx1"/>
                </a:solidFill>
                <a:effectLst/>
                <a:latin typeface="+mn-lt"/>
                <a:ea typeface="+mn-ea"/>
                <a:cs typeface="+mn-cs"/>
              </a:rPr>
              <a:t>] are areas where we could help you. The beauty in HighQ that it provides users with a lot of flexibility, and capabilities all in one solution. It’s extremely common for firms to start using it to address one use case, and as they get more familiar with it, they begin to expand their uses exponentially.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I’m happy to set up a demo where you’ll see these in action and you can ask questions about these processes. What date and times would work for you, and anyone else you feel could benefit?” </a:t>
            </a:r>
          </a:p>
          <a:p>
            <a:endParaRPr lang="en-US" dirty="0"/>
          </a:p>
          <a:p>
            <a:endParaRPr lang="en-US" dirty="0"/>
          </a:p>
          <a:p>
            <a:endParaRPr lang="en-US" dirty="0"/>
          </a:p>
          <a:p>
            <a:r>
              <a:rPr lang="en-US" dirty="0"/>
              <a:t>At the highest level, HighQ can help you in three ways:</a:t>
            </a:r>
          </a:p>
          <a:p>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Helps you to collaborate or engage with your clients or internal users. It’s an</a:t>
            </a:r>
            <a:r>
              <a:rPr lang="en-US" sz="1200" dirty="0"/>
              <a:t> integrated solution to work with colleagues, collaborate on projects and engage with clients</a:t>
            </a:r>
          </a:p>
          <a:p>
            <a:pPr marL="228600" indent="-228600">
              <a:buAutoNum type="arabicPeriod"/>
            </a:pP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It’s also about driving productivity &amp; efficiencies by s</a:t>
            </a:r>
            <a:r>
              <a:rPr lang="en-US" sz="1200" dirty="0"/>
              <a:t>tandardizing and automating time-consuming work and processes to help teams become more productive and efficient. O</a:t>
            </a:r>
            <a:r>
              <a:rPr lang="en-US" dirty="0"/>
              <a:t>ur workflow automation or project management tools to help your teams eliminate a lot of that manual or administrative work that can be so time consuming yet critical to client satisfaction. And, HighQ can help you standardize those processes across the firm.</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a:p>
            <a:pPr marL="228600" indent="-228600">
              <a:buAutoNum type="arabicPeriod"/>
            </a:pPr>
            <a:r>
              <a:rPr lang="en-US" dirty="0"/>
              <a:t>Lastly, you can streamline matter management, bringing together every facet  from project management, data visualization and task management. </a:t>
            </a:r>
          </a:p>
          <a:p>
            <a:endParaRPr lang="en-US" dirty="0"/>
          </a:p>
        </p:txBody>
      </p:sp>
      <p:sp>
        <p:nvSpPr>
          <p:cNvPr id="4" name="Slide Number Placeholder 3"/>
          <p:cNvSpPr>
            <a:spLocks noGrp="1"/>
          </p:cNvSpPr>
          <p:nvPr>
            <p:ph type="sldNum" sz="quarter" idx="5"/>
          </p:nvPr>
        </p:nvSpPr>
        <p:spPr/>
        <p:txBody>
          <a:bodyPr/>
          <a:lstStyle/>
          <a:p>
            <a:fld id="{BAAB3FD8-1E62-4142-B3B0-509B6E627B15}" type="slidenum">
              <a:rPr lang="en-US" smtClean="0"/>
              <a:t>11</a:t>
            </a:fld>
            <a:endParaRPr lang="en-US"/>
          </a:p>
        </p:txBody>
      </p:sp>
    </p:spTree>
    <p:extLst>
      <p:ext uri="{BB962C8B-B14F-4D97-AF65-F5344CB8AC3E}">
        <p14:creationId xmlns:p14="http://schemas.microsoft.com/office/powerpoint/2010/main" val="178746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8472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HighQ can improve many of the processes law firms have.  Looking at this list, which one of these processes are something that your firm has been looking to improve?</a:t>
            </a:r>
          </a:p>
          <a:p>
            <a:endParaRPr lang="en-US" dirty="0"/>
          </a:p>
          <a:p>
            <a:r>
              <a:rPr lang="en-US" b="1" dirty="0"/>
              <a:t>What’s involved in these processes, and also what HighQ can address: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mn-cs"/>
              </a:rPr>
              <a:t>Client Engagement - </a:t>
            </a:r>
            <a:r>
              <a:rPr lang="en-US" sz="1200" dirty="0"/>
              <a:t>Secure file sharing, pitch portals, knowledge portals, financial reporting, relationship management, tailored content delivery, online products and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mn-cs"/>
              </a:rPr>
              <a:t>Document Collaboration - </a:t>
            </a:r>
            <a:r>
              <a:rPr lang="en-US" sz="1200" dirty="0"/>
              <a:t>Document management, document automation, document analysis, approval workflow, version control, email management and filing, drafting and negotiation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mn-cs"/>
              </a:rPr>
              <a:t>Legal Project Management - </a:t>
            </a:r>
            <a:r>
              <a:rPr lang="en-US" sz="1200" dirty="0"/>
              <a:t>Team collaboration, workflow automation, financial dashboards, project status reporting, agile task management, resource management, project planning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panose="020B0604020202020204" pitchFamily="34" charset="0"/>
                <a:ea typeface="+mn-ea"/>
                <a:cs typeface="+mn-cs"/>
              </a:rPr>
              <a:t>Transaction Management - </a:t>
            </a:r>
            <a:r>
              <a:rPr lang="en-US" sz="1200" dirty="0"/>
              <a:t>Deal rooms, virtual data rooms, due diligence reviews, contract reviews, closing checklists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4D4D4D"/>
                </a:solidFill>
                <a:latin typeface="Knowledge Bold"/>
              </a:rPr>
              <a:t>Portfolio Management - </a:t>
            </a:r>
            <a:r>
              <a:rPr lang="en-US" sz="1200" dirty="0"/>
              <a:t>Real estate management, asset management, fund management, IP and trademark management</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Litigation Management - Document bundle organization and sharing, document analysis and data extraction, case research, analysis and status tracking, calendar management, financial reporting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D4D4D"/>
                </a:solidFill>
                <a:latin typeface="Knowledge Bold"/>
              </a:rPr>
              <a:t>Compliance Management - </a:t>
            </a:r>
            <a:r>
              <a:rPr lang="en-US" sz="1200" dirty="0"/>
              <a:t>Horizon scanning, impact assessment, compliance advisory, lobbying and engagement, relationship management, internal education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4D4D4D"/>
                </a:solidFill>
                <a:latin typeface="Knowledge Bold"/>
              </a:rPr>
              <a:t>Team Collaboration - </a:t>
            </a:r>
            <a:r>
              <a:rPr lang="en-US" sz="1200" dirty="0">
                <a:solidFill>
                  <a:srgbClr val="4D4D4D"/>
                </a:solidFill>
              </a:rPr>
              <a:t>Intranet portals, team workspaces, file share and sync, social collaboration, content management, knowledge sharing, online board rooms, employee engagement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D4D4D"/>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4D4D4D"/>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4D4D4D"/>
                </a:solidFill>
              </a:rPr>
              <a:t>If customer chooses a process/use case, you can go down to the use case section and show how HighQ will address it.</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34364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want to deliver the ideal client experience but need help creating personalized extranets, portals and microsites that improve the way they collaborate, communicate and provide value-added services to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0" indent="0">
              <a:lnSpc>
                <a:spcPct val="150000"/>
              </a:lnSpc>
              <a:buFont typeface="Arial" charset="0"/>
              <a:buNone/>
            </a:pPr>
            <a:r>
              <a:rPr lang="en-US" sz="1200"/>
              <a:t>The issue with most firm’s current state is:</a:t>
            </a:r>
          </a:p>
          <a:p>
            <a:pPr marL="171450" indent="-171450">
              <a:lnSpc>
                <a:spcPct val="150000"/>
              </a:lnSpc>
              <a:buFont typeface="Arial" panose="020B0604020202020204" pitchFamily="34" charset="0"/>
              <a:buChar char="•"/>
            </a:pPr>
            <a:r>
              <a:rPr lang="en-US" sz="1200">
                <a:ea typeface="FSAlbert" charset="0"/>
                <a:cs typeface="FSAlbert" charset="0"/>
              </a:rPr>
              <a:t>There’s a Lack of tools to manage client engagement and collaboration</a:t>
            </a:r>
          </a:p>
          <a:p>
            <a:pPr marL="342797" indent="-342797">
              <a:lnSpc>
                <a:spcPct val="150000"/>
              </a:lnSpc>
              <a:buFont typeface="Arial" charset="0"/>
              <a:buChar char="•"/>
            </a:pPr>
            <a:r>
              <a:rPr lang="en-US" sz="1200">
                <a:ea typeface="FSAlbert" charset="0"/>
                <a:cs typeface="FSAlbert" charset="0"/>
              </a:rPr>
              <a:t>Inefficient collaboration internally and externally</a:t>
            </a:r>
          </a:p>
          <a:p>
            <a:pPr marL="342797" indent="-342797">
              <a:lnSpc>
                <a:spcPct val="150000"/>
              </a:lnSpc>
              <a:buFont typeface="Arial" charset="0"/>
              <a:buChar char="•"/>
            </a:pPr>
            <a:r>
              <a:rPr lang="en-US" sz="1200">
                <a:ea typeface="FSAlbert" charset="0"/>
                <a:cs typeface="FSAlbert" charset="0"/>
              </a:rPr>
              <a:t>Inconsistent submission of legal service requests lack detail</a:t>
            </a:r>
          </a:p>
          <a:p>
            <a:pPr marL="342797" indent="-342797">
              <a:lnSpc>
                <a:spcPct val="150000"/>
              </a:lnSpc>
              <a:buFont typeface="Arial" charset="0"/>
              <a:buChar char="•"/>
            </a:pPr>
            <a:r>
              <a:rPr lang="en-US" sz="1200">
                <a:ea typeface="FSAlbert" charset="0"/>
                <a:cs typeface="FSAlbert" charset="0"/>
              </a:rPr>
              <a:t>Intake data not collated, tracked or analyzed </a:t>
            </a:r>
          </a:p>
          <a:p>
            <a:pPr marL="342797" indent="-342797">
              <a:lnSpc>
                <a:spcPct val="150000"/>
              </a:lnSpc>
              <a:buFont typeface="Arial" charset="0"/>
              <a:buChar char="•"/>
            </a:pPr>
            <a:r>
              <a:rPr lang="en-US" sz="1200">
                <a:ea typeface="FSAlbert" charset="0"/>
                <a:cs typeface="FSAlbert" charset="0"/>
              </a:rPr>
              <a:t>Manual allocation of legal requests to staff</a:t>
            </a:r>
          </a:p>
          <a:p>
            <a:pPr marL="342797" indent="-342797">
              <a:lnSpc>
                <a:spcPct val="150000"/>
              </a:lnSpc>
              <a:buFont typeface="Arial" charset="0"/>
              <a:buChar char="•"/>
            </a:pPr>
            <a:r>
              <a:rPr lang="en-US" sz="1200">
                <a:ea typeface="FSAlbert" charset="0"/>
                <a:cs typeface="FSAlbert" charset="0"/>
              </a:rPr>
              <a:t>Slow response times impacts the law firms’ brand</a:t>
            </a:r>
          </a:p>
          <a:p>
            <a:pPr marL="342797" indent="-342797">
              <a:lnSpc>
                <a:spcPct val="150000"/>
              </a:lnSpc>
              <a:buFont typeface="Arial" charset="0"/>
              <a:buChar char="•"/>
            </a:pPr>
            <a:r>
              <a:rPr lang="en-US" sz="1200">
                <a:ea typeface="FSAlbert" charset="0"/>
                <a:cs typeface="FSAlbert" charset="0"/>
              </a:rPr>
              <a:t>Poor transparency of status reporting</a:t>
            </a:r>
          </a:p>
          <a:p>
            <a:pPr marL="342797" indent="-342797">
              <a:lnSpc>
                <a:spcPct val="150000"/>
              </a:lnSpc>
              <a:buFont typeface="Arial" charset="0"/>
              <a:buChar char="•"/>
            </a:pPr>
            <a:r>
              <a:rPr lang="en-US" sz="1200">
                <a:ea typeface="FSAlbert" charset="0"/>
                <a:cs typeface="FSAlbert" charset="0"/>
              </a:rPr>
              <a:t>Experienced lawyers servicing low-value, routine tasks</a:t>
            </a:r>
          </a:p>
          <a:p>
            <a:pPr marL="342797" indent="-342797">
              <a:lnSpc>
                <a:spcPct val="150000"/>
              </a:lnSpc>
              <a:buFont typeface="Arial" charset="0"/>
              <a:buChar char="•"/>
            </a:pPr>
            <a:endParaRPr lang="en-US" sz="1200">
              <a:ea typeface="FSAlbert" charset="0"/>
              <a:cs typeface="FSAlbert" charset="0"/>
            </a:endParaRPr>
          </a:p>
          <a:p>
            <a:pPr marL="0" indent="0">
              <a:lnSpc>
                <a:spcPct val="150000"/>
              </a:lnSpc>
              <a:buFont typeface="Arial" charset="0"/>
              <a:buNone/>
            </a:pPr>
            <a:r>
              <a:rPr lang="en-US" sz="1200">
                <a:ea typeface="FSAlbert" charset="0"/>
                <a:cs typeface="FSAlbert" charset="0"/>
              </a:rPr>
              <a:t>How familiar does this sound to you?</a:t>
            </a:r>
          </a:p>
          <a:p>
            <a:pPr marL="0" indent="0">
              <a:lnSpc>
                <a:spcPct val="150000"/>
              </a:lnSpc>
              <a:buFont typeface="Arial" charset="0"/>
              <a:buNone/>
            </a:pPr>
            <a:endParaRPr lang="en-US" sz="1200">
              <a:ea typeface="FSAlbert" charset="0"/>
              <a:cs typeface="FSAlbert" charset="0"/>
            </a:endParaRPr>
          </a:p>
          <a:p>
            <a:pPr marL="0" indent="0">
              <a:lnSpc>
                <a:spcPct val="150000"/>
              </a:lnSpc>
              <a:buFont typeface="Arial" charset="0"/>
              <a:buNone/>
            </a:pPr>
            <a:r>
              <a:rPr lang="en-US" sz="1200">
                <a:ea typeface="FSAlbert" charset="0"/>
                <a:cs typeface="FSAlbert" charset="0"/>
              </a:rPr>
              <a:t>HighQ can help your firm with client engagement, helping you 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t>Differentiate your firm</a:t>
            </a:r>
            <a:r>
              <a:rPr lang="en-US" sz="1200"/>
              <a:t>, by b</a:t>
            </a:r>
            <a:r>
              <a:rPr lang="en-US" sz="1200">
                <a:latin typeface="+mn-lt"/>
                <a:ea typeface="FSAlbert" charset="0"/>
                <a:cs typeface="FSAlbert" charset="0"/>
              </a:rPr>
              <a:t>uilding the ultimate extranet for clients, delivering a personalized workspace where you can easily and securely share documents, collaborate on matters, deliver effective legal project management and provide value-added products and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mn-lt"/>
                <a:ea typeface="FSAlbert" charset="0"/>
                <a:cs typeface="FSAlbert" charset="0"/>
              </a:rPr>
              <a:t>Enhance client value </a:t>
            </a:r>
            <a:r>
              <a:rPr lang="en-US" sz="1200">
                <a:latin typeface="+mn-lt"/>
                <a:ea typeface="FSAlbert" charset="0"/>
                <a:cs typeface="FSAlbert" charset="0"/>
              </a:rPr>
              <a:t>by of</a:t>
            </a:r>
            <a:r>
              <a:rPr lang="en-US" sz="1200"/>
              <a:t>fering clients 24-7, self-service access to expert content, systems and tools that you can quickly create, publish and manage with HighQ - from regulatory guides and comparison toolkits to real-time financial reports and self-service document assembly.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ea typeface="FSAlbert" charset="0"/>
                <a:cs typeface="FSAlbert" charset="0"/>
              </a:rPr>
              <a:t>Provide clarity &amp; visibility - </a:t>
            </a:r>
            <a:r>
              <a:rPr lang="en-US" sz="1200" err="1"/>
              <a:t>Povide</a:t>
            </a:r>
            <a:r>
              <a:rPr lang="en-US" sz="1200"/>
              <a:t> a digital interface between you and each client, giving them a transparent, unified picture of exactly where things stand. Matter status, billing details, archived projects, files and contract - they’re all there, securely managed in one single source of truth.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t>Simplify the intake process </a:t>
            </a:r>
            <a:r>
              <a:rPr lang="en-US" sz="1200"/>
              <a:t>- </a:t>
            </a:r>
            <a:r>
              <a:rPr lang="en-US" sz="1200">
                <a:ea typeface="FSAlbert" charset="0"/>
                <a:cs typeface="FSAlbert" charset="0"/>
              </a:rPr>
              <a:t>Streamline instruction and intake directly through your extranets using online forms, workflow and process automation - providing consistency of instructions, preventing delays in matter opening and progress, and leveraging the data for dashboards and reporting.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1">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a:latin typeface="+mn-lt"/>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8896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need teams to collaborate securely on documents to unlock their potential, get their work done and be more productive. They also want colleagues and clients to collaborate from anywhere, ideally on any device.</a:t>
            </a:r>
          </a:p>
          <a:p>
            <a:endParaRPr lang="en-US"/>
          </a:p>
          <a:p>
            <a:r>
              <a:rPr lang="en-US"/>
              <a:t>The issue with most firm’s current state is:</a:t>
            </a:r>
          </a:p>
          <a:p>
            <a:pPr marL="342797" indent="-342797">
              <a:lnSpc>
                <a:spcPct val="150000"/>
              </a:lnSpc>
              <a:buFont typeface="Arial" charset="0"/>
              <a:buChar char="•"/>
            </a:pPr>
            <a:r>
              <a:rPr lang="en-US" sz="1200">
                <a:ea typeface="FSAlbert" charset="0"/>
                <a:cs typeface="FSAlbert" charset="0"/>
              </a:rPr>
              <a:t>Collaboration carried out over email</a:t>
            </a:r>
          </a:p>
          <a:p>
            <a:pPr marL="342797" indent="-342797">
              <a:lnSpc>
                <a:spcPct val="150000"/>
              </a:lnSpc>
              <a:buFont typeface="Arial" charset="0"/>
              <a:buChar char="•"/>
            </a:pPr>
            <a:r>
              <a:rPr lang="en-US" sz="1200">
                <a:ea typeface="FSAlbert" charset="0"/>
                <a:cs typeface="FSAlbert" charset="0"/>
              </a:rPr>
              <a:t>Documents in silos across devices and systems</a:t>
            </a:r>
          </a:p>
          <a:p>
            <a:pPr marL="342797" indent="-342797">
              <a:lnSpc>
                <a:spcPct val="150000"/>
              </a:lnSpc>
              <a:buFont typeface="Arial" charset="0"/>
              <a:buChar char="•"/>
            </a:pPr>
            <a:r>
              <a:rPr lang="en-US" sz="1200">
                <a:ea typeface="FSAlbert" charset="0"/>
                <a:cs typeface="FSAlbert" charset="0"/>
              </a:rPr>
              <a:t>Sensitive documents not stored securely</a:t>
            </a:r>
          </a:p>
          <a:p>
            <a:pPr marL="342797" indent="-342797">
              <a:lnSpc>
                <a:spcPct val="150000"/>
              </a:lnSpc>
              <a:buFont typeface="Arial" charset="0"/>
              <a:buChar char="•"/>
            </a:pPr>
            <a:r>
              <a:rPr lang="en-US" sz="1200">
                <a:ea typeface="FSAlbert" charset="0"/>
                <a:cs typeface="FSAlbert" charset="0"/>
              </a:rPr>
              <a:t>Documents are hard to locate and search</a:t>
            </a:r>
          </a:p>
          <a:p>
            <a:pPr marL="342797" indent="-342797">
              <a:lnSpc>
                <a:spcPct val="150000"/>
              </a:lnSpc>
              <a:buFont typeface="Arial" charset="0"/>
              <a:buChar char="•"/>
            </a:pPr>
            <a:r>
              <a:rPr lang="en-US" sz="1200">
                <a:ea typeface="FSAlbert" charset="0"/>
                <a:cs typeface="FSAlbert" charset="0"/>
              </a:rPr>
              <a:t>Version conflict due to no central storage</a:t>
            </a:r>
          </a:p>
          <a:p>
            <a:pPr marL="342797" indent="-342797">
              <a:lnSpc>
                <a:spcPct val="150000"/>
              </a:lnSpc>
              <a:buFont typeface="Arial" charset="0"/>
              <a:buChar char="•"/>
            </a:pPr>
            <a:r>
              <a:rPr lang="en-US" sz="1200">
                <a:ea typeface="FSAlbert" charset="0"/>
                <a:cs typeface="FSAlbert" charset="0"/>
              </a:rPr>
              <a:t>Poor audit trail makes risk management harder</a:t>
            </a:r>
          </a:p>
          <a:p>
            <a:pPr marL="342797" indent="-342797">
              <a:lnSpc>
                <a:spcPct val="150000"/>
              </a:lnSpc>
              <a:buFont typeface="Arial" charset="0"/>
              <a:buChar char="•"/>
            </a:pPr>
            <a:r>
              <a:rPr lang="en-US" sz="1200">
                <a:ea typeface="FSAlbert" charset="0"/>
                <a:cs typeface="FSAlbert" charset="0"/>
              </a:rPr>
              <a:t>Documents inaccessible remotely</a:t>
            </a:r>
          </a:p>
          <a:p>
            <a:endParaRPr lang="en-US"/>
          </a:p>
          <a:p>
            <a:r>
              <a:rPr lang="en-US"/>
              <a:t>How familiar does this sound to you?</a:t>
            </a:r>
          </a:p>
          <a:p>
            <a:endParaRPr lang="en-US"/>
          </a:p>
          <a:p>
            <a:r>
              <a:rPr lang="en-US"/>
              <a:t>When you use HighQ for document collaboration, you’re able to:</a:t>
            </a:r>
          </a:p>
          <a:p>
            <a:pPr marL="171450" indent="-171450">
              <a:buFont typeface="Arial" panose="020B0604020202020204" pitchFamily="34" charset="0"/>
              <a:buChar char="•"/>
            </a:pPr>
            <a:r>
              <a:rPr lang="en-US" b="1"/>
              <a:t>Securely share files</a:t>
            </a:r>
          </a:p>
          <a:p>
            <a:pPr marL="171450" indent="-171450">
              <a:buFont typeface="Arial" panose="020B0604020202020204" pitchFamily="34" charset="0"/>
              <a:buChar char="•"/>
            </a:pPr>
            <a:r>
              <a:rPr lang="en-US" b="1"/>
              <a:t>Effectively collaborate on your documents across teams</a:t>
            </a:r>
          </a:p>
          <a:p>
            <a:pPr marL="171450" indent="-171450">
              <a:buFont typeface="Arial" panose="020B0604020202020204" pitchFamily="34" charset="0"/>
              <a:buChar char="•"/>
            </a:pPr>
            <a:r>
              <a:rPr lang="en-US" b="1"/>
              <a:t>Provide greater knowledge sharing by no longer living in knowledge silos, having documents stored various ways throughout the firm</a:t>
            </a:r>
          </a:p>
          <a:p>
            <a:pPr marL="171450" indent="-171450">
              <a:buFont typeface="Arial" panose="020B0604020202020204" pitchFamily="34" charset="0"/>
              <a:buChar char="•"/>
            </a:pPr>
            <a:r>
              <a:rPr lang="en-US" b="1"/>
              <a:t>Improve your project management</a:t>
            </a:r>
          </a:p>
          <a:p>
            <a:pPr marL="171450" indent="-171450">
              <a:buFont typeface="Arial" panose="020B0604020202020204" pitchFamily="34" charset="0"/>
              <a:buChar char="•"/>
            </a:pPr>
            <a:r>
              <a:rPr lang="en-US" b="1"/>
              <a:t>Enhance external collaboration by securely sharing files &amp; project information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8916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want to simplify and unify their LPM methodology, but need help bringing all the people, files, knowledge, data, tasks, timelines and notifications that surround their projects together in one place.</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 with most firm’s current state is:</a:t>
            </a:r>
          </a:p>
          <a:p>
            <a:pPr marL="342797" indent="-342797">
              <a:lnSpc>
                <a:spcPct val="150000"/>
              </a:lnSpc>
              <a:buFont typeface="Arial" charset="0"/>
              <a:buChar char="•"/>
            </a:pPr>
            <a:r>
              <a:rPr lang="en-US" sz="1200">
                <a:ea typeface="FSAlbert" charset="0"/>
                <a:cs typeface="FSAlbert" charset="0"/>
              </a:rPr>
              <a:t>Low budget predictability and spend visibility</a:t>
            </a:r>
          </a:p>
          <a:p>
            <a:pPr marL="342797" indent="-342797">
              <a:lnSpc>
                <a:spcPct val="150000"/>
              </a:lnSpc>
              <a:buFont typeface="Arial" charset="0"/>
              <a:buChar char="•"/>
            </a:pPr>
            <a:r>
              <a:rPr lang="en-US" sz="1200">
                <a:ea typeface="FSAlbert" charset="0"/>
                <a:cs typeface="FSAlbert" charset="0"/>
              </a:rPr>
              <a:t>Poor operational efficiency and cost-effectiveness</a:t>
            </a:r>
          </a:p>
          <a:p>
            <a:pPr marL="342797" indent="-342797">
              <a:lnSpc>
                <a:spcPct val="150000"/>
              </a:lnSpc>
              <a:buFont typeface="Arial" charset="0"/>
              <a:buChar char="•"/>
            </a:pPr>
            <a:r>
              <a:rPr lang="en-US" sz="1200">
                <a:ea typeface="FSAlbert" charset="0"/>
                <a:cs typeface="FSAlbert" charset="0"/>
              </a:rPr>
              <a:t>Low transparency over workload and performance</a:t>
            </a:r>
          </a:p>
          <a:p>
            <a:pPr marL="342797" indent="-342797">
              <a:lnSpc>
                <a:spcPct val="150000"/>
              </a:lnSpc>
              <a:buFont typeface="Arial" charset="0"/>
              <a:buChar char="•"/>
            </a:pPr>
            <a:r>
              <a:rPr lang="en-US" sz="1200">
                <a:ea typeface="FSAlbert" charset="0"/>
                <a:cs typeface="FSAlbert" charset="0"/>
              </a:rPr>
              <a:t>Infrequent financial reporting / cost-overruns</a:t>
            </a:r>
          </a:p>
          <a:p>
            <a:pPr marL="342797" indent="-342797">
              <a:lnSpc>
                <a:spcPct val="150000"/>
              </a:lnSpc>
              <a:buFont typeface="Arial" charset="0"/>
              <a:buChar char="•"/>
            </a:pPr>
            <a:r>
              <a:rPr lang="en-US" sz="1200">
                <a:ea typeface="FSAlbert" charset="0"/>
                <a:cs typeface="FSAlbert" charset="0"/>
              </a:rPr>
              <a:t>Poor visibility over matter status and risk</a:t>
            </a:r>
          </a:p>
          <a:p>
            <a:pPr marL="342797" indent="-342797">
              <a:lnSpc>
                <a:spcPct val="150000"/>
              </a:lnSpc>
              <a:buFont typeface="Arial" charset="0"/>
              <a:buChar char="•"/>
            </a:pPr>
            <a:r>
              <a:rPr lang="en-US" sz="1200">
                <a:ea typeface="FSAlbert" charset="0"/>
                <a:cs typeface="FSAlbert" charset="0"/>
              </a:rPr>
              <a:t>Insufficient legal project management</a:t>
            </a:r>
          </a:p>
          <a:p>
            <a:pPr marL="342797" indent="-342797">
              <a:lnSpc>
                <a:spcPct val="150000"/>
              </a:lnSpc>
              <a:buFont typeface="Arial" charset="0"/>
              <a:buChar char="•"/>
            </a:pPr>
            <a:r>
              <a:rPr lang="en-US" sz="1200">
                <a:ea typeface="FSAlbert" charset="0"/>
                <a:cs typeface="FSAlbert" charset="0"/>
              </a:rPr>
              <a:t>No task or resource management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Does any of this resonate with you?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r>
              <a:rPr lang="en-US"/>
              <a:t>When you use HighQ for legal project management, your firm can: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Improve legal processes - </a:t>
            </a:r>
            <a:r>
              <a:rPr lang="en-US" sz="1200">
                <a:latin typeface="+mn-lt"/>
                <a:ea typeface="FSAlbert" charset="0"/>
                <a:cs typeface="FSAlbert" charset="0"/>
              </a:rPr>
              <a:t>HighQ empowers you to systematize legal projects and eliminate manual steps along the way. Automated task lists, templates, workflow and other capabilities help you deliver more cost-effective services with fewer resources, increasing margins regardless of fee arrangement.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mn-lt"/>
                <a:ea typeface="FSAlbert" charset="0"/>
                <a:cs typeface="FSAlbert" charset="0"/>
              </a:rPr>
              <a:t>Introduce transparency - </a:t>
            </a:r>
            <a:r>
              <a:rPr lang="en-US" sz="1200">
                <a:latin typeface="Knowledge Light" panose="020B0506040000020004" pitchFamily="34" charset="0"/>
              </a:rPr>
              <a:t>Clients want to know that you’re handling their legal matters efficiently and protecting against risk. With HighQ, your firm can deliver a best practice approach - providing real-time access to spend-versus-budget dashboards, project risk trackers, status updates and automated alerts.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Knowledge Light" panose="020B0506040000020004" pitchFamily="34" charset="0"/>
                <a:ea typeface="FSAlbert" charset="0"/>
                <a:cs typeface="FSAlbert" charset="0"/>
              </a:rPr>
              <a:t>Manage everything in one location - </a:t>
            </a:r>
            <a:r>
              <a:rPr lang="en-US" sz="1200">
                <a:solidFill>
                  <a:srgbClr val="4D4D4D"/>
                </a:solidFill>
                <a:latin typeface="Knowledge Light" panose="020B0506040000020004" pitchFamily="34" charset="0"/>
                <a:ea typeface="FSAlbert" charset="0"/>
                <a:cs typeface="FSAlbert" charset="0"/>
              </a:rPr>
              <a:t>HighQ combines tasks, notifications, reports, dashboards and other LPM features with tools like workflow, document management, collaboration and messaging. So with one </a:t>
            </a:r>
            <a:r>
              <a:rPr lang="en-US" sz="1200">
                <a:solidFill>
                  <a:srgbClr val="4D4D4D"/>
                </a:solidFill>
                <a:ea typeface="FSAlbert" charset="0"/>
                <a:cs typeface="FSAlbert" charset="0"/>
              </a:rPr>
              <a:t>solution</a:t>
            </a:r>
            <a:r>
              <a:rPr lang="en-US" sz="1200">
                <a:solidFill>
                  <a:srgbClr val="4D4D4D"/>
                </a:solidFill>
                <a:latin typeface="Knowledge Light" panose="020B0506040000020004" pitchFamily="34" charset="0"/>
                <a:ea typeface="FSAlbert" charset="0"/>
                <a:cs typeface="FSAlbert" charset="0"/>
              </a:rPr>
              <a:t>, both your team and your client can manage projects, work and communicate more efficiently than ever.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4D4D4D"/>
                </a:solidFill>
                <a:latin typeface="Knowledge Light" panose="020B0506040000020004" pitchFamily="34" charset="0"/>
                <a:ea typeface="FSAlbert" charset="0"/>
                <a:cs typeface="FSAlbert" charset="0"/>
              </a:rPr>
              <a:t>Clarify project scope &amp; cost - </a:t>
            </a:r>
            <a:r>
              <a:rPr lang="en-US" sz="1200">
                <a:solidFill>
                  <a:srgbClr val="4D4D4D"/>
                </a:solidFill>
                <a:ea typeface="FSAlbert" charset="0"/>
                <a:cs typeface="FSAlbert" charset="0"/>
              </a:rPr>
              <a:t>Collect and analyze matter data in dashboards and reports, dramatically improving the effectiveness of your pitch. You’ll know what resources are needed, how long each step will take, what a project will cost, as well as the risks - and be able to create task lists and timelines so that your client knows too.</a:t>
            </a:r>
            <a:endParaRPr lang="en-GB" sz="1200">
              <a:solidFill>
                <a:srgbClr val="4D4D4D"/>
              </a:solidFill>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a:solidFill>
                <a:srgbClr val="4D4D4D"/>
              </a:solidFill>
              <a:latin typeface="Knowledge Light" panose="020B0506040000020004" pitchFamily="34" charset="0"/>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1">
              <a:latin typeface="Knowledge Light" panose="020B0506040000020004" pitchFamily="34" charset="0"/>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1">
              <a:latin typeface="+mn-lt"/>
              <a:ea typeface="FSAlbert" charset="0"/>
              <a:cs typeface="FSAlbert" charset="0"/>
            </a:endParaRPr>
          </a:p>
          <a:p>
            <a:endParaRPr lang="en-US" b="1"/>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6641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want to add efficiency and transparency to M&amp;A, property and other deals but need help creating a centralized, secure place to manage all documents, diligence, signatures, checklists, tasks and data.</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 with most firm’s current state is:</a:t>
            </a:r>
          </a:p>
          <a:p>
            <a:pPr marL="342797" indent="-342797">
              <a:lnSpc>
                <a:spcPct val="150000"/>
              </a:lnSpc>
              <a:buFont typeface="Arial" charset="0"/>
              <a:buChar char="•"/>
            </a:pPr>
            <a:r>
              <a:rPr lang="en-US" sz="1200">
                <a:ea typeface="FSAlbert" charset="0"/>
                <a:cs typeface="FSAlbert" charset="0"/>
              </a:rPr>
              <a:t>Poor process visibility</a:t>
            </a:r>
          </a:p>
          <a:p>
            <a:pPr marL="342797" indent="-342797">
              <a:lnSpc>
                <a:spcPct val="150000"/>
              </a:lnSpc>
              <a:buFont typeface="Arial" charset="0"/>
              <a:buChar char="•"/>
            </a:pPr>
            <a:r>
              <a:rPr lang="en-US" sz="1200">
                <a:ea typeface="FSAlbert" charset="0"/>
                <a:cs typeface="FSAlbert" charset="0"/>
              </a:rPr>
              <a:t>Slow turnaround times</a:t>
            </a:r>
          </a:p>
          <a:p>
            <a:pPr marL="342797" indent="-342797">
              <a:lnSpc>
                <a:spcPct val="150000"/>
              </a:lnSpc>
              <a:buFont typeface="Arial" charset="0"/>
              <a:buChar char="•"/>
            </a:pPr>
            <a:r>
              <a:rPr lang="en-US" sz="1200">
                <a:ea typeface="FSAlbert" charset="0"/>
                <a:cs typeface="FSAlbert" charset="0"/>
              </a:rPr>
              <a:t>Delayed execution</a:t>
            </a:r>
          </a:p>
          <a:p>
            <a:pPr marL="342797" indent="-342797">
              <a:lnSpc>
                <a:spcPct val="150000"/>
              </a:lnSpc>
              <a:buFont typeface="Arial" charset="0"/>
              <a:buChar char="•"/>
            </a:pPr>
            <a:r>
              <a:rPr lang="en-US" sz="1200">
                <a:ea typeface="FSAlbert" charset="0"/>
                <a:cs typeface="FSAlbert" charset="0"/>
              </a:rPr>
              <a:t>Lost transaction value</a:t>
            </a:r>
          </a:p>
          <a:p>
            <a:pPr marL="342797" indent="-342797">
              <a:lnSpc>
                <a:spcPct val="150000"/>
              </a:lnSpc>
              <a:buFont typeface="Arial" charset="0"/>
              <a:buChar char="•"/>
            </a:pPr>
            <a:r>
              <a:rPr lang="en-US" sz="1200">
                <a:ea typeface="FSAlbert" charset="0"/>
                <a:cs typeface="FSAlbert" charset="0"/>
              </a:rPr>
              <a:t>Increased business risk</a:t>
            </a:r>
          </a:p>
          <a:p>
            <a:pPr marL="342797" indent="-342797">
              <a:lnSpc>
                <a:spcPct val="150000"/>
              </a:lnSpc>
              <a:buFont typeface="Arial" charset="0"/>
              <a:buChar char="•"/>
            </a:pPr>
            <a:r>
              <a:rPr lang="en-US" sz="1200">
                <a:ea typeface="FSAlbert" charset="0"/>
                <a:cs typeface="FSAlbert" charset="0"/>
              </a:rPr>
              <a:t>Lack of central repository of transaction data</a:t>
            </a:r>
          </a:p>
          <a:p>
            <a:pPr marL="342797" indent="-342797">
              <a:lnSpc>
                <a:spcPct val="150000"/>
              </a:lnSpc>
              <a:buFont typeface="Arial" charset="0"/>
              <a:buChar char="•"/>
            </a:pPr>
            <a:r>
              <a:rPr lang="en-US" sz="1200">
                <a:ea typeface="FSAlbert" charset="0"/>
                <a:cs typeface="FSAlbert" charset="0"/>
              </a:rPr>
              <a:t>Poor visibility and control of legal spend</a:t>
            </a:r>
          </a:p>
          <a:p>
            <a:pPr marL="342797" indent="-342797">
              <a:lnSpc>
                <a:spcPct val="150000"/>
              </a:lnSpc>
              <a:buFont typeface="Arial" charset="0"/>
              <a:buChar char="•"/>
            </a:pPr>
            <a:r>
              <a:rPr lang="en-US" sz="1200">
                <a:ea typeface="FSAlbert" charset="0"/>
                <a:cs typeface="FSAlbert" charset="0"/>
              </a:rPr>
              <a:t>Lack of standardized transaction handling</a:t>
            </a:r>
          </a:p>
          <a:p>
            <a:pPr marL="342797" indent="-342797">
              <a:lnSpc>
                <a:spcPct val="150000"/>
              </a:lnSpc>
              <a:buFont typeface="Arial" charset="0"/>
              <a:buChar char="•"/>
            </a:pPr>
            <a:r>
              <a:rPr lang="en-US" sz="1200">
                <a:ea typeface="FSAlbert" charset="0"/>
                <a:cs typeface="FSAlbert" charset="0"/>
              </a:rPr>
              <a:t>No real time status reporting</a:t>
            </a:r>
          </a:p>
          <a:p>
            <a:endParaRPr lang="en-US"/>
          </a:p>
          <a:p>
            <a:r>
              <a:rPr lang="en-US"/>
              <a:t>Sound familiar?</a:t>
            </a:r>
          </a:p>
          <a:p>
            <a:endParaRPr lang="en-US"/>
          </a:p>
          <a:p>
            <a:r>
              <a:rPr lang="en-US"/>
              <a:t>With HighQ for transaction management you can: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Provide real-time status reporting - </a:t>
            </a:r>
            <a:r>
              <a:rPr lang="en-US" sz="1200">
                <a:latin typeface="+mn-lt"/>
                <a:ea typeface="FSAlbert" charset="0"/>
                <a:cs typeface="FSAlbert" charset="0"/>
              </a:rPr>
              <a:t>Transparency and accountability are key to better deal outcomes, and HighQ helps you deliver both. Quickly review dashboards that display real-time project status, tasks, activities, financial metrics and risk analysis for your team, clients and other parties.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mn-lt"/>
                <a:ea typeface="FSAlbert" charset="0"/>
                <a:cs typeface="FSAlbert" charset="0"/>
              </a:rPr>
              <a:t>Automate &amp; streamline workflows - </a:t>
            </a:r>
            <a:r>
              <a:rPr lang="en-US" sz="1200"/>
              <a:t>Automate and standardize time-consuming, manual transaction processes like assigning work, analyzing documents, generating reports and routing documents to signatories - so your team can focus on more valuable, strategic tasks and complete deals more efficiently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mn-lt"/>
                <a:ea typeface="FSAlbert" charset="0"/>
                <a:cs typeface="FSAlbert" charset="0"/>
              </a:rPr>
              <a:t>Effectively mitigate risk - </a:t>
            </a:r>
            <a:r>
              <a:rPr lang="en-US" sz="1200">
                <a:solidFill>
                  <a:srgbClr val="4D4D4D"/>
                </a:solidFill>
                <a:ea typeface="FSAlbert" charset="0"/>
                <a:cs typeface="FSAlbert" charset="0"/>
              </a:rPr>
              <a:t>Whether you want to automatically classify documents with AI tools, quickly identify contracts and clauses that present risk, make faster decisions with analytics, or deploy agile project management, HighQ adds velocity to your deal process and helps manage deal risk for your clients.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4D4D4D"/>
                </a:solidFill>
                <a:ea typeface="FSAlbert" charset="0"/>
                <a:cs typeface="FSAlbert" charset="0"/>
              </a:rPr>
              <a:t>Accelerate deal execution - </a:t>
            </a:r>
            <a:r>
              <a:rPr lang="en-US" sz="1200">
                <a:solidFill>
                  <a:srgbClr val="4D4D4D"/>
                </a:solidFill>
                <a:ea typeface="FSAlbert" charset="0"/>
                <a:cs typeface="FSAlbert" charset="0"/>
              </a:rPr>
              <a:t>Disclosing sensitive documentation is a critical part of most deals. HighQ enables you to securely structure, categorize and share documents for review, with audit trails and reporting, advanced Q&amp;A, user </a:t>
            </a:r>
            <a:r>
              <a:rPr lang="en-US" sz="1200" err="1">
                <a:solidFill>
                  <a:srgbClr val="4D4D4D"/>
                </a:solidFill>
                <a:ea typeface="FSAlbert" charset="0"/>
                <a:cs typeface="FSAlbert" charset="0"/>
              </a:rPr>
              <a:t>permissioning</a:t>
            </a:r>
            <a:r>
              <a:rPr lang="en-US" sz="1200">
                <a:solidFill>
                  <a:srgbClr val="4D4D4D"/>
                </a:solidFill>
                <a:ea typeface="FSAlbert" charset="0"/>
                <a:cs typeface="FSAlbert" charset="0"/>
              </a:rPr>
              <a:t> and digital rights management—ensuring sensitive information doesn’t get into the wrong hands.</a:t>
            </a:r>
            <a:endParaRPr lang="en-GB" sz="1200">
              <a:solidFill>
                <a:srgbClr val="4D4D4D"/>
              </a:solidFill>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a:solidFill>
                <a:srgbClr val="4D4D4D"/>
              </a:solidFill>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1">
              <a:latin typeface="+mn-lt"/>
              <a:ea typeface="FSAlbert" charset="0"/>
              <a:cs typeface="FSAlbert" charset="0"/>
            </a:endParaRPr>
          </a:p>
          <a:p>
            <a:pPr marL="171450" indent="-171450">
              <a:buFont typeface="Arial" panose="020B0604020202020204" pitchFamily="34" charset="0"/>
              <a:buChar char="•"/>
            </a:pPr>
            <a:endParaRPr lang="en-US" b="1"/>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482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wants to capture, store and search all information and files related to their portfolio but need help easily managing and keeping track of a wide range of portfolios, from private equity investments and real estate assets to trademarks.</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 with most firm’s current state is:</a:t>
            </a:r>
          </a:p>
          <a:p>
            <a:pPr marL="342797" indent="-342797">
              <a:lnSpc>
                <a:spcPct val="150000"/>
              </a:lnSpc>
              <a:buFont typeface="Arial" charset="0"/>
              <a:buChar char="•"/>
            </a:pPr>
            <a:r>
              <a:rPr lang="en-US" sz="1200">
                <a:ea typeface="FSAlbert" charset="0"/>
                <a:cs typeface="FSAlbert" charset="0"/>
              </a:rPr>
              <a:t>Poor process visibility</a:t>
            </a:r>
          </a:p>
          <a:p>
            <a:pPr marL="342797" indent="-342797">
              <a:lnSpc>
                <a:spcPct val="150000"/>
              </a:lnSpc>
              <a:buFont typeface="Arial" charset="0"/>
              <a:buChar char="•"/>
            </a:pPr>
            <a:r>
              <a:rPr lang="en-US" sz="1200">
                <a:ea typeface="FSAlbert" charset="0"/>
                <a:cs typeface="FSAlbert" charset="0"/>
              </a:rPr>
              <a:t>Slow turnaround times</a:t>
            </a:r>
          </a:p>
          <a:p>
            <a:pPr marL="342797" indent="-342797">
              <a:lnSpc>
                <a:spcPct val="150000"/>
              </a:lnSpc>
              <a:buFont typeface="Arial" charset="0"/>
              <a:buChar char="•"/>
            </a:pPr>
            <a:r>
              <a:rPr lang="en-US" sz="1200">
                <a:ea typeface="FSAlbert" charset="0"/>
                <a:cs typeface="FSAlbert" charset="0"/>
              </a:rPr>
              <a:t>Delayed execution</a:t>
            </a:r>
          </a:p>
          <a:p>
            <a:pPr marL="342797" indent="-342797">
              <a:lnSpc>
                <a:spcPct val="150000"/>
              </a:lnSpc>
              <a:buFont typeface="Arial" charset="0"/>
              <a:buChar char="•"/>
            </a:pPr>
            <a:r>
              <a:rPr lang="en-US" sz="1200">
                <a:ea typeface="FSAlbert" charset="0"/>
                <a:cs typeface="FSAlbert" charset="0"/>
              </a:rPr>
              <a:t>Lost asset value</a:t>
            </a:r>
          </a:p>
          <a:p>
            <a:pPr marL="342797" indent="-342797">
              <a:lnSpc>
                <a:spcPct val="150000"/>
              </a:lnSpc>
              <a:buFont typeface="Arial" charset="0"/>
              <a:buChar char="•"/>
            </a:pPr>
            <a:r>
              <a:rPr lang="en-US" sz="1200">
                <a:ea typeface="FSAlbert" charset="0"/>
                <a:cs typeface="FSAlbert" charset="0"/>
              </a:rPr>
              <a:t>Increased business risk</a:t>
            </a:r>
          </a:p>
          <a:p>
            <a:pPr marL="342797" indent="-342797">
              <a:lnSpc>
                <a:spcPct val="150000"/>
              </a:lnSpc>
              <a:buFont typeface="Arial" charset="0"/>
              <a:buChar char="•"/>
            </a:pPr>
            <a:r>
              <a:rPr lang="en-US" sz="1200">
                <a:ea typeface="FSAlbert" charset="0"/>
                <a:cs typeface="FSAlbert" charset="0"/>
              </a:rPr>
              <a:t>Lack of central repository of portfolio data</a:t>
            </a:r>
          </a:p>
          <a:p>
            <a:pPr marL="342797" indent="-342797">
              <a:lnSpc>
                <a:spcPct val="150000"/>
              </a:lnSpc>
              <a:buFont typeface="Arial" charset="0"/>
              <a:buChar char="•"/>
            </a:pPr>
            <a:r>
              <a:rPr lang="en-US" sz="1200">
                <a:ea typeface="FSAlbert" charset="0"/>
                <a:cs typeface="FSAlbert" charset="0"/>
              </a:rPr>
              <a:t>Poor visibility and control of legal spend</a:t>
            </a:r>
          </a:p>
          <a:p>
            <a:pPr marL="342797" indent="-342797">
              <a:lnSpc>
                <a:spcPct val="150000"/>
              </a:lnSpc>
              <a:buFont typeface="Arial" charset="0"/>
              <a:buChar char="•"/>
            </a:pPr>
            <a:r>
              <a:rPr lang="en-US" sz="1200">
                <a:ea typeface="FSAlbert" charset="0"/>
                <a:cs typeface="FSAlbert" charset="0"/>
              </a:rPr>
              <a:t>Lack of standardized portfolio handling</a:t>
            </a:r>
          </a:p>
          <a:p>
            <a:pPr marL="342797" indent="-342797">
              <a:lnSpc>
                <a:spcPct val="150000"/>
              </a:lnSpc>
              <a:buFont typeface="Arial" charset="0"/>
              <a:buChar char="•"/>
            </a:pPr>
            <a:r>
              <a:rPr lang="en-US" sz="1200">
                <a:ea typeface="FSAlbert" charset="0"/>
                <a:cs typeface="FSAlbert" charset="0"/>
              </a:rPr>
              <a:t>No real time status reporting</a:t>
            </a:r>
            <a:endParaRPr lang="en-US" sz="1200">
              <a:ea typeface="FSAlbert" charset="0"/>
            </a:endParaRPr>
          </a:p>
          <a:p>
            <a:endParaRPr lang="en-US"/>
          </a:p>
          <a:p>
            <a:r>
              <a:rPr lang="en-US"/>
              <a:t>What sounds familiar to you?</a:t>
            </a:r>
          </a:p>
          <a:p>
            <a:endParaRPr lang="en-US"/>
          </a:p>
          <a:p>
            <a:r>
              <a:rPr lang="en-US"/>
              <a:t>With HighQ for Portfolio Management, your firm is able to: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a:t>Flexibly capture data - </a:t>
            </a:r>
            <a:r>
              <a:rPr lang="en-US" sz="1200">
                <a:latin typeface="+mn-lt"/>
                <a:ea typeface="FSAlbert" charset="0"/>
                <a:cs typeface="FSAlbert" charset="0"/>
              </a:rPr>
              <a:t>Create highly-flexible spreadsheets and databases for easy data capture, access and maintenance of portfolio assets. Easily filter asset information by certain criteria to quickly gain a view and comparison of specific data you need relating to one or more assets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latin typeface="+mn-lt"/>
                <a:ea typeface="FSAlbert" charset="0"/>
                <a:cs typeface="FSAlbert" charset="0"/>
              </a:rPr>
              <a:t>Provide detailed reports &amp; auditing - </a:t>
            </a:r>
            <a:r>
              <a:rPr lang="en-US" sz="1200"/>
              <a:t>Audit every file and action using criteria such as date, user, organization, folder, file or action. It’s easy to review the full version history of a file or see who has accessed it, sent a link or read a particular version.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ea typeface="FSAlbert" charset="0"/>
                <a:cs typeface="FSAlbert" charset="0"/>
              </a:rPr>
              <a:t>Manage everything in one place </a:t>
            </a:r>
            <a:r>
              <a:rPr lang="en-US" sz="1200">
                <a:ea typeface="FSAlbert" charset="0"/>
                <a:cs typeface="FSAlbert" charset="0"/>
              </a:rPr>
              <a:t>- Maintaining everything within one online space means that you no longer have to work in multiple solutions, emailing spreadsheets around, and manually updating portfolio metrics. Workflows are efficient, costs are streamlined and security is tightened.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ea typeface="FSAlbert" charset="0"/>
                <a:cs typeface="FSAlbert" charset="0"/>
              </a:rPr>
              <a:t>Provide advanced levels of permission - </a:t>
            </a:r>
            <a:r>
              <a:rPr lang="en-US" sz="1200">
                <a:ea typeface="FSAlbert" charset="0"/>
                <a:cs typeface="FSAlbert" charset="0"/>
              </a:rPr>
              <a:t>Control permissions at a granular level and manage access to rooms, folders and files for buyers, sellers and advisors. Sensitive documents can be fully protected with digital rights management with no need for client side plugins.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ea typeface="FSAlbert" charset="0"/>
                <a:cs typeface="FSAlbert" charset="0"/>
              </a:rPr>
              <a:t>Rest easy with enterprise-grade security - </a:t>
            </a:r>
            <a:r>
              <a:rPr lang="en-US" sz="1200">
                <a:ea typeface="FSAlbert" charset="0"/>
                <a:cs typeface="FSAlbert" charset="0"/>
              </a:rPr>
              <a:t>HighQ is ISO 27001 certified and our products are independently audited and tested. We are trusted by many of the world’s leading law firms, financial institutions and corporations to securely exchange sensitive information on business-critical, time-sensitive transactions.</a:t>
            </a:r>
            <a:endParaRPr lang="en-GB" sz="1200">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b="1">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a:ea typeface="FSAlbert" charset="0"/>
              <a:cs typeface="FSAlbert"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a:latin typeface="+mn-lt"/>
              <a:ea typeface="FSAlbert" charset="0"/>
              <a:cs typeface="FSAlbert"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a:latin typeface="+mn-lt"/>
              <a:ea typeface="FSAlbert" charset="0"/>
              <a:cs typeface="FSAlbert" charset="0"/>
            </a:endParaRPr>
          </a:p>
          <a:p>
            <a:endParaRPr lang="en-US" b="1"/>
          </a:p>
          <a:p>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0688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want anywhere, anytime access to the critical documents and details of a case but need somewhere to manage tasks plus store and track disclosures, evidence, depositions and invoices.</a:t>
            </a:r>
          </a:p>
          <a:p>
            <a:endParaRPr lang="en-GB"/>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 with most firm’s current state is:</a:t>
            </a:r>
          </a:p>
          <a:p>
            <a:pPr marL="342797" indent="-342797">
              <a:lnSpc>
                <a:spcPct val="150000"/>
              </a:lnSpc>
              <a:buFont typeface="Arial" charset="0"/>
              <a:buChar char="•"/>
            </a:pPr>
            <a:r>
              <a:rPr lang="en-US" sz="1200">
                <a:ea typeface="FSAlbert" charset="0"/>
                <a:cs typeface="FSAlbert" charset="0"/>
              </a:rPr>
              <a:t>Poor process visibility</a:t>
            </a:r>
          </a:p>
          <a:p>
            <a:pPr marL="342797" indent="-342797">
              <a:lnSpc>
                <a:spcPct val="150000"/>
              </a:lnSpc>
              <a:buFont typeface="Arial" charset="0"/>
              <a:buChar char="•"/>
            </a:pPr>
            <a:r>
              <a:rPr lang="en-US" sz="1200">
                <a:ea typeface="FSAlbert" charset="0"/>
                <a:cs typeface="FSAlbert" charset="0"/>
              </a:rPr>
              <a:t>Lost litigation value</a:t>
            </a:r>
          </a:p>
          <a:p>
            <a:pPr marL="342797" indent="-342797">
              <a:lnSpc>
                <a:spcPct val="150000"/>
              </a:lnSpc>
              <a:buFont typeface="Arial" charset="0"/>
              <a:buChar char="•"/>
            </a:pPr>
            <a:r>
              <a:rPr lang="en-US" sz="1200">
                <a:ea typeface="FSAlbert" charset="0"/>
                <a:cs typeface="FSAlbert" charset="0"/>
              </a:rPr>
              <a:t>Increased business risk</a:t>
            </a:r>
          </a:p>
          <a:p>
            <a:pPr marL="342797" indent="-342797">
              <a:lnSpc>
                <a:spcPct val="150000"/>
              </a:lnSpc>
              <a:buFont typeface="Arial" charset="0"/>
              <a:buChar char="•"/>
            </a:pPr>
            <a:r>
              <a:rPr lang="en-US" sz="1200">
                <a:ea typeface="FSAlbert" charset="0"/>
                <a:cs typeface="FSAlbert" charset="0"/>
              </a:rPr>
              <a:t>Slow turnaround times and delayed execution</a:t>
            </a:r>
          </a:p>
          <a:p>
            <a:pPr marL="342797" indent="-342797">
              <a:lnSpc>
                <a:spcPct val="150000"/>
              </a:lnSpc>
              <a:buFont typeface="Arial" charset="0"/>
              <a:buChar char="•"/>
            </a:pPr>
            <a:r>
              <a:rPr lang="en-US" sz="1200">
                <a:ea typeface="FSAlbert" charset="0"/>
                <a:cs typeface="FSAlbert" charset="0"/>
              </a:rPr>
              <a:t>Infrequent financial reporting / cost-overruns</a:t>
            </a:r>
          </a:p>
          <a:p>
            <a:pPr marL="342797" indent="-342797">
              <a:lnSpc>
                <a:spcPct val="150000"/>
              </a:lnSpc>
              <a:buFont typeface="Arial" charset="0"/>
              <a:buChar char="•"/>
            </a:pPr>
            <a:r>
              <a:rPr lang="en-US" sz="1200">
                <a:ea typeface="FSAlbert" charset="0"/>
                <a:cs typeface="FSAlbert" charset="0"/>
              </a:rPr>
              <a:t>Lack of central repository of litigation data</a:t>
            </a:r>
          </a:p>
          <a:p>
            <a:pPr marL="342797" indent="-342797">
              <a:lnSpc>
                <a:spcPct val="150000"/>
              </a:lnSpc>
              <a:buFont typeface="Arial" charset="0"/>
              <a:buChar char="•"/>
            </a:pPr>
            <a:r>
              <a:rPr lang="en-US" sz="1200">
                <a:ea typeface="FSAlbert" charset="0"/>
                <a:cs typeface="FSAlbert" charset="0"/>
              </a:rPr>
              <a:t>Poor visibility and control of legal spend</a:t>
            </a:r>
          </a:p>
          <a:p>
            <a:pPr marL="342797" indent="-342797">
              <a:lnSpc>
                <a:spcPct val="150000"/>
              </a:lnSpc>
              <a:buFont typeface="Arial" charset="0"/>
              <a:buChar char="•"/>
            </a:pPr>
            <a:r>
              <a:rPr lang="en-US" sz="1200">
                <a:ea typeface="FSAlbert" charset="0"/>
                <a:cs typeface="FSAlbert" charset="0"/>
              </a:rPr>
              <a:t>Lack of standardized litigation handling</a:t>
            </a:r>
          </a:p>
          <a:p>
            <a:pPr marL="342797" indent="-342797">
              <a:lnSpc>
                <a:spcPct val="150000"/>
              </a:lnSpc>
              <a:buFont typeface="Arial" charset="0"/>
              <a:buChar char="•"/>
            </a:pPr>
            <a:r>
              <a:rPr lang="en-US" sz="1200">
                <a:ea typeface="FSAlbert" charset="0"/>
                <a:cs typeface="FSAlbert" charset="0"/>
              </a:rPr>
              <a:t>No real time status reporting</a:t>
            </a:r>
          </a:p>
          <a:p>
            <a:pPr marL="342797" indent="-342797">
              <a:lnSpc>
                <a:spcPct val="150000"/>
              </a:lnSpc>
              <a:buFont typeface="Arial" charset="0"/>
              <a:buChar char="•"/>
            </a:pPr>
            <a:endParaRPr lang="en-US" sz="1200">
              <a:ea typeface="FSAlbert" charset="0"/>
              <a:cs typeface="FSAlbert" charset="0"/>
            </a:endParaRPr>
          </a:p>
          <a:p>
            <a:pPr marL="0" indent="0">
              <a:lnSpc>
                <a:spcPct val="150000"/>
              </a:lnSpc>
              <a:buFont typeface="Arial" charset="0"/>
              <a:buNone/>
            </a:pPr>
            <a:r>
              <a:rPr lang="en-US" sz="1200">
                <a:ea typeface="FSAlbert" charset="0"/>
                <a:cs typeface="FSAlbert" charset="0"/>
              </a:rPr>
              <a:t>HighQ can help with litigation management to:</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b="1">
                <a:ea typeface="FSAlbert" charset="0"/>
                <a:cs typeface="FSAlbert" charset="0"/>
              </a:rPr>
              <a:t>Automate routine tasks – </a:t>
            </a:r>
            <a:r>
              <a:rPr lang="en-US" sz="1200" b="0">
                <a:ea typeface="FSAlbert" charset="0"/>
                <a:cs typeface="FSAlbert" charset="0"/>
              </a:rPr>
              <a:t>Many firms cite spending </a:t>
            </a:r>
            <a:r>
              <a:rPr lang="en-US" sz="1200">
                <a:latin typeface="+mn-lt"/>
                <a:ea typeface="FSAlbert" charset="0"/>
                <a:cs typeface="FSAlbert" charset="0"/>
              </a:rPr>
              <a:t>too much time is spent on non-billable, administrative work. HighQ changes that equation with trackers, intake tools, notifications and other automated features that eliminate many routine tasks, so lawyers and everyone else can spend more time on valuable pursuits.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b="1">
                <a:latin typeface="+mn-lt"/>
                <a:ea typeface="FSAlbert" charset="0"/>
                <a:cs typeface="FSAlbert" charset="0"/>
              </a:rPr>
              <a:t>Track &amp; manage disputes - </a:t>
            </a:r>
            <a:r>
              <a:rPr lang="en-US" sz="1200"/>
              <a:t>At every stage of a dispute or litigation, HighQ helps you work smarter and more productively with your team and clients. You’ll always have a real-time picture of progress while effortlessly managing and collaborating on documents, deadlines, timelines, tasks and budgets.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b="1">
                <a:ea typeface="FSAlbert" charset="0"/>
                <a:cs typeface="FSAlbert" charset="0"/>
              </a:rPr>
              <a:t>Deliver on-time &amp; on-budget - </a:t>
            </a:r>
            <a:r>
              <a:rPr lang="en-US" sz="1200">
                <a:solidFill>
                  <a:srgbClr val="4D4D4D"/>
                </a:solidFill>
                <a:ea typeface="FSAlbert" charset="0"/>
                <a:cs typeface="FSAlbert" charset="0"/>
              </a:rPr>
              <a:t>Incorrect forecasts either cut into revenue or damage client relationships. Firms that use HighQ avoid both, because they can pinpoint exactly which resources are needed, how much time and effort is required, and what to charge based on data and insight collected from previous matters.</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200" b="1">
                <a:solidFill>
                  <a:srgbClr val="4D4D4D"/>
                </a:solidFill>
                <a:ea typeface="FSAlbert" charset="0"/>
                <a:cs typeface="FSAlbert" charset="0"/>
              </a:rPr>
              <a:t>Simplify collaboration - </a:t>
            </a:r>
            <a:r>
              <a:rPr lang="en-US" sz="1200">
                <a:solidFill>
                  <a:srgbClr val="4D4D4D"/>
                </a:solidFill>
                <a:ea typeface="FSAlbert" charset="0"/>
                <a:cs typeface="FSAlbert" charset="0"/>
              </a:rPr>
              <a:t>Not only does HighQ streamline the tasks that consume your time and resources, it also facilitates more strategic, collaborative work with clients. Our solution makes it easy to share files, co-author documents and communicate, so you can focus on developing strategies and delivering better outcomes.</a:t>
            </a:r>
            <a:endParaRPr lang="en-GB" sz="1200">
              <a:solidFill>
                <a:srgbClr val="4D4D4D"/>
              </a:solidFill>
              <a:ea typeface="FSAlbert" charset="0"/>
              <a:cs typeface="FSAlbert" charset="0"/>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US" sz="1200" b="1">
              <a:solidFill>
                <a:srgbClr val="4D4D4D"/>
              </a:solidFill>
              <a:ea typeface="FSAlbert" charset="0"/>
              <a:cs typeface="FSAlbert" charset="0"/>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GB" sz="1200" b="1">
              <a:ea typeface="FSAlbert" charset="0"/>
              <a:cs typeface="FSAlbert" charset="0"/>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GB" sz="1200" b="1">
              <a:latin typeface="+mn-lt"/>
              <a:ea typeface="FSAlbert" charset="0"/>
              <a:cs typeface="FSAlbert" charset="0"/>
            </a:endParaRPr>
          </a:p>
          <a:p>
            <a:pPr marL="171450" indent="-171450">
              <a:lnSpc>
                <a:spcPct val="150000"/>
              </a:lnSpc>
              <a:buFont typeface="Arial" panose="020B0604020202020204" pitchFamily="34" charset="0"/>
              <a:buChar char="•"/>
            </a:pPr>
            <a:endParaRPr lang="en-US" sz="1200" b="1">
              <a:ea typeface="FSAlbert" charset="0"/>
              <a:cs typeface="FSAlbert" charset="0"/>
            </a:endParaRPr>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5C5127-A56A-0341-B4B4-894A193CE32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709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 decade on from the financial crisis, risk and regulation continues to shape strategy, business models and operating procedures across all sectors. Law firms need to manage their own business risks as well as help their clients remain compliant and navigate the ever changing risk landscape.</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 with most firm’s current state is:</a:t>
            </a:r>
          </a:p>
          <a:p>
            <a:pPr marL="342797" indent="-342797">
              <a:lnSpc>
                <a:spcPct val="150000"/>
              </a:lnSpc>
              <a:buFont typeface="Arial" charset="0"/>
              <a:buChar char="•"/>
            </a:pPr>
            <a:r>
              <a:rPr lang="en-US" sz="1200">
                <a:ea typeface="FSAlbert" charset="0"/>
                <a:cs typeface="FSAlbert" charset="0"/>
              </a:rPr>
              <a:t>Poor process visibility</a:t>
            </a:r>
          </a:p>
          <a:p>
            <a:pPr marL="342797" indent="-342797">
              <a:lnSpc>
                <a:spcPct val="150000"/>
              </a:lnSpc>
              <a:buFont typeface="Arial" charset="0"/>
              <a:buChar char="•"/>
            </a:pPr>
            <a:r>
              <a:rPr lang="en-US" sz="1200">
                <a:ea typeface="FSAlbert" charset="0"/>
                <a:cs typeface="FSAlbert" charset="0"/>
              </a:rPr>
              <a:t>Slow turnaround times</a:t>
            </a:r>
          </a:p>
          <a:p>
            <a:pPr marL="342797" indent="-342797">
              <a:lnSpc>
                <a:spcPct val="150000"/>
              </a:lnSpc>
              <a:buFont typeface="Arial" charset="0"/>
              <a:buChar char="•"/>
            </a:pPr>
            <a:r>
              <a:rPr lang="en-US" sz="1200">
                <a:ea typeface="FSAlbert" charset="0"/>
                <a:cs typeface="FSAlbert" charset="0"/>
              </a:rPr>
              <a:t>Delayed implementation</a:t>
            </a:r>
          </a:p>
          <a:p>
            <a:pPr marL="342797" indent="-342797">
              <a:lnSpc>
                <a:spcPct val="150000"/>
              </a:lnSpc>
              <a:buFont typeface="Arial" charset="0"/>
              <a:buChar char="•"/>
            </a:pPr>
            <a:r>
              <a:rPr lang="en-US" sz="1200">
                <a:ea typeface="FSAlbert" charset="0"/>
                <a:cs typeface="FSAlbert" charset="0"/>
              </a:rPr>
              <a:t>Increased business risk</a:t>
            </a:r>
          </a:p>
          <a:p>
            <a:pPr marL="342797" indent="-342797">
              <a:lnSpc>
                <a:spcPct val="150000"/>
              </a:lnSpc>
              <a:buFont typeface="Arial" charset="0"/>
              <a:buChar char="•"/>
            </a:pPr>
            <a:r>
              <a:rPr lang="en-US" sz="1200">
                <a:ea typeface="FSAlbert" charset="0"/>
                <a:cs typeface="FSAlbert" charset="0"/>
              </a:rPr>
              <a:t>Compliance isn’t monitored or tracked</a:t>
            </a:r>
          </a:p>
          <a:p>
            <a:pPr marL="342797" indent="-342797">
              <a:lnSpc>
                <a:spcPct val="150000"/>
              </a:lnSpc>
              <a:buFont typeface="Arial" charset="0"/>
              <a:buChar char="•"/>
            </a:pPr>
            <a:r>
              <a:rPr lang="en-US" sz="1200">
                <a:ea typeface="FSAlbert" charset="0"/>
                <a:cs typeface="FSAlbert" charset="0"/>
              </a:rPr>
              <a:t>Lack of central repository of compliance information</a:t>
            </a:r>
          </a:p>
          <a:p>
            <a:pPr marL="342797" indent="-342797">
              <a:lnSpc>
                <a:spcPct val="150000"/>
              </a:lnSpc>
              <a:buFont typeface="Arial" charset="0"/>
              <a:buChar char="•"/>
            </a:pPr>
            <a:r>
              <a:rPr lang="en-US" sz="1200">
                <a:ea typeface="FSAlbert" charset="0"/>
                <a:cs typeface="FSAlbert" charset="0"/>
              </a:rPr>
              <a:t>No standardized compliance handling</a:t>
            </a:r>
          </a:p>
          <a:p>
            <a:pPr marL="342797" indent="-342797">
              <a:lnSpc>
                <a:spcPct val="150000"/>
              </a:lnSpc>
              <a:buFont typeface="Arial" charset="0"/>
              <a:buChar char="•"/>
            </a:pPr>
            <a:r>
              <a:rPr lang="en-US" sz="1200">
                <a:ea typeface="FSAlbert" charset="0"/>
                <a:cs typeface="FSAlbert" charset="0"/>
              </a:rPr>
              <a:t>No real time status reporting</a:t>
            </a:r>
          </a:p>
          <a:p>
            <a:endParaRPr lang="en-US"/>
          </a:p>
          <a:p>
            <a:r>
              <a:rPr lang="en-US"/>
              <a:t>By using HighQ for Compliance Management, your firm can:</a:t>
            </a:r>
          </a:p>
          <a:p>
            <a:pPr marL="285750" indent="-285750">
              <a:spcBef>
                <a:spcPts val="0"/>
              </a:spcBef>
              <a:spcAft>
                <a:spcPts val="600"/>
              </a:spcAft>
              <a:buFont typeface="Arial" panose="020B0604020202020204" pitchFamily="34" charset="0"/>
              <a:buChar char="•"/>
            </a:pPr>
            <a:r>
              <a:rPr lang="en-GB" sz="1400" b="1">
                <a:solidFill>
                  <a:srgbClr val="4D4D4D"/>
                </a:solidFill>
                <a:latin typeface="Knowledge Bold"/>
                <a:ea typeface="FSAlbert" charset="0"/>
                <a:cs typeface="FSAlbert" charset="0"/>
              </a:rPr>
              <a:t>Control and simplify the process -</a:t>
            </a:r>
            <a:r>
              <a:rPr lang="en-US" sz="1200">
                <a:solidFill>
                  <a:srgbClr val="4D4D4D"/>
                </a:solidFill>
                <a:latin typeface="Knowledge Light" panose="020B0506040000020004" pitchFamily="34" charset="0"/>
              </a:rPr>
              <a:t>Leverage your scarce internal compliance resources efficiently, allowing you to prioritize and focus on the most critical issues. </a:t>
            </a:r>
            <a:r>
              <a:rPr lang="en-US" sz="1200">
                <a:solidFill>
                  <a:srgbClr val="4D4D4D"/>
                </a:solidFill>
                <a:latin typeface="Knowledge Light" panose="020B0506040000020004" pitchFamily="34" charset="0"/>
                <a:ea typeface="FSAlbert" charset="0"/>
                <a:cs typeface="FSAlbert" charset="0"/>
              </a:rPr>
              <a:t>Simplify and streamline the risk management process to help you deliver strategic business change.</a:t>
            </a:r>
          </a:p>
          <a:p>
            <a:pPr marL="285750" indent="-285750">
              <a:spcAft>
                <a:spcPts val="600"/>
              </a:spcAft>
              <a:buFont typeface="Arial" panose="020B0604020202020204" pitchFamily="34" charset="0"/>
              <a:buChar char="•"/>
            </a:pPr>
            <a:r>
              <a:rPr lang="en-GB" sz="1400" b="1">
                <a:solidFill>
                  <a:srgbClr val="4D4D4D"/>
                </a:solidFill>
                <a:latin typeface="Knowledge Bold"/>
                <a:ea typeface="FSAlbert" charset="0"/>
                <a:cs typeface="FSAlbert" charset="0"/>
              </a:rPr>
              <a:t>Manage data and minimise the risk - </a:t>
            </a:r>
            <a:r>
              <a:rPr lang="en-US" sz="1200">
                <a:latin typeface="Knowledge Light" panose="020B0506040000020004" pitchFamily="34" charset="0"/>
                <a:ea typeface="FSAlbert" charset="0"/>
                <a:cs typeface="FSAlbert" charset="0"/>
              </a:rPr>
              <a:t>Organize your key management information (MI) data to assess the business impact and prepare management reports. Demonstrate effective risk oversight to regulatory bodies.</a:t>
            </a:r>
          </a:p>
          <a:p>
            <a:pPr marL="285750" indent="-285750">
              <a:spcAft>
                <a:spcPts val="600"/>
              </a:spcAft>
              <a:buFont typeface="Arial" panose="020B0604020202020204" pitchFamily="34" charset="0"/>
              <a:buChar char="•"/>
            </a:pPr>
            <a:r>
              <a:rPr lang="en-GB" sz="1400" b="1">
                <a:solidFill>
                  <a:srgbClr val="4D4D4D"/>
                </a:solidFill>
                <a:latin typeface="Knowledge Bold"/>
                <a:ea typeface="FSAlbert" charset="0"/>
                <a:cs typeface="FSAlbert" charset="0"/>
              </a:rPr>
              <a:t>Monitor changes and work smarter - </a:t>
            </a:r>
            <a:r>
              <a:rPr lang="en-US" sz="1200">
                <a:solidFill>
                  <a:srgbClr val="4D4D4D"/>
                </a:solidFill>
                <a:latin typeface="Knowledge Light" panose="020B0506040000020004" pitchFamily="34" charset="0"/>
                <a:ea typeface="FSAlbert" charset="0"/>
                <a:cs typeface="FSAlbert" charset="0"/>
              </a:rPr>
              <a:t>Track regulatory developments across multiple jurisdictions in an intelligent and consistent way. Coordinate your regulatory compliance efforts with external advisors.</a:t>
            </a:r>
          </a:p>
          <a:p>
            <a:pPr marL="285750" indent="-285750">
              <a:spcAft>
                <a:spcPts val="600"/>
              </a:spcAft>
              <a:buFont typeface="Arial" panose="020B0604020202020204" pitchFamily="34" charset="0"/>
              <a:buChar char="•"/>
            </a:pPr>
            <a:endParaRPr lang="en-GB" sz="1200">
              <a:latin typeface="Knowledge Light" panose="020B0506040000020004" pitchFamily="34" charset="0"/>
              <a:ea typeface="FSAlbert" charset="0"/>
              <a:cs typeface="FSAlbert" charset="0"/>
            </a:endParaRPr>
          </a:p>
          <a:p>
            <a:pPr marL="285750" indent="-285750">
              <a:spcBef>
                <a:spcPts val="0"/>
              </a:spcBef>
              <a:spcAft>
                <a:spcPts val="600"/>
              </a:spcAft>
              <a:buFont typeface="Arial" panose="020B0604020202020204" pitchFamily="34" charset="0"/>
              <a:buChar char="•"/>
            </a:pPr>
            <a:endParaRPr lang="en-US" sz="1200">
              <a:solidFill>
                <a:srgbClr val="4D4D4D"/>
              </a:solidFill>
              <a:latin typeface="Knowledge Light" panose="020B0506040000020004" pitchFamily="34" charset="0"/>
              <a:ea typeface="FSAlbert" charset="0"/>
              <a:cs typeface="FSAlbert" charset="0"/>
            </a:endParaRP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8857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Law firms want to offer their staff a complete digital workplace where they can stay informed of news and events, communicate easily, collaborate on projects and documents, manage tasks and access know-how.</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issue with most firm’s current state is:</a:t>
            </a:r>
          </a:p>
          <a:p>
            <a:pPr marL="342797" indent="-342797">
              <a:lnSpc>
                <a:spcPct val="150000"/>
              </a:lnSpc>
              <a:buFont typeface="Arial" charset="0"/>
              <a:buChar char="•"/>
            </a:pPr>
            <a:r>
              <a:rPr lang="en-US" sz="1200">
                <a:ea typeface="FSAlbert" charset="0"/>
                <a:cs typeface="FSAlbert" charset="0"/>
              </a:rPr>
              <a:t>Disconnected practice areas</a:t>
            </a:r>
          </a:p>
          <a:p>
            <a:pPr marL="342797" indent="-342797">
              <a:lnSpc>
                <a:spcPct val="150000"/>
              </a:lnSpc>
              <a:buFont typeface="Arial" charset="0"/>
              <a:buChar char="•"/>
            </a:pPr>
            <a:r>
              <a:rPr lang="en-US" sz="1200">
                <a:ea typeface="FSAlbert" charset="0"/>
                <a:cs typeface="FSAlbert" charset="0"/>
              </a:rPr>
              <a:t>Collaboration carried out over email</a:t>
            </a:r>
          </a:p>
          <a:p>
            <a:pPr marL="342797" indent="-342797">
              <a:lnSpc>
                <a:spcPct val="150000"/>
              </a:lnSpc>
              <a:buFont typeface="Arial" charset="0"/>
              <a:buChar char="•"/>
            </a:pPr>
            <a:r>
              <a:rPr lang="en-US" sz="1200">
                <a:ea typeface="FSAlbert" charset="0"/>
                <a:cs typeface="FSAlbert" charset="0"/>
              </a:rPr>
              <a:t>Manually intensive process prone to error</a:t>
            </a:r>
          </a:p>
          <a:p>
            <a:pPr marL="342797" indent="-342797">
              <a:lnSpc>
                <a:spcPct val="150000"/>
              </a:lnSpc>
              <a:buFont typeface="Arial" charset="0"/>
              <a:buChar char="•"/>
            </a:pPr>
            <a:r>
              <a:rPr lang="en-US" sz="1200">
                <a:ea typeface="FSAlbert" charset="0"/>
                <a:cs typeface="FSAlbert" charset="0"/>
              </a:rPr>
              <a:t>Low transparency over workload and performance</a:t>
            </a:r>
          </a:p>
          <a:p>
            <a:pPr marL="342797" indent="-342797">
              <a:lnSpc>
                <a:spcPct val="150000"/>
              </a:lnSpc>
              <a:buFont typeface="Arial" charset="0"/>
              <a:buChar char="•"/>
            </a:pPr>
            <a:r>
              <a:rPr lang="en-US" sz="1200">
                <a:ea typeface="FSAlbert" charset="0"/>
                <a:cs typeface="FSAlbert" charset="0"/>
              </a:rPr>
              <a:t>Inefficient collaboration internally</a:t>
            </a:r>
          </a:p>
          <a:p>
            <a:pPr marL="342797" indent="-342797">
              <a:lnSpc>
                <a:spcPct val="150000"/>
              </a:lnSpc>
              <a:buFont typeface="Arial" charset="0"/>
              <a:buChar char="•"/>
            </a:pPr>
            <a:r>
              <a:rPr lang="en-US" sz="1200">
                <a:ea typeface="FSAlbert" charset="0"/>
                <a:cs typeface="FSAlbert" charset="0"/>
              </a:rPr>
              <a:t>Internal information hard to locate and search</a:t>
            </a:r>
          </a:p>
          <a:p>
            <a:pPr marL="342797" indent="-342797">
              <a:lnSpc>
                <a:spcPct val="150000"/>
              </a:lnSpc>
              <a:buFont typeface="Arial" charset="0"/>
              <a:buChar char="•"/>
            </a:pPr>
            <a:r>
              <a:rPr lang="en-US" sz="1200">
                <a:ea typeface="FSAlbert" charset="0"/>
                <a:cs typeface="FSAlbert" charset="0"/>
              </a:rPr>
              <a:t>Lack of central repository for law firm knowledge</a:t>
            </a:r>
          </a:p>
          <a:p>
            <a:pPr marL="342797" indent="-342797">
              <a:lnSpc>
                <a:spcPct val="150000"/>
              </a:lnSpc>
              <a:buFont typeface="Arial" charset="0"/>
              <a:buChar char="•"/>
            </a:pPr>
            <a:r>
              <a:rPr lang="en-US" sz="1200">
                <a:ea typeface="FSAlbert" charset="0"/>
                <a:cs typeface="FSAlbert" charset="0"/>
              </a:rPr>
              <a:t>Difficult for subject-matter experts to share their expertise</a:t>
            </a:r>
          </a:p>
          <a:p>
            <a:endParaRPr lang="en-US"/>
          </a:p>
          <a:p>
            <a:r>
              <a:rPr lang="en-US"/>
              <a:t>You can use HighQ to help with team collaboration by: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Providing a complete digital workplace - </a:t>
            </a:r>
            <a:r>
              <a:rPr lang="en-US" sz="1200">
                <a:latin typeface="+mn-lt"/>
                <a:ea typeface="FSAlbert" charset="0"/>
                <a:cs typeface="FSAlbert" charset="0"/>
              </a:rPr>
              <a:t>Offer one place where people across your firm - regardless of where they are - can go to stay informed about internal news and events, communicate easily with others, collaborate on projects and documents, share expert knowledge, access self-service tools and manage tasks.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b="1" kern="1200">
                <a:solidFill>
                  <a:schemeClr val="tx1"/>
                </a:solidFill>
                <a:latin typeface="+mn-lt"/>
                <a:ea typeface="FSAlbert" charset="0"/>
                <a:cs typeface="FSAlbert" charset="0"/>
              </a:rPr>
              <a:t>Improve internal communication - </a:t>
            </a:r>
            <a:r>
              <a:rPr lang="en-US" sz="1400">
                <a:ea typeface="FSAlbert" charset="0"/>
                <a:cs typeface="FSAlbert" charset="0"/>
              </a:rPr>
              <a:t>Staying informed and connected internally is key to delivering better legal services and exceeding client expectations - a real challenge when everyone in your firm is managing so many different demands. HighQ offers the perfect solution.</a:t>
            </a:r>
            <a:endParaRPr lang="en-GB" sz="1400">
              <a:ea typeface="FSAlbert" charset="0"/>
              <a:cs typeface="FSAlbert" charset="0"/>
            </a:endParaRPr>
          </a:p>
          <a:p>
            <a:pPr marL="285750" indent="-285750">
              <a:spcAft>
                <a:spcPts val="600"/>
              </a:spcAft>
              <a:buFont typeface="Arial" panose="020B0604020202020204" pitchFamily="34" charset="0"/>
              <a:buChar char="•"/>
            </a:pPr>
            <a:r>
              <a:rPr lang="en-US" sz="1600" b="1" kern="1200">
                <a:solidFill>
                  <a:schemeClr val="tx1"/>
                </a:solidFill>
                <a:latin typeface="+mn-lt"/>
                <a:ea typeface="FSAlbert" charset="0"/>
                <a:cs typeface="FSAlbert" charset="0"/>
              </a:rPr>
              <a:t>Automate time-consuming admin tasks - </a:t>
            </a:r>
            <a:r>
              <a:rPr lang="en-US" sz="1400">
                <a:ea typeface="FSAlbert" charset="0"/>
                <a:cs typeface="FSAlbert" charset="0"/>
              </a:rPr>
              <a:t>Streamline check requests, intake, expense reporting, contract management, event sign-ups and other routines right from your intranet, replacing manual, paper processes with automated, digital workflows. With HighQ, you have a complete toolkit for easily deploying time-saving solutions.</a:t>
            </a:r>
          </a:p>
          <a:p>
            <a:pPr marL="285750" indent="-285750">
              <a:spcAft>
                <a:spcPts val="600"/>
              </a:spcAft>
              <a:buFont typeface="Arial" panose="020B0604020202020204" pitchFamily="34" charset="0"/>
              <a:buChar char="•"/>
            </a:pPr>
            <a:r>
              <a:rPr lang="en-GB" sz="1400" b="1" kern="1200">
                <a:solidFill>
                  <a:schemeClr val="tx1"/>
                </a:solidFill>
                <a:latin typeface="+mn-lt"/>
                <a:ea typeface="FSAlbert" charset="0"/>
                <a:cs typeface="FSAlbert" charset="0"/>
              </a:rPr>
              <a:t>Communicate and network effectively - </a:t>
            </a:r>
            <a:r>
              <a:rPr lang="en-US" sz="1200"/>
              <a:t>Deliver clear, consistent information to the entire firm so everyone is always in the know. HighQ also empowers practice groups, teams and individuals to stay connected, foster collaboration and improve relationships using social networking tools, integrated messaging and profile pages.</a:t>
            </a:r>
          </a:p>
          <a:p>
            <a:pPr marL="285750" indent="-285750">
              <a:spcAft>
                <a:spcPts val="600"/>
              </a:spcAft>
              <a:buFont typeface="Arial" panose="020B0604020202020204" pitchFamily="34" charset="0"/>
              <a:buChar char="•"/>
            </a:pPr>
            <a:endParaRPr lang="en-US" sz="1200"/>
          </a:p>
          <a:p>
            <a:pPr marL="285750" indent="-285750">
              <a:spcAft>
                <a:spcPts val="600"/>
              </a:spcAft>
              <a:buFont typeface="Arial" panose="020B0604020202020204" pitchFamily="34" charset="0"/>
              <a:buChar char="•"/>
            </a:pPr>
            <a:r>
              <a:rPr lang="en-GB" sz="1400" b="1" kern="1200">
                <a:solidFill>
                  <a:schemeClr val="tx1"/>
                </a:solidFill>
                <a:latin typeface="+mn-lt"/>
                <a:ea typeface="FSAlbert" charset="0"/>
                <a:cs typeface="FSAlbert" charset="0"/>
              </a:rPr>
              <a:t>Providing a Quick and easy intranet setup - </a:t>
            </a:r>
            <a:r>
              <a:rPr lang="en-US" sz="1200">
                <a:ea typeface="FSAlbert" charset="0"/>
                <a:cs typeface="FSAlbert" charset="0"/>
              </a:rPr>
              <a:t>Everything you need to rapidly build, implement and maintain a highly secure digital workplace is available right out of the box, without coding, hardware or headaches. HighQ’s </a:t>
            </a:r>
            <a:r>
              <a:rPr lang="en-US" sz="1200">
                <a:solidFill>
                  <a:srgbClr val="4D4D4D"/>
                </a:solidFill>
                <a:ea typeface="FSAlbert" charset="0"/>
                <a:cs typeface="FSAlbert" charset="0"/>
              </a:rPr>
              <a:t>solution</a:t>
            </a:r>
            <a:r>
              <a:rPr lang="en-US" sz="1200">
                <a:ea typeface="FSAlbert" charset="0"/>
                <a:cs typeface="FSAlbert" charset="0"/>
              </a:rPr>
              <a:t> also enables you to expand its use to other areas or adapt it as your firm evolves just as quickly.</a:t>
            </a:r>
            <a:endParaRPr lang="en-GB" sz="1200">
              <a:ea typeface="FSAlbert" charset="0"/>
              <a:cs typeface="FSAlbert" charset="0"/>
            </a:endParaRPr>
          </a:p>
          <a:p>
            <a:pPr marL="285750" indent="-285750">
              <a:spcAft>
                <a:spcPts val="600"/>
              </a:spcAft>
              <a:buFont typeface="Arial" panose="020B0604020202020204" pitchFamily="34" charset="0"/>
              <a:buChar char="•"/>
            </a:pPr>
            <a:endParaRPr lang="en-US" sz="12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a:latin typeface="+mn-lt"/>
              <a:ea typeface="FSAlbert" charset="0"/>
              <a:cs typeface="FSAlbert" charset="0"/>
            </a:endParaRP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338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AAB3FD8-1E62-4142-B3B0-509B6E627B15}" type="slidenum">
              <a:rPr lang="en-US" smtClean="0"/>
              <a:t>24</a:t>
            </a:fld>
            <a:endParaRPr lang="en-US"/>
          </a:p>
        </p:txBody>
      </p:sp>
    </p:spTree>
    <p:extLst>
      <p:ext uri="{BB962C8B-B14F-4D97-AF65-F5344CB8AC3E}">
        <p14:creationId xmlns:p14="http://schemas.microsoft.com/office/powerpoint/2010/main" val="1974357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600"/>
              </a:spcBef>
            </a:pPr>
            <a:endParaRPr lang="en-US" sz="1200"/>
          </a:p>
          <a:p>
            <a:pPr>
              <a:spcBef>
                <a:spcPts val="600"/>
              </a:spcBef>
            </a:pPr>
            <a:endParaRPr lang="en-US" sz="1200"/>
          </a:p>
          <a:p>
            <a:endParaRPr lang="en-GB"/>
          </a:p>
          <a:p>
            <a:endParaRPr lang="en-GB"/>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5C5127-A56A-0341-B4B4-894A193CE32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8159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differentiate yourself?</a:t>
            </a:r>
          </a:p>
          <a:p>
            <a:endParaRPr lang="en-US" dirty="0"/>
          </a:p>
          <a:p>
            <a:r>
              <a:rPr lang="en-US" dirty="0"/>
              <a:t>When we talk with our customers to seek out more ways to get to increased efficiency, we find that oftentimes firms need to support both operational and practice area concerns. But I’d like to hear about how you are addressing these areas.</a:t>
            </a:r>
          </a:p>
          <a:p>
            <a:endParaRPr lang="en-US" dirty="0"/>
          </a:p>
          <a:p>
            <a:r>
              <a:rPr lang="en-US" dirty="0"/>
              <a:t>---</a:t>
            </a:r>
          </a:p>
          <a:p>
            <a:endParaRPr lang="en-US" dirty="0"/>
          </a:p>
          <a:p>
            <a:r>
              <a:rPr lang="en-US" b="1" dirty="0"/>
              <a:t>Begin to ask questions of the prospect to assemble a use case/proof of concept conversation: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How are you managing Client Engagement now—are your customers asking for customer portals?</a:t>
            </a:r>
            <a:endParaRPr lang="en-US" dirty="0"/>
          </a:p>
          <a:p>
            <a:endParaRPr lang="en-US" dirty="0"/>
          </a:p>
          <a:p>
            <a:r>
              <a:rPr lang="en-US" b="1" dirty="0"/>
              <a:t>What is your firm currently doing for collaboration—and what I mean by that is sharing documents.. Is it email or some other file-sharing? </a:t>
            </a:r>
          </a:p>
          <a:p>
            <a:endParaRPr lang="en-US" dirty="0"/>
          </a:p>
          <a:p>
            <a:pPr marL="171450" indent="-171450">
              <a:buFontTx/>
              <a:buChar char="-"/>
            </a:pPr>
            <a:r>
              <a:rPr lang="en-US" dirty="0"/>
              <a:t>If they respond with </a:t>
            </a:r>
            <a:r>
              <a:rPr lang="en-US" b="1" dirty="0"/>
              <a:t>basic file sharing solutions [Box, Dropbox, </a:t>
            </a:r>
            <a:r>
              <a:rPr lang="en-US" b="1" dirty="0" err="1"/>
              <a:t>Sharefile</a:t>
            </a:r>
            <a:r>
              <a:rPr lang="en-US" b="1" dirty="0"/>
              <a:t>, </a:t>
            </a:r>
            <a:r>
              <a:rPr lang="en-US" b="1" dirty="0" err="1"/>
              <a:t>Accelion</a:t>
            </a:r>
            <a:r>
              <a:rPr lang="en-US" b="1" dirty="0"/>
              <a:t>] </a:t>
            </a:r>
          </a:p>
          <a:p>
            <a:pPr marL="171450" indent="-171450">
              <a:buFontTx/>
              <a:buChar char="-"/>
            </a:pPr>
            <a:r>
              <a:rPr lang="en-US" dirty="0"/>
              <a:t>Ask how it’s going, and </a:t>
            </a:r>
            <a:r>
              <a:rPr lang="en-US" b="1" dirty="0"/>
              <a:t>listen</a:t>
            </a:r>
            <a:r>
              <a:rPr lang="en-US" dirty="0"/>
              <a:t>.</a:t>
            </a:r>
          </a:p>
          <a:p>
            <a:pPr marL="171450" indent="-171450">
              <a:buFontTx/>
              <a:buChar char="-"/>
            </a:pPr>
            <a:endParaRPr lang="en-US" dirty="0"/>
          </a:p>
          <a:p>
            <a:pPr marL="171450" indent="-171450">
              <a:buFontTx/>
              <a:buChar char="-"/>
            </a:pPr>
            <a:endParaRPr lang="en-US" dirty="0"/>
          </a:p>
          <a:p>
            <a:pPr marL="628650" lvl="1" indent="-171450">
              <a:buFontTx/>
              <a:buChar char="-"/>
            </a:pPr>
            <a:r>
              <a:rPr lang="en-US" dirty="0"/>
              <a:t>When they stop, our typical response is to mention this is not uncommon, as they are easy to implement and inexpensive; but most firms quickly outgrow them and quickly discover that collaboration needs are greater than what these tools provide. HighQ can help here, as there’s one point of entry and is branded for the firm, establishing trust—which is a better experience for the firm’s customers. And far better then a third party, generic login experience.</a:t>
            </a:r>
          </a:p>
          <a:p>
            <a:pPr marL="628650" lvl="1" indent="-171450">
              <a:buFontTx/>
              <a:buChar char="-"/>
            </a:pPr>
            <a:r>
              <a:rPr lang="en-US" dirty="0"/>
              <a:t>Additionally, HighQ easily accommodates all collaboration needs across the firm from </a:t>
            </a:r>
            <a:r>
              <a:rPr lang="en-US" b="1" dirty="0"/>
              <a:t>one </a:t>
            </a:r>
            <a:r>
              <a:rPr lang="en-US" sz="1200" dirty="0">
                <a:solidFill>
                  <a:srgbClr val="4D4D4D"/>
                </a:solidFill>
                <a:ea typeface="FSAlbert" charset="0"/>
                <a:cs typeface="FSAlbert" charset="0"/>
              </a:rPr>
              <a:t>solution</a:t>
            </a:r>
            <a:r>
              <a:rPr lang="en-US" b="1" dirty="0"/>
              <a:t> </a:t>
            </a:r>
            <a:r>
              <a:rPr lang="en-US" dirty="0"/>
              <a:t>which can vary significantly between practice groups. This can include basic file sharing, client portals, deal/data rooms as well as more innovative use cases that include legal project management and workflow automation that more innovative firms are using to create that “stickiness” to client relationships. HighQ is at the heart of creating value for your clients.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mn-lt"/>
                <a:ea typeface="+mn-ea"/>
                <a:cs typeface="+mn-cs"/>
              </a:rPr>
              <a:t>Lastly, with HighQ’s security the firm retains full access and audit trails as well as control over security rights. You can control whether certain users can edit and download documents or restrict them from downloading or printing. We also support watermarks and can even allow the firm to protect and control documents that have been downloaded and are stored on a third-party computer. Our DRM (digital rights management) allows a firm to remove a user’s access to files even after the user has downloaded them to their own computer. </a:t>
            </a:r>
          </a:p>
          <a:p>
            <a:endParaRPr lang="en-US" sz="1200" kern="1200" dirty="0">
              <a:solidFill>
                <a:schemeClr val="tx1"/>
              </a:solidFill>
              <a:effectLst/>
              <a:latin typeface="+mn-lt"/>
              <a:ea typeface="+mn-ea"/>
              <a:cs typeface="+mn-cs"/>
            </a:endParaRPr>
          </a:p>
          <a:p>
            <a:pPr marL="171450" indent="-171450">
              <a:buFontTx/>
              <a:buChar char="-"/>
            </a:pPr>
            <a:r>
              <a:rPr lang="en-US" sz="1200" kern="1200" dirty="0">
                <a:solidFill>
                  <a:schemeClr val="tx1"/>
                </a:solidFill>
                <a:effectLst/>
                <a:latin typeface="+mn-lt"/>
                <a:ea typeface="+mn-ea"/>
                <a:cs typeface="+mn-cs"/>
              </a:rPr>
              <a:t>If they respond that they use email with attached documents to clients: </a:t>
            </a:r>
          </a:p>
          <a:p>
            <a:pPr marL="171450" indent="-171450">
              <a:buFontTx/>
              <a:buChar char="-"/>
            </a:pPr>
            <a:r>
              <a:rPr lang="en-US" sz="1200" b="1" kern="1200" dirty="0">
                <a:solidFill>
                  <a:schemeClr val="tx1"/>
                </a:solidFill>
                <a:effectLst/>
                <a:latin typeface="+mn-lt"/>
                <a:ea typeface="+mn-ea"/>
                <a:cs typeface="+mn-cs"/>
              </a:rPr>
              <a:t>Ask how that is working out. </a:t>
            </a:r>
          </a:p>
          <a:p>
            <a:pPr marL="628650" lvl="1" indent="-171450">
              <a:buFontTx/>
              <a:buChar char="-"/>
            </a:pPr>
            <a:r>
              <a:rPr lang="en-US" sz="1200" b="0" kern="1200" dirty="0">
                <a:solidFill>
                  <a:schemeClr val="tx1"/>
                </a:solidFill>
                <a:effectLst/>
                <a:latin typeface="+mn-lt"/>
                <a:ea typeface="+mn-ea"/>
                <a:cs typeface="+mn-cs"/>
              </a:rPr>
              <a:t>In most cases the IT department is frustrated because of file size limitations, blocked emails, exchange storage capacity, etc. </a:t>
            </a:r>
          </a:p>
          <a:p>
            <a:pPr marL="628650" lvl="1" indent="-171450">
              <a:buFontTx/>
              <a:buChar char="-"/>
            </a:pPr>
            <a:r>
              <a:rPr lang="en-US" sz="1200" b="0" kern="1200" dirty="0">
                <a:solidFill>
                  <a:schemeClr val="tx1"/>
                </a:solidFill>
                <a:effectLst/>
                <a:latin typeface="+mn-lt"/>
                <a:ea typeface="+mn-ea"/>
                <a:cs typeface="+mn-cs"/>
              </a:rPr>
              <a:t>We should quickly point out that this is not an ideal scenario for clients because clients don’t have all of the organizational systems (DMS, case management, etc.) that law firms have. </a:t>
            </a:r>
          </a:p>
          <a:p>
            <a:pPr marL="628650" lvl="1" indent="-171450">
              <a:buFontTx/>
              <a:buChar char="-"/>
            </a:pPr>
            <a:r>
              <a:rPr lang="en-US" sz="1200" b="0" kern="1200" dirty="0">
                <a:solidFill>
                  <a:schemeClr val="tx1"/>
                </a:solidFill>
                <a:effectLst/>
                <a:latin typeface="+mn-lt"/>
                <a:ea typeface="+mn-ea"/>
                <a:cs typeface="+mn-cs"/>
              </a:rPr>
              <a:t>This means that they are using MS Outlook as their case management system which is difficult at best and is often difficult for them to find the latest version of information from their firm as it gets lost in their inbox. With HighQ the firm is delivering the information to the client in a much more eloquent fashion because the information is organized and makes it easy for the client to find the latest versions of key information and documents the firm provides for them. Additionally, email is not very secure and creates some risk of liability for the firm. </a:t>
            </a:r>
          </a:p>
          <a:p>
            <a:pPr marL="628650" lvl="1" indent="-171450">
              <a:buFontTx/>
              <a:buChar char="-"/>
            </a:pPr>
            <a:endParaRPr lang="en-US" sz="1200" b="1" kern="1200" dirty="0">
              <a:solidFill>
                <a:schemeClr val="tx1"/>
              </a:solidFill>
              <a:effectLst/>
              <a:latin typeface="+mn-lt"/>
              <a:ea typeface="+mn-ea"/>
              <a:cs typeface="+mn-cs"/>
            </a:endParaRPr>
          </a:p>
          <a:p>
            <a:pPr marL="171450" lvl="0" indent="-171450">
              <a:buFontTx/>
              <a:buChar char="-"/>
            </a:pPr>
            <a:r>
              <a:rPr lang="en-US" sz="1200" b="0" kern="1200" dirty="0">
                <a:solidFill>
                  <a:schemeClr val="tx1"/>
                </a:solidFill>
                <a:effectLst/>
                <a:latin typeface="+mn-lt"/>
                <a:ea typeface="+mn-ea"/>
                <a:cs typeface="+mn-cs"/>
              </a:rPr>
              <a:t>If they respond that they are using </a:t>
            </a:r>
            <a:r>
              <a:rPr lang="en-US" sz="1200" b="1" kern="1200" dirty="0">
                <a:solidFill>
                  <a:schemeClr val="tx1"/>
                </a:solidFill>
                <a:effectLst/>
                <a:latin typeface="+mn-lt"/>
                <a:ea typeface="+mn-ea"/>
                <a:cs typeface="+mn-cs"/>
              </a:rPr>
              <a:t>MS SharePoint </a:t>
            </a:r>
            <a:r>
              <a:rPr lang="en-US" sz="1200" b="0" kern="1200" dirty="0">
                <a:solidFill>
                  <a:schemeClr val="tx1"/>
                </a:solidFill>
                <a:effectLst/>
                <a:latin typeface="+mn-lt"/>
                <a:ea typeface="+mn-ea"/>
                <a:cs typeface="+mn-cs"/>
              </a:rPr>
              <a:t>for client collaboration:</a:t>
            </a:r>
          </a:p>
          <a:p>
            <a:pPr marL="171450" lvl="0" indent="-171450">
              <a:buFontTx/>
              <a:buChar char="-"/>
            </a:pPr>
            <a:r>
              <a:rPr lang="en-US" sz="1200" b="1" kern="1200" dirty="0">
                <a:solidFill>
                  <a:schemeClr val="tx1"/>
                </a:solidFill>
                <a:effectLst/>
                <a:latin typeface="+mn-lt"/>
                <a:ea typeface="+mn-ea"/>
                <a:cs typeface="+mn-cs"/>
              </a:rPr>
              <a:t>Ask how it is going. </a:t>
            </a:r>
          </a:p>
          <a:p>
            <a:pPr marL="628650" lvl="1" indent="-171450">
              <a:buFontTx/>
              <a:buChar char="-"/>
            </a:pPr>
            <a:r>
              <a:rPr lang="en-US" sz="1200" b="0" kern="1200" dirty="0">
                <a:solidFill>
                  <a:schemeClr val="tx1"/>
                </a:solidFill>
                <a:effectLst/>
                <a:latin typeface="+mn-lt"/>
                <a:ea typeface="+mn-ea"/>
                <a:cs typeface="+mn-cs"/>
              </a:rPr>
              <a:t>In most cases the IT department is only doing this on an ad hoc basis because MS SharePoint requires a LOT of IT time to administer and set up. </a:t>
            </a:r>
          </a:p>
          <a:p>
            <a:pPr marL="628650" lvl="1" indent="-171450">
              <a:buFontTx/>
              <a:buChar char="-"/>
            </a:pPr>
            <a:r>
              <a:rPr lang="en-US" sz="1200" b="0" kern="1200" dirty="0">
                <a:solidFill>
                  <a:schemeClr val="tx1"/>
                </a:solidFill>
                <a:effectLst/>
                <a:latin typeface="+mn-lt"/>
                <a:ea typeface="+mn-ea"/>
                <a:cs typeface="+mn-cs"/>
              </a:rPr>
              <a:t>Additionally, if the firm wants to do anything beyond basic functionality, they will have to invest in custom software development to make SharePoint do anything innovative or unique. </a:t>
            </a:r>
          </a:p>
          <a:p>
            <a:pPr marL="628650" lvl="1" indent="-171450">
              <a:buFontTx/>
              <a:buChar char="-"/>
            </a:pPr>
            <a:r>
              <a:rPr lang="en-US" sz="1200" b="0" kern="1200" dirty="0">
                <a:solidFill>
                  <a:schemeClr val="tx1"/>
                </a:solidFill>
                <a:effectLst/>
                <a:latin typeface="+mn-lt"/>
                <a:ea typeface="+mn-ea"/>
                <a:cs typeface="+mn-cs"/>
              </a:rPr>
              <a:t>Firms are quickly moving away from SharePoint because of the high cost of software ownership and the administrative burden of managing it. </a:t>
            </a:r>
          </a:p>
          <a:p>
            <a:pPr marL="628650" lvl="1" indent="-171450">
              <a:buFontTx/>
              <a:buChar char="-"/>
            </a:pPr>
            <a:r>
              <a:rPr lang="en-US" sz="1200" b="0" kern="1200" dirty="0">
                <a:solidFill>
                  <a:schemeClr val="tx1"/>
                </a:solidFill>
                <a:effectLst/>
                <a:latin typeface="+mn-lt"/>
                <a:ea typeface="+mn-ea"/>
                <a:cs typeface="+mn-cs"/>
              </a:rPr>
              <a:t>HighQ offers an out of the box solution that requires “no code” and would permit the firm to roll out sophisticated collaboration sites with very little (or no) IT time. </a:t>
            </a:r>
          </a:p>
          <a:p>
            <a:pPr marL="171450" lvl="0" indent="-171450">
              <a:buFontTx/>
              <a:buChar char="-"/>
            </a:pPr>
            <a:endParaRPr lang="en-US" sz="1200" b="1" kern="1200" dirty="0">
              <a:solidFill>
                <a:schemeClr val="tx1"/>
              </a:solidFill>
              <a:effectLst/>
              <a:latin typeface="+mn-lt"/>
              <a:ea typeface="+mn-ea"/>
              <a:cs typeface="+mn-cs"/>
            </a:endParaRPr>
          </a:p>
          <a:p>
            <a:pPr marL="171450" lvl="0" indent="-171450">
              <a:buFontTx/>
              <a:buChar char="-"/>
            </a:pPr>
            <a:r>
              <a:rPr lang="en-US" sz="1200" b="0" kern="1200" dirty="0">
                <a:solidFill>
                  <a:schemeClr val="tx1"/>
                </a:solidFill>
                <a:effectLst/>
                <a:latin typeface="+mn-lt"/>
                <a:ea typeface="+mn-ea"/>
                <a:cs typeface="+mn-cs"/>
              </a:rPr>
              <a:t>If they respond that they are using </a:t>
            </a:r>
            <a:r>
              <a:rPr lang="en-US" sz="1200" b="1" kern="1200" dirty="0" err="1">
                <a:solidFill>
                  <a:schemeClr val="tx1"/>
                </a:solidFill>
                <a:effectLst/>
                <a:latin typeface="+mn-lt"/>
                <a:ea typeface="+mn-ea"/>
                <a:cs typeface="+mn-cs"/>
              </a:rPr>
              <a:t>NetDocs</a:t>
            </a:r>
            <a:r>
              <a:rPr lang="en-US" sz="1200" b="1" kern="1200" dirty="0">
                <a:solidFill>
                  <a:schemeClr val="tx1"/>
                </a:solidFill>
                <a:effectLst/>
                <a:latin typeface="+mn-lt"/>
                <a:ea typeface="+mn-ea"/>
                <a:cs typeface="+mn-cs"/>
              </a:rPr>
              <a:t> or </a:t>
            </a:r>
            <a:r>
              <a:rPr lang="en-US" sz="1200" b="1" kern="1200" dirty="0" err="1">
                <a:solidFill>
                  <a:schemeClr val="tx1"/>
                </a:solidFill>
                <a:effectLst/>
                <a:latin typeface="+mn-lt"/>
                <a:ea typeface="+mn-ea"/>
                <a:cs typeface="+mn-cs"/>
              </a:rPr>
              <a:t>iManage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fileshare</a:t>
            </a:r>
            <a:r>
              <a:rPr lang="en-US" sz="1200" b="1" kern="1200" dirty="0">
                <a:solidFill>
                  <a:schemeClr val="tx1"/>
                </a:solidFill>
                <a:effectLst/>
                <a:latin typeface="+mn-lt"/>
                <a:ea typeface="+mn-ea"/>
                <a:cs typeface="+mn-cs"/>
              </a:rPr>
              <a:t> (DMS):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Ask how it is going.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These tools offer only rudimentary filesharing capability and cannot offer the breadth of flexibility or innovation that HighQ offers—no workflow, automation, or other innovative use cases that add special value to clients. Just rudimentary file sharing.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Additionally, most firms need to share more information than just work product with clients. Document management systems generally only manage work product within the firm (never discovery documents, due diligence documents, court filings from the opposition, etc.).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Most importantly, from a conceptual standpoint, document management systems are designed specifically to provide a firm with internal control over its documents and drafting process. By allowing external users to have access to your document management system you are assuming that your users will not make any mistakes with respect to documents, versioning and access rights—any mistakes could potentially expose the wrong data to the wrong person.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We all know our lawyers and users make mistakes. As a result, most firms from a policy standpoint do not permit external users to have access to their DMS because they don’t want to expose themselves to this risk.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HighQ is much more secure because it is a separate secure location outside of the firm’s firewall in which the firm specifically selects files and other information that it wants to share with the client on HighQ. It is not opening up the firm’s internal firewall or network to external users.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Most MLF firms would not be able to duplicate HighQ’s security internally with 24x7 monitoring, best in class security features and significantly hardened infrastructure that meets today’s compliance and security standards and reduces the firm’s risk. </a:t>
            </a:r>
            <a:br>
              <a:rPr lang="en-US" sz="1200" b="1" kern="1200" dirty="0">
                <a:solidFill>
                  <a:schemeClr val="tx1"/>
                </a:solidFill>
                <a:effectLst/>
                <a:latin typeface="+mn-lt"/>
                <a:ea typeface="+mn-ea"/>
                <a:cs typeface="+mn-cs"/>
              </a:rPr>
            </a:br>
            <a:endParaRPr lang="en-US" sz="1200" b="1"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1"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What is your firms approach to Legal Project Management?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Make note of their answer, if it’s spread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1"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1" kern="1200" dirty="0">
                <a:solidFill>
                  <a:schemeClr val="tx1"/>
                </a:solidFill>
                <a:effectLst/>
                <a:latin typeface="+mn-lt"/>
                <a:ea typeface="+mn-ea"/>
                <a:cs typeface="+mn-cs"/>
              </a:rPr>
              <a:t>Are your teams collaborating effectively? What’s your solution for that?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PRACTICE AREAS</a:t>
            </a:r>
            <a:endParaRPr 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From my research, I know that your firm has developed a strong base on [insert as many practice areas as apply].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chemeClr val="tx1"/>
                </a:solidFill>
                <a:effectLst/>
                <a:latin typeface="+mn-lt"/>
                <a:ea typeface="+mn-ea"/>
                <a:cs typeface="+mn-cs"/>
              </a:rPr>
              <a:t>Are you managing multiple solutions to support these practice areas?</a:t>
            </a:r>
            <a:endParaRPr lang="en-US" sz="1200" b="1" kern="1200" dirty="0">
              <a:solidFill>
                <a:schemeClr val="tx1"/>
              </a:solidFill>
              <a:effectLst/>
              <a:latin typeface="+mn-lt"/>
              <a:ea typeface="+mn-ea"/>
              <a:cs typeface="+mn-cs"/>
            </a:endParaRPr>
          </a:p>
          <a:p>
            <a:pPr marL="171450" lvl="0" indent="-171450">
              <a:buFontTx/>
              <a:buChar char="-"/>
            </a:pPr>
            <a:endParaRPr lang="en-US" sz="1200" b="1" kern="1200" dirty="0">
              <a:solidFill>
                <a:schemeClr val="tx1"/>
              </a:solidFill>
              <a:effectLst/>
              <a:latin typeface="+mn-lt"/>
              <a:ea typeface="+mn-ea"/>
              <a:cs typeface="+mn-cs"/>
            </a:endParaRPr>
          </a:p>
          <a:p>
            <a:r>
              <a:rPr lang="en-US" dirty="0"/>
              <a:t>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AAB3FD8-1E62-4142-B3B0-509B6E627B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0283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No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5956D9-CB08-3946-90F9-B546072E9B93}"/>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5" name="Title 1">
            <a:extLst>
              <a:ext uri="{FF2B5EF4-FFF2-40B4-BE49-F238E27FC236}">
                <a16:creationId xmlns:a16="http://schemas.microsoft.com/office/drawing/2014/main" id="{5835C723-D9D0-804F-94FB-FD32CCEDDB81}"/>
              </a:ext>
            </a:extLst>
          </p:cNvPr>
          <p:cNvSpPr>
            <a:spLocks noGrp="1"/>
          </p:cNvSpPr>
          <p:nvPr>
            <p:ph type="ctrTitle"/>
          </p:nvPr>
        </p:nvSpPr>
        <p:spPr>
          <a:xfrm>
            <a:off x="400366" y="2595410"/>
            <a:ext cx="4303714" cy="1233580"/>
          </a:xfrm>
        </p:spPr>
        <p:txBody>
          <a:bodyPr>
            <a:noAutofit/>
          </a:bodyPr>
          <a:lstStyle>
            <a:lvl1pPr>
              <a:lnSpc>
                <a:spcPct val="100000"/>
              </a:lnSpc>
              <a:defRPr sz="34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A5397527-EBF7-8844-82F0-365A30249AF4}"/>
              </a:ext>
            </a:extLst>
          </p:cNvPr>
          <p:cNvSpPr>
            <a:spLocks noGrp="1"/>
          </p:cNvSpPr>
          <p:nvPr>
            <p:ph type="subTitle" idx="1"/>
          </p:nvPr>
        </p:nvSpPr>
        <p:spPr>
          <a:xfrm>
            <a:off x="400366" y="3950910"/>
            <a:ext cx="3836354" cy="1099000"/>
          </a:xfrm>
        </p:spPr>
        <p:txBody>
          <a:bodyPr>
            <a:noAutofit/>
          </a:bodyPr>
          <a:lstStyle>
            <a:lvl1pPr marL="0" indent="0" algn="l">
              <a:spcAft>
                <a:spcPts val="0"/>
              </a:spcAft>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54291071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1 No Pictur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0C7469-0FE1-9C40-8449-5B4185607E3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7652"/>
            <a:ext cx="12188825" cy="5768649"/>
          </a:xfrm>
          <a:prstGeom prst="rect">
            <a:avLst/>
          </a:prstGeom>
        </p:spPr>
      </p:pic>
      <p:sp>
        <p:nvSpPr>
          <p:cNvPr id="8" name="Oval 7">
            <a:extLst>
              <a:ext uri="{FF2B5EF4-FFF2-40B4-BE49-F238E27FC236}">
                <a16:creationId xmlns:a16="http://schemas.microsoft.com/office/drawing/2014/main" id="{C51FA947-6D24-E447-98A4-6B942448B646}"/>
              </a:ext>
            </a:extLst>
          </p:cNvPr>
          <p:cNvSpPr/>
          <p:nvPr userDrawn="1"/>
        </p:nvSpPr>
        <p:spPr>
          <a:xfrm>
            <a:off x="3994031" y="720455"/>
            <a:ext cx="4339314" cy="4339314"/>
          </a:xfrm>
          <a:prstGeom prst="ellipse">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33A67AEC-EC15-2145-9308-D125A0EB199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37106" y="194552"/>
            <a:ext cx="5447489" cy="5447489"/>
          </a:xfrm>
          <a:prstGeom prst="rect">
            <a:avLst/>
          </a:prstGeom>
        </p:spPr>
      </p:pic>
      <p:pic>
        <p:nvPicPr>
          <p:cNvPr id="10" name="Picture 9">
            <a:extLst>
              <a:ext uri="{FF2B5EF4-FFF2-40B4-BE49-F238E27FC236}">
                <a16:creationId xmlns:a16="http://schemas.microsoft.com/office/drawing/2014/main" id="{90A2A34A-4C86-D94D-A9F0-6A6DF16E7A97}"/>
              </a:ext>
              <a:ext uri="{C183D7F6-B498-43B3-948B-1728B52AA6E4}">
                <adec:decorative xmlns:adec="http://schemas.microsoft.com/office/drawing/2017/decorative" val="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8449277" y="5765261"/>
            <a:ext cx="3658679" cy="1105710"/>
          </a:xfrm>
          <a:prstGeom prst="rect">
            <a:avLst/>
          </a:prstGeom>
        </p:spPr>
      </p:pic>
      <p:sp>
        <p:nvSpPr>
          <p:cNvPr id="5" name="Title 1">
            <a:extLst>
              <a:ext uri="{FF2B5EF4-FFF2-40B4-BE49-F238E27FC236}">
                <a16:creationId xmlns:a16="http://schemas.microsoft.com/office/drawing/2014/main" id="{E70C7C3C-6EA9-894A-9542-D978B7CD989F}"/>
              </a:ext>
            </a:extLst>
          </p:cNvPr>
          <p:cNvSpPr>
            <a:spLocks noGrp="1"/>
          </p:cNvSpPr>
          <p:nvPr>
            <p:ph type="ctrTitle"/>
          </p:nvPr>
        </p:nvSpPr>
        <p:spPr>
          <a:xfrm>
            <a:off x="4819966" y="2103900"/>
            <a:ext cx="2728914" cy="919950"/>
          </a:xfrm>
        </p:spPr>
        <p:txBody>
          <a:bodyPr>
            <a:noAutofit/>
          </a:bodyPr>
          <a:lstStyle>
            <a:lvl1pPr>
              <a:lnSpc>
                <a:spcPct val="100000"/>
              </a:lnSpc>
              <a:defRPr sz="26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62236C93-BF21-204B-9F2B-0A70FC6858FB}"/>
              </a:ext>
            </a:extLst>
          </p:cNvPr>
          <p:cNvSpPr>
            <a:spLocks noGrp="1"/>
          </p:cNvSpPr>
          <p:nvPr>
            <p:ph type="subTitle" idx="1"/>
          </p:nvPr>
        </p:nvSpPr>
        <p:spPr>
          <a:xfrm>
            <a:off x="4819966" y="3079730"/>
            <a:ext cx="2728914" cy="754421"/>
          </a:xfrm>
        </p:spPr>
        <p:txBody>
          <a:bodyPr>
            <a:noAutofit/>
          </a:bodyPr>
          <a:lstStyle>
            <a:lvl1pPr marL="0" indent="0" algn="l">
              <a:spcAft>
                <a:spcPts val="0"/>
              </a:spcAft>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419150765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1 No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16B98E-668A-3446-8D72-076097284F98}"/>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188824" cy="5768649"/>
          </a:xfrm>
          <a:prstGeom prst="rect">
            <a:avLst/>
          </a:prstGeom>
        </p:spPr>
      </p:pic>
      <p:sp>
        <p:nvSpPr>
          <p:cNvPr id="9" name="Oval 8">
            <a:extLst>
              <a:ext uri="{FF2B5EF4-FFF2-40B4-BE49-F238E27FC236}">
                <a16:creationId xmlns:a16="http://schemas.microsoft.com/office/drawing/2014/main" id="{46BDCB27-72E6-A147-8509-AEA7E47C2AE1}"/>
              </a:ext>
            </a:extLst>
          </p:cNvPr>
          <p:cNvSpPr/>
          <p:nvPr userDrawn="1"/>
        </p:nvSpPr>
        <p:spPr>
          <a:xfrm>
            <a:off x="3994031" y="720455"/>
            <a:ext cx="4339314" cy="4339314"/>
          </a:xfrm>
          <a:prstGeom prst="ellipse">
            <a:avLst/>
          </a:prstGeom>
          <a:solidFill>
            <a:schemeClr val="bg1">
              <a:alpha val="8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0C7C3C-6EA9-894A-9542-D978B7CD989F}"/>
              </a:ext>
            </a:extLst>
          </p:cNvPr>
          <p:cNvSpPr>
            <a:spLocks noGrp="1"/>
          </p:cNvSpPr>
          <p:nvPr>
            <p:ph type="ctrTitle"/>
          </p:nvPr>
        </p:nvSpPr>
        <p:spPr>
          <a:xfrm>
            <a:off x="4819966" y="2103900"/>
            <a:ext cx="2728914" cy="919950"/>
          </a:xfrm>
        </p:spPr>
        <p:txBody>
          <a:bodyPr>
            <a:noAutofit/>
          </a:bodyPr>
          <a:lstStyle>
            <a:lvl1pPr>
              <a:lnSpc>
                <a:spcPct val="100000"/>
              </a:lnSpc>
              <a:defRPr sz="26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62236C93-BF21-204B-9F2B-0A70FC6858FB}"/>
              </a:ext>
            </a:extLst>
          </p:cNvPr>
          <p:cNvSpPr>
            <a:spLocks noGrp="1"/>
          </p:cNvSpPr>
          <p:nvPr>
            <p:ph type="subTitle" idx="1"/>
          </p:nvPr>
        </p:nvSpPr>
        <p:spPr>
          <a:xfrm>
            <a:off x="4819966" y="3079730"/>
            <a:ext cx="2728914" cy="754421"/>
          </a:xfrm>
        </p:spPr>
        <p:txBody>
          <a:bodyPr>
            <a:noAutofit/>
          </a:bodyPr>
          <a:lstStyle>
            <a:lvl1pPr marL="0" indent="0" algn="l">
              <a:spcAft>
                <a:spcPts val="0"/>
              </a:spcAft>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Graphic 3">
            <a:extLst>
              <a:ext uri="{FF2B5EF4-FFF2-40B4-BE49-F238E27FC236}">
                <a16:creationId xmlns:a16="http://schemas.microsoft.com/office/drawing/2014/main" id="{FB04F7A8-9480-5444-A4F7-3B7E84E0B9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37106" y="194552"/>
            <a:ext cx="5447489" cy="5447489"/>
          </a:xfrm>
          <a:prstGeom prst="rect">
            <a:avLst/>
          </a:prstGeom>
        </p:spPr>
      </p:pic>
      <p:pic>
        <p:nvPicPr>
          <p:cNvPr id="7" name="Picture 6">
            <a:extLst>
              <a:ext uri="{FF2B5EF4-FFF2-40B4-BE49-F238E27FC236}">
                <a16:creationId xmlns:a16="http://schemas.microsoft.com/office/drawing/2014/main" id="{3DAF7C9A-8624-7A41-83C0-923FBF180208}"/>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8449277" y="5765261"/>
            <a:ext cx="3658679" cy="1105710"/>
          </a:xfrm>
          <a:prstGeom prst="rect">
            <a:avLst/>
          </a:prstGeom>
        </p:spPr>
      </p:pic>
    </p:spTree>
    <p:extLst>
      <p:ext uri="{BB962C8B-B14F-4D97-AF65-F5344CB8AC3E}">
        <p14:creationId xmlns:p14="http://schemas.microsoft.com/office/powerpoint/2010/main" val="131374259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1 No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80450AC-87CC-5947-A98B-FE3E3256DFC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5644"/>
            <a:ext cx="12186029" cy="5780251"/>
          </a:xfrm>
          <a:prstGeom prst="rect">
            <a:avLst/>
          </a:prstGeom>
        </p:spPr>
      </p:pic>
      <p:sp>
        <p:nvSpPr>
          <p:cNvPr id="9" name="Oval 8">
            <a:extLst>
              <a:ext uri="{FF2B5EF4-FFF2-40B4-BE49-F238E27FC236}">
                <a16:creationId xmlns:a16="http://schemas.microsoft.com/office/drawing/2014/main" id="{46BDCB27-72E6-A147-8509-AEA7E47C2AE1}"/>
              </a:ext>
            </a:extLst>
          </p:cNvPr>
          <p:cNvSpPr/>
          <p:nvPr userDrawn="1"/>
        </p:nvSpPr>
        <p:spPr>
          <a:xfrm>
            <a:off x="3994031" y="720455"/>
            <a:ext cx="4339314" cy="4339314"/>
          </a:xfrm>
          <a:prstGeom prst="ellipse">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0C7C3C-6EA9-894A-9542-D978B7CD989F}"/>
              </a:ext>
            </a:extLst>
          </p:cNvPr>
          <p:cNvSpPr>
            <a:spLocks noGrp="1"/>
          </p:cNvSpPr>
          <p:nvPr>
            <p:ph type="ctrTitle"/>
          </p:nvPr>
        </p:nvSpPr>
        <p:spPr>
          <a:xfrm>
            <a:off x="4819966" y="2103900"/>
            <a:ext cx="2728914" cy="919950"/>
          </a:xfrm>
        </p:spPr>
        <p:txBody>
          <a:bodyPr>
            <a:noAutofit/>
          </a:bodyPr>
          <a:lstStyle>
            <a:lvl1pPr>
              <a:lnSpc>
                <a:spcPct val="100000"/>
              </a:lnSpc>
              <a:defRPr sz="26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62236C93-BF21-204B-9F2B-0A70FC6858FB}"/>
              </a:ext>
            </a:extLst>
          </p:cNvPr>
          <p:cNvSpPr>
            <a:spLocks noGrp="1"/>
          </p:cNvSpPr>
          <p:nvPr>
            <p:ph type="subTitle" idx="1"/>
          </p:nvPr>
        </p:nvSpPr>
        <p:spPr>
          <a:xfrm>
            <a:off x="4819966" y="3079730"/>
            <a:ext cx="2728914" cy="754421"/>
          </a:xfrm>
        </p:spPr>
        <p:txBody>
          <a:bodyPr>
            <a:noAutofit/>
          </a:bodyPr>
          <a:lstStyle>
            <a:lvl1pPr marL="0" indent="0" algn="l">
              <a:spcAft>
                <a:spcPts val="0"/>
              </a:spcAft>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Graphic 3">
            <a:extLst>
              <a:ext uri="{FF2B5EF4-FFF2-40B4-BE49-F238E27FC236}">
                <a16:creationId xmlns:a16="http://schemas.microsoft.com/office/drawing/2014/main" id="{FB04F7A8-9480-5444-A4F7-3B7E84E0B9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37106" y="194552"/>
            <a:ext cx="5447489" cy="5447489"/>
          </a:xfrm>
          <a:prstGeom prst="rect">
            <a:avLst/>
          </a:prstGeom>
        </p:spPr>
      </p:pic>
      <p:pic>
        <p:nvPicPr>
          <p:cNvPr id="7" name="Picture 6">
            <a:extLst>
              <a:ext uri="{FF2B5EF4-FFF2-40B4-BE49-F238E27FC236}">
                <a16:creationId xmlns:a16="http://schemas.microsoft.com/office/drawing/2014/main" id="{3DAF7C9A-8624-7A41-83C0-923FBF180208}"/>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8449277" y="5765261"/>
            <a:ext cx="3658679" cy="1105710"/>
          </a:xfrm>
          <a:prstGeom prst="rect">
            <a:avLst/>
          </a:prstGeom>
        </p:spPr>
      </p:pic>
    </p:spTree>
    <p:extLst>
      <p:ext uri="{BB962C8B-B14F-4D97-AF65-F5344CB8AC3E}">
        <p14:creationId xmlns:p14="http://schemas.microsoft.com/office/powerpoint/2010/main" val="63784057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Title 1 No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2027389-9F0B-1C4D-9A6B-82C1A8A2018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7652"/>
            <a:ext cx="12188825" cy="5768649"/>
          </a:xfrm>
          <a:prstGeom prst="rect">
            <a:avLst/>
          </a:prstGeom>
        </p:spPr>
      </p:pic>
      <p:sp>
        <p:nvSpPr>
          <p:cNvPr id="9" name="Oval 8">
            <a:extLst>
              <a:ext uri="{FF2B5EF4-FFF2-40B4-BE49-F238E27FC236}">
                <a16:creationId xmlns:a16="http://schemas.microsoft.com/office/drawing/2014/main" id="{46BDCB27-72E6-A147-8509-AEA7E47C2AE1}"/>
              </a:ext>
            </a:extLst>
          </p:cNvPr>
          <p:cNvSpPr/>
          <p:nvPr userDrawn="1"/>
        </p:nvSpPr>
        <p:spPr>
          <a:xfrm>
            <a:off x="3994031" y="720455"/>
            <a:ext cx="4339314" cy="4339314"/>
          </a:xfrm>
          <a:prstGeom prst="ellipse">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0C7C3C-6EA9-894A-9542-D978B7CD989F}"/>
              </a:ext>
            </a:extLst>
          </p:cNvPr>
          <p:cNvSpPr>
            <a:spLocks noGrp="1"/>
          </p:cNvSpPr>
          <p:nvPr>
            <p:ph type="ctrTitle"/>
          </p:nvPr>
        </p:nvSpPr>
        <p:spPr>
          <a:xfrm>
            <a:off x="4819966" y="2103900"/>
            <a:ext cx="2728914" cy="919950"/>
          </a:xfrm>
        </p:spPr>
        <p:txBody>
          <a:bodyPr>
            <a:noAutofit/>
          </a:bodyPr>
          <a:lstStyle>
            <a:lvl1pPr>
              <a:lnSpc>
                <a:spcPct val="100000"/>
              </a:lnSpc>
              <a:defRPr sz="26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62236C93-BF21-204B-9F2B-0A70FC6858FB}"/>
              </a:ext>
            </a:extLst>
          </p:cNvPr>
          <p:cNvSpPr>
            <a:spLocks noGrp="1"/>
          </p:cNvSpPr>
          <p:nvPr>
            <p:ph type="subTitle" idx="1"/>
          </p:nvPr>
        </p:nvSpPr>
        <p:spPr>
          <a:xfrm>
            <a:off x="4819966" y="3079730"/>
            <a:ext cx="2728914" cy="754421"/>
          </a:xfrm>
        </p:spPr>
        <p:txBody>
          <a:bodyPr>
            <a:noAutofit/>
          </a:bodyPr>
          <a:lstStyle>
            <a:lvl1pPr marL="0" indent="0" algn="l">
              <a:spcAft>
                <a:spcPts val="0"/>
              </a:spcAft>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Graphic 3">
            <a:extLst>
              <a:ext uri="{FF2B5EF4-FFF2-40B4-BE49-F238E27FC236}">
                <a16:creationId xmlns:a16="http://schemas.microsoft.com/office/drawing/2014/main" id="{FB04F7A8-9480-5444-A4F7-3B7E84E0B9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37106" y="194552"/>
            <a:ext cx="5447489" cy="5447489"/>
          </a:xfrm>
          <a:prstGeom prst="rect">
            <a:avLst/>
          </a:prstGeom>
        </p:spPr>
      </p:pic>
      <p:pic>
        <p:nvPicPr>
          <p:cNvPr id="7" name="Picture 6">
            <a:extLst>
              <a:ext uri="{FF2B5EF4-FFF2-40B4-BE49-F238E27FC236}">
                <a16:creationId xmlns:a16="http://schemas.microsoft.com/office/drawing/2014/main" id="{3DAF7C9A-8624-7A41-83C0-923FBF180208}"/>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8449277" y="5765261"/>
            <a:ext cx="3658679" cy="1105710"/>
          </a:xfrm>
          <a:prstGeom prst="rect">
            <a:avLst/>
          </a:prstGeom>
        </p:spPr>
      </p:pic>
    </p:spTree>
    <p:extLst>
      <p:ext uri="{BB962C8B-B14F-4D97-AF65-F5344CB8AC3E}">
        <p14:creationId xmlns:p14="http://schemas.microsoft.com/office/powerpoint/2010/main" val="298332149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1 No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68BD78E-F40A-6642-B335-63E9505E851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99"/>
            <a:ext cx="12186028" cy="5768649"/>
          </a:xfrm>
          <a:prstGeom prst="rect">
            <a:avLst/>
          </a:prstGeom>
        </p:spPr>
      </p:pic>
      <p:sp>
        <p:nvSpPr>
          <p:cNvPr id="9" name="Oval 8">
            <a:extLst>
              <a:ext uri="{FF2B5EF4-FFF2-40B4-BE49-F238E27FC236}">
                <a16:creationId xmlns:a16="http://schemas.microsoft.com/office/drawing/2014/main" id="{46BDCB27-72E6-A147-8509-AEA7E47C2AE1}"/>
              </a:ext>
            </a:extLst>
          </p:cNvPr>
          <p:cNvSpPr/>
          <p:nvPr userDrawn="1"/>
        </p:nvSpPr>
        <p:spPr>
          <a:xfrm>
            <a:off x="3994031" y="720455"/>
            <a:ext cx="4339314" cy="4339314"/>
          </a:xfrm>
          <a:prstGeom prst="ellipse">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0C7C3C-6EA9-894A-9542-D978B7CD989F}"/>
              </a:ext>
            </a:extLst>
          </p:cNvPr>
          <p:cNvSpPr>
            <a:spLocks noGrp="1"/>
          </p:cNvSpPr>
          <p:nvPr>
            <p:ph type="ctrTitle"/>
          </p:nvPr>
        </p:nvSpPr>
        <p:spPr>
          <a:xfrm>
            <a:off x="4819966" y="2103900"/>
            <a:ext cx="2728914" cy="919950"/>
          </a:xfrm>
        </p:spPr>
        <p:txBody>
          <a:bodyPr>
            <a:noAutofit/>
          </a:bodyPr>
          <a:lstStyle>
            <a:lvl1pPr>
              <a:lnSpc>
                <a:spcPct val="100000"/>
              </a:lnSpc>
              <a:defRPr sz="26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62236C93-BF21-204B-9F2B-0A70FC6858FB}"/>
              </a:ext>
            </a:extLst>
          </p:cNvPr>
          <p:cNvSpPr>
            <a:spLocks noGrp="1"/>
          </p:cNvSpPr>
          <p:nvPr>
            <p:ph type="subTitle" idx="1"/>
          </p:nvPr>
        </p:nvSpPr>
        <p:spPr>
          <a:xfrm>
            <a:off x="4819966" y="3079730"/>
            <a:ext cx="2728914" cy="754421"/>
          </a:xfrm>
        </p:spPr>
        <p:txBody>
          <a:bodyPr>
            <a:noAutofit/>
          </a:bodyPr>
          <a:lstStyle>
            <a:lvl1pPr marL="0" indent="0" algn="l">
              <a:spcAft>
                <a:spcPts val="0"/>
              </a:spcAft>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Graphic 3">
            <a:extLst>
              <a:ext uri="{FF2B5EF4-FFF2-40B4-BE49-F238E27FC236}">
                <a16:creationId xmlns:a16="http://schemas.microsoft.com/office/drawing/2014/main" id="{FB04F7A8-9480-5444-A4F7-3B7E84E0B9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37106" y="194552"/>
            <a:ext cx="5447489" cy="5447489"/>
          </a:xfrm>
          <a:prstGeom prst="rect">
            <a:avLst/>
          </a:prstGeom>
        </p:spPr>
      </p:pic>
      <p:pic>
        <p:nvPicPr>
          <p:cNvPr id="7" name="Picture 6">
            <a:extLst>
              <a:ext uri="{FF2B5EF4-FFF2-40B4-BE49-F238E27FC236}">
                <a16:creationId xmlns:a16="http://schemas.microsoft.com/office/drawing/2014/main" id="{3DAF7C9A-8624-7A41-83C0-923FBF180208}"/>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8449277" y="5765261"/>
            <a:ext cx="3658679" cy="1105710"/>
          </a:xfrm>
          <a:prstGeom prst="rect">
            <a:avLst/>
          </a:prstGeom>
        </p:spPr>
      </p:pic>
    </p:spTree>
    <p:extLst>
      <p:ext uri="{BB962C8B-B14F-4D97-AF65-F5344CB8AC3E}">
        <p14:creationId xmlns:p14="http://schemas.microsoft.com/office/powerpoint/2010/main" val="389912762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1 No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857888C-7C65-1941-A79F-092D591EDF4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2538"/>
            <a:ext cx="12188824" cy="5768649"/>
          </a:xfrm>
          <a:prstGeom prst="rect">
            <a:avLst/>
          </a:prstGeom>
        </p:spPr>
      </p:pic>
      <p:sp>
        <p:nvSpPr>
          <p:cNvPr id="9" name="Oval 8">
            <a:extLst>
              <a:ext uri="{FF2B5EF4-FFF2-40B4-BE49-F238E27FC236}">
                <a16:creationId xmlns:a16="http://schemas.microsoft.com/office/drawing/2014/main" id="{46BDCB27-72E6-A147-8509-AEA7E47C2AE1}"/>
              </a:ext>
            </a:extLst>
          </p:cNvPr>
          <p:cNvSpPr/>
          <p:nvPr userDrawn="1"/>
        </p:nvSpPr>
        <p:spPr>
          <a:xfrm>
            <a:off x="3994031" y="720455"/>
            <a:ext cx="4339314" cy="4339314"/>
          </a:xfrm>
          <a:prstGeom prst="ellipse">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E70C7C3C-6EA9-894A-9542-D978B7CD989F}"/>
              </a:ext>
            </a:extLst>
          </p:cNvPr>
          <p:cNvSpPr>
            <a:spLocks noGrp="1"/>
          </p:cNvSpPr>
          <p:nvPr>
            <p:ph type="ctrTitle"/>
          </p:nvPr>
        </p:nvSpPr>
        <p:spPr>
          <a:xfrm>
            <a:off x="4819966" y="2103900"/>
            <a:ext cx="2728914" cy="919950"/>
          </a:xfrm>
        </p:spPr>
        <p:txBody>
          <a:bodyPr>
            <a:noAutofit/>
          </a:bodyPr>
          <a:lstStyle>
            <a:lvl1pPr>
              <a:lnSpc>
                <a:spcPct val="100000"/>
              </a:lnSpc>
              <a:defRPr sz="2600" baseline="0">
                <a:solidFill>
                  <a:schemeClr val="bg2">
                    <a:lumMod val="25000"/>
                  </a:schemeClr>
                </a:solidFill>
              </a:defRPr>
            </a:lvl1pPr>
          </a:lstStyle>
          <a:p>
            <a:r>
              <a:rPr lang="en-US" dirty="0"/>
              <a:t>Click to edit Master title style</a:t>
            </a:r>
          </a:p>
        </p:txBody>
      </p:sp>
      <p:sp>
        <p:nvSpPr>
          <p:cNvPr id="6" name="Subtitle 2">
            <a:extLst>
              <a:ext uri="{FF2B5EF4-FFF2-40B4-BE49-F238E27FC236}">
                <a16:creationId xmlns:a16="http://schemas.microsoft.com/office/drawing/2014/main" id="{62236C93-BF21-204B-9F2B-0A70FC6858FB}"/>
              </a:ext>
            </a:extLst>
          </p:cNvPr>
          <p:cNvSpPr>
            <a:spLocks noGrp="1"/>
          </p:cNvSpPr>
          <p:nvPr>
            <p:ph type="subTitle" idx="1"/>
          </p:nvPr>
        </p:nvSpPr>
        <p:spPr>
          <a:xfrm>
            <a:off x="4819966" y="3079730"/>
            <a:ext cx="2728914" cy="754421"/>
          </a:xfrm>
        </p:spPr>
        <p:txBody>
          <a:bodyPr>
            <a:noAutofit/>
          </a:bodyPr>
          <a:lstStyle>
            <a:lvl1pPr marL="0" indent="0" algn="l">
              <a:spcAft>
                <a:spcPts val="0"/>
              </a:spcAft>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Graphic 3">
            <a:extLst>
              <a:ext uri="{FF2B5EF4-FFF2-40B4-BE49-F238E27FC236}">
                <a16:creationId xmlns:a16="http://schemas.microsoft.com/office/drawing/2014/main" id="{FB04F7A8-9480-5444-A4F7-3B7E84E0B9C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37106" y="194552"/>
            <a:ext cx="5447489" cy="5447489"/>
          </a:xfrm>
          <a:prstGeom prst="rect">
            <a:avLst/>
          </a:prstGeom>
        </p:spPr>
      </p:pic>
      <p:pic>
        <p:nvPicPr>
          <p:cNvPr id="7" name="Picture 6">
            <a:extLst>
              <a:ext uri="{FF2B5EF4-FFF2-40B4-BE49-F238E27FC236}">
                <a16:creationId xmlns:a16="http://schemas.microsoft.com/office/drawing/2014/main" id="{3DAF7C9A-8624-7A41-83C0-923FBF180208}"/>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8449277" y="5765261"/>
            <a:ext cx="3658679" cy="1105710"/>
          </a:xfrm>
          <a:prstGeom prst="rect">
            <a:avLst/>
          </a:prstGeom>
        </p:spPr>
      </p:pic>
    </p:spTree>
    <p:extLst>
      <p:ext uri="{BB962C8B-B14F-4D97-AF65-F5344CB8AC3E}">
        <p14:creationId xmlns:p14="http://schemas.microsoft.com/office/powerpoint/2010/main" val="210944180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2FE7-B6AB-1A4B-8B1E-0EDED7E8C9B8}"/>
              </a:ext>
            </a:extLst>
          </p:cNvPr>
          <p:cNvSpPr>
            <a:spLocks noGrp="1"/>
          </p:cNvSpPr>
          <p:nvPr>
            <p:ph type="title" hasCustomPrompt="1"/>
          </p:nvPr>
        </p:nvSpPr>
        <p:spPr>
          <a:xfrm>
            <a:off x="694372" y="1240588"/>
            <a:ext cx="3061335" cy="641552"/>
          </a:xfrm>
        </p:spPr>
        <p:txBody>
          <a:bodyPr/>
          <a:lstStyle>
            <a:lvl1pPr>
              <a:defRPr sz="2600">
                <a:solidFill>
                  <a:schemeClr val="bg2">
                    <a:lumMod val="25000"/>
                  </a:schemeClr>
                </a:solidFill>
              </a:defRPr>
            </a:lvl1pPr>
          </a:lstStyle>
          <a:p>
            <a:r>
              <a:rPr lang="en-US" dirty="0"/>
              <a:t>Agenda</a:t>
            </a:r>
          </a:p>
        </p:txBody>
      </p:sp>
      <p:sp>
        <p:nvSpPr>
          <p:cNvPr id="3" name="Footer Placeholder 2">
            <a:extLst>
              <a:ext uri="{FF2B5EF4-FFF2-40B4-BE49-F238E27FC236}">
                <a16:creationId xmlns:a16="http://schemas.microsoft.com/office/drawing/2014/main" id="{5E441128-FA94-3042-B57A-75EF71CE0FA5}"/>
              </a:ext>
            </a:extLst>
          </p:cNvPr>
          <p:cNvSpPr>
            <a:spLocks noGrp="1"/>
          </p:cNvSpPr>
          <p:nvPr>
            <p:ph type="ftr" sz="quarter" idx="10"/>
          </p:nvPr>
        </p:nvSpPr>
        <p:spPr/>
        <p:txBody>
          <a:bodyPr/>
          <a:lstStyle/>
          <a:p>
            <a:r>
              <a:rPr lang="en-US"/>
              <a:t>Edit presentation title on Slide Master using Insert &gt; Header &amp; Footer</a:t>
            </a:r>
            <a:endParaRPr lang="en-US" dirty="0"/>
          </a:p>
        </p:txBody>
      </p:sp>
      <p:sp>
        <p:nvSpPr>
          <p:cNvPr id="4" name="Slide Number Placeholder 3">
            <a:extLst>
              <a:ext uri="{FF2B5EF4-FFF2-40B4-BE49-F238E27FC236}">
                <a16:creationId xmlns:a16="http://schemas.microsoft.com/office/drawing/2014/main" id="{5390C684-C943-6446-8A8D-CFD2150911C8}"/>
              </a:ext>
            </a:extLst>
          </p:cNvPr>
          <p:cNvSpPr>
            <a:spLocks noGrp="1"/>
          </p:cNvSpPr>
          <p:nvPr>
            <p:ph type="sldNum" sz="quarter" idx="11"/>
          </p:nvPr>
        </p:nvSpPr>
        <p:spPr/>
        <p:txBody>
          <a:bodyPr/>
          <a:lstStyle/>
          <a:p>
            <a:fld id="{0A655226-6E4F-8847-85CD-AF95F3D3F39A}" type="slidenum">
              <a:rPr lang="en-US" smtClean="0"/>
              <a:pPr/>
              <a:t>‹#›</a:t>
            </a:fld>
            <a:endParaRPr lang="en-US" dirty="0"/>
          </a:p>
        </p:txBody>
      </p:sp>
      <p:pic>
        <p:nvPicPr>
          <p:cNvPr id="6" name="Picture 5" descr="Shape, background pattern, rectangle&#10;&#10;Description automatically generated">
            <a:extLst>
              <a:ext uri="{FF2B5EF4-FFF2-40B4-BE49-F238E27FC236}">
                <a16:creationId xmlns:a16="http://schemas.microsoft.com/office/drawing/2014/main" id="{17EBCE15-CB13-8043-8434-756D527176E2}"/>
              </a:ext>
            </a:extLst>
          </p:cNvPr>
          <p:cNvPicPr>
            <a:picLocks noChangeAspect="1"/>
          </p:cNvPicPr>
          <p:nvPr userDrawn="1"/>
        </p:nvPicPr>
        <p:blipFill>
          <a:blip r:embed="rId2"/>
          <a:stretch>
            <a:fillRect/>
          </a:stretch>
        </p:blipFill>
        <p:spPr>
          <a:xfrm>
            <a:off x="694372" y="2013632"/>
            <a:ext cx="1446848" cy="339198"/>
          </a:xfrm>
          <a:prstGeom prst="rect">
            <a:avLst/>
          </a:prstGeom>
        </p:spPr>
      </p:pic>
      <p:sp>
        <p:nvSpPr>
          <p:cNvPr id="7" name="Title 1">
            <a:extLst>
              <a:ext uri="{FF2B5EF4-FFF2-40B4-BE49-F238E27FC236}">
                <a16:creationId xmlns:a16="http://schemas.microsoft.com/office/drawing/2014/main" id="{38863722-FC07-7D4F-9446-FDFFE05B75F6}"/>
              </a:ext>
            </a:extLst>
          </p:cNvPr>
          <p:cNvSpPr txBox="1">
            <a:spLocks/>
          </p:cNvSpPr>
          <p:nvPr userDrawn="1"/>
        </p:nvSpPr>
        <p:spPr>
          <a:xfrm>
            <a:off x="725329" y="2071146"/>
            <a:ext cx="1408272" cy="250856"/>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2600" b="1" kern="1200">
                <a:solidFill>
                  <a:schemeClr val="bg2">
                    <a:lumMod val="25000"/>
                  </a:schemeClr>
                </a:solidFill>
                <a:latin typeface="+mj-lt"/>
                <a:ea typeface="+mj-ea"/>
                <a:cs typeface="+mj-cs"/>
              </a:defRPr>
            </a:lvl1pPr>
          </a:lstStyle>
          <a:p>
            <a:pPr algn="ctr"/>
            <a:r>
              <a:rPr lang="en-US" sz="1400" dirty="0">
                <a:solidFill>
                  <a:schemeClr val="bg1"/>
                </a:solidFill>
              </a:rPr>
              <a:t>1:00 PM CST</a:t>
            </a:r>
          </a:p>
        </p:txBody>
      </p:sp>
      <p:pic>
        <p:nvPicPr>
          <p:cNvPr id="8" name="Picture 7" descr="Shape, background pattern, rectangle&#10;&#10;Description automatically generated">
            <a:extLst>
              <a:ext uri="{FF2B5EF4-FFF2-40B4-BE49-F238E27FC236}">
                <a16:creationId xmlns:a16="http://schemas.microsoft.com/office/drawing/2014/main" id="{5C784A34-08F1-6E43-AF34-90049CF14E7C}"/>
              </a:ext>
            </a:extLst>
          </p:cNvPr>
          <p:cNvPicPr>
            <a:picLocks noChangeAspect="1"/>
          </p:cNvPicPr>
          <p:nvPr userDrawn="1"/>
        </p:nvPicPr>
        <p:blipFill>
          <a:blip r:embed="rId2"/>
          <a:stretch>
            <a:fillRect/>
          </a:stretch>
        </p:blipFill>
        <p:spPr>
          <a:xfrm>
            <a:off x="694372" y="3461642"/>
            <a:ext cx="1446848" cy="339198"/>
          </a:xfrm>
          <a:prstGeom prst="rect">
            <a:avLst/>
          </a:prstGeom>
        </p:spPr>
      </p:pic>
      <p:sp>
        <p:nvSpPr>
          <p:cNvPr id="9" name="Title 1">
            <a:extLst>
              <a:ext uri="{FF2B5EF4-FFF2-40B4-BE49-F238E27FC236}">
                <a16:creationId xmlns:a16="http://schemas.microsoft.com/office/drawing/2014/main" id="{CF1C7A0F-F30B-8543-9A53-9617EB34C10D}"/>
              </a:ext>
            </a:extLst>
          </p:cNvPr>
          <p:cNvSpPr txBox="1">
            <a:spLocks/>
          </p:cNvSpPr>
          <p:nvPr userDrawn="1"/>
        </p:nvSpPr>
        <p:spPr>
          <a:xfrm>
            <a:off x="725329" y="3519156"/>
            <a:ext cx="1408272" cy="250856"/>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2600" b="1" kern="1200">
                <a:solidFill>
                  <a:schemeClr val="bg2">
                    <a:lumMod val="25000"/>
                  </a:schemeClr>
                </a:solidFill>
                <a:latin typeface="+mj-lt"/>
                <a:ea typeface="+mj-ea"/>
                <a:cs typeface="+mj-cs"/>
              </a:defRPr>
            </a:lvl1pPr>
          </a:lstStyle>
          <a:p>
            <a:pPr algn="ctr"/>
            <a:r>
              <a:rPr lang="en-US" sz="1400" dirty="0">
                <a:solidFill>
                  <a:schemeClr val="bg1"/>
                </a:solidFill>
              </a:rPr>
              <a:t>3:00 PM CST</a:t>
            </a:r>
          </a:p>
        </p:txBody>
      </p:sp>
      <p:pic>
        <p:nvPicPr>
          <p:cNvPr id="10" name="Picture 9" descr="Shape, background pattern, rectangle&#10;&#10;Description automatically generated">
            <a:extLst>
              <a:ext uri="{FF2B5EF4-FFF2-40B4-BE49-F238E27FC236}">
                <a16:creationId xmlns:a16="http://schemas.microsoft.com/office/drawing/2014/main" id="{9C99A350-BC0C-C547-93E2-51F4D4296DD9}"/>
              </a:ext>
            </a:extLst>
          </p:cNvPr>
          <p:cNvPicPr>
            <a:picLocks noChangeAspect="1"/>
          </p:cNvPicPr>
          <p:nvPr userDrawn="1"/>
        </p:nvPicPr>
        <p:blipFill>
          <a:blip r:embed="rId2"/>
          <a:stretch>
            <a:fillRect/>
          </a:stretch>
        </p:blipFill>
        <p:spPr>
          <a:xfrm>
            <a:off x="694372" y="4926693"/>
            <a:ext cx="1446848" cy="339198"/>
          </a:xfrm>
          <a:prstGeom prst="rect">
            <a:avLst/>
          </a:prstGeom>
        </p:spPr>
      </p:pic>
      <p:sp>
        <p:nvSpPr>
          <p:cNvPr id="11" name="Title 1">
            <a:extLst>
              <a:ext uri="{FF2B5EF4-FFF2-40B4-BE49-F238E27FC236}">
                <a16:creationId xmlns:a16="http://schemas.microsoft.com/office/drawing/2014/main" id="{497045BC-1193-4647-8940-7F962B3F0585}"/>
              </a:ext>
            </a:extLst>
          </p:cNvPr>
          <p:cNvSpPr txBox="1">
            <a:spLocks/>
          </p:cNvSpPr>
          <p:nvPr userDrawn="1"/>
        </p:nvSpPr>
        <p:spPr>
          <a:xfrm>
            <a:off x="725329" y="4984207"/>
            <a:ext cx="1408272" cy="250856"/>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2600" b="1" kern="1200">
                <a:solidFill>
                  <a:schemeClr val="bg2">
                    <a:lumMod val="25000"/>
                  </a:schemeClr>
                </a:solidFill>
                <a:latin typeface="+mj-lt"/>
                <a:ea typeface="+mj-ea"/>
                <a:cs typeface="+mj-cs"/>
              </a:defRPr>
            </a:lvl1pPr>
          </a:lstStyle>
          <a:p>
            <a:pPr algn="ctr"/>
            <a:r>
              <a:rPr lang="en-US" sz="1400" dirty="0">
                <a:solidFill>
                  <a:schemeClr val="bg1"/>
                </a:solidFill>
              </a:rPr>
              <a:t>4:30 PM CST</a:t>
            </a:r>
          </a:p>
        </p:txBody>
      </p:sp>
      <p:sp>
        <p:nvSpPr>
          <p:cNvPr id="12" name="TextBox 11">
            <a:extLst>
              <a:ext uri="{FF2B5EF4-FFF2-40B4-BE49-F238E27FC236}">
                <a16:creationId xmlns:a16="http://schemas.microsoft.com/office/drawing/2014/main" id="{1F71C76D-3C9E-F64E-ADE7-1118A7E9EC24}"/>
              </a:ext>
            </a:extLst>
          </p:cNvPr>
          <p:cNvSpPr txBox="1"/>
          <p:nvPr userDrawn="1"/>
        </p:nvSpPr>
        <p:spPr>
          <a:xfrm>
            <a:off x="2240756" y="2048287"/>
            <a:ext cx="2080260" cy="250856"/>
          </a:xfrm>
          <a:prstGeom prst="rect">
            <a:avLst/>
          </a:prstGeom>
          <a:noFill/>
        </p:spPr>
        <p:txBody>
          <a:bodyPr wrap="square" lIns="0" tIns="0" rIns="0" bIns="0" rtlCol="0" anchor="t">
            <a:noAutofit/>
          </a:bodyPr>
          <a:lstStyle/>
          <a:p>
            <a:r>
              <a:rPr lang="en-US" sz="1600" b="1" dirty="0"/>
              <a:t>Agenda item here</a:t>
            </a:r>
          </a:p>
        </p:txBody>
      </p:sp>
      <p:sp>
        <p:nvSpPr>
          <p:cNvPr id="13" name="TextBox 12">
            <a:extLst>
              <a:ext uri="{FF2B5EF4-FFF2-40B4-BE49-F238E27FC236}">
                <a16:creationId xmlns:a16="http://schemas.microsoft.com/office/drawing/2014/main" id="{1D8E3392-1438-684F-866D-3DBE8D78268C}"/>
              </a:ext>
            </a:extLst>
          </p:cNvPr>
          <p:cNvSpPr txBox="1"/>
          <p:nvPr userDrawn="1"/>
        </p:nvSpPr>
        <p:spPr>
          <a:xfrm>
            <a:off x="1675447" y="2446822"/>
            <a:ext cx="2080260" cy="722827"/>
          </a:xfrm>
          <a:prstGeom prst="rect">
            <a:avLst/>
          </a:prstGeom>
          <a:noFill/>
        </p:spPr>
        <p:txBody>
          <a:bodyPr wrap="square" lIns="0" tIns="0" rIns="0" bIns="0" rtlCol="0" anchor="t">
            <a:noAutofit/>
          </a:bodyPr>
          <a:lstStyle/>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endParaRPr lang="en-US" sz="1400" b="0" dirty="0"/>
          </a:p>
        </p:txBody>
      </p:sp>
      <p:sp>
        <p:nvSpPr>
          <p:cNvPr id="14" name="TextBox 13">
            <a:extLst>
              <a:ext uri="{FF2B5EF4-FFF2-40B4-BE49-F238E27FC236}">
                <a16:creationId xmlns:a16="http://schemas.microsoft.com/office/drawing/2014/main" id="{082DCA97-4CE0-C54B-ACD3-310C2DC876F7}"/>
              </a:ext>
            </a:extLst>
          </p:cNvPr>
          <p:cNvSpPr txBox="1"/>
          <p:nvPr userDrawn="1"/>
        </p:nvSpPr>
        <p:spPr>
          <a:xfrm>
            <a:off x="2240756" y="3511266"/>
            <a:ext cx="2080260" cy="250856"/>
          </a:xfrm>
          <a:prstGeom prst="rect">
            <a:avLst/>
          </a:prstGeom>
          <a:noFill/>
        </p:spPr>
        <p:txBody>
          <a:bodyPr wrap="square" lIns="0" tIns="0" rIns="0" bIns="0" rtlCol="0" anchor="t">
            <a:noAutofit/>
          </a:bodyPr>
          <a:lstStyle/>
          <a:p>
            <a:r>
              <a:rPr lang="en-US" sz="1600" b="1" dirty="0"/>
              <a:t>Agenda item here</a:t>
            </a:r>
          </a:p>
        </p:txBody>
      </p:sp>
      <p:sp>
        <p:nvSpPr>
          <p:cNvPr id="15" name="TextBox 14">
            <a:extLst>
              <a:ext uri="{FF2B5EF4-FFF2-40B4-BE49-F238E27FC236}">
                <a16:creationId xmlns:a16="http://schemas.microsoft.com/office/drawing/2014/main" id="{F9B3DB35-C0DE-294E-AFE8-99149E2BAB93}"/>
              </a:ext>
            </a:extLst>
          </p:cNvPr>
          <p:cNvSpPr txBox="1"/>
          <p:nvPr userDrawn="1"/>
        </p:nvSpPr>
        <p:spPr>
          <a:xfrm>
            <a:off x="1675447" y="3909801"/>
            <a:ext cx="2080260" cy="722827"/>
          </a:xfrm>
          <a:prstGeom prst="rect">
            <a:avLst/>
          </a:prstGeom>
          <a:noFill/>
        </p:spPr>
        <p:txBody>
          <a:bodyPr wrap="square" lIns="0" tIns="0" rIns="0" bIns="0" rtlCol="0" anchor="t">
            <a:noAutofit/>
          </a:bodyPr>
          <a:lstStyle/>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endParaRPr lang="en-US" sz="1400" b="0" dirty="0"/>
          </a:p>
        </p:txBody>
      </p:sp>
      <p:sp>
        <p:nvSpPr>
          <p:cNvPr id="16" name="TextBox 15">
            <a:extLst>
              <a:ext uri="{FF2B5EF4-FFF2-40B4-BE49-F238E27FC236}">
                <a16:creationId xmlns:a16="http://schemas.microsoft.com/office/drawing/2014/main" id="{FAD3C502-CA0B-7940-875D-7469348F935C}"/>
              </a:ext>
            </a:extLst>
          </p:cNvPr>
          <p:cNvSpPr txBox="1"/>
          <p:nvPr userDrawn="1"/>
        </p:nvSpPr>
        <p:spPr>
          <a:xfrm>
            <a:off x="2240756" y="4982880"/>
            <a:ext cx="2080260" cy="250856"/>
          </a:xfrm>
          <a:prstGeom prst="rect">
            <a:avLst/>
          </a:prstGeom>
          <a:noFill/>
        </p:spPr>
        <p:txBody>
          <a:bodyPr wrap="square" lIns="0" tIns="0" rIns="0" bIns="0" rtlCol="0" anchor="t">
            <a:noAutofit/>
          </a:bodyPr>
          <a:lstStyle/>
          <a:p>
            <a:r>
              <a:rPr lang="en-US" sz="1600" b="1" dirty="0"/>
              <a:t>Agenda item here</a:t>
            </a:r>
          </a:p>
        </p:txBody>
      </p:sp>
      <p:sp>
        <p:nvSpPr>
          <p:cNvPr id="17" name="TextBox 16">
            <a:extLst>
              <a:ext uri="{FF2B5EF4-FFF2-40B4-BE49-F238E27FC236}">
                <a16:creationId xmlns:a16="http://schemas.microsoft.com/office/drawing/2014/main" id="{D3B75F2D-A1AC-2643-B57C-8EC2EAA410E0}"/>
              </a:ext>
            </a:extLst>
          </p:cNvPr>
          <p:cNvSpPr txBox="1"/>
          <p:nvPr userDrawn="1"/>
        </p:nvSpPr>
        <p:spPr>
          <a:xfrm>
            <a:off x="1675447" y="5381415"/>
            <a:ext cx="2080260" cy="722827"/>
          </a:xfrm>
          <a:prstGeom prst="rect">
            <a:avLst/>
          </a:prstGeom>
          <a:noFill/>
        </p:spPr>
        <p:txBody>
          <a:bodyPr wrap="square" lIns="0" tIns="0" rIns="0" bIns="0" rtlCol="0" anchor="t">
            <a:noAutofit/>
          </a:bodyPr>
          <a:lstStyle/>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r>
              <a:rPr lang="en-US" sz="1400" b="0" dirty="0"/>
              <a:t>Bullet list item here</a:t>
            </a:r>
          </a:p>
          <a:p>
            <a:pPr marL="285750" indent="-285750">
              <a:buClr>
                <a:schemeClr val="tx2"/>
              </a:buClr>
              <a:buFont typeface="Arial" panose="020B0604020202020204" pitchFamily="34" charset="0"/>
              <a:buChar char="•"/>
            </a:pPr>
            <a:endParaRPr lang="en-US" sz="1400" b="0" dirty="0"/>
          </a:p>
        </p:txBody>
      </p:sp>
    </p:spTree>
    <p:extLst>
      <p:ext uri="{BB962C8B-B14F-4D97-AF65-F5344CB8AC3E}">
        <p14:creationId xmlns:p14="http://schemas.microsoft.com/office/powerpoint/2010/main" val="3264268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Horizontal">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3063" y="5253540"/>
            <a:ext cx="5553775" cy="1007560"/>
          </a:xfrm>
        </p:spPr>
        <p:txBody>
          <a:bodyPr>
            <a:noAutofit/>
          </a:bodyPr>
          <a:lstStyle>
            <a:lvl1pPr marL="0" indent="0" algn="l">
              <a:spcAft>
                <a:spcPts val="0"/>
              </a:spcAft>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hasCustomPrompt="1"/>
          </p:nvPr>
        </p:nvSpPr>
        <p:spPr>
          <a:xfrm>
            <a:off x="373064" y="3874000"/>
            <a:ext cx="10291762" cy="1221022"/>
          </a:xfrm>
        </p:spPr>
        <p:txBody>
          <a:bodyPr>
            <a:noAutofit/>
          </a:bodyPr>
          <a:lstStyle>
            <a:lvl1pPr>
              <a:lnSpc>
                <a:spcPct val="100000"/>
              </a:lnSpc>
              <a:defRPr sz="3600">
                <a:solidFill>
                  <a:schemeClr val="tx2"/>
                </a:solidFill>
              </a:defRPr>
            </a:lvl1pPr>
          </a:lstStyle>
          <a:p>
            <a:r>
              <a:rPr lang="en-US" dirty="0"/>
              <a:t>Click to edit </a:t>
            </a:r>
            <a:br>
              <a:rPr lang="en-US" dirty="0"/>
            </a:br>
            <a:r>
              <a:rPr lang="en-US" dirty="0"/>
              <a:t>Master title style</a:t>
            </a:r>
          </a:p>
        </p:txBody>
      </p:sp>
      <p:pic>
        <p:nvPicPr>
          <p:cNvPr id="5" name="Picture 4" descr="Icon&#10;&#10;Description automatically generated with medium confidence">
            <a:extLst>
              <a:ext uri="{FF2B5EF4-FFF2-40B4-BE49-F238E27FC236}">
                <a16:creationId xmlns:a16="http://schemas.microsoft.com/office/drawing/2014/main" id="{473970DF-32F0-5544-BAC6-9C5584FBEC7D}"/>
              </a:ext>
            </a:extLst>
          </p:cNvPr>
          <p:cNvPicPr>
            <a:picLocks noChangeAspect="1"/>
          </p:cNvPicPr>
          <p:nvPr userDrawn="1"/>
        </p:nvPicPr>
        <p:blipFill rotWithShape="1">
          <a:blip r:embed="rId2"/>
          <a:srcRect b="77192"/>
          <a:stretch/>
        </p:blipFill>
        <p:spPr>
          <a:xfrm>
            <a:off x="0" y="893"/>
            <a:ext cx="12188825" cy="1563747"/>
          </a:xfrm>
          <a:prstGeom prst="rect">
            <a:avLst/>
          </a:prstGeom>
        </p:spPr>
      </p:pic>
      <p:sp>
        <p:nvSpPr>
          <p:cNvPr id="7" name="TextBox 6">
            <a:extLst>
              <a:ext uri="{FF2B5EF4-FFF2-40B4-BE49-F238E27FC236}">
                <a16:creationId xmlns:a16="http://schemas.microsoft.com/office/drawing/2014/main" id="{B2730348-F896-794C-B6CB-5BDE02D6C2B2}"/>
              </a:ext>
            </a:extLst>
          </p:cNvPr>
          <p:cNvSpPr txBox="1"/>
          <p:nvPr userDrawn="1"/>
        </p:nvSpPr>
        <p:spPr>
          <a:xfrm>
            <a:off x="464820" y="678180"/>
            <a:ext cx="2133600" cy="335280"/>
          </a:xfrm>
          <a:prstGeom prst="rect">
            <a:avLst/>
          </a:prstGeom>
          <a:noFill/>
        </p:spPr>
        <p:txBody>
          <a:bodyPr wrap="square" lIns="0" tIns="0" rIns="0" bIns="0" rtlCol="0" anchor="t">
            <a:noAutofit/>
          </a:bodyPr>
          <a:lstStyle/>
          <a:p>
            <a:r>
              <a:rPr lang="en-US" sz="2600" b="1" dirty="0">
                <a:solidFill>
                  <a:schemeClr val="bg1"/>
                </a:solidFill>
              </a:rPr>
              <a:t>HighQ</a:t>
            </a:r>
          </a:p>
        </p:txBody>
      </p:sp>
      <p:pic>
        <p:nvPicPr>
          <p:cNvPr id="10" name="Picture 9">
            <a:extLst>
              <a:ext uri="{FF2B5EF4-FFF2-40B4-BE49-F238E27FC236}">
                <a16:creationId xmlns:a16="http://schemas.microsoft.com/office/drawing/2014/main" id="{67422F21-7D67-1349-A6BC-99485488C7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226687" y="6314036"/>
            <a:ext cx="1787525" cy="540218"/>
          </a:xfrm>
          <a:prstGeom prst="rect">
            <a:avLst/>
          </a:prstGeom>
        </p:spPr>
      </p:pic>
    </p:spTree>
    <p:extLst>
      <p:ext uri="{BB962C8B-B14F-4D97-AF65-F5344CB8AC3E}">
        <p14:creationId xmlns:p14="http://schemas.microsoft.com/office/powerpoint/2010/main" val="3317028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Title 2 Horizontal">
    <p:spTree>
      <p:nvGrpSpPr>
        <p:cNvPr id="1" name=""/>
        <p:cNvGrpSpPr/>
        <p:nvPr/>
      </p:nvGrpSpPr>
      <p:grpSpPr>
        <a:xfrm>
          <a:off x="0" y="0"/>
          <a:ext cx="0" cy="0"/>
          <a:chOff x="0" y="0"/>
          <a:chExt cx="0" cy="0"/>
        </a:xfrm>
      </p:grpSpPr>
      <p:pic>
        <p:nvPicPr>
          <p:cNvPr id="6" name="Picture 5" descr="A picture containing icon&#10;&#10;Description automatically generated">
            <a:extLst>
              <a:ext uri="{FF2B5EF4-FFF2-40B4-BE49-F238E27FC236}">
                <a16:creationId xmlns:a16="http://schemas.microsoft.com/office/drawing/2014/main" id="{FC07FF27-B073-164E-8F05-75BBCF28615D}"/>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3" name="Subtitle 2"/>
          <p:cNvSpPr>
            <a:spLocks noGrp="1"/>
          </p:cNvSpPr>
          <p:nvPr>
            <p:ph type="subTitle" idx="1"/>
          </p:nvPr>
        </p:nvSpPr>
        <p:spPr>
          <a:xfrm>
            <a:off x="373063" y="5253540"/>
            <a:ext cx="5553775" cy="1007560"/>
          </a:xfrm>
        </p:spPr>
        <p:txBody>
          <a:bodyPr>
            <a:noAutofit/>
          </a:bodyPr>
          <a:lstStyle>
            <a:lvl1pPr marL="0" indent="0" algn="l">
              <a:spcAft>
                <a:spcPts val="0"/>
              </a:spcAft>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ctrTitle" hasCustomPrompt="1"/>
          </p:nvPr>
        </p:nvSpPr>
        <p:spPr>
          <a:xfrm>
            <a:off x="373064" y="3874000"/>
            <a:ext cx="10291762" cy="1221022"/>
          </a:xfrm>
        </p:spPr>
        <p:txBody>
          <a:bodyPr>
            <a:noAutofit/>
          </a:bodyPr>
          <a:lstStyle>
            <a:lvl1pPr>
              <a:lnSpc>
                <a:spcPct val="100000"/>
              </a:lnSpc>
              <a:defRPr sz="3600">
                <a:solidFill>
                  <a:schemeClr val="tx2"/>
                </a:solidFill>
              </a:defRPr>
            </a:lvl1pPr>
          </a:lstStyle>
          <a:p>
            <a:r>
              <a:rPr lang="en-US" dirty="0"/>
              <a:t>Click to edit </a:t>
            </a:r>
            <a:br>
              <a:rPr lang="en-US" dirty="0"/>
            </a:br>
            <a:r>
              <a:rPr lang="en-US" dirty="0"/>
              <a:t>Master title style</a:t>
            </a:r>
          </a:p>
        </p:txBody>
      </p:sp>
      <p:pic>
        <p:nvPicPr>
          <p:cNvPr id="9" name="Picture 8">
            <a:extLst>
              <a:ext uri="{FF2B5EF4-FFF2-40B4-BE49-F238E27FC236}">
                <a16:creationId xmlns:a16="http://schemas.microsoft.com/office/drawing/2014/main" id="{142ED5E8-972F-1149-A6CB-CBE1AC1765C7}"/>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10230067" y="6315530"/>
            <a:ext cx="1784145" cy="539195"/>
          </a:xfrm>
          <a:prstGeom prst="rect">
            <a:avLst/>
          </a:prstGeom>
        </p:spPr>
      </p:pic>
      <p:sp>
        <p:nvSpPr>
          <p:cNvPr id="8" name="TextBox 7">
            <a:extLst>
              <a:ext uri="{FF2B5EF4-FFF2-40B4-BE49-F238E27FC236}">
                <a16:creationId xmlns:a16="http://schemas.microsoft.com/office/drawing/2014/main" id="{C72E79B2-58C3-C44F-98DE-5B312B8D2882}"/>
              </a:ext>
            </a:extLst>
          </p:cNvPr>
          <p:cNvSpPr txBox="1"/>
          <p:nvPr userDrawn="1"/>
        </p:nvSpPr>
        <p:spPr>
          <a:xfrm>
            <a:off x="464820" y="678180"/>
            <a:ext cx="2133600" cy="335280"/>
          </a:xfrm>
          <a:prstGeom prst="rect">
            <a:avLst/>
          </a:prstGeom>
          <a:noFill/>
        </p:spPr>
        <p:txBody>
          <a:bodyPr wrap="square" lIns="0" tIns="0" rIns="0" bIns="0" rtlCol="0" anchor="t">
            <a:noAutofit/>
          </a:bodyPr>
          <a:lstStyle/>
          <a:p>
            <a:r>
              <a:rPr lang="en-US" sz="2600" b="1" dirty="0">
                <a:solidFill>
                  <a:schemeClr val="bg1"/>
                </a:solidFill>
              </a:rPr>
              <a:t>HighQ</a:t>
            </a:r>
          </a:p>
        </p:txBody>
      </p:sp>
    </p:spTree>
    <p:extLst>
      <p:ext uri="{BB962C8B-B14F-4D97-AF65-F5344CB8AC3E}">
        <p14:creationId xmlns:p14="http://schemas.microsoft.com/office/powerpoint/2010/main" val="1289243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3 Vertical">
    <p:spTree>
      <p:nvGrpSpPr>
        <p:cNvPr id="1" name=""/>
        <p:cNvGrpSpPr/>
        <p:nvPr/>
      </p:nvGrpSpPr>
      <p:grpSpPr>
        <a:xfrm>
          <a:off x="0" y="0"/>
          <a:ext cx="0" cy="0"/>
          <a:chOff x="0" y="0"/>
          <a:chExt cx="0" cy="0"/>
        </a:xfrm>
      </p:grpSpPr>
      <p:pic>
        <p:nvPicPr>
          <p:cNvPr id="5" name="Picture 4" descr="A picture containing person, person, male&#10;&#10;Description automatically generated">
            <a:extLst>
              <a:ext uri="{FF2B5EF4-FFF2-40B4-BE49-F238E27FC236}">
                <a16:creationId xmlns:a16="http://schemas.microsoft.com/office/drawing/2014/main" id="{D562683C-248E-CD40-95EF-82C99B91F8BF}"/>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2" name="Title 1"/>
          <p:cNvSpPr>
            <a:spLocks noGrp="1"/>
          </p:cNvSpPr>
          <p:nvPr>
            <p:ph type="ctrTitle"/>
          </p:nvPr>
        </p:nvSpPr>
        <p:spPr>
          <a:xfrm>
            <a:off x="7126287" y="2112710"/>
            <a:ext cx="4181793" cy="1176725"/>
          </a:xfrm>
        </p:spPr>
        <p:txBody>
          <a:bodyPr>
            <a:noAutofit/>
          </a:bodyPr>
          <a:lstStyle>
            <a:lvl1pPr>
              <a:lnSpc>
                <a:spcPct val="100000"/>
              </a:lnSpc>
              <a:defRPr sz="3400" baseline="0">
                <a:solidFill>
                  <a:schemeClr val="bg2">
                    <a:lumMod val="25000"/>
                  </a:schemeClr>
                </a:solidFill>
              </a:defRPr>
            </a:lvl1pPr>
          </a:lstStyle>
          <a:p>
            <a:r>
              <a:rPr lang="en-US" dirty="0"/>
              <a:t>Click to edit Master title style</a:t>
            </a:r>
          </a:p>
        </p:txBody>
      </p:sp>
      <p:pic>
        <p:nvPicPr>
          <p:cNvPr id="15" name="Picture 14">
            <a:extLst>
              <a:ext uri="{FF2B5EF4-FFF2-40B4-BE49-F238E27FC236}">
                <a16:creationId xmlns:a16="http://schemas.microsoft.com/office/drawing/2014/main" id="{91BD5393-7927-2F47-BF53-A7A6EB7DE87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226687" y="6314036"/>
            <a:ext cx="1787525" cy="540218"/>
          </a:xfrm>
          <a:prstGeom prst="rect">
            <a:avLst/>
          </a:prstGeom>
        </p:spPr>
      </p:pic>
    </p:spTree>
    <p:extLst>
      <p:ext uri="{BB962C8B-B14F-4D97-AF65-F5344CB8AC3E}">
        <p14:creationId xmlns:p14="http://schemas.microsoft.com/office/powerpoint/2010/main" val="1557973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Title 3 Vertical">
    <p:spTree>
      <p:nvGrpSpPr>
        <p:cNvPr id="1" name=""/>
        <p:cNvGrpSpPr/>
        <p:nvPr/>
      </p:nvGrpSpPr>
      <p:grpSpPr>
        <a:xfrm>
          <a:off x="0" y="0"/>
          <a:ext cx="0" cy="0"/>
          <a:chOff x="0" y="0"/>
          <a:chExt cx="0" cy="0"/>
        </a:xfrm>
      </p:grpSpPr>
      <p:pic>
        <p:nvPicPr>
          <p:cNvPr id="5" name="Picture 4" descr="A picture containing person, person, male&#10;&#10;Description automatically generated">
            <a:extLst>
              <a:ext uri="{FF2B5EF4-FFF2-40B4-BE49-F238E27FC236}">
                <a16:creationId xmlns:a16="http://schemas.microsoft.com/office/drawing/2014/main" id="{D562683C-248E-CD40-95EF-82C99B91F8BF}"/>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3" name="Subtitle 2"/>
          <p:cNvSpPr>
            <a:spLocks noGrp="1"/>
          </p:cNvSpPr>
          <p:nvPr>
            <p:ph type="subTitle" idx="1"/>
          </p:nvPr>
        </p:nvSpPr>
        <p:spPr>
          <a:xfrm>
            <a:off x="7616983" y="3586212"/>
            <a:ext cx="3096737" cy="338088"/>
          </a:xfrm>
        </p:spPr>
        <p:txBody>
          <a:bodyPr>
            <a:noAutofit/>
          </a:bodyPr>
          <a:lstStyle>
            <a:lvl1pPr marL="0" indent="0" algn="l">
              <a:spcAft>
                <a:spcPts val="0"/>
              </a:spcAft>
              <a:buNone/>
              <a:defRPr sz="16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ctrTitle"/>
          </p:nvPr>
        </p:nvSpPr>
        <p:spPr>
          <a:xfrm>
            <a:off x="7126287" y="2112710"/>
            <a:ext cx="4181793" cy="1176725"/>
          </a:xfrm>
        </p:spPr>
        <p:txBody>
          <a:bodyPr>
            <a:noAutofit/>
          </a:bodyPr>
          <a:lstStyle>
            <a:lvl1pPr>
              <a:lnSpc>
                <a:spcPct val="100000"/>
              </a:lnSpc>
              <a:defRPr sz="3400" baseline="0">
                <a:solidFill>
                  <a:schemeClr val="bg2">
                    <a:lumMod val="25000"/>
                  </a:schemeClr>
                </a:solidFill>
              </a:defRPr>
            </a:lvl1pPr>
          </a:lstStyle>
          <a:p>
            <a:r>
              <a:rPr lang="en-US" dirty="0"/>
              <a:t>Click to edit Master title style</a:t>
            </a:r>
          </a:p>
        </p:txBody>
      </p:sp>
      <p:pic>
        <p:nvPicPr>
          <p:cNvPr id="10" name="Picture 9" descr="Icon&#10;&#10;Description automatically generated">
            <a:extLst>
              <a:ext uri="{FF2B5EF4-FFF2-40B4-BE49-F238E27FC236}">
                <a16:creationId xmlns:a16="http://schemas.microsoft.com/office/drawing/2014/main" id="{77CEF10D-FC75-A945-8075-3053DA4247BC}"/>
              </a:ext>
            </a:extLst>
          </p:cNvPr>
          <p:cNvPicPr>
            <a:picLocks noChangeAspect="1"/>
          </p:cNvPicPr>
          <p:nvPr userDrawn="1"/>
        </p:nvPicPr>
        <p:blipFill>
          <a:blip r:embed="rId3"/>
          <a:stretch>
            <a:fillRect/>
          </a:stretch>
        </p:blipFill>
        <p:spPr>
          <a:xfrm>
            <a:off x="7126287" y="3538086"/>
            <a:ext cx="386214" cy="386214"/>
          </a:xfrm>
          <a:prstGeom prst="rect">
            <a:avLst/>
          </a:prstGeom>
        </p:spPr>
      </p:pic>
      <p:sp>
        <p:nvSpPr>
          <p:cNvPr id="11" name="Subtitle 2">
            <a:extLst>
              <a:ext uri="{FF2B5EF4-FFF2-40B4-BE49-F238E27FC236}">
                <a16:creationId xmlns:a16="http://schemas.microsoft.com/office/drawing/2014/main" id="{9BBF36B5-C0A3-BE42-8F35-72A752408580}"/>
              </a:ext>
            </a:extLst>
          </p:cNvPr>
          <p:cNvSpPr txBox="1">
            <a:spLocks/>
          </p:cNvSpPr>
          <p:nvPr userDrawn="1"/>
        </p:nvSpPr>
        <p:spPr>
          <a:xfrm>
            <a:off x="7616983" y="4302492"/>
            <a:ext cx="3096737" cy="338088"/>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0"/>
              </a:spcAft>
              <a:buFontTx/>
              <a:buNone/>
              <a:defRPr sz="1600" kern="1200" baseline="0">
                <a:solidFill>
                  <a:schemeClr val="tx1"/>
                </a:solidFill>
                <a:latin typeface="+mn-lt"/>
                <a:ea typeface="+mn-ea"/>
                <a:cs typeface="+mn-cs"/>
              </a:defRPr>
            </a:lvl1pPr>
            <a:lvl2pPr marL="457200" indent="0" algn="ctr" defTabSz="457200" rtl="0" eaLnBrk="1" latinLnBrk="0" hangingPunct="1">
              <a:lnSpc>
                <a:spcPct val="100000"/>
              </a:lnSpc>
              <a:spcBef>
                <a:spcPts val="0"/>
              </a:spcBef>
              <a:spcAft>
                <a:spcPts val="800"/>
              </a:spcAft>
              <a:buClr>
                <a:schemeClr val="tx2"/>
              </a:buClr>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lnSpc>
                <a:spcPct val="100000"/>
              </a:lnSpc>
              <a:spcBef>
                <a:spcPts val="0"/>
              </a:spcBef>
              <a:spcAft>
                <a:spcPts val="600"/>
              </a:spcAft>
              <a:buClr>
                <a:schemeClr val="tx2"/>
              </a:buClr>
              <a:buFont typeface="Lucida Grande"/>
              <a:buNone/>
              <a:defRPr sz="1800" kern="1200">
                <a:solidFill>
                  <a:schemeClr val="tx1">
                    <a:tint val="75000"/>
                  </a:schemeClr>
                </a:solidFill>
                <a:latin typeface="+mn-lt"/>
                <a:ea typeface="+mn-ea"/>
                <a:cs typeface="+mn-cs"/>
              </a:defRPr>
            </a:lvl3pPr>
            <a:lvl4pPr marL="1371600" indent="0" algn="ctr" defTabSz="457200" rtl="0" eaLnBrk="1" latinLnBrk="0" hangingPunct="1">
              <a:lnSpc>
                <a:spcPct val="100000"/>
              </a:lnSpc>
              <a:spcBef>
                <a:spcPts val="0"/>
              </a:spcBef>
              <a:spcAft>
                <a:spcPts val="600"/>
              </a:spcAft>
              <a:buClr>
                <a:schemeClr val="tx2"/>
              </a:buClr>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lnSpc>
                <a:spcPct val="100000"/>
              </a:lnSpc>
              <a:spcBef>
                <a:spcPts val="0"/>
              </a:spcBef>
              <a:spcAft>
                <a:spcPts val="600"/>
              </a:spcAft>
              <a:buClr>
                <a:schemeClr val="tx2"/>
              </a:buClr>
              <a:buFont typeface="Arial"/>
              <a:buNone/>
              <a:defRPr sz="1400" kern="1200">
                <a:solidFill>
                  <a:schemeClr val="tx1">
                    <a:tint val="75000"/>
                  </a:schemeClr>
                </a:solidFill>
                <a:latin typeface="+mn-lt"/>
                <a:ea typeface="+mn-ea"/>
                <a:cs typeface="+mn-cs"/>
              </a:defRPr>
            </a:lvl5pPr>
            <a:lvl6pPr marL="2286000" indent="0" algn="ctr" defTabSz="457200" rtl="0" eaLnBrk="1" latinLnBrk="0" hangingPunct="1">
              <a:lnSpc>
                <a:spcPct val="100000"/>
              </a:lnSpc>
              <a:spcBef>
                <a:spcPts val="0"/>
              </a:spcBef>
              <a:spcAft>
                <a:spcPts val="400"/>
              </a:spcAft>
              <a:buClr>
                <a:schemeClr val="tx2"/>
              </a:buClr>
              <a:buFont typeface="Arial"/>
              <a:buNone/>
              <a:defRPr sz="1200" kern="1200">
                <a:solidFill>
                  <a:schemeClr val="tx1">
                    <a:tint val="75000"/>
                  </a:schemeClr>
                </a:solidFill>
                <a:latin typeface="+mn-lt"/>
                <a:ea typeface="+mn-ea"/>
                <a:cs typeface="+mn-cs"/>
              </a:defRPr>
            </a:lvl6pPr>
            <a:lvl7pPr marL="2743200" indent="0" algn="ctr" defTabSz="457200" rtl="0" eaLnBrk="1" latinLnBrk="0" hangingPunct="1">
              <a:lnSpc>
                <a:spcPct val="100000"/>
              </a:lnSpc>
              <a:spcBef>
                <a:spcPts val="0"/>
              </a:spcBef>
              <a:spcAft>
                <a:spcPts val="400"/>
              </a:spcAft>
              <a:buClr>
                <a:schemeClr val="tx2"/>
              </a:buClr>
              <a:buFont typeface="Lucida Grande"/>
              <a:buNone/>
              <a:defRPr sz="1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Click to edit Master subtitle style</a:t>
            </a:r>
          </a:p>
        </p:txBody>
      </p:sp>
      <p:pic>
        <p:nvPicPr>
          <p:cNvPr id="12" name="Picture 11" descr="Icon&#10;&#10;Description automatically generated">
            <a:extLst>
              <a:ext uri="{FF2B5EF4-FFF2-40B4-BE49-F238E27FC236}">
                <a16:creationId xmlns:a16="http://schemas.microsoft.com/office/drawing/2014/main" id="{A4461F82-BBE4-A14B-9CDA-EB20163ED8F5}"/>
              </a:ext>
            </a:extLst>
          </p:cNvPr>
          <p:cNvPicPr>
            <a:picLocks noChangeAspect="1"/>
          </p:cNvPicPr>
          <p:nvPr userDrawn="1"/>
        </p:nvPicPr>
        <p:blipFill>
          <a:blip r:embed="rId3"/>
          <a:stretch>
            <a:fillRect/>
          </a:stretch>
        </p:blipFill>
        <p:spPr>
          <a:xfrm>
            <a:off x="7126287" y="4254366"/>
            <a:ext cx="386214" cy="386214"/>
          </a:xfrm>
          <a:prstGeom prst="rect">
            <a:avLst/>
          </a:prstGeom>
        </p:spPr>
      </p:pic>
      <p:sp>
        <p:nvSpPr>
          <p:cNvPr id="13" name="Subtitle 2">
            <a:extLst>
              <a:ext uri="{FF2B5EF4-FFF2-40B4-BE49-F238E27FC236}">
                <a16:creationId xmlns:a16="http://schemas.microsoft.com/office/drawing/2014/main" id="{39BFE9A6-B902-C54F-85C2-BA9416AAD0B3}"/>
              </a:ext>
            </a:extLst>
          </p:cNvPr>
          <p:cNvSpPr txBox="1">
            <a:spLocks/>
          </p:cNvSpPr>
          <p:nvPr userDrawn="1"/>
        </p:nvSpPr>
        <p:spPr>
          <a:xfrm>
            <a:off x="7616983" y="4965432"/>
            <a:ext cx="3096737" cy="338088"/>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0"/>
              </a:spcAft>
              <a:buFontTx/>
              <a:buNone/>
              <a:defRPr sz="1600" kern="1200" baseline="0">
                <a:solidFill>
                  <a:schemeClr val="tx1"/>
                </a:solidFill>
                <a:latin typeface="+mn-lt"/>
                <a:ea typeface="+mn-ea"/>
                <a:cs typeface="+mn-cs"/>
              </a:defRPr>
            </a:lvl1pPr>
            <a:lvl2pPr marL="457200" indent="0" algn="ctr" defTabSz="457200" rtl="0" eaLnBrk="1" latinLnBrk="0" hangingPunct="1">
              <a:lnSpc>
                <a:spcPct val="100000"/>
              </a:lnSpc>
              <a:spcBef>
                <a:spcPts val="0"/>
              </a:spcBef>
              <a:spcAft>
                <a:spcPts val="800"/>
              </a:spcAft>
              <a:buClr>
                <a:schemeClr val="tx2"/>
              </a:buClr>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lnSpc>
                <a:spcPct val="100000"/>
              </a:lnSpc>
              <a:spcBef>
                <a:spcPts val="0"/>
              </a:spcBef>
              <a:spcAft>
                <a:spcPts val="600"/>
              </a:spcAft>
              <a:buClr>
                <a:schemeClr val="tx2"/>
              </a:buClr>
              <a:buFont typeface="Lucida Grande"/>
              <a:buNone/>
              <a:defRPr sz="1800" kern="1200">
                <a:solidFill>
                  <a:schemeClr val="tx1">
                    <a:tint val="75000"/>
                  </a:schemeClr>
                </a:solidFill>
                <a:latin typeface="+mn-lt"/>
                <a:ea typeface="+mn-ea"/>
                <a:cs typeface="+mn-cs"/>
              </a:defRPr>
            </a:lvl3pPr>
            <a:lvl4pPr marL="1371600" indent="0" algn="ctr" defTabSz="457200" rtl="0" eaLnBrk="1" latinLnBrk="0" hangingPunct="1">
              <a:lnSpc>
                <a:spcPct val="100000"/>
              </a:lnSpc>
              <a:spcBef>
                <a:spcPts val="0"/>
              </a:spcBef>
              <a:spcAft>
                <a:spcPts val="600"/>
              </a:spcAft>
              <a:buClr>
                <a:schemeClr val="tx2"/>
              </a:buClr>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lnSpc>
                <a:spcPct val="100000"/>
              </a:lnSpc>
              <a:spcBef>
                <a:spcPts val="0"/>
              </a:spcBef>
              <a:spcAft>
                <a:spcPts val="600"/>
              </a:spcAft>
              <a:buClr>
                <a:schemeClr val="tx2"/>
              </a:buClr>
              <a:buFont typeface="Arial"/>
              <a:buNone/>
              <a:defRPr sz="1400" kern="1200">
                <a:solidFill>
                  <a:schemeClr val="tx1">
                    <a:tint val="75000"/>
                  </a:schemeClr>
                </a:solidFill>
                <a:latin typeface="+mn-lt"/>
                <a:ea typeface="+mn-ea"/>
                <a:cs typeface="+mn-cs"/>
              </a:defRPr>
            </a:lvl5pPr>
            <a:lvl6pPr marL="2286000" indent="0" algn="ctr" defTabSz="457200" rtl="0" eaLnBrk="1" latinLnBrk="0" hangingPunct="1">
              <a:lnSpc>
                <a:spcPct val="100000"/>
              </a:lnSpc>
              <a:spcBef>
                <a:spcPts val="0"/>
              </a:spcBef>
              <a:spcAft>
                <a:spcPts val="400"/>
              </a:spcAft>
              <a:buClr>
                <a:schemeClr val="tx2"/>
              </a:buClr>
              <a:buFont typeface="Arial"/>
              <a:buNone/>
              <a:defRPr sz="1200" kern="1200">
                <a:solidFill>
                  <a:schemeClr val="tx1">
                    <a:tint val="75000"/>
                  </a:schemeClr>
                </a:solidFill>
                <a:latin typeface="+mn-lt"/>
                <a:ea typeface="+mn-ea"/>
                <a:cs typeface="+mn-cs"/>
              </a:defRPr>
            </a:lvl6pPr>
            <a:lvl7pPr marL="2743200" indent="0" algn="ctr" defTabSz="457200" rtl="0" eaLnBrk="1" latinLnBrk="0" hangingPunct="1">
              <a:lnSpc>
                <a:spcPct val="100000"/>
              </a:lnSpc>
              <a:spcBef>
                <a:spcPts val="0"/>
              </a:spcBef>
              <a:spcAft>
                <a:spcPts val="400"/>
              </a:spcAft>
              <a:buClr>
                <a:schemeClr val="tx2"/>
              </a:buClr>
              <a:buFont typeface="Lucida Grande"/>
              <a:buNone/>
              <a:defRPr sz="1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a:t>Click to edit Master subtitle style</a:t>
            </a:r>
            <a:endParaRPr lang="en-US" dirty="0"/>
          </a:p>
        </p:txBody>
      </p:sp>
      <p:pic>
        <p:nvPicPr>
          <p:cNvPr id="14" name="Picture 13" descr="Icon&#10;&#10;Description automatically generated">
            <a:extLst>
              <a:ext uri="{FF2B5EF4-FFF2-40B4-BE49-F238E27FC236}">
                <a16:creationId xmlns:a16="http://schemas.microsoft.com/office/drawing/2014/main" id="{EB1BED12-423A-C142-B564-D02C43CA3BED}"/>
              </a:ext>
            </a:extLst>
          </p:cNvPr>
          <p:cNvPicPr>
            <a:picLocks noChangeAspect="1"/>
          </p:cNvPicPr>
          <p:nvPr userDrawn="1"/>
        </p:nvPicPr>
        <p:blipFill>
          <a:blip r:embed="rId3"/>
          <a:stretch>
            <a:fillRect/>
          </a:stretch>
        </p:blipFill>
        <p:spPr>
          <a:xfrm>
            <a:off x="7126287" y="4917306"/>
            <a:ext cx="386214" cy="386214"/>
          </a:xfrm>
          <a:prstGeom prst="rect">
            <a:avLst/>
          </a:prstGeom>
        </p:spPr>
      </p:pic>
      <p:pic>
        <p:nvPicPr>
          <p:cNvPr id="15" name="Picture 14">
            <a:extLst>
              <a:ext uri="{FF2B5EF4-FFF2-40B4-BE49-F238E27FC236}">
                <a16:creationId xmlns:a16="http://schemas.microsoft.com/office/drawing/2014/main" id="{91BD5393-7927-2F47-BF53-A7A6EB7DE87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0226687" y="6314036"/>
            <a:ext cx="1787525" cy="540218"/>
          </a:xfrm>
          <a:prstGeom prst="rect">
            <a:avLst/>
          </a:prstGeom>
        </p:spPr>
      </p:pic>
    </p:spTree>
    <p:extLst>
      <p:ext uri="{BB962C8B-B14F-4D97-AF65-F5344CB8AC3E}">
        <p14:creationId xmlns:p14="http://schemas.microsoft.com/office/powerpoint/2010/main" val="346032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3 Vertical">
    <p:spTree>
      <p:nvGrpSpPr>
        <p:cNvPr id="1" name=""/>
        <p:cNvGrpSpPr/>
        <p:nvPr/>
      </p:nvGrpSpPr>
      <p:grpSpPr>
        <a:xfrm>
          <a:off x="0" y="0"/>
          <a:ext cx="0" cy="0"/>
          <a:chOff x="0" y="0"/>
          <a:chExt cx="0" cy="0"/>
        </a:xfrm>
      </p:grpSpPr>
      <p:pic>
        <p:nvPicPr>
          <p:cNvPr id="6" name="Picture 5" descr="Two people sitting in a chair in front of a fire&#10;&#10;Description automatically generated with low confidence">
            <a:extLst>
              <a:ext uri="{FF2B5EF4-FFF2-40B4-BE49-F238E27FC236}">
                <a16:creationId xmlns:a16="http://schemas.microsoft.com/office/drawing/2014/main" id="{49B18366-0F39-754A-BF91-6495CDE07A66}"/>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3" name="Subtitle 2"/>
          <p:cNvSpPr>
            <a:spLocks noGrp="1"/>
          </p:cNvSpPr>
          <p:nvPr>
            <p:ph type="subTitle" idx="1"/>
          </p:nvPr>
        </p:nvSpPr>
        <p:spPr>
          <a:xfrm>
            <a:off x="745806" y="3707070"/>
            <a:ext cx="3836354" cy="1099000"/>
          </a:xfrm>
        </p:spPr>
        <p:txBody>
          <a:bodyPr>
            <a:noAutofit/>
          </a:bodyPr>
          <a:lstStyle>
            <a:lvl1pPr marL="0" indent="0" algn="l">
              <a:spcAft>
                <a:spcPts val="0"/>
              </a:spcAft>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ctrTitle"/>
          </p:nvPr>
        </p:nvSpPr>
        <p:spPr>
          <a:xfrm>
            <a:off x="745806" y="2473490"/>
            <a:ext cx="4303714" cy="1233580"/>
          </a:xfrm>
        </p:spPr>
        <p:txBody>
          <a:bodyPr>
            <a:noAutofit/>
          </a:bodyPr>
          <a:lstStyle>
            <a:lvl1pPr>
              <a:lnSpc>
                <a:spcPct val="100000"/>
              </a:lnSpc>
              <a:defRPr sz="3400" baseline="0">
                <a:solidFill>
                  <a:schemeClr val="bg2">
                    <a:lumMod val="25000"/>
                  </a:schemeClr>
                </a:solidFill>
              </a:defRPr>
            </a:lvl1pPr>
          </a:lstStyle>
          <a:p>
            <a:r>
              <a:rPr lang="en-US" dirty="0"/>
              <a:t>Click to edit Master title style</a:t>
            </a:r>
          </a:p>
        </p:txBody>
      </p:sp>
      <p:pic>
        <p:nvPicPr>
          <p:cNvPr id="9" name="Picture 8">
            <a:extLst>
              <a:ext uri="{FF2B5EF4-FFF2-40B4-BE49-F238E27FC236}">
                <a16:creationId xmlns:a16="http://schemas.microsoft.com/office/drawing/2014/main" id="{EE092FA7-157C-F34D-924B-BA9226B3C2E9}"/>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10230067" y="6315530"/>
            <a:ext cx="1784145" cy="539195"/>
          </a:xfrm>
          <a:prstGeom prst="rect">
            <a:avLst/>
          </a:prstGeom>
        </p:spPr>
      </p:pic>
    </p:spTree>
    <p:extLst>
      <p:ext uri="{BB962C8B-B14F-4D97-AF65-F5344CB8AC3E}">
        <p14:creationId xmlns:p14="http://schemas.microsoft.com/office/powerpoint/2010/main" val="3494908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Title 3 Vertical">
    <p:spTree>
      <p:nvGrpSpPr>
        <p:cNvPr id="1" name=""/>
        <p:cNvGrpSpPr/>
        <p:nvPr/>
      </p:nvGrpSpPr>
      <p:grpSpPr>
        <a:xfrm>
          <a:off x="0" y="0"/>
          <a:ext cx="0" cy="0"/>
          <a:chOff x="0" y="0"/>
          <a:chExt cx="0" cy="0"/>
        </a:xfrm>
      </p:grpSpPr>
      <p:pic>
        <p:nvPicPr>
          <p:cNvPr id="5" name="Picture 4" descr="Shape&#10;&#10;Description automatically generated">
            <a:extLst>
              <a:ext uri="{FF2B5EF4-FFF2-40B4-BE49-F238E27FC236}">
                <a16:creationId xmlns:a16="http://schemas.microsoft.com/office/drawing/2014/main" id="{EF9DE614-A35B-8345-BD83-A6A9B5C38650}"/>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3" name="Subtitle 2"/>
          <p:cNvSpPr>
            <a:spLocks noGrp="1"/>
          </p:cNvSpPr>
          <p:nvPr>
            <p:ph type="subTitle" idx="1"/>
          </p:nvPr>
        </p:nvSpPr>
        <p:spPr>
          <a:xfrm>
            <a:off x="901858" y="3716840"/>
            <a:ext cx="4056222" cy="1048200"/>
          </a:xfrm>
        </p:spPr>
        <p:txBody>
          <a:bodyPr>
            <a:noAutofit/>
          </a:bodyPr>
          <a:lstStyle>
            <a:lvl1pPr marL="0" indent="0" algn="l">
              <a:spcAft>
                <a:spcPts val="0"/>
              </a:spcAft>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ctrTitle"/>
          </p:nvPr>
        </p:nvSpPr>
        <p:spPr>
          <a:xfrm>
            <a:off x="901858" y="2355401"/>
            <a:ext cx="4056222" cy="1186498"/>
          </a:xfrm>
        </p:spPr>
        <p:txBody>
          <a:bodyPr>
            <a:noAutofit/>
          </a:bodyPr>
          <a:lstStyle>
            <a:lvl1pPr>
              <a:lnSpc>
                <a:spcPct val="100000"/>
              </a:lnSpc>
              <a:defRPr sz="3400" baseline="0">
                <a:solidFill>
                  <a:schemeClr val="tx2"/>
                </a:solidFill>
              </a:defRPr>
            </a:lvl1pPr>
          </a:lstStyle>
          <a:p>
            <a:r>
              <a:rPr lang="en-US" dirty="0"/>
              <a:t>Click to edit Master title style</a:t>
            </a:r>
          </a:p>
        </p:txBody>
      </p:sp>
      <p:pic>
        <p:nvPicPr>
          <p:cNvPr id="6" name="Picture 5">
            <a:extLst>
              <a:ext uri="{FF2B5EF4-FFF2-40B4-BE49-F238E27FC236}">
                <a16:creationId xmlns:a16="http://schemas.microsoft.com/office/drawing/2014/main" id="{DC94A2E6-AF5B-954D-8431-CD015B62C809}"/>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10230067" y="6315530"/>
            <a:ext cx="1784145" cy="539195"/>
          </a:xfrm>
          <a:prstGeom prst="rect">
            <a:avLst/>
          </a:prstGeom>
        </p:spPr>
      </p:pic>
    </p:spTree>
    <p:extLst>
      <p:ext uri="{BB962C8B-B14F-4D97-AF65-F5344CB8AC3E}">
        <p14:creationId xmlns:p14="http://schemas.microsoft.com/office/powerpoint/2010/main" val="2883572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3" name="Content Placeholder 2"/>
          <p:cNvSpPr>
            <a:spLocks noGrp="1"/>
          </p:cNvSpPr>
          <p:nvPr>
            <p:ph idx="1"/>
          </p:nvPr>
        </p:nvSpPr>
        <p:spPr>
          <a:xfrm>
            <a:off x="373064" y="1054849"/>
            <a:ext cx="10291762" cy="5212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373064" y="288088"/>
            <a:ext cx="10291762" cy="428678"/>
          </a:xfrm>
          <a:ln>
            <a:noFill/>
          </a:ln>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605832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ubhea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3" name="Content Placeholder 2"/>
          <p:cNvSpPr>
            <a:spLocks noGrp="1"/>
          </p:cNvSpPr>
          <p:nvPr>
            <p:ph idx="1"/>
          </p:nvPr>
        </p:nvSpPr>
        <p:spPr>
          <a:xfrm>
            <a:off x="373064" y="1397000"/>
            <a:ext cx="10291762" cy="4870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373064" y="288088"/>
            <a:ext cx="10291762" cy="428678"/>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842125685"/>
      </p:ext>
    </p:extLst>
  </p:cSld>
  <p:clrMapOvr>
    <a:masterClrMapping/>
  </p:clrMapOvr>
  <p:extLst>
    <p:ext uri="{DCECCB84-F9BA-43D5-87BE-67443E8EF086}">
      <p15:sldGuideLst xmlns:p15="http://schemas.microsoft.com/office/powerpoint/2012/main">
        <p15:guide id="1" orient="horz" pos="924">
          <p15:clr>
            <a:srgbClr val="C35E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1a Ink-Saving">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solidFill>
                  <a:srgbClr val="AFAFAF"/>
                </a:solidFill>
              </a:defRPr>
            </a:lvl1p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lvl1pPr>
              <a:defRPr>
                <a:solidFill>
                  <a:srgbClr val="AFAFAF"/>
                </a:solidFill>
              </a:defRPr>
            </a:lvl1pPr>
          </a:lstStyle>
          <a:p>
            <a:fld id="{0A655226-6E4F-8847-85CD-AF95F3D3F39A}" type="slidenum">
              <a:rPr lang="en-US" smtClean="0"/>
              <a:pPr/>
              <a:t>‹#›</a:t>
            </a:fld>
            <a:endParaRPr lang="en-US" dirty="0"/>
          </a:p>
        </p:txBody>
      </p:sp>
      <p:sp>
        <p:nvSpPr>
          <p:cNvPr id="2" name="Title 1"/>
          <p:cNvSpPr>
            <a:spLocks noGrp="1"/>
          </p:cNvSpPr>
          <p:nvPr>
            <p:ph type="title"/>
          </p:nvPr>
        </p:nvSpPr>
        <p:spPr>
          <a:xfrm>
            <a:off x="371476" y="2301241"/>
            <a:ext cx="4223384" cy="1463040"/>
          </a:xfrm>
        </p:spPr>
        <p:txBody>
          <a:bodyPr anchor="t">
            <a:noAutofit/>
          </a:bodyPr>
          <a:lstStyle>
            <a:lvl1pPr algn="l">
              <a:defRPr sz="3400" b="1" i="0" cap="none">
                <a:solidFill>
                  <a:schemeClr val="bg2">
                    <a:lumMod val="25000"/>
                  </a:schemeClr>
                </a:solidFill>
              </a:defRPr>
            </a:lvl1pPr>
          </a:lstStyle>
          <a:p>
            <a:r>
              <a:rPr lang="en-US" dirty="0"/>
              <a:t>Click to edit Master title style</a:t>
            </a:r>
          </a:p>
        </p:txBody>
      </p:sp>
      <p:sp>
        <p:nvSpPr>
          <p:cNvPr id="3" name="TextBox 2">
            <a:extLst>
              <a:ext uri="{FF2B5EF4-FFF2-40B4-BE49-F238E27FC236}">
                <a16:creationId xmlns:a16="http://schemas.microsoft.com/office/drawing/2014/main" id="{F8D69003-9663-0F42-80FC-2D013171495E}"/>
              </a:ext>
            </a:extLst>
          </p:cNvPr>
          <p:cNvSpPr txBox="1"/>
          <p:nvPr userDrawn="1"/>
        </p:nvSpPr>
        <p:spPr>
          <a:xfrm>
            <a:off x="5090160" y="4922520"/>
            <a:ext cx="0" cy="0"/>
          </a:xfrm>
          <a:prstGeom prst="rect">
            <a:avLst/>
          </a:prstGeom>
          <a:noFill/>
        </p:spPr>
        <p:txBody>
          <a:bodyPr wrap="none" lIns="0" tIns="0" rIns="0" bIns="0" rtlCol="0" anchor="t">
            <a:noAutofit/>
          </a:bodyPr>
          <a:lstStyle/>
          <a:p>
            <a:endParaRPr lang="en-US" sz="1400" dirty="0" err="1"/>
          </a:p>
        </p:txBody>
      </p:sp>
    </p:spTree>
    <p:extLst>
      <p:ext uri="{BB962C8B-B14F-4D97-AF65-F5344CB8AC3E}">
        <p14:creationId xmlns:p14="http://schemas.microsoft.com/office/powerpoint/2010/main" val="24016115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1">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1">
    <p:bg>
      <p:bgRef idx="1001">
        <a:schemeClr val="bg2"/>
      </p:bgRef>
    </p:bg>
    <p:spTree>
      <p:nvGrpSpPr>
        <p:cNvPr id="1" name=""/>
        <p:cNvGrpSpPr/>
        <p:nvPr/>
      </p:nvGrpSpPr>
      <p:grpSpPr>
        <a:xfrm>
          <a:off x="0" y="0"/>
          <a:ext cx="0" cy="0"/>
          <a:chOff x="0" y="0"/>
          <a:chExt cx="0" cy="0"/>
        </a:xfrm>
      </p:grpSpPr>
      <p:pic>
        <p:nvPicPr>
          <p:cNvPr id="7" name="Picture 6" descr="Logo&#10;&#10;Description automatically generated">
            <a:extLst>
              <a:ext uri="{FF2B5EF4-FFF2-40B4-BE49-F238E27FC236}">
                <a16:creationId xmlns:a16="http://schemas.microsoft.com/office/drawing/2014/main" id="{F337B899-BE5E-B142-9D32-F4767771EBD8}"/>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A655226-6E4F-8847-85CD-AF95F3D3F39A}" type="slidenum">
              <a:rPr lang="en-US" smtClean="0"/>
              <a:pPr/>
              <a:t>‹#›</a:t>
            </a:fld>
            <a:endParaRPr lang="en-US" dirty="0"/>
          </a:p>
        </p:txBody>
      </p:sp>
      <p:sp>
        <p:nvSpPr>
          <p:cNvPr id="2" name="Title 1"/>
          <p:cNvSpPr>
            <a:spLocks noGrp="1"/>
          </p:cNvSpPr>
          <p:nvPr>
            <p:ph type="title"/>
          </p:nvPr>
        </p:nvSpPr>
        <p:spPr>
          <a:xfrm>
            <a:off x="895350" y="1986410"/>
            <a:ext cx="4418330" cy="2581275"/>
          </a:xfrm>
        </p:spPr>
        <p:txBody>
          <a:bodyPr anchor="t">
            <a:noAutofit/>
          </a:bodyPr>
          <a:lstStyle>
            <a:lvl1pPr algn="l">
              <a:defRPr sz="3400" b="1" i="0" cap="none">
                <a:solidFill>
                  <a:schemeClr val="tx1"/>
                </a:solidFill>
              </a:defRPr>
            </a:lvl1pPr>
          </a:lstStyle>
          <a:p>
            <a:r>
              <a:rPr lang="en-US" dirty="0"/>
              <a:t>Click to edit Master title style</a:t>
            </a:r>
          </a:p>
        </p:txBody>
      </p:sp>
      <p:pic>
        <p:nvPicPr>
          <p:cNvPr id="8" name="Picture 7">
            <a:extLst>
              <a:ext uri="{FF2B5EF4-FFF2-40B4-BE49-F238E27FC236}">
                <a16:creationId xmlns:a16="http://schemas.microsoft.com/office/drawing/2014/main" id="{5227CBC9-95CD-6343-935E-0AF7BB7E1A9E}"/>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10230067" y="6315530"/>
            <a:ext cx="1784145" cy="539195"/>
          </a:xfrm>
          <a:prstGeom prst="rect">
            <a:avLst/>
          </a:prstGeom>
        </p:spPr>
      </p:pic>
    </p:spTree>
    <p:extLst>
      <p:ext uri="{BB962C8B-B14F-4D97-AF65-F5344CB8AC3E}">
        <p14:creationId xmlns:p14="http://schemas.microsoft.com/office/powerpoint/2010/main" val="42093991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3">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2">
    <p:bg>
      <p:bgRef idx="1001">
        <a:schemeClr val="bg1"/>
      </p:bgRef>
    </p:bg>
    <p:spTree>
      <p:nvGrpSpPr>
        <p:cNvPr id="1" name=""/>
        <p:cNvGrpSpPr/>
        <p:nvPr/>
      </p:nvGrpSpPr>
      <p:grpSpPr>
        <a:xfrm>
          <a:off x="0" y="0"/>
          <a:ext cx="0" cy="0"/>
          <a:chOff x="0" y="0"/>
          <a:chExt cx="0" cy="0"/>
        </a:xfrm>
      </p:grpSpPr>
      <p:pic>
        <p:nvPicPr>
          <p:cNvPr id="7" name="Picture 6" descr="Shape&#10;&#10;Description automatically generated with medium confidence">
            <a:extLst>
              <a:ext uri="{FF2B5EF4-FFF2-40B4-BE49-F238E27FC236}">
                <a16:creationId xmlns:a16="http://schemas.microsoft.com/office/drawing/2014/main" id="{AEBDAF24-E2F0-B44D-A21A-BED79283ADA4}"/>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5" name="Footer Placeholder 4"/>
          <p:cNvSpPr>
            <a:spLocks noGrp="1"/>
          </p:cNvSpPr>
          <p:nvPr>
            <p:ph type="ftr" sz="quarter" idx="11"/>
          </p:nvPr>
        </p:nvSpPr>
        <p:spPr/>
        <p:txBody>
          <a:bodyPr/>
          <a:lstStyle>
            <a:lvl1pPr>
              <a:defRPr>
                <a:solidFill>
                  <a:schemeClr val="bg1"/>
                </a:solidFill>
              </a:defRPr>
            </a:lvl1p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A655226-6E4F-8847-85CD-AF95F3D3F39A}" type="slidenum">
              <a:rPr lang="en-US" smtClean="0"/>
              <a:pPr/>
              <a:t>‹#›</a:t>
            </a:fld>
            <a:endParaRPr lang="en-US" dirty="0"/>
          </a:p>
        </p:txBody>
      </p:sp>
      <p:pic>
        <p:nvPicPr>
          <p:cNvPr id="10" name="Picture 9">
            <a:extLst>
              <a:ext uri="{FF2B5EF4-FFF2-40B4-BE49-F238E27FC236}">
                <a16:creationId xmlns:a16="http://schemas.microsoft.com/office/drawing/2014/main" id="{B587C292-06BB-1E44-BF6D-299BEB63A113}"/>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10013950" y="6325742"/>
            <a:ext cx="1992311" cy="602106"/>
          </a:xfrm>
          <a:prstGeom prst="rect">
            <a:avLst/>
          </a:prstGeom>
        </p:spPr>
      </p:pic>
      <p:sp>
        <p:nvSpPr>
          <p:cNvPr id="8" name="TextBox 7">
            <a:extLst>
              <a:ext uri="{FF2B5EF4-FFF2-40B4-BE49-F238E27FC236}">
                <a16:creationId xmlns:a16="http://schemas.microsoft.com/office/drawing/2014/main" id="{08FC17B3-2EC6-974E-AA80-2C07CE6A438F}"/>
              </a:ext>
            </a:extLst>
          </p:cNvPr>
          <p:cNvSpPr txBox="1"/>
          <p:nvPr userDrawn="1"/>
        </p:nvSpPr>
        <p:spPr>
          <a:xfrm>
            <a:off x="-114300" y="1333500"/>
            <a:ext cx="0" cy="0"/>
          </a:xfrm>
          <a:prstGeom prst="rect">
            <a:avLst/>
          </a:prstGeom>
          <a:noFill/>
        </p:spPr>
        <p:txBody>
          <a:bodyPr wrap="none" lIns="0" tIns="0" rIns="0" bIns="0" rtlCol="0" anchor="t">
            <a:noAutofit/>
          </a:bodyPr>
          <a:lstStyle/>
          <a:p>
            <a:endParaRPr lang="en-US" sz="1400" dirty="0" err="1"/>
          </a:p>
        </p:txBody>
      </p:sp>
      <p:sp>
        <p:nvSpPr>
          <p:cNvPr id="12" name="Title 1">
            <a:extLst>
              <a:ext uri="{FF2B5EF4-FFF2-40B4-BE49-F238E27FC236}">
                <a16:creationId xmlns:a16="http://schemas.microsoft.com/office/drawing/2014/main" id="{CF9F7589-F370-4B44-A424-631F0403BDB0}"/>
              </a:ext>
            </a:extLst>
          </p:cNvPr>
          <p:cNvSpPr>
            <a:spLocks noGrp="1"/>
          </p:cNvSpPr>
          <p:nvPr>
            <p:ph type="title"/>
          </p:nvPr>
        </p:nvSpPr>
        <p:spPr>
          <a:xfrm>
            <a:off x="895350" y="1986410"/>
            <a:ext cx="4418330" cy="2581275"/>
          </a:xfrm>
        </p:spPr>
        <p:txBody>
          <a:bodyPr anchor="t">
            <a:noAutofit/>
          </a:bodyPr>
          <a:lstStyle>
            <a:lvl1pPr algn="l">
              <a:defRPr sz="3400" b="1" i="0" cap="none">
                <a:solidFill>
                  <a:schemeClr val="bg2">
                    <a:lumMod val="25000"/>
                  </a:schemeClr>
                </a:solidFill>
              </a:defRPr>
            </a:lvl1pPr>
          </a:lstStyle>
          <a:p>
            <a:r>
              <a:rPr lang="en-US" dirty="0"/>
              <a:t>Click to edit Master title style</a:t>
            </a:r>
          </a:p>
        </p:txBody>
      </p:sp>
      <p:pic>
        <p:nvPicPr>
          <p:cNvPr id="9" name="Picture 8">
            <a:extLst>
              <a:ext uri="{FF2B5EF4-FFF2-40B4-BE49-F238E27FC236}">
                <a16:creationId xmlns:a16="http://schemas.microsoft.com/office/drawing/2014/main" id="{F3ACB475-D2D6-2C4B-8DB6-B1425E59C07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0226687" y="6314036"/>
            <a:ext cx="1787525" cy="540218"/>
          </a:xfrm>
          <a:prstGeom prst="rect">
            <a:avLst/>
          </a:prstGeom>
        </p:spPr>
      </p:pic>
    </p:spTree>
    <p:extLst>
      <p:ext uri="{BB962C8B-B14F-4D97-AF65-F5344CB8AC3E}">
        <p14:creationId xmlns:p14="http://schemas.microsoft.com/office/powerpoint/2010/main" val="31018323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1">
          <p15:clr>
            <a:srgbClr val="C35E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2_Divider 2">
    <p:bg>
      <p:bgRef idx="1001">
        <a:schemeClr val="bg1"/>
      </p:bgRef>
    </p:bg>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BFE92A6-506D-094B-BA1C-2E8D7E8D6167}"/>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A655226-6E4F-8847-85CD-AF95F3D3F39A}" type="slidenum">
              <a:rPr lang="en-US" smtClean="0"/>
              <a:pPr/>
              <a:t>‹#›</a:t>
            </a:fld>
            <a:endParaRPr lang="en-US" dirty="0"/>
          </a:p>
        </p:txBody>
      </p:sp>
      <p:sp>
        <p:nvSpPr>
          <p:cNvPr id="2" name="Title 1"/>
          <p:cNvSpPr>
            <a:spLocks noGrp="1"/>
          </p:cNvSpPr>
          <p:nvPr>
            <p:ph type="title"/>
          </p:nvPr>
        </p:nvSpPr>
        <p:spPr>
          <a:xfrm>
            <a:off x="5044123" y="2729231"/>
            <a:ext cx="4160837" cy="2246629"/>
          </a:xfrm>
        </p:spPr>
        <p:txBody>
          <a:bodyPr anchor="t">
            <a:noAutofit/>
          </a:bodyPr>
          <a:lstStyle>
            <a:lvl1pPr algn="l">
              <a:defRPr sz="3400" b="1" i="0" cap="none">
                <a:solidFill>
                  <a:schemeClr val="tx1"/>
                </a:solidFill>
              </a:defRPr>
            </a:lvl1pPr>
          </a:lstStyle>
          <a:p>
            <a:r>
              <a:rPr lang="en-US" dirty="0"/>
              <a:t>Click to edit Master title style</a:t>
            </a:r>
          </a:p>
        </p:txBody>
      </p:sp>
      <p:pic>
        <p:nvPicPr>
          <p:cNvPr id="7" name="Picture 6">
            <a:extLst>
              <a:ext uri="{FF2B5EF4-FFF2-40B4-BE49-F238E27FC236}">
                <a16:creationId xmlns:a16="http://schemas.microsoft.com/office/drawing/2014/main" id="{44514AE3-DB32-7141-A1FF-F7F2CC860BDB}"/>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10230067" y="6315530"/>
            <a:ext cx="1784145" cy="539195"/>
          </a:xfrm>
          <a:prstGeom prst="rect">
            <a:avLst/>
          </a:prstGeom>
        </p:spPr>
      </p:pic>
    </p:spTree>
    <p:extLst>
      <p:ext uri="{BB962C8B-B14F-4D97-AF65-F5344CB8AC3E}">
        <p14:creationId xmlns:p14="http://schemas.microsoft.com/office/powerpoint/2010/main" val="2838571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1">
          <p15:clr>
            <a:srgbClr val="C35E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3_Divider 2">
    <p:bg>
      <p:bgRef idx="1001">
        <a:schemeClr val="bg1"/>
      </p:bgRef>
    </p:bg>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B1EF24C3-A2D8-EC47-86D9-EF7BE608799D}"/>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0A655226-6E4F-8847-85CD-AF95F3D3F39A}" type="slidenum">
              <a:rPr lang="en-US" smtClean="0"/>
              <a:pPr/>
              <a:t>‹#›</a:t>
            </a:fld>
            <a:endParaRPr lang="en-US" dirty="0"/>
          </a:p>
        </p:txBody>
      </p:sp>
      <p:sp>
        <p:nvSpPr>
          <p:cNvPr id="9" name="Title 1">
            <a:extLst>
              <a:ext uri="{FF2B5EF4-FFF2-40B4-BE49-F238E27FC236}">
                <a16:creationId xmlns:a16="http://schemas.microsoft.com/office/drawing/2014/main" id="{9D7F5EEC-A08A-BE45-BB07-EA25380C6E76}"/>
              </a:ext>
            </a:extLst>
          </p:cNvPr>
          <p:cNvSpPr>
            <a:spLocks noGrp="1"/>
          </p:cNvSpPr>
          <p:nvPr>
            <p:ph type="title"/>
          </p:nvPr>
        </p:nvSpPr>
        <p:spPr>
          <a:xfrm>
            <a:off x="5044123" y="2729231"/>
            <a:ext cx="4160837" cy="2246629"/>
          </a:xfrm>
        </p:spPr>
        <p:txBody>
          <a:bodyPr anchor="t">
            <a:noAutofit/>
          </a:bodyPr>
          <a:lstStyle>
            <a:lvl1pPr algn="l">
              <a:defRPr sz="3400" b="1" i="0" cap="none">
                <a:solidFill>
                  <a:schemeClr val="bg1"/>
                </a:solidFill>
              </a:defRPr>
            </a:lvl1pPr>
          </a:lstStyle>
          <a:p>
            <a:r>
              <a:rPr lang="en-US" dirty="0"/>
              <a:t>Click to edit Master title style</a:t>
            </a:r>
          </a:p>
        </p:txBody>
      </p:sp>
      <p:pic>
        <p:nvPicPr>
          <p:cNvPr id="7" name="Picture 6">
            <a:extLst>
              <a:ext uri="{FF2B5EF4-FFF2-40B4-BE49-F238E27FC236}">
                <a16:creationId xmlns:a16="http://schemas.microsoft.com/office/drawing/2014/main" id="{BBA725A1-5A05-E243-ADE0-9B6F487C152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0226687" y="6314036"/>
            <a:ext cx="1787525" cy="540218"/>
          </a:xfrm>
          <a:prstGeom prst="rect">
            <a:avLst/>
          </a:prstGeom>
        </p:spPr>
      </p:pic>
    </p:spTree>
    <p:extLst>
      <p:ext uri="{BB962C8B-B14F-4D97-AF65-F5344CB8AC3E}">
        <p14:creationId xmlns:p14="http://schemas.microsoft.com/office/powerpoint/2010/main" val="24926259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1">
          <p15:clr>
            <a:srgbClr val="C35E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2-Col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7" name="Content Placeholder 2"/>
          <p:cNvSpPr>
            <a:spLocks noGrp="1"/>
          </p:cNvSpPr>
          <p:nvPr>
            <p:ph idx="13"/>
          </p:nvPr>
        </p:nvSpPr>
        <p:spPr>
          <a:xfrm>
            <a:off x="6337301" y="1054849"/>
            <a:ext cx="5481637" cy="5212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p:cNvSpPr>
            <a:spLocks noGrp="1"/>
          </p:cNvSpPr>
          <p:nvPr>
            <p:ph idx="1"/>
          </p:nvPr>
        </p:nvSpPr>
        <p:spPr>
          <a:xfrm>
            <a:off x="373063" y="1054849"/>
            <a:ext cx="5481637" cy="5212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61040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 Subhea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7" name="Content Placeholder 2"/>
          <p:cNvSpPr>
            <a:spLocks noGrp="1"/>
          </p:cNvSpPr>
          <p:nvPr>
            <p:ph idx="14"/>
          </p:nvPr>
        </p:nvSpPr>
        <p:spPr>
          <a:xfrm>
            <a:off x="6337301" y="1397000"/>
            <a:ext cx="5481638"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p:cNvSpPr>
            <a:spLocks noGrp="1"/>
          </p:cNvSpPr>
          <p:nvPr>
            <p:ph idx="1"/>
          </p:nvPr>
        </p:nvSpPr>
        <p:spPr>
          <a:xfrm>
            <a:off x="373063" y="1397000"/>
            <a:ext cx="5481637" cy="486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915499344"/>
      </p:ext>
    </p:extLst>
  </p:cSld>
  <p:clrMapOvr>
    <a:masterClrMapping/>
  </p:clrMapOvr>
  <p:extLst>
    <p:ext uri="{DCECCB84-F9BA-43D5-87BE-67443E8EF086}">
      <p15:sldGuideLst xmlns:p15="http://schemas.microsoft.com/office/powerpoint/2012/main">
        <p15:guide id="1" orient="horz" pos="924">
          <p15:clr>
            <a:srgbClr val="C35E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Up Content">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F956CD4-51F4-C54E-B9F0-2E4D502A8EE1}"/>
              </a:ext>
              <a:ext uri="{C183D7F6-B498-43B3-948B-1728B52AA6E4}">
                <adec:decorative xmlns:adec="http://schemas.microsoft.com/office/drawing/2017/decorative" val="1"/>
              </a:ext>
            </a:extLst>
          </p:cNvPr>
          <p:cNvCxnSpPr/>
          <p:nvPr/>
        </p:nvCxnSpPr>
        <p:spPr>
          <a:xfrm>
            <a:off x="6097587" y="1143000"/>
            <a:ext cx="0" cy="5030788"/>
          </a:xfrm>
          <a:prstGeom prst="line">
            <a:avLst/>
          </a:prstGeom>
          <a:ln w="12700" cmpd="sng">
            <a:solidFill>
              <a:schemeClr val="accent4"/>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5DCAD76-575E-CC47-A218-42275CC0706B}"/>
              </a:ext>
              <a:ext uri="{C183D7F6-B498-43B3-948B-1728B52AA6E4}">
                <adec:decorative xmlns:adec="http://schemas.microsoft.com/office/drawing/2017/decorative" val="1"/>
              </a:ext>
            </a:extLst>
          </p:cNvPr>
          <p:cNvCxnSpPr/>
          <p:nvPr/>
        </p:nvCxnSpPr>
        <p:spPr>
          <a:xfrm flipH="1">
            <a:off x="371477" y="3656013"/>
            <a:ext cx="11446033" cy="0"/>
          </a:xfrm>
          <a:prstGeom prst="line">
            <a:avLst/>
          </a:prstGeom>
          <a:ln w="12700" cmpd="sng">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19" name="Content Placeholder 2"/>
          <p:cNvSpPr>
            <a:spLocks noGrp="1"/>
          </p:cNvSpPr>
          <p:nvPr>
            <p:ph idx="15"/>
          </p:nvPr>
        </p:nvSpPr>
        <p:spPr>
          <a:xfrm>
            <a:off x="6337301" y="3841115"/>
            <a:ext cx="5481637" cy="2423160"/>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3"/>
          </p:nvPr>
        </p:nvSpPr>
        <p:spPr>
          <a:xfrm>
            <a:off x="6337301" y="1108660"/>
            <a:ext cx="5481637" cy="2423160"/>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2"/>
          <p:cNvSpPr>
            <a:spLocks noGrp="1"/>
          </p:cNvSpPr>
          <p:nvPr>
            <p:ph idx="14"/>
          </p:nvPr>
        </p:nvSpPr>
        <p:spPr>
          <a:xfrm>
            <a:off x="371475" y="3841115"/>
            <a:ext cx="5481637" cy="2423160"/>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p:cNvSpPr>
            <a:spLocks noGrp="1"/>
          </p:cNvSpPr>
          <p:nvPr>
            <p:ph idx="1"/>
          </p:nvPr>
        </p:nvSpPr>
        <p:spPr>
          <a:xfrm>
            <a:off x="371475" y="1108660"/>
            <a:ext cx="5481637" cy="2423160"/>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86249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Up Subhead">
    <p:spTree>
      <p:nvGrpSpPr>
        <p:cNvPr id="1" name=""/>
        <p:cNvGrpSpPr/>
        <p:nvPr/>
      </p:nvGrpSpPr>
      <p:grpSpPr>
        <a:xfrm>
          <a:off x="0" y="0"/>
          <a:ext cx="0" cy="0"/>
          <a:chOff x="0" y="0"/>
          <a:chExt cx="0" cy="0"/>
        </a:xfrm>
      </p:grpSpPr>
      <p:cxnSp>
        <p:nvCxnSpPr>
          <p:cNvPr id="8" name="Straight Connector 7">
            <a:extLst>
              <a:ext uri="{C183D7F6-B498-43B3-948B-1728B52AA6E4}">
                <adec:decorative xmlns:adec="http://schemas.microsoft.com/office/drawing/2017/decorative" val="1"/>
              </a:ext>
            </a:extLst>
          </p:cNvPr>
          <p:cNvCxnSpPr/>
          <p:nvPr/>
        </p:nvCxnSpPr>
        <p:spPr>
          <a:xfrm flipH="1">
            <a:off x="6094413" y="1485900"/>
            <a:ext cx="3174" cy="4687888"/>
          </a:xfrm>
          <a:prstGeom prst="line">
            <a:avLst/>
          </a:prstGeom>
          <a:ln w="12700" cmpd="sng">
            <a:solidFill>
              <a:schemeClr val="accent4"/>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C183D7F6-B498-43B3-948B-1728B52AA6E4}">
                <adec:decorative xmlns:adec="http://schemas.microsoft.com/office/drawing/2017/decorative" val="1"/>
              </a:ext>
            </a:extLst>
          </p:cNvPr>
          <p:cNvCxnSpPr/>
          <p:nvPr/>
        </p:nvCxnSpPr>
        <p:spPr>
          <a:xfrm flipH="1">
            <a:off x="372905" y="3809692"/>
            <a:ext cx="11446033" cy="0"/>
          </a:xfrm>
          <a:prstGeom prst="line">
            <a:avLst/>
          </a:prstGeom>
          <a:ln w="12700" cmpd="sng">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17" name="Content Placeholder 2"/>
          <p:cNvSpPr>
            <a:spLocks noGrp="1"/>
          </p:cNvSpPr>
          <p:nvPr>
            <p:ph idx="18"/>
          </p:nvPr>
        </p:nvSpPr>
        <p:spPr>
          <a:xfrm>
            <a:off x="6337301" y="4014990"/>
            <a:ext cx="5481637" cy="2249286"/>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3"/>
          </p:nvPr>
        </p:nvSpPr>
        <p:spPr>
          <a:xfrm>
            <a:off x="6337301" y="1426159"/>
            <a:ext cx="5481637" cy="2249424"/>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7"/>
          </p:nvPr>
        </p:nvSpPr>
        <p:spPr>
          <a:xfrm>
            <a:off x="371475" y="4014990"/>
            <a:ext cx="5481637" cy="2249286"/>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p:cNvSpPr>
            <a:spLocks noGrp="1"/>
          </p:cNvSpPr>
          <p:nvPr>
            <p:ph idx="1"/>
          </p:nvPr>
        </p:nvSpPr>
        <p:spPr>
          <a:xfrm>
            <a:off x="371475" y="1426159"/>
            <a:ext cx="5481637" cy="2249424"/>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94755329"/>
      </p:ext>
    </p:extLst>
  </p:cSld>
  <p:clrMapOvr>
    <a:masterClrMapping/>
  </p:clrMapOvr>
  <p:extLst>
    <p:ext uri="{DCECCB84-F9BA-43D5-87BE-67443E8EF086}">
      <p15:sldGuideLst xmlns:p15="http://schemas.microsoft.com/office/powerpoint/2012/main">
        <p15:guide id="1" orient="horz" pos="924">
          <p15:clr>
            <a:srgbClr val="C35E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Col Conten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13" name="Content Placeholder 2"/>
          <p:cNvSpPr>
            <a:spLocks noGrp="1"/>
          </p:cNvSpPr>
          <p:nvPr>
            <p:ph idx="14"/>
          </p:nvPr>
        </p:nvSpPr>
        <p:spPr>
          <a:xfrm>
            <a:off x="8304213" y="1108659"/>
            <a:ext cx="3514725" cy="5155615"/>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5"/>
          </p:nvPr>
        </p:nvSpPr>
        <p:spPr>
          <a:xfrm>
            <a:off x="4337844" y="1108659"/>
            <a:ext cx="3514725" cy="5155615"/>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3"/>
          </p:nvPr>
        </p:nvSpPr>
        <p:spPr>
          <a:xfrm>
            <a:off x="371475" y="1108659"/>
            <a:ext cx="3514725" cy="5155615"/>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58691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Col Intro">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6" name="Slide Number Placeholder 5"/>
          <p:cNvSpPr>
            <a:spLocks noGrp="1"/>
          </p:cNvSpPr>
          <p:nvPr>
            <p:ph type="sldNum" sz="quarter" idx="12"/>
          </p:nvPr>
        </p:nvSpPr>
        <p:spPr/>
        <p:txBody>
          <a:bodyPr/>
          <a:lstStyle/>
          <a:p>
            <a:fld id="{0A655226-6E4F-8847-85CD-AF95F3D3F39A}" type="slidenum">
              <a:rPr lang="en-US" smtClean="0"/>
              <a:pPr/>
              <a:t>‹#›</a:t>
            </a:fld>
            <a:endParaRPr lang="en-US" dirty="0"/>
          </a:p>
        </p:txBody>
      </p:sp>
      <p:sp>
        <p:nvSpPr>
          <p:cNvPr id="13" name="Content Placeholder 2"/>
          <p:cNvSpPr>
            <a:spLocks noGrp="1"/>
          </p:cNvSpPr>
          <p:nvPr>
            <p:ph idx="14"/>
          </p:nvPr>
        </p:nvSpPr>
        <p:spPr>
          <a:xfrm>
            <a:off x="8304213" y="2109326"/>
            <a:ext cx="3514725" cy="4154947"/>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5"/>
          </p:nvPr>
        </p:nvSpPr>
        <p:spPr>
          <a:xfrm>
            <a:off x="4337844" y="2109326"/>
            <a:ext cx="3514725" cy="4154947"/>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3"/>
          </p:nvPr>
        </p:nvSpPr>
        <p:spPr>
          <a:xfrm>
            <a:off x="371475" y="2109326"/>
            <a:ext cx="3514725" cy="4154947"/>
          </a:xfrm>
        </p:spPr>
        <p:txBody>
          <a:bodyPr>
            <a:normAutofit/>
          </a:bodyPr>
          <a:lstStyle>
            <a:lvl1pPr>
              <a:spcAft>
                <a:spcPts val="600"/>
              </a:spcAft>
              <a:defRPr sz="1400" b="1"/>
            </a:lvl1pPr>
            <a:lvl2pPr marL="0" indent="0">
              <a:spcAft>
                <a:spcPts val="600"/>
              </a:spcAft>
              <a:buFontTx/>
              <a:buNone/>
              <a:defRPr sz="1400"/>
            </a:lvl2pPr>
            <a:lvl3pPr marL="225425" indent="-225425">
              <a:spcAft>
                <a:spcPts val="600"/>
              </a:spcAft>
              <a:tabLst/>
              <a:defRPr sz="1400"/>
            </a:lvl3pPr>
            <a:lvl4pPr marL="457200" indent="-227013">
              <a:spcAft>
                <a:spcPts val="600"/>
              </a:spcAft>
              <a:defRPr sz="1400"/>
            </a:lvl4pPr>
            <a:lvl5pPr marL="688975" indent="-228600">
              <a:spcAft>
                <a:spcPts val="600"/>
              </a:spcAft>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
          </p:nvPr>
        </p:nvSpPr>
        <p:spPr>
          <a:xfrm>
            <a:off x="373063" y="1054848"/>
            <a:ext cx="11445875" cy="917789"/>
          </a:xfrm>
        </p:spPr>
        <p:txBody>
          <a:bodyPr/>
          <a:lstStyle>
            <a:lvl1pPr>
              <a:defRPr>
                <a:solidFill>
                  <a:schemeClr val="accent6"/>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505687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5" name="Slide Number Placeholder 4"/>
          <p:cNvSpPr>
            <a:spLocks noGrp="1"/>
          </p:cNvSpPr>
          <p:nvPr>
            <p:ph type="sldNum" sz="quarter" idx="12"/>
          </p:nvPr>
        </p:nvSpPr>
        <p:spPr/>
        <p:txBody>
          <a:bodyPr/>
          <a:lstStyle/>
          <a:p>
            <a:fld id="{0A655226-6E4F-8847-85CD-AF95F3D3F39A}" type="slidenum">
              <a:rPr lang="en-US" smtClean="0"/>
              <a:pPr/>
              <a:t>‹#›</a:t>
            </a:fld>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00866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Edit presentation title on Slide Master using Insert &gt; Header &amp; Footer</a:t>
            </a:r>
            <a:endParaRPr lang="en-US" dirty="0"/>
          </a:p>
        </p:txBody>
      </p:sp>
      <p:sp>
        <p:nvSpPr>
          <p:cNvPr id="4" name="Slide Number Placeholder 3"/>
          <p:cNvSpPr>
            <a:spLocks noGrp="1"/>
          </p:cNvSpPr>
          <p:nvPr>
            <p:ph type="sldNum" sz="quarter" idx="12"/>
          </p:nvPr>
        </p:nvSpPr>
        <p:spPr/>
        <p:txBody>
          <a:bodyPr/>
          <a:lstStyle/>
          <a:p>
            <a:fld id="{0A655226-6E4F-8847-85CD-AF95F3D3F39A}" type="slidenum">
              <a:rPr lang="en-US" smtClean="0"/>
              <a:pPr/>
              <a:t>‹#›</a:t>
            </a:fld>
            <a:endParaRPr lang="en-US" dirty="0"/>
          </a:p>
        </p:txBody>
      </p:sp>
      <p:sp>
        <p:nvSpPr>
          <p:cNvPr id="5" name="Title 1">
            <a:extLst>
              <a:ext uri="{FF2B5EF4-FFF2-40B4-BE49-F238E27FC236}">
                <a16:creationId xmlns:a16="http://schemas.microsoft.com/office/drawing/2014/main" id="{FC601BEE-2C58-DE48-9C7E-6097D1AAA48A}"/>
              </a:ext>
            </a:extLst>
          </p:cNvPr>
          <p:cNvSpPr>
            <a:spLocks noGrp="1"/>
          </p:cNvSpPr>
          <p:nvPr>
            <p:ph type="title"/>
          </p:nvPr>
        </p:nvSpPr>
        <p:spPr>
          <a:xfrm>
            <a:off x="373063" y="288088"/>
            <a:ext cx="11445875" cy="428678"/>
          </a:xfrm>
        </p:spPr>
        <p:txBody>
          <a:bodyPr/>
          <a:lstStyle/>
          <a:p>
            <a:r>
              <a:rPr lang="en-US"/>
              <a:t>Click to edit Master title style</a:t>
            </a:r>
            <a:endParaRPr lang="en-US" dirty="0"/>
          </a:p>
        </p:txBody>
      </p:sp>
    </p:spTree>
    <p:extLst>
      <p:ext uri="{BB962C8B-B14F-4D97-AF65-F5344CB8AC3E}">
        <p14:creationId xmlns:p14="http://schemas.microsoft.com/office/powerpoint/2010/main" val="1703473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A655226-6E4F-8847-85CD-AF95F3D3F39A}" type="slidenum">
              <a:rPr lang="en-US" smtClean="0"/>
              <a:pPr/>
              <a:t>‹#›</a:t>
            </a:fld>
            <a:endParaRPr lang="en-US"/>
          </a:p>
        </p:txBody>
      </p:sp>
      <p:sp>
        <p:nvSpPr>
          <p:cNvPr id="3" name="Footer Placeholder 2"/>
          <p:cNvSpPr>
            <a:spLocks noGrp="1"/>
          </p:cNvSpPr>
          <p:nvPr>
            <p:ph type="ftr" sz="quarter" idx="11"/>
          </p:nvPr>
        </p:nvSpPr>
        <p:spPr/>
        <p:txBody>
          <a:bodyPr/>
          <a:lstStyle/>
          <a:p>
            <a:r>
              <a:rPr lang="en-US"/>
              <a:t>Edit presentation title on Slide Master using Insert &gt; Header &amp; Footer</a:t>
            </a:r>
          </a:p>
        </p:txBody>
      </p:sp>
    </p:spTree>
    <p:extLst>
      <p:ext uri="{BB962C8B-B14F-4D97-AF65-F5344CB8AC3E}">
        <p14:creationId xmlns:p14="http://schemas.microsoft.com/office/powerpoint/2010/main" val="19245684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A655226-6E4F-8847-85CD-AF95F3D3F39A}" type="slidenum">
              <a:rPr lang="en-US" smtClean="0"/>
              <a:t>‹#›</a:t>
            </a:fld>
            <a:endParaRPr lang="en-US" dirty="0"/>
          </a:p>
        </p:txBody>
      </p:sp>
      <p:sp>
        <p:nvSpPr>
          <p:cNvPr id="4" name="Footer Placeholder 3"/>
          <p:cNvSpPr>
            <a:spLocks noGrp="1"/>
          </p:cNvSpPr>
          <p:nvPr>
            <p:ph type="ftr" sz="quarter" idx="11"/>
          </p:nvPr>
        </p:nvSpPr>
        <p:spPr/>
        <p:txBody>
          <a:bodyPr/>
          <a:lstStyle>
            <a:lvl1pPr algn="ctr">
              <a:defRPr/>
            </a:lvl1pPr>
          </a:lstStyle>
          <a:p>
            <a:r>
              <a:rPr lang="en-US"/>
              <a:t>Edit presentation title on Slide Master using Insert &gt; Header &amp; Footer</a:t>
            </a:r>
            <a:endParaRPr lang="en-US" dirty="0"/>
          </a:p>
        </p:txBody>
      </p:sp>
      <p:sp>
        <p:nvSpPr>
          <p:cNvPr id="3" name="Rectangle 2">
            <a:extLst>
              <a:ext uri="{FF2B5EF4-FFF2-40B4-BE49-F238E27FC236}">
                <a16:creationId xmlns:a16="http://schemas.microsoft.com/office/drawing/2014/main" id="{DB34A14B-FD3C-F347-BE91-BB9BBA30D317}"/>
              </a:ext>
            </a:extLst>
          </p:cNvPr>
          <p:cNvSpPr/>
          <p:nvPr userDrawn="1"/>
        </p:nvSpPr>
        <p:spPr>
          <a:xfrm>
            <a:off x="8477251" y="5829300"/>
            <a:ext cx="3711575" cy="10287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799" dirty="0"/>
          </a:p>
        </p:txBody>
      </p:sp>
    </p:spTree>
    <p:extLst>
      <p:ext uri="{BB962C8B-B14F-4D97-AF65-F5344CB8AC3E}">
        <p14:creationId xmlns:p14="http://schemas.microsoft.com/office/powerpoint/2010/main" val="39265554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Just Title">
    <p:spTree>
      <p:nvGrpSpPr>
        <p:cNvPr id="1" name=""/>
        <p:cNvGrpSpPr/>
        <p:nvPr/>
      </p:nvGrpSpPr>
      <p:grpSpPr>
        <a:xfrm>
          <a:off x="0" y="0"/>
          <a:ext cx="0" cy="0"/>
          <a:chOff x="0" y="0"/>
          <a:chExt cx="0" cy="0"/>
        </a:xfrm>
      </p:grpSpPr>
      <p:sp>
        <p:nvSpPr>
          <p:cNvPr id="43" name="Text Placeholder 17">
            <a:extLst>
              <a:ext uri="{FF2B5EF4-FFF2-40B4-BE49-F238E27FC236}">
                <a16:creationId xmlns:a16="http://schemas.microsoft.com/office/drawing/2014/main" id="{3645A1F2-0A7E-4EF9-99A4-099D184F25BB}"/>
              </a:ext>
            </a:extLst>
          </p:cNvPr>
          <p:cNvSpPr>
            <a:spLocks noGrp="1"/>
          </p:cNvSpPr>
          <p:nvPr>
            <p:ph type="body" sz="quarter" idx="13" hasCustomPrompt="1"/>
          </p:nvPr>
        </p:nvSpPr>
        <p:spPr>
          <a:xfrm>
            <a:off x="625029" y="587068"/>
            <a:ext cx="10954355" cy="428625"/>
          </a:xfrm>
          <a:prstGeom prst="rect">
            <a:avLst/>
          </a:prstGeom>
        </p:spPr>
        <p:txBody>
          <a:bodyPr lIns="0" tIns="0" rIns="0" bIns="0"/>
          <a:lstStyle>
            <a:lvl1pPr marL="0" indent="0">
              <a:buNone/>
              <a:defRPr lang="en-US" sz="3499" kern="1200" spc="150" dirty="0" smtClean="0">
                <a:solidFill>
                  <a:srgbClr val="FF8000"/>
                </a:solidFill>
                <a:latin typeface="Knowledge Bold" panose="020B0503050000020004" pitchFamily="34" charset="0"/>
                <a:ea typeface="+mn-ea"/>
                <a:cs typeface="+mn-cs"/>
              </a:defRPr>
            </a:lvl1pPr>
            <a:lvl2pPr marL="457063" indent="0">
              <a:buNone/>
              <a:defRPr/>
            </a:lvl2pPr>
            <a:lvl3pPr marL="914126" indent="0">
              <a:buNone/>
              <a:defRPr/>
            </a:lvl3pPr>
            <a:lvl4pPr marL="1371189" indent="0">
              <a:buNone/>
              <a:defRPr/>
            </a:lvl4pPr>
            <a:lvl5pPr marL="1828251" indent="0">
              <a:buNone/>
              <a:defRPr/>
            </a:lvl5pPr>
          </a:lstStyle>
          <a:p>
            <a:pPr lvl="0"/>
            <a:r>
              <a:rPr lang="en-US"/>
              <a:t>TITLE SLIDE</a:t>
            </a:r>
          </a:p>
        </p:txBody>
      </p:sp>
    </p:spTree>
    <p:extLst>
      <p:ext uri="{BB962C8B-B14F-4D97-AF65-F5344CB8AC3E}">
        <p14:creationId xmlns:p14="http://schemas.microsoft.com/office/powerpoint/2010/main" val="69414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ACF4D9-694A-0343-9E0A-B5B57DB62F34}"/>
              </a:ext>
            </a:extLst>
          </p:cNvPr>
          <p:cNvSpPr>
            <a:spLocks noGrp="1"/>
          </p:cNvSpPr>
          <p:nvPr>
            <p:ph type="ftr" sz="quarter" idx="10"/>
          </p:nvPr>
        </p:nvSpPr>
        <p:spPr/>
        <p:txBody>
          <a:bodyPr/>
          <a:lstStyle/>
          <a:p>
            <a:r>
              <a:rPr lang="en-US"/>
              <a:t>Edit presentation title on Slide Master using Insert &gt; Header &amp; Footer</a:t>
            </a:r>
            <a:endParaRPr lang="en-US" dirty="0"/>
          </a:p>
        </p:txBody>
      </p:sp>
      <p:sp>
        <p:nvSpPr>
          <p:cNvPr id="4" name="Slide Number Placeholder 3">
            <a:extLst>
              <a:ext uri="{FF2B5EF4-FFF2-40B4-BE49-F238E27FC236}">
                <a16:creationId xmlns:a16="http://schemas.microsoft.com/office/drawing/2014/main" id="{056F80F3-AC30-9A45-BC43-4277DD64139E}"/>
              </a:ext>
            </a:extLst>
          </p:cNvPr>
          <p:cNvSpPr>
            <a:spLocks noGrp="1"/>
          </p:cNvSpPr>
          <p:nvPr>
            <p:ph type="sldNum" sz="quarter" idx="11"/>
          </p:nvPr>
        </p:nvSpPr>
        <p:spPr/>
        <p:txBody>
          <a:bodyPr/>
          <a:lstStyle/>
          <a:p>
            <a:fld id="{0A655226-6E4F-8847-85CD-AF95F3D3F39A}" type="slidenum">
              <a:rPr lang="en-US" smtClean="0"/>
              <a:pPr/>
              <a:t>‹#›</a:t>
            </a:fld>
            <a:endParaRPr lang="en-US" dirty="0"/>
          </a:p>
        </p:txBody>
      </p:sp>
      <p:sp>
        <p:nvSpPr>
          <p:cNvPr id="2" name="Rectangle 1">
            <a:extLst>
              <a:ext uri="{FF2B5EF4-FFF2-40B4-BE49-F238E27FC236}">
                <a16:creationId xmlns:a16="http://schemas.microsoft.com/office/drawing/2014/main" id="{10F44C63-E553-A746-878E-E36828A885BA}"/>
              </a:ext>
            </a:extLst>
          </p:cNvPr>
          <p:cNvSpPr/>
          <p:nvPr userDrawn="1"/>
        </p:nvSpPr>
        <p:spPr>
          <a:xfrm>
            <a:off x="0" y="0"/>
            <a:ext cx="12188825" cy="277749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0752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omparison">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3D20A849-8A31-413B-B498-6CAFF95BA024}"/>
              </a:ext>
            </a:extLst>
          </p:cNvPr>
          <p:cNvGrpSpPr/>
          <p:nvPr userDrawn="1"/>
        </p:nvGrpSpPr>
        <p:grpSpPr>
          <a:xfrm>
            <a:off x="621176" y="1791951"/>
            <a:ext cx="3398343" cy="300919"/>
            <a:chOff x="625190" y="1372017"/>
            <a:chExt cx="3160425" cy="300919"/>
          </a:xfrm>
        </p:grpSpPr>
        <p:sp>
          <p:nvSpPr>
            <p:cNvPr id="31" name="Rectangle 30">
              <a:extLst>
                <a:ext uri="{FF2B5EF4-FFF2-40B4-BE49-F238E27FC236}">
                  <a16:creationId xmlns:a16="http://schemas.microsoft.com/office/drawing/2014/main" id="{E21E0B65-3FD7-4008-BB29-7E4BE7ABFB5A}"/>
                </a:ext>
              </a:extLst>
            </p:cNvPr>
            <p:cNvSpPr/>
            <p:nvPr/>
          </p:nvSpPr>
          <p:spPr>
            <a:xfrm>
              <a:off x="625190" y="1372017"/>
              <a:ext cx="2553526" cy="300919"/>
            </a:xfrm>
            <a:prstGeom prst="rect">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a:ea typeface="+mn-ea"/>
                <a:cs typeface="+mn-cs"/>
              </a:endParaRPr>
            </a:p>
          </p:txBody>
        </p:sp>
        <p:sp>
          <p:nvSpPr>
            <p:cNvPr id="34" name="Rounded Rectangle 42">
              <a:extLst>
                <a:ext uri="{FF2B5EF4-FFF2-40B4-BE49-F238E27FC236}">
                  <a16:creationId xmlns:a16="http://schemas.microsoft.com/office/drawing/2014/main" id="{FF01AF34-B0AE-4113-B63F-28DE916E9B82}"/>
                </a:ext>
              </a:extLst>
            </p:cNvPr>
            <p:cNvSpPr/>
            <p:nvPr/>
          </p:nvSpPr>
          <p:spPr>
            <a:xfrm>
              <a:off x="1232088" y="1372017"/>
              <a:ext cx="2553527" cy="300919"/>
            </a:xfrm>
            <a:prstGeom prst="roundRect">
              <a:avLst>
                <a:gd name="adj" fmla="val 50000"/>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200" normalizeH="0" baseline="0" noProof="0">
                <a:ln>
                  <a:noFill/>
                </a:ln>
                <a:solidFill>
                  <a:prstClr val="white"/>
                </a:solidFill>
                <a:effectLst/>
                <a:uLnTx/>
                <a:uFillTx/>
                <a:latin typeface="Arial"/>
                <a:ea typeface="+mn-ea"/>
                <a:cs typeface="+mn-cs"/>
              </a:endParaRPr>
            </a:p>
          </p:txBody>
        </p:sp>
      </p:grpSp>
      <p:sp>
        <p:nvSpPr>
          <p:cNvPr id="35" name="Text Placeholder 34">
            <a:extLst>
              <a:ext uri="{FF2B5EF4-FFF2-40B4-BE49-F238E27FC236}">
                <a16:creationId xmlns:a16="http://schemas.microsoft.com/office/drawing/2014/main" id="{67125AA0-B183-48A9-83B0-C980EF575C8E}"/>
              </a:ext>
            </a:extLst>
          </p:cNvPr>
          <p:cNvSpPr>
            <a:spLocks noGrp="1"/>
          </p:cNvSpPr>
          <p:nvPr>
            <p:ph type="body" sz="quarter" idx="20" hasCustomPrompt="1"/>
          </p:nvPr>
        </p:nvSpPr>
        <p:spPr>
          <a:xfrm>
            <a:off x="625028" y="2466976"/>
            <a:ext cx="3394780" cy="3168893"/>
          </a:xfrm>
          <a:prstGeom prst="rect">
            <a:avLst/>
          </a:prstGeom>
        </p:spPr>
        <p:txBody>
          <a:bodyPr vert="horz" lIns="0" tIns="0" rIns="0" bIns="0">
            <a:noAutofit/>
          </a:bodyPr>
          <a:lstStyle>
            <a:lvl1pPr marL="0" marR="0" indent="0" algn="l" defTabSz="914126" rtl="0" eaLnBrk="1" fontAlgn="auto" latinLnBrk="0" hangingPunct="1">
              <a:lnSpc>
                <a:spcPct val="120000"/>
              </a:lnSpc>
              <a:spcBef>
                <a:spcPts val="0"/>
              </a:spcBef>
              <a:spcAft>
                <a:spcPts val="0"/>
              </a:spcAft>
              <a:buClrTx/>
              <a:buSzTx/>
              <a:buFont typeface="Arial" panose="020B0604020202020204" pitchFamily="34" charset="0"/>
              <a:buNone/>
              <a:tabLst/>
              <a:defRPr sz="1200"/>
            </a:lvl1pPr>
            <a:lvl2pPr marL="457063" indent="0">
              <a:buFont typeface="Arial" panose="020B0604020202020204" pitchFamily="34" charset="0"/>
              <a:buNone/>
              <a:defRPr sz="1200"/>
            </a:lvl2pPr>
            <a:lvl3pPr marL="914126" indent="0">
              <a:buFont typeface="Arial" panose="020B0604020202020204" pitchFamily="34" charset="0"/>
              <a:buNone/>
              <a:defRPr sz="1200"/>
            </a:lvl3pPr>
            <a:lvl4pPr marL="1371189" indent="0">
              <a:buFont typeface="Arial" panose="020B0604020202020204" pitchFamily="34" charset="0"/>
              <a:buNone/>
              <a:defRPr sz="1200"/>
            </a:lvl4pPr>
            <a:lvl5pPr marL="1828251" indent="0">
              <a:buFont typeface="Arial" panose="020B0604020202020204" pitchFamily="34" charset="0"/>
              <a:buNone/>
              <a:defRPr sz="1200"/>
            </a:lvl5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sed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dolore </a:t>
            </a:r>
            <a:r>
              <a:rPr lang="en-US" err="1"/>
              <a:t>magnam</a:t>
            </a:r>
            <a:r>
              <a:rPr lang="en-US"/>
              <a:t> </a:t>
            </a:r>
            <a:r>
              <a:rPr lang="en-US" err="1"/>
              <a:t>aliquam</a:t>
            </a:r>
            <a:r>
              <a:rPr lang="en-US"/>
              <a:t> </a:t>
            </a:r>
            <a:r>
              <a:rPr lang="en-US" err="1"/>
              <a:t>quaerat</a:t>
            </a:r>
            <a:r>
              <a:rPr lang="en-US"/>
              <a:t> </a:t>
            </a:r>
            <a:r>
              <a:rPr lang="en-US" err="1"/>
              <a:t>voluptatem</a:t>
            </a:r>
            <a:r>
              <a:rPr lang="en-US"/>
              <a:t>. </a:t>
            </a:r>
          </a:p>
          <a:p>
            <a:pPr lvl="0"/>
            <a:endParaRPr lang="en-US"/>
          </a:p>
        </p:txBody>
      </p:sp>
      <p:sp>
        <p:nvSpPr>
          <p:cNvPr id="43" name="Text Placeholder 17">
            <a:extLst>
              <a:ext uri="{FF2B5EF4-FFF2-40B4-BE49-F238E27FC236}">
                <a16:creationId xmlns:a16="http://schemas.microsoft.com/office/drawing/2014/main" id="{3645A1F2-0A7E-4EF9-99A4-099D184F25BB}"/>
              </a:ext>
            </a:extLst>
          </p:cNvPr>
          <p:cNvSpPr>
            <a:spLocks noGrp="1"/>
          </p:cNvSpPr>
          <p:nvPr>
            <p:ph type="body" sz="quarter" idx="13" hasCustomPrompt="1"/>
          </p:nvPr>
        </p:nvSpPr>
        <p:spPr>
          <a:xfrm>
            <a:off x="625029" y="587068"/>
            <a:ext cx="10954355" cy="428625"/>
          </a:xfrm>
          <a:prstGeom prst="rect">
            <a:avLst/>
          </a:prstGeom>
        </p:spPr>
        <p:txBody>
          <a:bodyPr lIns="0" tIns="0" rIns="0" bIns="0"/>
          <a:lstStyle>
            <a:lvl1pPr marL="0" indent="0">
              <a:buNone/>
              <a:defRPr lang="en-US" sz="3499" kern="1200" spc="150" dirty="0" smtClean="0">
                <a:solidFill>
                  <a:srgbClr val="FF8000"/>
                </a:solidFill>
                <a:latin typeface="Knowledge Bold" panose="020B0503050000020004" pitchFamily="34" charset="0"/>
                <a:ea typeface="+mn-ea"/>
                <a:cs typeface="+mn-cs"/>
              </a:defRPr>
            </a:lvl1pPr>
            <a:lvl2pPr marL="457063" indent="0">
              <a:buNone/>
              <a:defRPr/>
            </a:lvl2pPr>
            <a:lvl3pPr marL="914126" indent="0">
              <a:buNone/>
              <a:defRPr/>
            </a:lvl3pPr>
            <a:lvl4pPr marL="1371189" indent="0">
              <a:buNone/>
              <a:defRPr/>
            </a:lvl4pPr>
            <a:lvl5pPr marL="1828251" indent="0">
              <a:buNone/>
              <a:defRPr/>
            </a:lvl5pPr>
          </a:lstStyle>
          <a:p>
            <a:pPr lvl="0"/>
            <a:r>
              <a:rPr lang="en-US"/>
              <a:t>TITLE SLIDE</a:t>
            </a:r>
          </a:p>
        </p:txBody>
      </p:sp>
      <p:sp>
        <p:nvSpPr>
          <p:cNvPr id="22" name="Text Placeholder 53">
            <a:extLst>
              <a:ext uri="{FF2B5EF4-FFF2-40B4-BE49-F238E27FC236}">
                <a16:creationId xmlns:a16="http://schemas.microsoft.com/office/drawing/2014/main" id="{1FAA3B71-1FE9-422F-BFA9-C916B7517D93}"/>
              </a:ext>
            </a:extLst>
          </p:cNvPr>
          <p:cNvSpPr>
            <a:spLocks noGrp="1"/>
          </p:cNvSpPr>
          <p:nvPr>
            <p:ph type="body" sz="quarter" idx="24" hasCustomPrompt="1"/>
          </p:nvPr>
        </p:nvSpPr>
        <p:spPr>
          <a:xfrm>
            <a:off x="621174" y="1831575"/>
            <a:ext cx="3394780" cy="245444"/>
          </a:xfrm>
          <a:prstGeom prst="rect">
            <a:avLst/>
          </a:prstGeom>
        </p:spPr>
        <p:txBody>
          <a:bodyPr/>
          <a:lstStyle>
            <a:lvl1pPr marL="0" indent="0" algn="ctr">
              <a:buNone/>
              <a:defRPr lang="en-US" sz="1200" b="1" kern="1200" spc="200" dirty="0">
                <a:solidFill>
                  <a:schemeClr val="lt1"/>
                </a:solidFill>
                <a:latin typeface="+mj-lt"/>
                <a:ea typeface="+mn-ea"/>
                <a:cs typeface="+mn-cs"/>
              </a:defRPr>
            </a:lvl1pPr>
          </a:lstStyle>
          <a:p>
            <a:pPr lvl="0"/>
            <a:r>
              <a:rPr lang="en-US"/>
              <a:t>DESCRIPTION FEATURE 1</a:t>
            </a:r>
          </a:p>
        </p:txBody>
      </p:sp>
      <p:sp>
        <p:nvSpPr>
          <p:cNvPr id="29" name="Text Placeholder 3">
            <a:extLst>
              <a:ext uri="{FF2B5EF4-FFF2-40B4-BE49-F238E27FC236}">
                <a16:creationId xmlns:a16="http://schemas.microsoft.com/office/drawing/2014/main" id="{543E5777-4B2E-466E-9F4F-E2089FBEB3BB}"/>
              </a:ext>
            </a:extLst>
          </p:cNvPr>
          <p:cNvSpPr>
            <a:spLocks noGrp="1"/>
          </p:cNvSpPr>
          <p:nvPr>
            <p:ph type="body" sz="quarter" idx="11" hasCustomPrompt="1"/>
          </p:nvPr>
        </p:nvSpPr>
        <p:spPr>
          <a:xfrm>
            <a:off x="625312" y="1108786"/>
            <a:ext cx="10931852" cy="296863"/>
          </a:xfrm>
          <a:prstGeom prst="rect">
            <a:avLst/>
          </a:prstGeom>
          <a:noFill/>
        </p:spPr>
        <p:txBody>
          <a:bodyPr wrap="square" lIns="0" tIns="0" rIns="0" bIns="0" rtlCol="0" anchor="t">
            <a:noAutofit/>
          </a:bodyPr>
          <a:lstStyle>
            <a:lvl1pPr marL="0" indent="0">
              <a:buNone/>
              <a:defRPr lang="en-US" sz="1799" smtClean="0">
                <a:latin typeface="Knowledge Light" panose="020B0506040000020004" pitchFamily="34" charset="0"/>
              </a:defRPr>
            </a:lvl1pPr>
            <a:lvl2pPr>
              <a:defRPr lang="en-US" sz="1799" smtClean="0"/>
            </a:lvl2pPr>
            <a:lvl3pPr marL="685594" indent="0">
              <a:buNone/>
              <a:defRPr lang="en-US" sz="1799" smtClean="0"/>
            </a:lvl3pPr>
            <a:lvl4pPr>
              <a:defRPr lang="en-US" smtClean="0"/>
            </a:lvl4pPr>
            <a:lvl5pPr>
              <a:defRPr lang="en-US"/>
            </a:lvl5pPr>
          </a:lstStyle>
          <a:p>
            <a:pPr marL="0" lvl="0">
              <a:lnSpc>
                <a:spcPct val="120000"/>
              </a:lnSpc>
            </a:pPr>
            <a:r>
              <a:rPr lang="en-US"/>
              <a:t>Subtitle in sentence case</a:t>
            </a:r>
          </a:p>
        </p:txBody>
      </p:sp>
      <p:grpSp>
        <p:nvGrpSpPr>
          <p:cNvPr id="46" name="Group 45">
            <a:extLst>
              <a:ext uri="{FF2B5EF4-FFF2-40B4-BE49-F238E27FC236}">
                <a16:creationId xmlns:a16="http://schemas.microsoft.com/office/drawing/2014/main" id="{619BE7B6-9461-1B4A-9DC4-D9414F95BDDD}"/>
              </a:ext>
            </a:extLst>
          </p:cNvPr>
          <p:cNvGrpSpPr/>
          <p:nvPr userDrawn="1"/>
        </p:nvGrpSpPr>
        <p:grpSpPr>
          <a:xfrm>
            <a:off x="8162387" y="1798775"/>
            <a:ext cx="3398343" cy="300919"/>
            <a:chOff x="625190" y="1372017"/>
            <a:chExt cx="3160425" cy="300919"/>
          </a:xfrm>
        </p:grpSpPr>
        <p:sp>
          <p:nvSpPr>
            <p:cNvPr id="47" name="Rectangle 46">
              <a:extLst>
                <a:ext uri="{FF2B5EF4-FFF2-40B4-BE49-F238E27FC236}">
                  <a16:creationId xmlns:a16="http://schemas.microsoft.com/office/drawing/2014/main" id="{E5717AAF-C73F-7C44-B4E4-3183248D461E}"/>
                </a:ext>
              </a:extLst>
            </p:cNvPr>
            <p:cNvSpPr/>
            <p:nvPr/>
          </p:nvSpPr>
          <p:spPr>
            <a:xfrm>
              <a:off x="625190" y="1372017"/>
              <a:ext cx="2553526" cy="300919"/>
            </a:xfrm>
            <a:prstGeom prst="rect">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a:ea typeface="+mn-ea"/>
                <a:cs typeface="+mn-cs"/>
              </a:endParaRPr>
            </a:p>
          </p:txBody>
        </p:sp>
        <p:sp>
          <p:nvSpPr>
            <p:cNvPr id="48" name="Rounded Rectangle 42">
              <a:extLst>
                <a:ext uri="{FF2B5EF4-FFF2-40B4-BE49-F238E27FC236}">
                  <a16:creationId xmlns:a16="http://schemas.microsoft.com/office/drawing/2014/main" id="{0D87C630-69D1-0C40-B453-A4A5D9569200}"/>
                </a:ext>
              </a:extLst>
            </p:cNvPr>
            <p:cNvSpPr/>
            <p:nvPr/>
          </p:nvSpPr>
          <p:spPr>
            <a:xfrm>
              <a:off x="1232088" y="1372017"/>
              <a:ext cx="2553527" cy="300919"/>
            </a:xfrm>
            <a:prstGeom prst="roundRect">
              <a:avLst>
                <a:gd name="adj" fmla="val 50000"/>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200" normalizeH="0" baseline="0" noProof="0">
                <a:ln>
                  <a:noFill/>
                </a:ln>
                <a:solidFill>
                  <a:prstClr val="white"/>
                </a:solidFill>
                <a:effectLst/>
                <a:uLnTx/>
                <a:uFillTx/>
                <a:latin typeface="Arial"/>
                <a:ea typeface="+mn-ea"/>
                <a:cs typeface="+mn-cs"/>
              </a:endParaRPr>
            </a:p>
          </p:txBody>
        </p:sp>
      </p:grpSp>
      <p:sp>
        <p:nvSpPr>
          <p:cNvPr id="49" name="Text Placeholder 34">
            <a:extLst>
              <a:ext uri="{FF2B5EF4-FFF2-40B4-BE49-F238E27FC236}">
                <a16:creationId xmlns:a16="http://schemas.microsoft.com/office/drawing/2014/main" id="{67B74617-2844-AC47-8A5F-6855EB6896CF}"/>
              </a:ext>
            </a:extLst>
          </p:cNvPr>
          <p:cNvSpPr>
            <a:spLocks noGrp="1"/>
          </p:cNvSpPr>
          <p:nvPr>
            <p:ph type="body" sz="quarter" idx="25" hasCustomPrompt="1"/>
          </p:nvPr>
        </p:nvSpPr>
        <p:spPr>
          <a:xfrm>
            <a:off x="8166239" y="2466976"/>
            <a:ext cx="3394780" cy="3168893"/>
          </a:xfrm>
          <a:prstGeom prst="rect">
            <a:avLst/>
          </a:prstGeom>
        </p:spPr>
        <p:txBody>
          <a:bodyPr vert="horz" lIns="0" tIns="0" rIns="0" bIns="0">
            <a:noAutofit/>
          </a:bodyPr>
          <a:lstStyle>
            <a:lvl1pPr marL="0" marR="0" indent="0" algn="l" defTabSz="914126" rtl="0" eaLnBrk="1" fontAlgn="auto" latinLnBrk="0" hangingPunct="1">
              <a:lnSpc>
                <a:spcPct val="120000"/>
              </a:lnSpc>
              <a:spcBef>
                <a:spcPts val="0"/>
              </a:spcBef>
              <a:spcAft>
                <a:spcPts val="0"/>
              </a:spcAft>
              <a:buClrTx/>
              <a:buSzTx/>
              <a:buFont typeface="Arial" panose="020B0604020202020204" pitchFamily="34" charset="0"/>
              <a:buNone/>
              <a:tabLst/>
              <a:defRPr sz="1200"/>
            </a:lvl1pPr>
            <a:lvl2pPr marL="457063" indent="0">
              <a:buFont typeface="Arial" panose="020B0604020202020204" pitchFamily="34" charset="0"/>
              <a:buNone/>
              <a:defRPr sz="1200"/>
            </a:lvl2pPr>
            <a:lvl3pPr marL="914126" indent="0">
              <a:buFont typeface="Arial" panose="020B0604020202020204" pitchFamily="34" charset="0"/>
              <a:buNone/>
              <a:defRPr sz="1200"/>
            </a:lvl3pPr>
            <a:lvl4pPr marL="1371189" indent="0">
              <a:buFont typeface="Arial" panose="020B0604020202020204" pitchFamily="34" charset="0"/>
              <a:buNone/>
              <a:defRPr sz="1200"/>
            </a:lvl4pPr>
            <a:lvl5pPr marL="1828251" indent="0">
              <a:buFont typeface="Arial" panose="020B0604020202020204" pitchFamily="34" charset="0"/>
              <a:buNone/>
              <a:defRPr sz="1200"/>
            </a:lvl5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sed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dolore </a:t>
            </a:r>
            <a:r>
              <a:rPr lang="en-US" err="1"/>
              <a:t>magnam</a:t>
            </a:r>
            <a:r>
              <a:rPr lang="en-US"/>
              <a:t> </a:t>
            </a:r>
            <a:r>
              <a:rPr lang="en-US" err="1"/>
              <a:t>aliquam</a:t>
            </a:r>
            <a:r>
              <a:rPr lang="en-US"/>
              <a:t> </a:t>
            </a:r>
            <a:r>
              <a:rPr lang="en-US" err="1"/>
              <a:t>quaerat</a:t>
            </a:r>
            <a:r>
              <a:rPr lang="en-US"/>
              <a:t> </a:t>
            </a:r>
            <a:r>
              <a:rPr lang="en-US" err="1"/>
              <a:t>voluptatem</a:t>
            </a:r>
            <a:r>
              <a:rPr lang="en-US"/>
              <a:t>. </a:t>
            </a:r>
          </a:p>
          <a:p>
            <a:pPr lvl="0"/>
            <a:endParaRPr lang="en-US"/>
          </a:p>
        </p:txBody>
      </p:sp>
      <p:sp>
        <p:nvSpPr>
          <p:cNvPr id="50" name="Text Placeholder 53">
            <a:extLst>
              <a:ext uri="{FF2B5EF4-FFF2-40B4-BE49-F238E27FC236}">
                <a16:creationId xmlns:a16="http://schemas.microsoft.com/office/drawing/2014/main" id="{53A7DA3B-686F-3641-B8A5-41039DDF6A95}"/>
              </a:ext>
            </a:extLst>
          </p:cNvPr>
          <p:cNvSpPr>
            <a:spLocks noGrp="1"/>
          </p:cNvSpPr>
          <p:nvPr>
            <p:ph type="body" sz="quarter" idx="26" hasCustomPrompt="1"/>
          </p:nvPr>
        </p:nvSpPr>
        <p:spPr>
          <a:xfrm>
            <a:off x="8162385" y="1831575"/>
            <a:ext cx="3394780" cy="245444"/>
          </a:xfrm>
          <a:prstGeom prst="rect">
            <a:avLst/>
          </a:prstGeom>
        </p:spPr>
        <p:txBody>
          <a:bodyPr/>
          <a:lstStyle>
            <a:lvl1pPr marL="0" indent="0" algn="ctr">
              <a:buNone/>
              <a:defRPr lang="en-US" sz="1200" b="1" kern="1200" spc="200" dirty="0">
                <a:solidFill>
                  <a:schemeClr val="lt1"/>
                </a:solidFill>
                <a:latin typeface="+mj-lt"/>
                <a:ea typeface="+mn-ea"/>
                <a:cs typeface="+mn-cs"/>
              </a:defRPr>
            </a:lvl1pPr>
          </a:lstStyle>
          <a:p>
            <a:pPr lvl="0"/>
            <a:r>
              <a:rPr lang="en-US"/>
              <a:t>DESCRIPTION FEATURE 1</a:t>
            </a:r>
          </a:p>
        </p:txBody>
      </p:sp>
      <p:grpSp>
        <p:nvGrpSpPr>
          <p:cNvPr id="51" name="Group 50">
            <a:extLst>
              <a:ext uri="{FF2B5EF4-FFF2-40B4-BE49-F238E27FC236}">
                <a16:creationId xmlns:a16="http://schemas.microsoft.com/office/drawing/2014/main" id="{D7BF1A72-2887-5645-B015-8659C00BD740}"/>
              </a:ext>
            </a:extLst>
          </p:cNvPr>
          <p:cNvGrpSpPr/>
          <p:nvPr userDrawn="1"/>
        </p:nvGrpSpPr>
        <p:grpSpPr>
          <a:xfrm>
            <a:off x="4395241" y="1796572"/>
            <a:ext cx="3398343" cy="300919"/>
            <a:chOff x="625190" y="1372017"/>
            <a:chExt cx="3160425" cy="300919"/>
          </a:xfrm>
        </p:grpSpPr>
        <p:sp>
          <p:nvSpPr>
            <p:cNvPr id="52" name="Rectangle 51">
              <a:extLst>
                <a:ext uri="{FF2B5EF4-FFF2-40B4-BE49-F238E27FC236}">
                  <a16:creationId xmlns:a16="http://schemas.microsoft.com/office/drawing/2014/main" id="{231F4562-B972-D049-97BA-BEC7C6629F07}"/>
                </a:ext>
              </a:extLst>
            </p:cNvPr>
            <p:cNvSpPr/>
            <p:nvPr/>
          </p:nvSpPr>
          <p:spPr>
            <a:xfrm>
              <a:off x="625190" y="1372017"/>
              <a:ext cx="2553526" cy="300919"/>
            </a:xfrm>
            <a:prstGeom prst="rect">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a:ea typeface="+mn-ea"/>
                <a:cs typeface="+mn-cs"/>
              </a:endParaRPr>
            </a:p>
          </p:txBody>
        </p:sp>
        <p:sp>
          <p:nvSpPr>
            <p:cNvPr id="53" name="Rounded Rectangle 42">
              <a:extLst>
                <a:ext uri="{FF2B5EF4-FFF2-40B4-BE49-F238E27FC236}">
                  <a16:creationId xmlns:a16="http://schemas.microsoft.com/office/drawing/2014/main" id="{E932B2A7-D3A7-7147-99A9-CAB28CA187ED}"/>
                </a:ext>
              </a:extLst>
            </p:cNvPr>
            <p:cNvSpPr/>
            <p:nvPr/>
          </p:nvSpPr>
          <p:spPr>
            <a:xfrm>
              <a:off x="1232088" y="1372017"/>
              <a:ext cx="2553527" cy="300919"/>
            </a:xfrm>
            <a:prstGeom prst="roundRect">
              <a:avLst>
                <a:gd name="adj" fmla="val 50000"/>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200" normalizeH="0" baseline="0" noProof="0">
                <a:ln>
                  <a:noFill/>
                </a:ln>
                <a:solidFill>
                  <a:prstClr val="white"/>
                </a:solidFill>
                <a:effectLst/>
                <a:uLnTx/>
                <a:uFillTx/>
                <a:latin typeface="Arial"/>
                <a:ea typeface="+mn-ea"/>
                <a:cs typeface="+mn-cs"/>
              </a:endParaRPr>
            </a:p>
          </p:txBody>
        </p:sp>
      </p:grpSp>
      <p:sp>
        <p:nvSpPr>
          <p:cNvPr id="54" name="Text Placeholder 34">
            <a:extLst>
              <a:ext uri="{FF2B5EF4-FFF2-40B4-BE49-F238E27FC236}">
                <a16:creationId xmlns:a16="http://schemas.microsoft.com/office/drawing/2014/main" id="{359757CD-2AA8-3D41-83D2-14842FD99B5D}"/>
              </a:ext>
            </a:extLst>
          </p:cNvPr>
          <p:cNvSpPr>
            <a:spLocks noGrp="1"/>
          </p:cNvSpPr>
          <p:nvPr>
            <p:ph type="body" sz="quarter" idx="27" hasCustomPrompt="1"/>
          </p:nvPr>
        </p:nvSpPr>
        <p:spPr>
          <a:xfrm>
            <a:off x="4399093" y="2444302"/>
            <a:ext cx="3394780" cy="3168893"/>
          </a:xfrm>
          <a:prstGeom prst="rect">
            <a:avLst/>
          </a:prstGeom>
        </p:spPr>
        <p:txBody>
          <a:bodyPr vert="horz" lIns="0" tIns="0" rIns="0" bIns="0">
            <a:noAutofit/>
          </a:bodyPr>
          <a:lstStyle>
            <a:lvl1pPr marL="0" marR="0" indent="0" algn="l" defTabSz="914126" rtl="0" eaLnBrk="1" fontAlgn="auto" latinLnBrk="0" hangingPunct="1">
              <a:lnSpc>
                <a:spcPct val="120000"/>
              </a:lnSpc>
              <a:spcBef>
                <a:spcPts val="0"/>
              </a:spcBef>
              <a:spcAft>
                <a:spcPts val="0"/>
              </a:spcAft>
              <a:buClrTx/>
              <a:buSzTx/>
              <a:buFont typeface="Arial" panose="020B0604020202020204" pitchFamily="34" charset="0"/>
              <a:buNone/>
              <a:tabLst/>
              <a:defRPr sz="1200"/>
            </a:lvl1pPr>
            <a:lvl2pPr marL="457063" indent="0">
              <a:buFont typeface="Arial" panose="020B0604020202020204" pitchFamily="34" charset="0"/>
              <a:buNone/>
              <a:defRPr sz="1200"/>
            </a:lvl2pPr>
            <a:lvl3pPr marL="914126" indent="0">
              <a:buFont typeface="Arial" panose="020B0604020202020204" pitchFamily="34" charset="0"/>
              <a:buNone/>
              <a:defRPr sz="1200"/>
            </a:lvl3pPr>
            <a:lvl4pPr marL="1371189" indent="0">
              <a:buFont typeface="Arial" panose="020B0604020202020204" pitchFamily="34" charset="0"/>
              <a:buNone/>
              <a:defRPr sz="1200"/>
            </a:lvl4pPr>
            <a:lvl5pPr marL="1828251" indent="0">
              <a:buFont typeface="Arial" panose="020B0604020202020204" pitchFamily="34" charset="0"/>
              <a:buNone/>
              <a:defRPr sz="1200"/>
            </a:lvl5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sed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dolore </a:t>
            </a:r>
            <a:r>
              <a:rPr lang="en-US" err="1"/>
              <a:t>magnam</a:t>
            </a:r>
            <a:r>
              <a:rPr lang="en-US"/>
              <a:t> </a:t>
            </a:r>
            <a:r>
              <a:rPr lang="en-US" err="1"/>
              <a:t>aliquam</a:t>
            </a:r>
            <a:r>
              <a:rPr lang="en-US"/>
              <a:t> </a:t>
            </a:r>
            <a:r>
              <a:rPr lang="en-US" err="1"/>
              <a:t>quaerat</a:t>
            </a:r>
            <a:r>
              <a:rPr lang="en-US"/>
              <a:t> </a:t>
            </a:r>
            <a:r>
              <a:rPr lang="en-US" err="1"/>
              <a:t>voluptatem</a:t>
            </a:r>
            <a:r>
              <a:rPr lang="en-US"/>
              <a:t>. </a:t>
            </a:r>
          </a:p>
          <a:p>
            <a:pPr lvl="0"/>
            <a:endParaRPr lang="en-US"/>
          </a:p>
        </p:txBody>
      </p:sp>
      <p:sp>
        <p:nvSpPr>
          <p:cNvPr id="55" name="Text Placeholder 53">
            <a:extLst>
              <a:ext uri="{FF2B5EF4-FFF2-40B4-BE49-F238E27FC236}">
                <a16:creationId xmlns:a16="http://schemas.microsoft.com/office/drawing/2014/main" id="{229F8FEF-D64A-E949-8BEC-9CED0D3B1C8D}"/>
              </a:ext>
            </a:extLst>
          </p:cNvPr>
          <p:cNvSpPr>
            <a:spLocks noGrp="1"/>
          </p:cNvSpPr>
          <p:nvPr>
            <p:ph type="body" sz="quarter" idx="28" hasCustomPrompt="1"/>
          </p:nvPr>
        </p:nvSpPr>
        <p:spPr>
          <a:xfrm>
            <a:off x="4395239" y="1829373"/>
            <a:ext cx="3394780" cy="245444"/>
          </a:xfrm>
          <a:prstGeom prst="rect">
            <a:avLst/>
          </a:prstGeom>
        </p:spPr>
        <p:txBody>
          <a:bodyPr/>
          <a:lstStyle>
            <a:lvl1pPr marL="0" indent="0" algn="ctr">
              <a:buNone/>
              <a:defRPr lang="en-US" sz="1200" b="1" kern="1200" spc="200" dirty="0">
                <a:solidFill>
                  <a:schemeClr val="lt1"/>
                </a:solidFill>
                <a:latin typeface="+mj-lt"/>
                <a:ea typeface="+mn-ea"/>
                <a:cs typeface="+mn-cs"/>
              </a:defRPr>
            </a:lvl1pPr>
          </a:lstStyle>
          <a:p>
            <a:pPr lvl="0"/>
            <a:r>
              <a:rPr lang="en-US"/>
              <a:t>DESCRIPTION FEATURE 1</a:t>
            </a:r>
          </a:p>
        </p:txBody>
      </p:sp>
    </p:spTree>
    <p:extLst>
      <p:ext uri="{BB962C8B-B14F-4D97-AF65-F5344CB8AC3E}">
        <p14:creationId xmlns:p14="http://schemas.microsoft.com/office/powerpoint/2010/main" val="2951894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guide id="3" pos="384">
          <p15:clr>
            <a:srgbClr val="FBAE40"/>
          </p15:clr>
        </p15:guide>
        <p15:guide id="4" pos="7296">
          <p15:clr>
            <a:srgbClr val="FBAE40"/>
          </p15:clr>
        </p15:guide>
        <p15:guide id="5" orient="horz" pos="388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ThankYou">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874A9BF-097B-4C5E-BF90-EBB217728D36}"/>
              </a:ext>
            </a:extLst>
          </p:cNvPr>
          <p:cNvSpPr>
            <a:spLocks noGrp="1"/>
          </p:cNvSpPr>
          <p:nvPr>
            <p:ph type="pic" sz="quarter" idx="10"/>
          </p:nvPr>
        </p:nvSpPr>
        <p:spPr>
          <a:xfrm>
            <a:off x="6556251" y="-1"/>
            <a:ext cx="5632574" cy="6857999"/>
          </a:xfrm>
          <a:prstGeom prst="rect">
            <a:avLst/>
          </a:prstGeom>
        </p:spPr>
        <p:txBody>
          <a:bodyPr anchor="ctr">
            <a:normAutofit/>
          </a:bodyPr>
          <a:lstStyle>
            <a:lvl1pPr marL="0" indent="0" algn="ctr">
              <a:buNone/>
              <a:defRPr sz="1600"/>
            </a:lvl1pPr>
          </a:lstStyle>
          <a:p>
            <a:r>
              <a:rPr lang="en-US"/>
              <a:t>Click icon to add picture</a:t>
            </a:r>
          </a:p>
        </p:txBody>
      </p:sp>
      <p:sp>
        <p:nvSpPr>
          <p:cNvPr id="9" name="Oval 8">
            <a:extLst>
              <a:ext uri="{FF2B5EF4-FFF2-40B4-BE49-F238E27FC236}">
                <a16:creationId xmlns:a16="http://schemas.microsoft.com/office/drawing/2014/main" id="{FF9194EF-8CDD-40AA-B9C5-3F6B64E444C0}"/>
              </a:ext>
            </a:extLst>
          </p:cNvPr>
          <p:cNvSpPr>
            <a:spLocks noChangeAspect="1"/>
          </p:cNvSpPr>
          <p:nvPr userDrawn="1"/>
        </p:nvSpPr>
        <p:spPr>
          <a:xfrm>
            <a:off x="5892073" y="2764647"/>
            <a:ext cx="1328363" cy="1328709"/>
          </a:xfrm>
          <a:prstGeom prst="ellips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white"/>
              </a:solidFill>
              <a:effectLst/>
              <a:uLnTx/>
              <a:uFillTx/>
              <a:latin typeface="Arial"/>
              <a:ea typeface="+mn-ea"/>
              <a:cs typeface="+mn-cs"/>
            </a:endParaRPr>
          </a:p>
        </p:txBody>
      </p:sp>
      <p:pic>
        <p:nvPicPr>
          <p:cNvPr id="7" name="Picture 6">
            <a:extLst>
              <a:ext uri="{FF2B5EF4-FFF2-40B4-BE49-F238E27FC236}">
                <a16:creationId xmlns:a16="http://schemas.microsoft.com/office/drawing/2014/main" id="{157EAE80-3B37-1846-A52B-8E4D4E12692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44912" y="4670098"/>
            <a:ext cx="3451803" cy="1043189"/>
          </a:xfrm>
          <a:prstGeom prst="rect">
            <a:avLst/>
          </a:prstGeom>
        </p:spPr>
      </p:pic>
      <p:sp>
        <p:nvSpPr>
          <p:cNvPr id="11" name="TextBox 10">
            <a:extLst>
              <a:ext uri="{FF2B5EF4-FFF2-40B4-BE49-F238E27FC236}">
                <a16:creationId xmlns:a16="http://schemas.microsoft.com/office/drawing/2014/main" id="{49DEF9E3-90BC-2449-B42B-13AC7CAC1061}"/>
              </a:ext>
            </a:extLst>
          </p:cNvPr>
          <p:cNvSpPr txBox="1"/>
          <p:nvPr userDrawn="1"/>
        </p:nvSpPr>
        <p:spPr>
          <a:xfrm>
            <a:off x="842076" y="3002565"/>
            <a:ext cx="5210274" cy="852865"/>
          </a:xfrm>
          <a:prstGeom prst="rect">
            <a:avLst/>
          </a:prstGeom>
          <a:noFill/>
        </p:spPr>
        <p:txBody>
          <a:bodyPr wrap="square" lIns="0" tIns="0" rIns="0" bIns="0" rtlCol="0" anchor="ctr">
            <a:spAutoFit/>
          </a:bodyPr>
          <a:lstStyle/>
          <a:p>
            <a:pPr marL="0" marR="0" lvl="0" indent="0" algn="l" defTabSz="457200" rtl="0" eaLnBrk="1" fontAlgn="auto" latinLnBrk="0" hangingPunct="1">
              <a:lnSpc>
                <a:spcPct val="90000"/>
              </a:lnSpc>
              <a:spcBef>
                <a:spcPts val="0"/>
              </a:spcBef>
              <a:spcAft>
                <a:spcPts val="0"/>
              </a:spcAft>
              <a:buClrTx/>
              <a:buSzTx/>
              <a:buFontTx/>
              <a:buNone/>
              <a:tabLst/>
              <a:defRPr/>
            </a:pPr>
            <a:r>
              <a:rPr kumimoji="0" lang="en-US" sz="6000" b="0" i="0" u="none" strike="noStrike" kern="1200" cap="none" spc="0" normalizeH="0" baseline="0" noProof="0">
                <a:ln>
                  <a:noFill/>
                </a:ln>
                <a:solidFill>
                  <a:schemeClr val="tx1"/>
                </a:solidFill>
                <a:effectLst/>
                <a:uLnTx/>
                <a:uFillTx/>
                <a:latin typeface="Arial"/>
                <a:ea typeface="+mn-ea"/>
                <a:cs typeface="+mn-cs"/>
              </a:rPr>
              <a:t>THANK </a:t>
            </a:r>
            <a:r>
              <a:rPr kumimoji="0" lang="en-US" sz="6000" b="0" i="0" u="none" strike="noStrike" kern="1200" cap="none" spc="0" normalizeH="0" baseline="0" noProof="0">
                <a:ln>
                  <a:noFill/>
                </a:ln>
                <a:solidFill>
                  <a:schemeClr val="tx1"/>
                </a:solidFill>
                <a:effectLst/>
                <a:uLnTx/>
                <a:uFillTx/>
                <a:latin typeface="+mn-lt"/>
                <a:ea typeface="+mn-ea"/>
                <a:cs typeface="+mn-cs"/>
              </a:rPr>
              <a:t>YOU</a:t>
            </a:r>
          </a:p>
        </p:txBody>
      </p:sp>
    </p:spTree>
    <p:extLst>
      <p:ext uri="{BB962C8B-B14F-4D97-AF65-F5344CB8AC3E}">
        <p14:creationId xmlns:p14="http://schemas.microsoft.com/office/powerpoint/2010/main" val="2951009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Gener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8D2D8-6109-4C7B-9426-DE65046B0FA8}"/>
              </a:ext>
            </a:extLst>
          </p:cNvPr>
          <p:cNvSpPr>
            <a:spLocks noGrp="1"/>
          </p:cNvSpPr>
          <p:nvPr>
            <p:ph type="title" hasCustomPrompt="1"/>
          </p:nvPr>
        </p:nvSpPr>
        <p:spPr/>
        <p:txBody>
          <a:bodyPr/>
          <a:lstStyle>
            <a:lvl1pPr>
              <a:defRPr/>
            </a:lvl1pPr>
          </a:lstStyle>
          <a:p>
            <a:r>
              <a:rPr lang="en-US"/>
              <a:t>TITLE SLIDE</a:t>
            </a:r>
          </a:p>
        </p:txBody>
      </p:sp>
      <p:sp>
        <p:nvSpPr>
          <p:cNvPr id="4" name="Text Placeholder 3">
            <a:extLst>
              <a:ext uri="{FF2B5EF4-FFF2-40B4-BE49-F238E27FC236}">
                <a16:creationId xmlns:a16="http://schemas.microsoft.com/office/drawing/2014/main" id="{0116E789-9A8F-4532-B8F8-B275A433DC4B}"/>
              </a:ext>
            </a:extLst>
          </p:cNvPr>
          <p:cNvSpPr>
            <a:spLocks noGrp="1"/>
          </p:cNvSpPr>
          <p:nvPr>
            <p:ph type="body" sz="quarter" idx="10" hasCustomPrompt="1"/>
          </p:nvPr>
        </p:nvSpPr>
        <p:spPr>
          <a:xfrm>
            <a:off x="609443" y="1798776"/>
            <a:ext cx="5177328" cy="3763825"/>
          </a:xfrm>
          <a:prstGeom prst="rect">
            <a:avLst/>
          </a:prstGeom>
        </p:spPr>
        <p:txBody>
          <a:bodyPr lIns="0" tIns="0" rIns="0" bIns="0"/>
          <a:lstStyle>
            <a:lvl1pPr marL="0" indent="0">
              <a:lnSpc>
                <a:spcPct val="120000"/>
              </a:lnSpc>
              <a:buNone/>
              <a:defRPr sz="1200"/>
            </a:lvl1pPr>
            <a:lvl2pPr marL="457063" indent="0">
              <a:buNone/>
              <a:defRPr sz="1200"/>
            </a:lvl2pPr>
            <a:lvl3pPr marL="914126" indent="0">
              <a:buNone/>
              <a:defRPr sz="1200"/>
            </a:lvl3pPr>
            <a:lvl4pPr marL="1371189" indent="0">
              <a:buNone/>
              <a:defRPr sz="1200"/>
            </a:lvl4pPr>
            <a:lvl5pPr marL="1828251" indent="0">
              <a:buNone/>
              <a:defRPr sz="1200"/>
            </a:lvl5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sed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dolore </a:t>
            </a:r>
            <a:r>
              <a:rPr lang="en-US" err="1"/>
              <a:t>magnam</a:t>
            </a:r>
            <a:r>
              <a:rPr lang="en-US"/>
              <a:t> </a:t>
            </a:r>
            <a:r>
              <a:rPr lang="en-US" err="1"/>
              <a:t>aliquam</a:t>
            </a:r>
            <a:r>
              <a:rPr lang="en-US"/>
              <a:t> </a:t>
            </a:r>
            <a:r>
              <a:rPr lang="en-US" err="1"/>
              <a:t>quaerat</a:t>
            </a:r>
            <a:r>
              <a:rPr lang="en-US"/>
              <a:t> </a:t>
            </a:r>
            <a:r>
              <a:rPr lang="en-US" err="1"/>
              <a:t>voluptatem</a:t>
            </a:r>
            <a:r>
              <a:rPr lang="en-US"/>
              <a:t>. </a:t>
            </a:r>
          </a:p>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a:t>
            </a:r>
            <a:r>
              <a:rPr lang="en-US"/>
              <a:t>.</a:t>
            </a:r>
          </a:p>
          <a:p>
            <a:pPr lvl="0"/>
            <a:r>
              <a:rPr lang="en-US"/>
              <a:t>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a:t>
            </a:r>
          </a:p>
        </p:txBody>
      </p:sp>
      <p:sp>
        <p:nvSpPr>
          <p:cNvPr id="7" name="Text Placeholder 3">
            <a:extLst>
              <a:ext uri="{FF2B5EF4-FFF2-40B4-BE49-F238E27FC236}">
                <a16:creationId xmlns:a16="http://schemas.microsoft.com/office/drawing/2014/main" id="{9A2A1EBE-2635-407C-8A12-F705B2D89D68}"/>
              </a:ext>
            </a:extLst>
          </p:cNvPr>
          <p:cNvSpPr>
            <a:spLocks noGrp="1"/>
          </p:cNvSpPr>
          <p:nvPr>
            <p:ph type="body" sz="quarter" idx="11" hasCustomPrompt="1"/>
          </p:nvPr>
        </p:nvSpPr>
        <p:spPr>
          <a:xfrm>
            <a:off x="625312" y="1108786"/>
            <a:ext cx="10931852" cy="296863"/>
          </a:xfrm>
          <a:prstGeom prst="rect">
            <a:avLst/>
          </a:prstGeom>
          <a:noFill/>
        </p:spPr>
        <p:txBody>
          <a:bodyPr wrap="square" lIns="0" tIns="0" rIns="0" bIns="0" rtlCol="0" anchor="t">
            <a:noAutofit/>
          </a:bodyPr>
          <a:lstStyle>
            <a:lvl1pPr marL="0" indent="0">
              <a:buNone/>
              <a:defRPr lang="en-US" sz="1799" smtClean="0">
                <a:latin typeface="Knowledge Light" panose="020B0506040000020004" pitchFamily="34" charset="0"/>
              </a:defRPr>
            </a:lvl1pPr>
            <a:lvl2pPr>
              <a:defRPr lang="en-US" sz="1799" smtClean="0"/>
            </a:lvl2pPr>
            <a:lvl3pPr marL="685594" indent="0">
              <a:buNone/>
              <a:defRPr lang="en-US" sz="1799" smtClean="0"/>
            </a:lvl3pPr>
            <a:lvl4pPr>
              <a:defRPr lang="en-US" smtClean="0"/>
            </a:lvl4pPr>
            <a:lvl5pPr>
              <a:defRPr lang="en-US"/>
            </a:lvl5pPr>
          </a:lstStyle>
          <a:p>
            <a:pPr marL="0" lvl="0">
              <a:lnSpc>
                <a:spcPct val="120000"/>
              </a:lnSpc>
            </a:pPr>
            <a:r>
              <a:rPr lang="en-US"/>
              <a:t>Subtitle in sentence case</a:t>
            </a:r>
          </a:p>
        </p:txBody>
      </p:sp>
      <p:sp>
        <p:nvSpPr>
          <p:cNvPr id="9" name="Text Placeholder 3">
            <a:extLst>
              <a:ext uri="{FF2B5EF4-FFF2-40B4-BE49-F238E27FC236}">
                <a16:creationId xmlns:a16="http://schemas.microsoft.com/office/drawing/2014/main" id="{9AE149DD-A526-4E23-982F-8FBA2E7BE47B}"/>
              </a:ext>
            </a:extLst>
          </p:cNvPr>
          <p:cNvSpPr>
            <a:spLocks noGrp="1"/>
          </p:cNvSpPr>
          <p:nvPr>
            <p:ph type="body" sz="quarter" idx="12" hasCustomPrompt="1"/>
          </p:nvPr>
        </p:nvSpPr>
        <p:spPr>
          <a:xfrm>
            <a:off x="6379837" y="1798774"/>
            <a:ext cx="5177328" cy="3763825"/>
          </a:xfrm>
          <a:prstGeom prst="rect">
            <a:avLst/>
          </a:prstGeom>
        </p:spPr>
        <p:txBody>
          <a:bodyPr lIns="0" tIns="0" rIns="0" bIns="0"/>
          <a:lstStyle>
            <a:lvl1pPr marL="0" indent="0">
              <a:lnSpc>
                <a:spcPct val="120000"/>
              </a:lnSpc>
              <a:buNone/>
              <a:defRPr sz="1200"/>
            </a:lvl1pPr>
            <a:lvl2pPr marL="457063" indent="0">
              <a:buNone/>
              <a:defRPr sz="1200"/>
            </a:lvl2pPr>
            <a:lvl3pPr marL="914126" indent="0">
              <a:buNone/>
              <a:defRPr sz="1200"/>
            </a:lvl3pPr>
            <a:lvl4pPr marL="1371189" indent="0">
              <a:buNone/>
              <a:defRPr sz="1200"/>
            </a:lvl4pPr>
            <a:lvl5pPr marL="1828251" indent="0">
              <a:buNone/>
              <a:defRPr sz="1200"/>
            </a:lvl5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 </a:t>
            </a:r>
            <a:r>
              <a:rPr lang="en-US" err="1"/>
              <a:t>sequi</a:t>
            </a:r>
            <a:r>
              <a:rPr lang="en-US"/>
              <a:t> </a:t>
            </a:r>
            <a:r>
              <a:rPr lang="en-US" err="1"/>
              <a:t>nesciunt</a:t>
            </a:r>
            <a:r>
              <a:rPr lang="en-US"/>
              <a:t>. </a:t>
            </a:r>
            <a:r>
              <a:rPr lang="en-US" err="1"/>
              <a:t>Neque</a:t>
            </a:r>
            <a:r>
              <a:rPr lang="en-US"/>
              <a:t> </a:t>
            </a:r>
            <a:r>
              <a:rPr lang="en-US" err="1"/>
              <a:t>porro</a:t>
            </a:r>
            <a:r>
              <a:rPr lang="en-US"/>
              <a:t> </a:t>
            </a:r>
            <a:r>
              <a:rPr lang="en-US" err="1"/>
              <a:t>quisquam</a:t>
            </a:r>
            <a:r>
              <a:rPr lang="en-US"/>
              <a:t> </a:t>
            </a:r>
            <a:r>
              <a:rPr lang="en-US" err="1"/>
              <a:t>est</a:t>
            </a:r>
            <a:r>
              <a:rPr lang="en-US"/>
              <a:t>, qui </a:t>
            </a:r>
            <a:r>
              <a:rPr lang="en-US" err="1"/>
              <a:t>dolorem</a:t>
            </a:r>
            <a:r>
              <a:rPr lang="en-US"/>
              <a:t> ipsum </a:t>
            </a:r>
            <a:r>
              <a:rPr lang="en-US" err="1"/>
              <a:t>quia</a:t>
            </a:r>
            <a:r>
              <a:rPr lang="en-US"/>
              <a:t> dolor sit </a:t>
            </a:r>
            <a:r>
              <a:rPr lang="en-US" err="1"/>
              <a:t>amet</a:t>
            </a:r>
            <a:r>
              <a:rPr lang="en-US"/>
              <a:t>, </a:t>
            </a:r>
            <a:r>
              <a:rPr lang="en-US" err="1"/>
              <a:t>consectetur</a:t>
            </a:r>
            <a:r>
              <a:rPr lang="en-US"/>
              <a:t>, </a:t>
            </a:r>
            <a:r>
              <a:rPr lang="en-US" err="1"/>
              <a:t>adipisci</a:t>
            </a:r>
            <a:r>
              <a:rPr lang="en-US"/>
              <a:t> </a:t>
            </a:r>
            <a:r>
              <a:rPr lang="en-US" err="1"/>
              <a:t>velit</a:t>
            </a:r>
            <a:r>
              <a:rPr lang="en-US"/>
              <a:t>, sed </a:t>
            </a:r>
            <a:r>
              <a:rPr lang="en-US" err="1"/>
              <a:t>quia</a:t>
            </a:r>
            <a:r>
              <a:rPr lang="en-US"/>
              <a:t> non </a:t>
            </a:r>
            <a:r>
              <a:rPr lang="en-US" err="1"/>
              <a:t>numquam</a:t>
            </a:r>
            <a:r>
              <a:rPr lang="en-US"/>
              <a:t> </a:t>
            </a:r>
            <a:r>
              <a:rPr lang="en-US" err="1"/>
              <a:t>eius</a:t>
            </a:r>
            <a:r>
              <a:rPr lang="en-US"/>
              <a:t> </a:t>
            </a:r>
            <a:r>
              <a:rPr lang="en-US" err="1"/>
              <a:t>modi</a:t>
            </a:r>
            <a:r>
              <a:rPr lang="en-US"/>
              <a:t> </a:t>
            </a:r>
            <a:r>
              <a:rPr lang="en-US" err="1"/>
              <a:t>tempora</a:t>
            </a:r>
            <a:r>
              <a:rPr lang="en-US"/>
              <a:t> </a:t>
            </a:r>
            <a:r>
              <a:rPr lang="en-US" err="1"/>
              <a:t>incidunt</a:t>
            </a:r>
            <a:r>
              <a:rPr lang="en-US"/>
              <a:t> </a:t>
            </a:r>
            <a:r>
              <a:rPr lang="en-US" err="1"/>
              <a:t>ut</a:t>
            </a:r>
            <a:r>
              <a:rPr lang="en-US"/>
              <a:t> </a:t>
            </a:r>
            <a:r>
              <a:rPr lang="en-US" err="1"/>
              <a:t>labore</a:t>
            </a:r>
            <a:r>
              <a:rPr lang="en-US"/>
              <a:t> et dolore </a:t>
            </a:r>
            <a:r>
              <a:rPr lang="en-US" err="1"/>
              <a:t>magnam</a:t>
            </a:r>
            <a:r>
              <a:rPr lang="en-US"/>
              <a:t> </a:t>
            </a:r>
            <a:r>
              <a:rPr lang="en-US" err="1"/>
              <a:t>aliquam</a:t>
            </a:r>
            <a:r>
              <a:rPr lang="en-US"/>
              <a:t> </a:t>
            </a:r>
            <a:r>
              <a:rPr lang="en-US" err="1"/>
              <a:t>quaerat</a:t>
            </a:r>
            <a:r>
              <a:rPr lang="en-US"/>
              <a:t> </a:t>
            </a:r>
            <a:r>
              <a:rPr lang="en-US" err="1"/>
              <a:t>voluptatem</a:t>
            </a:r>
            <a:r>
              <a:rPr lang="en-US"/>
              <a:t>. </a:t>
            </a:r>
          </a:p>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a:t>
            </a:r>
            <a:r>
              <a:rPr lang="en-US" err="1"/>
              <a:t>beatae</a:t>
            </a:r>
            <a:r>
              <a:rPr lang="en-US"/>
              <a:t>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a:t>
            </a:r>
            <a:r>
              <a:rPr lang="en-US"/>
              <a:t>.</a:t>
            </a:r>
          </a:p>
          <a:p>
            <a:pPr lvl="0"/>
            <a:r>
              <a:rPr lang="en-US"/>
              <a:t>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 sed </a:t>
            </a:r>
            <a:r>
              <a:rPr lang="en-US" err="1"/>
              <a:t>quia</a:t>
            </a:r>
            <a:r>
              <a:rPr lang="en-US"/>
              <a:t> </a:t>
            </a:r>
            <a:r>
              <a:rPr lang="en-US" err="1"/>
              <a:t>consequuntur</a:t>
            </a:r>
            <a:r>
              <a:rPr lang="en-US"/>
              <a:t> </a:t>
            </a:r>
            <a:r>
              <a:rPr lang="en-US" err="1"/>
              <a:t>magni</a:t>
            </a:r>
            <a:r>
              <a:rPr lang="en-US"/>
              <a:t> </a:t>
            </a:r>
            <a:r>
              <a:rPr lang="en-US" err="1"/>
              <a:t>dolores</a:t>
            </a:r>
            <a:r>
              <a:rPr lang="en-US"/>
              <a:t> </a:t>
            </a:r>
            <a:r>
              <a:rPr lang="en-US" err="1"/>
              <a:t>eos</a:t>
            </a:r>
            <a:r>
              <a:rPr lang="en-US"/>
              <a:t> qui </a:t>
            </a:r>
            <a:r>
              <a:rPr lang="en-US" err="1"/>
              <a:t>ratione</a:t>
            </a:r>
            <a:r>
              <a:rPr lang="en-US"/>
              <a:t> </a:t>
            </a:r>
            <a:r>
              <a:rPr lang="en-US" err="1"/>
              <a:t>voluptatem</a:t>
            </a:r>
            <a:r>
              <a:rPr lang="en-US"/>
              <a:t>.</a:t>
            </a:r>
          </a:p>
        </p:txBody>
      </p:sp>
    </p:spTree>
    <p:extLst>
      <p:ext uri="{BB962C8B-B14F-4D97-AF65-F5344CB8AC3E}">
        <p14:creationId xmlns:p14="http://schemas.microsoft.com/office/powerpoint/2010/main" val="3220327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Shape&#10;&#10;Description automatically generated with low confidence">
            <a:extLst>
              <a:ext uri="{FF2B5EF4-FFF2-40B4-BE49-F238E27FC236}">
                <a16:creationId xmlns:a16="http://schemas.microsoft.com/office/drawing/2014/main" id="{A9BE5019-92F9-674E-A29C-8930D1DE4A86}"/>
              </a:ext>
            </a:extLst>
          </p:cNvPr>
          <p:cNvPicPr>
            <a:picLocks noChangeAspect="1"/>
          </p:cNvPicPr>
          <p:nvPr userDrawn="1"/>
        </p:nvPicPr>
        <p:blipFill rotWithShape="1">
          <a:blip r:embed="rId38"/>
          <a:srcRect b="90233"/>
          <a:stretch/>
        </p:blipFill>
        <p:spPr>
          <a:xfrm>
            <a:off x="0" y="893"/>
            <a:ext cx="12188825" cy="767684"/>
          </a:xfrm>
          <a:prstGeom prst="rect">
            <a:avLst/>
          </a:prstGeom>
        </p:spPr>
      </p:pic>
      <p:sp>
        <p:nvSpPr>
          <p:cNvPr id="5" name="Footer Placeholder 4"/>
          <p:cNvSpPr>
            <a:spLocks noGrp="1"/>
          </p:cNvSpPr>
          <p:nvPr>
            <p:ph type="ftr" sz="quarter" idx="3"/>
          </p:nvPr>
        </p:nvSpPr>
        <p:spPr>
          <a:xfrm>
            <a:off x="771525" y="6553201"/>
            <a:ext cx="5321300" cy="304799"/>
          </a:xfrm>
          <a:prstGeom prst="rect">
            <a:avLst/>
          </a:prstGeom>
        </p:spPr>
        <p:txBody>
          <a:bodyPr vert="horz" lIns="0" tIns="0" rIns="0" bIns="0" rtlCol="0" anchor="t" anchorCtr="0"/>
          <a:lstStyle>
            <a:lvl1pPr algn="l">
              <a:defRPr sz="1000">
                <a:solidFill>
                  <a:srgbClr val="AFAFAF"/>
                </a:solidFill>
              </a:defRPr>
            </a:lvl1pPr>
          </a:lstStyle>
          <a:p>
            <a:r>
              <a:rPr lang="en-US"/>
              <a:t>Edit presentation title on Slide Master using Insert &gt; Header &amp; Footer</a:t>
            </a:r>
            <a:endParaRPr lang="en-US" dirty="0"/>
          </a:p>
        </p:txBody>
      </p:sp>
      <p:sp>
        <p:nvSpPr>
          <p:cNvPr id="6" name="Slide Number Placeholder 5"/>
          <p:cNvSpPr>
            <a:spLocks noGrp="1"/>
          </p:cNvSpPr>
          <p:nvPr>
            <p:ph type="sldNum" sz="quarter" idx="4"/>
          </p:nvPr>
        </p:nvSpPr>
        <p:spPr>
          <a:xfrm>
            <a:off x="373063" y="6553201"/>
            <a:ext cx="386695" cy="304800"/>
          </a:xfrm>
          <a:prstGeom prst="rect">
            <a:avLst/>
          </a:prstGeom>
        </p:spPr>
        <p:txBody>
          <a:bodyPr vert="horz" lIns="0" tIns="0" rIns="0" bIns="0" rtlCol="0" anchor="t" anchorCtr="0"/>
          <a:lstStyle>
            <a:lvl1pPr algn="l">
              <a:defRPr sz="1000">
                <a:solidFill>
                  <a:srgbClr val="AFAFAF"/>
                </a:solidFill>
              </a:defRPr>
            </a:lvl1pPr>
          </a:lstStyle>
          <a:p>
            <a:fld id="{0A655226-6E4F-8847-85CD-AF95F3D3F39A}" type="slidenum">
              <a:rPr lang="en-US" smtClean="0"/>
              <a:pPr/>
              <a:t>‹#›</a:t>
            </a:fld>
            <a:endParaRPr lang="en-US" dirty="0"/>
          </a:p>
        </p:txBody>
      </p:sp>
      <p:sp>
        <p:nvSpPr>
          <p:cNvPr id="3" name="Text Placeholder 2"/>
          <p:cNvSpPr>
            <a:spLocks noGrp="1"/>
          </p:cNvSpPr>
          <p:nvPr>
            <p:ph type="body" idx="1"/>
          </p:nvPr>
        </p:nvSpPr>
        <p:spPr>
          <a:xfrm>
            <a:off x="373063" y="1054849"/>
            <a:ext cx="10287000" cy="5212080"/>
          </a:xfrm>
          <a:prstGeom prst="rect">
            <a:avLst/>
          </a:prstGeom>
        </p:spPr>
        <p:txBody>
          <a:bodyPr vert="horz" lIns="0" tIns="0" rIns="0" bIns="0" rtlCol="0">
            <a:normAutofit/>
          </a:bodyPr>
          <a:lstStyle/>
          <a:p>
            <a:pPr lvl="0"/>
            <a:r>
              <a:rPr lang="en-US" dirty="0"/>
              <a:t>Click to edit Master text styles </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p:txBody>
      </p:sp>
      <p:sp>
        <p:nvSpPr>
          <p:cNvPr id="2" name="Title Placeholder 1"/>
          <p:cNvSpPr>
            <a:spLocks noGrp="1"/>
          </p:cNvSpPr>
          <p:nvPr>
            <p:ph type="title"/>
          </p:nvPr>
        </p:nvSpPr>
        <p:spPr>
          <a:xfrm>
            <a:off x="373063" y="288088"/>
            <a:ext cx="11445875" cy="428678"/>
          </a:xfrm>
          <a:prstGeom prst="rect">
            <a:avLst/>
          </a:prstGeom>
        </p:spPr>
        <p:txBody>
          <a:bodyPr vert="horz" lIns="0" tIns="0" rIns="0" bIns="0" rtlCol="0" anchor="t">
            <a:noAutofit/>
          </a:bodyPr>
          <a:lstStyle/>
          <a:p>
            <a:r>
              <a:rPr lang="en-US" dirty="0"/>
              <a:t>Click to edit Master title style</a:t>
            </a:r>
          </a:p>
        </p:txBody>
      </p:sp>
      <p:pic>
        <p:nvPicPr>
          <p:cNvPr id="8" name="Picture 7">
            <a:extLst>
              <a:ext uri="{FF2B5EF4-FFF2-40B4-BE49-F238E27FC236}">
                <a16:creationId xmlns:a16="http://schemas.microsoft.com/office/drawing/2014/main" id="{31CE2A62-49AC-1F47-85A1-448D461086BB}"/>
              </a:ext>
              <a:ext uri="{C183D7F6-B498-43B3-948B-1728B52AA6E4}">
                <adec:decorative xmlns:adec="http://schemas.microsoft.com/office/drawing/2017/decorative" val="1"/>
              </a:ext>
            </a:extLst>
          </p:cNvPr>
          <p:cNvPicPr>
            <a:picLocks noChangeAspect="1"/>
          </p:cNvPicPr>
          <p:nvPr/>
        </p:nvPicPr>
        <p:blipFill>
          <a:blip r:embed="rId39"/>
          <a:stretch>
            <a:fillRect/>
          </a:stretch>
        </p:blipFill>
        <p:spPr>
          <a:xfrm>
            <a:off x="10226687" y="6314036"/>
            <a:ext cx="1787525" cy="540218"/>
          </a:xfrm>
          <a:prstGeom prst="rect">
            <a:avLst/>
          </a:prstGeom>
        </p:spPr>
      </p:pic>
    </p:spTree>
    <p:extLst>
      <p:ext uri="{BB962C8B-B14F-4D97-AF65-F5344CB8AC3E}">
        <p14:creationId xmlns:p14="http://schemas.microsoft.com/office/powerpoint/2010/main" val="3385896843"/>
      </p:ext>
    </p:extLst>
  </p:cSld>
  <p:clrMap bg1="lt1" tx1="dk1" bg2="lt2" tx2="dk2" accent1="accent1" accent2="accent2" accent3="accent3" accent4="accent4" accent5="accent5" accent6="accent6" hlink="hlink" folHlink="folHlink"/>
  <p:sldLayoutIdLst>
    <p:sldLayoutId id="2147483936" r:id="rId1"/>
    <p:sldLayoutId id="2147483956" r:id="rId2"/>
    <p:sldLayoutId id="2147483970" r:id="rId3"/>
    <p:sldLayoutId id="2147483972" r:id="rId4"/>
    <p:sldLayoutId id="2147483971" r:id="rId5"/>
    <p:sldLayoutId id="2147483973" r:id="rId6"/>
    <p:sldLayoutId id="2147483974" r:id="rId7"/>
    <p:sldLayoutId id="2147483963" r:id="rId8"/>
    <p:sldLayoutId id="2147483938" r:id="rId9"/>
    <p:sldLayoutId id="2147483962" r:id="rId10"/>
    <p:sldLayoutId id="2147483939" r:id="rId11"/>
    <p:sldLayoutId id="2147483968" r:id="rId12"/>
    <p:sldLayoutId id="2147483957" r:id="rId13"/>
    <p:sldLayoutId id="2147483958" r:id="rId14"/>
    <p:sldLayoutId id="2147483940" r:id="rId15"/>
    <p:sldLayoutId id="2147483941" r:id="rId16"/>
    <p:sldLayoutId id="2147483944" r:id="rId17"/>
    <p:sldLayoutId id="2147483943" r:id="rId18"/>
    <p:sldLayoutId id="2147483945" r:id="rId19"/>
    <p:sldLayoutId id="2147483960" r:id="rId20"/>
    <p:sldLayoutId id="2147483961" r:id="rId21"/>
    <p:sldLayoutId id="2147483948" r:id="rId22"/>
    <p:sldLayoutId id="2147483949" r:id="rId23"/>
    <p:sldLayoutId id="2147483950" r:id="rId24"/>
    <p:sldLayoutId id="2147483951" r:id="rId25"/>
    <p:sldLayoutId id="2147483952" r:id="rId26"/>
    <p:sldLayoutId id="2147483953" r:id="rId27"/>
    <p:sldLayoutId id="2147483954" r:id="rId28"/>
    <p:sldLayoutId id="2147483955" r:id="rId29"/>
    <p:sldLayoutId id="2147483964" r:id="rId30"/>
    <p:sldLayoutId id="2147483965" r:id="rId31"/>
    <p:sldLayoutId id="2147483966" r:id="rId32"/>
    <p:sldLayoutId id="2147483969" r:id="rId33"/>
    <p:sldLayoutId id="2147483976" r:id="rId34"/>
    <p:sldLayoutId id="2147483977" r:id="rId35"/>
    <p:sldLayoutId id="2147483978" r:id="rId36"/>
  </p:sldLayoutIdLst>
  <p:hf hdr="0" ftr="0" dt="0"/>
  <p:txStyles>
    <p:titleStyle>
      <a:lvl1pPr algn="l" defTabSz="457200" rtl="0" eaLnBrk="1" latinLnBrk="0" hangingPunct="1">
        <a:lnSpc>
          <a:spcPct val="100000"/>
        </a:lnSpc>
        <a:spcBef>
          <a:spcPct val="0"/>
        </a:spcBef>
        <a:buNone/>
        <a:defRPr sz="2000" b="1" kern="1200">
          <a:solidFill>
            <a:schemeClr val="bg1"/>
          </a:solidFill>
          <a:latin typeface="+mj-lt"/>
          <a:ea typeface="+mj-ea"/>
          <a:cs typeface="+mj-cs"/>
        </a:defRPr>
      </a:lvl1pPr>
    </p:titleStyle>
    <p:body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orient="horz" pos="3888">
          <p15:clr>
            <a:srgbClr val="5ACBF0"/>
          </p15:clr>
        </p15:guide>
        <p15:guide id="18" orient="horz" pos="228">
          <p15:clr>
            <a:srgbClr val="5ACBF0"/>
          </p15:clr>
        </p15:guide>
        <p15:guide id="19" orient="horz" pos="707">
          <p15:clr>
            <a:srgbClr val="5ACBF0"/>
          </p15:clr>
        </p15:guide>
        <p15:guide id="20" pos="7445">
          <p15:clr>
            <a:srgbClr val="5ACBF0"/>
          </p15:clr>
        </p15:guide>
        <p15:guide id="21" pos="233">
          <p15:clr>
            <a:srgbClr val="5ACBF0"/>
          </p15:clr>
        </p15:guide>
        <p15:guide id="22" pos="6718">
          <p15:clr>
            <a:srgbClr val="5ACBF0"/>
          </p15:clr>
        </p15:guide>
        <p15:guide id="23" orient="horz" pos="4206">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emf"/><Relationship Id="rId2" Type="http://schemas.openxmlformats.org/officeDocument/2006/relationships/notesSlide" Target="../notesSlides/notesSlide3.xml"/><Relationship Id="rId1" Type="http://schemas.openxmlformats.org/officeDocument/2006/relationships/slideLayout" Target="../slideLayouts/slideLayout3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jpeg"/><Relationship Id="rId7" Type="http://schemas.openxmlformats.org/officeDocument/2006/relationships/image" Target="../media/image35.emf"/><Relationship Id="rId2" Type="http://schemas.openxmlformats.org/officeDocument/2006/relationships/notesSlide" Target="../notesSlides/notesSlide4.xml"/><Relationship Id="rId1" Type="http://schemas.openxmlformats.org/officeDocument/2006/relationships/slideLayout" Target="../slideLayouts/slideLayout3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8.jpeg"/><Relationship Id="rId7" Type="http://schemas.openxmlformats.org/officeDocument/2006/relationships/image" Target="../media/image39.emf"/><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41.emf"/></Relationships>
</file>

<file path=ppt/slides/_rels/slide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7.xml"/><Relationship Id="rId1" Type="http://schemas.openxmlformats.org/officeDocument/2006/relationships/slideLayout" Target="../slideLayouts/slideLayout33.xml"/><Relationship Id="rId4" Type="http://schemas.openxmlformats.org/officeDocument/2006/relationships/image" Target="../media/image39.emf"/></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33.xml"/><Relationship Id="rId4" Type="http://schemas.openxmlformats.org/officeDocument/2006/relationships/image" Target="../media/image39.emf"/></Relationships>
</file>

<file path=ppt/slides/_rels/slide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9.xml"/><Relationship Id="rId1" Type="http://schemas.openxmlformats.org/officeDocument/2006/relationships/slideLayout" Target="../slideLayouts/slideLayout33.xml"/><Relationship Id="rId5" Type="http://schemas.openxmlformats.org/officeDocument/2006/relationships/image" Target="../media/image38.jpeg"/><Relationship Id="rId4" Type="http://schemas.openxmlformats.org/officeDocument/2006/relationships/image" Target="../media/image43.emf"/></Relationships>
</file>

<file path=ppt/slides/_rels/slide1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0.xml"/><Relationship Id="rId1" Type="http://schemas.openxmlformats.org/officeDocument/2006/relationships/slideLayout" Target="../slideLayouts/slideLayout33.xml"/><Relationship Id="rId5" Type="http://schemas.openxmlformats.org/officeDocument/2006/relationships/image" Target="../media/image38.jpeg"/><Relationship Id="rId4" Type="http://schemas.openxmlformats.org/officeDocument/2006/relationships/image" Target="../media/image43.emf"/></Relationships>
</file>

<file path=ppt/slides/_rels/slide11.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4.jp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33.xml"/><Relationship Id="rId6" Type="http://schemas.openxmlformats.org/officeDocument/2006/relationships/image" Target="../media/image27.png"/><Relationship Id="rId11" Type="http://schemas.openxmlformats.org/officeDocument/2006/relationships/image" Target="../media/image51.png"/><Relationship Id="rId5" Type="http://schemas.openxmlformats.org/officeDocument/2006/relationships/image" Target="../media/image46.png"/><Relationship Id="rId10" Type="http://schemas.openxmlformats.org/officeDocument/2006/relationships/image" Target="../media/image50.png"/><Relationship Id="rId4" Type="http://schemas.openxmlformats.org/officeDocument/2006/relationships/image" Target="../media/image45.png"/><Relationship Id="rId9" Type="http://schemas.openxmlformats.org/officeDocument/2006/relationships/image" Target="../media/image49.pn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g"/><Relationship Id="rId1" Type="http://schemas.openxmlformats.org/officeDocument/2006/relationships/slideLayout" Target="../slideLayouts/slideLayout33.xml"/><Relationship Id="rId4" Type="http://schemas.openxmlformats.org/officeDocument/2006/relationships/image" Target="../media/image56.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33.xml"/><Relationship Id="rId6" Type="http://schemas.openxmlformats.org/officeDocument/2006/relationships/image" Target="../media/image47.png"/><Relationship Id="rId5" Type="http://schemas.openxmlformats.org/officeDocument/2006/relationships/image" Target="../media/image27.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2.xml"/><Relationship Id="rId1" Type="http://schemas.openxmlformats.org/officeDocument/2006/relationships/slideLayout" Target="../slideLayouts/slideLayout3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48.png"/></Relationships>
</file>

<file path=ppt/slides/_rels/slide25.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69.png"/><Relationship Id="rId18" Type="http://schemas.openxmlformats.org/officeDocument/2006/relationships/image" Target="../media/image74.jpeg"/><Relationship Id="rId26" Type="http://schemas.openxmlformats.org/officeDocument/2006/relationships/image" Target="../media/image82.png"/><Relationship Id="rId3" Type="http://schemas.openxmlformats.org/officeDocument/2006/relationships/image" Target="../media/image60.png"/><Relationship Id="rId21" Type="http://schemas.openxmlformats.org/officeDocument/2006/relationships/image" Target="../media/image77.png"/><Relationship Id="rId7" Type="http://schemas.openxmlformats.org/officeDocument/2006/relationships/image" Target="../media/image64.png"/><Relationship Id="rId12" Type="http://schemas.openxmlformats.org/officeDocument/2006/relationships/image" Target="../media/image68.jpeg"/><Relationship Id="rId17" Type="http://schemas.openxmlformats.org/officeDocument/2006/relationships/image" Target="../media/image73.jpeg"/><Relationship Id="rId25" Type="http://schemas.openxmlformats.org/officeDocument/2006/relationships/image" Target="../media/image81.png"/><Relationship Id="rId2" Type="http://schemas.openxmlformats.org/officeDocument/2006/relationships/image" Target="../media/image59.png"/><Relationship Id="rId16" Type="http://schemas.openxmlformats.org/officeDocument/2006/relationships/image" Target="../media/image72.png"/><Relationship Id="rId20" Type="http://schemas.openxmlformats.org/officeDocument/2006/relationships/image" Target="../media/image76.png"/><Relationship Id="rId29" Type="http://schemas.openxmlformats.org/officeDocument/2006/relationships/image" Target="../media/image85.png"/><Relationship Id="rId1" Type="http://schemas.openxmlformats.org/officeDocument/2006/relationships/slideLayout" Target="../slideLayouts/slideLayout33.xml"/><Relationship Id="rId6" Type="http://schemas.openxmlformats.org/officeDocument/2006/relationships/image" Target="../media/image63.png"/><Relationship Id="rId11" Type="http://schemas.openxmlformats.org/officeDocument/2006/relationships/image" Target="../media/image67.jpeg"/><Relationship Id="rId24" Type="http://schemas.openxmlformats.org/officeDocument/2006/relationships/image" Target="../media/image80.png"/><Relationship Id="rId5" Type="http://schemas.openxmlformats.org/officeDocument/2006/relationships/image" Target="../media/image62.png"/><Relationship Id="rId15" Type="http://schemas.openxmlformats.org/officeDocument/2006/relationships/image" Target="../media/image71.png"/><Relationship Id="rId23" Type="http://schemas.openxmlformats.org/officeDocument/2006/relationships/image" Target="../media/image79.png"/><Relationship Id="rId28" Type="http://schemas.openxmlformats.org/officeDocument/2006/relationships/image" Target="../media/image84.png"/><Relationship Id="rId10" Type="http://schemas.openxmlformats.org/officeDocument/2006/relationships/image" Target="../media/image66.png"/><Relationship Id="rId19" Type="http://schemas.openxmlformats.org/officeDocument/2006/relationships/image" Target="../media/image75.jpeg"/><Relationship Id="rId31" Type="http://schemas.openxmlformats.org/officeDocument/2006/relationships/image" Target="../media/image87.png"/><Relationship Id="rId4" Type="http://schemas.openxmlformats.org/officeDocument/2006/relationships/image" Target="../media/image61.png"/><Relationship Id="rId9" Type="http://schemas.openxmlformats.org/officeDocument/2006/relationships/image" Target="../media/image65.png"/><Relationship Id="rId14" Type="http://schemas.openxmlformats.org/officeDocument/2006/relationships/image" Target="../media/image70.png"/><Relationship Id="rId22" Type="http://schemas.openxmlformats.org/officeDocument/2006/relationships/image" Target="../media/image78.png"/><Relationship Id="rId27" Type="http://schemas.openxmlformats.org/officeDocument/2006/relationships/image" Target="../media/image83.png"/><Relationship Id="rId30" Type="http://schemas.openxmlformats.org/officeDocument/2006/relationships/image" Target="../media/image86.png"/></Relationships>
</file>

<file path=ppt/slides/_rels/slide2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89.jpg"/><Relationship Id="rId7"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33.xml"/><Relationship Id="rId6" Type="http://schemas.openxmlformats.org/officeDocument/2006/relationships/image" Target="../media/image46.png"/><Relationship Id="rId11" Type="http://schemas.openxmlformats.org/officeDocument/2006/relationships/image" Target="../media/image50.png"/><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51.png"/><Relationship Id="rId9"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0384C24-CF74-4E57-AE70-3CC64D140589}"/>
              </a:ext>
            </a:extLst>
          </p:cNvPr>
          <p:cNvSpPr>
            <a:spLocks noGrp="1"/>
          </p:cNvSpPr>
          <p:nvPr>
            <p:ph type="ctrTitle"/>
          </p:nvPr>
        </p:nvSpPr>
        <p:spPr>
          <a:xfrm>
            <a:off x="399865" y="2279466"/>
            <a:ext cx="4926878" cy="1743075"/>
          </a:xfrm>
        </p:spPr>
        <p:txBody>
          <a:bodyPr/>
          <a:lstStyle/>
          <a:p>
            <a:r>
              <a:rPr lang="en-US" dirty="0"/>
              <a:t>Thomson Reuters</a:t>
            </a:r>
            <a:br>
              <a:rPr lang="en-US" dirty="0"/>
            </a:br>
            <a:r>
              <a:rPr lang="en-US" sz="7200" dirty="0">
                <a:solidFill>
                  <a:schemeClr val="tx2"/>
                </a:solidFill>
              </a:rPr>
              <a:t>HighQ</a:t>
            </a:r>
            <a:r>
              <a:rPr lang="en-US" dirty="0"/>
              <a:t> </a:t>
            </a:r>
            <a:br>
              <a:rPr lang="en-US" dirty="0"/>
            </a:br>
            <a:endParaRPr lang="en-US" dirty="0"/>
          </a:p>
        </p:txBody>
      </p:sp>
      <p:sp>
        <p:nvSpPr>
          <p:cNvPr id="3" name="Title 3">
            <a:extLst>
              <a:ext uri="{FF2B5EF4-FFF2-40B4-BE49-F238E27FC236}">
                <a16:creationId xmlns:a16="http://schemas.microsoft.com/office/drawing/2014/main" id="{3355E1A6-3582-214E-9125-B34748D1A98E}"/>
              </a:ext>
            </a:extLst>
          </p:cNvPr>
          <p:cNvSpPr txBox="1">
            <a:spLocks/>
          </p:cNvSpPr>
          <p:nvPr/>
        </p:nvSpPr>
        <p:spPr>
          <a:xfrm>
            <a:off x="457981" y="5002976"/>
            <a:ext cx="3374548" cy="650401"/>
          </a:xfrm>
          <a:prstGeom prst="rect">
            <a:avLst/>
          </a:prstGeom>
        </p:spPr>
        <p:txBody>
          <a:bodyPr vert="horz" lIns="0" tIns="0" rIns="0" bIns="0" rtlCol="0" anchor="t">
            <a:noAutofit/>
          </a:bodyPr>
          <a:lstStyle>
            <a:lvl1pPr algn="l" defTabSz="457200" rtl="0" eaLnBrk="1" latinLnBrk="0" hangingPunct="1">
              <a:lnSpc>
                <a:spcPct val="100000"/>
              </a:lnSpc>
              <a:spcBef>
                <a:spcPct val="0"/>
              </a:spcBef>
              <a:buNone/>
              <a:defRPr sz="3400" b="1" kern="1200" baseline="0">
                <a:solidFill>
                  <a:schemeClr val="bg2">
                    <a:lumMod val="25000"/>
                  </a:schemeClr>
                </a:solidFill>
                <a:latin typeface="+mj-lt"/>
                <a:ea typeface="+mj-ea"/>
                <a:cs typeface="+mj-cs"/>
              </a:defRPr>
            </a:lvl1pPr>
          </a:lstStyle>
          <a:p>
            <a:pPr>
              <a:spcAft>
                <a:spcPts val="300"/>
              </a:spcAft>
            </a:pPr>
            <a:r>
              <a:rPr lang="en-US" sz="1600" b="0" dirty="0">
                <a:solidFill>
                  <a:schemeClr val="tx1"/>
                </a:solidFill>
              </a:rPr>
              <a:t>Presenter Name</a:t>
            </a:r>
          </a:p>
          <a:p>
            <a:pPr>
              <a:spcAft>
                <a:spcPts val="300"/>
              </a:spcAft>
            </a:pPr>
            <a:r>
              <a:rPr lang="en-US" sz="1600" b="0" dirty="0">
                <a:solidFill>
                  <a:schemeClr val="tx1"/>
                </a:solidFill>
              </a:rPr>
              <a:t>Presenter Title</a:t>
            </a:r>
          </a:p>
        </p:txBody>
      </p:sp>
    </p:spTree>
    <p:extLst>
      <p:ext uri="{BB962C8B-B14F-4D97-AF65-F5344CB8AC3E}">
        <p14:creationId xmlns:p14="http://schemas.microsoft.com/office/powerpoint/2010/main" val="3086536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6B485C-0582-034E-891E-8E230EB7C171}"/>
              </a:ext>
            </a:extLst>
          </p:cNvPr>
          <p:cNvSpPr>
            <a:spLocks noGrp="1"/>
          </p:cNvSpPr>
          <p:nvPr>
            <p:ph type="ctrTitle"/>
          </p:nvPr>
        </p:nvSpPr>
        <p:spPr>
          <a:xfrm>
            <a:off x="7126287" y="2112710"/>
            <a:ext cx="4181793" cy="561911"/>
          </a:xfrm>
        </p:spPr>
        <p:txBody>
          <a:bodyPr/>
          <a:lstStyle/>
          <a:p>
            <a:r>
              <a:rPr lang="en-US" dirty="0"/>
              <a:t>Today’s Agenda</a:t>
            </a:r>
          </a:p>
        </p:txBody>
      </p:sp>
      <p:sp>
        <p:nvSpPr>
          <p:cNvPr id="4" name="Subtitle 2">
            <a:extLst>
              <a:ext uri="{FF2B5EF4-FFF2-40B4-BE49-F238E27FC236}">
                <a16:creationId xmlns:a16="http://schemas.microsoft.com/office/drawing/2014/main" id="{C4DAC521-E357-9446-9CBC-896F14A07E51}"/>
              </a:ext>
            </a:extLst>
          </p:cNvPr>
          <p:cNvSpPr txBox="1">
            <a:spLocks/>
          </p:cNvSpPr>
          <p:nvPr/>
        </p:nvSpPr>
        <p:spPr>
          <a:xfrm>
            <a:off x="7616983" y="2951347"/>
            <a:ext cx="3096737" cy="338088"/>
          </a:xfrm>
          <a:prstGeom prst="rect">
            <a:avLst/>
          </a:prstGeom>
        </p:spPr>
        <p:txBody>
          <a:bodyPr>
            <a:noAutofit/>
          </a:bodyPr>
          <a:lstStyle>
            <a:lvl1pPr marL="0" indent="0" algn="l" defTabSz="457200" rtl="0" eaLnBrk="1" latinLnBrk="0" hangingPunct="1">
              <a:lnSpc>
                <a:spcPct val="100000"/>
              </a:lnSpc>
              <a:spcBef>
                <a:spcPts val="0"/>
              </a:spcBef>
              <a:spcAft>
                <a:spcPts val="0"/>
              </a:spcAft>
              <a:buFontTx/>
              <a:buNone/>
              <a:defRPr sz="1600" kern="1200" baseline="0">
                <a:solidFill>
                  <a:schemeClr val="tx1"/>
                </a:solidFill>
                <a:latin typeface="+mn-lt"/>
                <a:ea typeface="+mn-ea"/>
                <a:cs typeface="+mn-cs"/>
              </a:defRPr>
            </a:lvl1pPr>
            <a:lvl2pPr marL="457200" indent="0" algn="ctr" defTabSz="457200" rtl="0" eaLnBrk="1" latinLnBrk="0" hangingPunct="1">
              <a:lnSpc>
                <a:spcPct val="100000"/>
              </a:lnSpc>
              <a:spcBef>
                <a:spcPts val="0"/>
              </a:spcBef>
              <a:spcAft>
                <a:spcPts val="800"/>
              </a:spcAft>
              <a:buClr>
                <a:schemeClr val="tx2"/>
              </a:buClr>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lnSpc>
                <a:spcPct val="100000"/>
              </a:lnSpc>
              <a:spcBef>
                <a:spcPts val="0"/>
              </a:spcBef>
              <a:spcAft>
                <a:spcPts val="600"/>
              </a:spcAft>
              <a:buClr>
                <a:schemeClr val="tx2"/>
              </a:buClr>
              <a:buFont typeface="Lucida Grande"/>
              <a:buNone/>
              <a:defRPr sz="1800" kern="1200">
                <a:solidFill>
                  <a:schemeClr val="tx1">
                    <a:tint val="75000"/>
                  </a:schemeClr>
                </a:solidFill>
                <a:latin typeface="+mn-lt"/>
                <a:ea typeface="+mn-ea"/>
                <a:cs typeface="+mn-cs"/>
              </a:defRPr>
            </a:lvl3pPr>
            <a:lvl4pPr marL="1371600" indent="0" algn="ctr" defTabSz="457200" rtl="0" eaLnBrk="1" latinLnBrk="0" hangingPunct="1">
              <a:lnSpc>
                <a:spcPct val="100000"/>
              </a:lnSpc>
              <a:spcBef>
                <a:spcPts val="0"/>
              </a:spcBef>
              <a:spcAft>
                <a:spcPts val="600"/>
              </a:spcAft>
              <a:buClr>
                <a:schemeClr val="tx2"/>
              </a:buClr>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lnSpc>
                <a:spcPct val="100000"/>
              </a:lnSpc>
              <a:spcBef>
                <a:spcPts val="0"/>
              </a:spcBef>
              <a:spcAft>
                <a:spcPts val="600"/>
              </a:spcAft>
              <a:buClr>
                <a:schemeClr val="tx2"/>
              </a:buClr>
              <a:buFont typeface="Arial"/>
              <a:buNone/>
              <a:defRPr sz="1400" kern="1200">
                <a:solidFill>
                  <a:schemeClr val="tx1">
                    <a:tint val="75000"/>
                  </a:schemeClr>
                </a:solidFill>
                <a:latin typeface="+mn-lt"/>
                <a:ea typeface="+mn-ea"/>
                <a:cs typeface="+mn-cs"/>
              </a:defRPr>
            </a:lvl5pPr>
            <a:lvl6pPr marL="2286000" indent="0" algn="ctr" defTabSz="457200" rtl="0" eaLnBrk="1" latinLnBrk="0" hangingPunct="1">
              <a:lnSpc>
                <a:spcPct val="100000"/>
              </a:lnSpc>
              <a:spcBef>
                <a:spcPts val="0"/>
              </a:spcBef>
              <a:spcAft>
                <a:spcPts val="400"/>
              </a:spcAft>
              <a:buClr>
                <a:schemeClr val="tx2"/>
              </a:buClr>
              <a:buFont typeface="Arial"/>
              <a:buNone/>
              <a:defRPr sz="1200" kern="1200">
                <a:solidFill>
                  <a:schemeClr val="tx1">
                    <a:tint val="75000"/>
                  </a:schemeClr>
                </a:solidFill>
                <a:latin typeface="+mn-lt"/>
                <a:ea typeface="+mn-ea"/>
                <a:cs typeface="+mn-cs"/>
              </a:defRPr>
            </a:lvl6pPr>
            <a:lvl7pPr marL="2743200" indent="0" algn="ctr" defTabSz="457200" rtl="0" eaLnBrk="1" latinLnBrk="0" hangingPunct="1">
              <a:lnSpc>
                <a:spcPct val="100000"/>
              </a:lnSpc>
              <a:spcBef>
                <a:spcPts val="0"/>
              </a:spcBef>
              <a:spcAft>
                <a:spcPts val="400"/>
              </a:spcAft>
              <a:buClr>
                <a:schemeClr val="tx2"/>
              </a:buClr>
              <a:buFont typeface="Lucida Grande"/>
              <a:buNone/>
              <a:defRPr sz="1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Market Trends</a:t>
            </a:r>
          </a:p>
        </p:txBody>
      </p:sp>
      <p:pic>
        <p:nvPicPr>
          <p:cNvPr id="5" name="Picture 4" descr="Icon&#10;&#10;Description automatically generated">
            <a:extLst>
              <a:ext uri="{FF2B5EF4-FFF2-40B4-BE49-F238E27FC236}">
                <a16:creationId xmlns:a16="http://schemas.microsoft.com/office/drawing/2014/main" id="{300404F4-5E7A-F544-AA3A-49301C4576CF}"/>
              </a:ext>
            </a:extLst>
          </p:cNvPr>
          <p:cNvPicPr>
            <a:picLocks noChangeAspect="1"/>
          </p:cNvPicPr>
          <p:nvPr/>
        </p:nvPicPr>
        <p:blipFill>
          <a:blip r:embed="rId3"/>
          <a:stretch>
            <a:fillRect/>
          </a:stretch>
        </p:blipFill>
        <p:spPr>
          <a:xfrm>
            <a:off x="7126287" y="2903221"/>
            <a:ext cx="386214" cy="386214"/>
          </a:xfrm>
          <a:prstGeom prst="rect">
            <a:avLst/>
          </a:prstGeom>
        </p:spPr>
      </p:pic>
      <p:sp>
        <p:nvSpPr>
          <p:cNvPr id="6" name="Subtitle 2">
            <a:extLst>
              <a:ext uri="{FF2B5EF4-FFF2-40B4-BE49-F238E27FC236}">
                <a16:creationId xmlns:a16="http://schemas.microsoft.com/office/drawing/2014/main" id="{F232BE65-AB45-1745-B587-EA6C28191418}"/>
              </a:ext>
            </a:extLst>
          </p:cNvPr>
          <p:cNvSpPr txBox="1">
            <a:spLocks/>
          </p:cNvSpPr>
          <p:nvPr/>
        </p:nvSpPr>
        <p:spPr>
          <a:xfrm>
            <a:off x="7616983" y="3733554"/>
            <a:ext cx="4141008" cy="411061"/>
          </a:xfrm>
          <a:prstGeom prst="rect">
            <a:avLst/>
          </a:prstGeom>
        </p:spPr>
        <p:txBody>
          <a:bodyPr>
            <a:noAutofit/>
          </a:bodyPr>
          <a:lstStyle>
            <a:lvl1pPr marL="0" indent="0" algn="l" defTabSz="457200" rtl="0" eaLnBrk="1" latinLnBrk="0" hangingPunct="1">
              <a:lnSpc>
                <a:spcPct val="100000"/>
              </a:lnSpc>
              <a:spcBef>
                <a:spcPts val="0"/>
              </a:spcBef>
              <a:spcAft>
                <a:spcPts val="0"/>
              </a:spcAft>
              <a:buFontTx/>
              <a:buNone/>
              <a:defRPr sz="1600" kern="1200" baseline="0">
                <a:solidFill>
                  <a:schemeClr val="tx1"/>
                </a:solidFill>
                <a:latin typeface="+mn-lt"/>
                <a:ea typeface="+mn-ea"/>
                <a:cs typeface="+mn-cs"/>
              </a:defRPr>
            </a:lvl1pPr>
            <a:lvl2pPr marL="457200" indent="0" algn="ctr" defTabSz="457200" rtl="0" eaLnBrk="1" latinLnBrk="0" hangingPunct="1">
              <a:lnSpc>
                <a:spcPct val="100000"/>
              </a:lnSpc>
              <a:spcBef>
                <a:spcPts val="0"/>
              </a:spcBef>
              <a:spcAft>
                <a:spcPts val="800"/>
              </a:spcAft>
              <a:buClr>
                <a:schemeClr val="tx2"/>
              </a:buClr>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lnSpc>
                <a:spcPct val="100000"/>
              </a:lnSpc>
              <a:spcBef>
                <a:spcPts val="0"/>
              </a:spcBef>
              <a:spcAft>
                <a:spcPts val="600"/>
              </a:spcAft>
              <a:buClr>
                <a:schemeClr val="tx2"/>
              </a:buClr>
              <a:buFont typeface="Lucida Grande"/>
              <a:buNone/>
              <a:defRPr sz="1800" kern="1200">
                <a:solidFill>
                  <a:schemeClr val="tx1">
                    <a:tint val="75000"/>
                  </a:schemeClr>
                </a:solidFill>
                <a:latin typeface="+mn-lt"/>
                <a:ea typeface="+mn-ea"/>
                <a:cs typeface="+mn-cs"/>
              </a:defRPr>
            </a:lvl3pPr>
            <a:lvl4pPr marL="1371600" indent="0" algn="ctr" defTabSz="457200" rtl="0" eaLnBrk="1" latinLnBrk="0" hangingPunct="1">
              <a:lnSpc>
                <a:spcPct val="100000"/>
              </a:lnSpc>
              <a:spcBef>
                <a:spcPts val="0"/>
              </a:spcBef>
              <a:spcAft>
                <a:spcPts val="600"/>
              </a:spcAft>
              <a:buClr>
                <a:schemeClr val="tx2"/>
              </a:buClr>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lnSpc>
                <a:spcPct val="100000"/>
              </a:lnSpc>
              <a:spcBef>
                <a:spcPts val="0"/>
              </a:spcBef>
              <a:spcAft>
                <a:spcPts val="600"/>
              </a:spcAft>
              <a:buClr>
                <a:schemeClr val="tx2"/>
              </a:buClr>
              <a:buFont typeface="Arial"/>
              <a:buNone/>
              <a:defRPr sz="1400" kern="1200">
                <a:solidFill>
                  <a:schemeClr val="tx1">
                    <a:tint val="75000"/>
                  </a:schemeClr>
                </a:solidFill>
                <a:latin typeface="+mn-lt"/>
                <a:ea typeface="+mn-ea"/>
                <a:cs typeface="+mn-cs"/>
              </a:defRPr>
            </a:lvl5pPr>
            <a:lvl6pPr marL="2286000" indent="0" algn="ctr" defTabSz="457200" rtl="0" eaLnBrk="1" latinLnBrk="0" hangingPunct="1">
              <a:lnSpc>
                <a:spcPct val="100000"/>
              </a:lnSpc>
              <a:spcBef>
                <a:spcPts val="0"/>
              </a:spcBef>
              <a:spcAft>
                <a:spcPts val="400"/>
              </a:spcAft>
              <a:buClr>
                <a:schemeClr val="tx2"/>
              </a:buClr>
              <a:buFont typeface="Arial"/>
              <a:buNone/>
              <a:defRPr sz="1200" kern="1200">
                <a:solidFill>
                  <a:schemeClr val="tx1">
                    <a:tint val="75000"/>
                  </a:schemeClr>
                </a:solidFill>
                <a:latin typeface="+mn-lt"/>
                <a:ea typeface="+mn-ea"/>
                <a:cs typeface="+mn-cs"/>
              </a:defRPr>
            </a:lvl6pPr>
            <a:lvl7pPr marL="2743200" indent="0" algn="ctr" defTabSz="457200" rtl="0" eaLnBrk="1" latinLnBrk="0" hangingPunct="1">
              <a:lnSpc>
                <a:spcPct val="100000"/>
              </a:lnSpc>
              <a:spcBef>
                <a:spcPts val="0"/>
              </a:spcBef>
              <a:spcAft>
                <a:spcPts val="400"/>
              </a:spcAft>
              <a:buClr>
                <a:schemeClr val="tx2"/>
              </a:buClr>
              <a:buFont typeface="Lucida Grande"/>
              <a:buNone/>
              <a:defRPr sz="1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Law firm processes improved with HighQ</a:t>
            </a:r>
          </a:p>
        </p:txBody>
      </p:sp>
      <p:pic>
        <p:nvPicPr>
          <p:cNvPr id="7" name="Picture 6" descr="Icon&#10;&#10;Description automatically generated">
            <a:extLst>
              <a:ext uri="{FF2B5EF4-FFF2-40B4-BE49-F238E27FC236}">
                <a16:creationId xmlns:a16="http://schemas.microsoft.com/office/drawing/2014/main" id="{4C2E8D43-E2C6-4D44-A89F-1F661C4810F8}"/>
              </a:ext>
            </a:extLst>
          </p:cNvPr>
          <p:cNvPicPr>
            <a:picLocks noChangeAspect="1"/>
          </p:cNvPicPr>
          <p:nvPr/>
        </p:nvPicPr>
        <p:blipFill>
          <a:blip r:embed="rId3"/>
          <a:stretch>
            <a:fillRect/>
          </a:stretch>
        </p:blipFill>
        <p:spPr>
          <a:xfrm>
            <a:off x="7126287" y="3685429"/>
            <a:ext cx="386214" cy="386214"/>
          </a:xfrm>
          <a:prstGeom prst="rect">
            <a:avLst/>
          </a:prstGeom>
        </p:spPr>
      </p:pic>
      <p:sp>
        <p:nvSpPr>
          <p:cNvPr id="8" name="Subtitle 2">
            <a:extLst>
              <a:ext uri="{FF2B5EF4-FFF2-40B4-BE49-F238E27FC236}">
                <a16:creationId xmlns:a16="http://schemas.microsoft.com/office/drawing/2014/main" id="{8A31596A-F219-1048-BB8F-45C1DA102675}"/>
              </a:ext>
            </a:extLst>
          </p:cNvPr>
          <p:cNvSpPr txBox="1">
            <a:spLocks/>
          </p:cNvSpPr>
          <p:nvPr/>
        </p:nvSpPr>
        <p:spPr>
          <a:xfrm>
            <a:off x="7616983" y="4515763"/>
            <a:ext cx="3096737" cy="338088"/>
          </a:xfrm>
          <a:prstGeom prst="rect">
            <a:avLst/>
          </a:prstGeom>
        </p:spPr>
        <p:txBody>
          <a:bodyPr>
            <a:noAutofit/>
          </a:bodyPr>
          <a:lstStyle>
            <a:lvl1pPr marL="0" indent="0" algn="l" defTabSz="457200" rtl="0" eaLnBrk="1" latinLnBrk="0" hangingPunct="1">
              <a:lnSpc>
                <a:spcPct val="100000"/>
              </a:lnSpc>
              <a:spcBef>
                <a:spcPts val="0"/>
              </a:spcBef>
              <a:spcAft>
                <a:spcPts val="0"/>
              </a:spcAft>
              <a:buFontTx/>
              <a:buNone/>
              <a:defRPr sz="1600" kern="1200" baseline="0">
                <a:solidFill>
                  <a:schemeClr val="tx1"/>
                </a:solidFill>
                <a:latin typeface="+mn-lt"/>
                <a:ea typeface="+mn-ea"/>
                <a:cs typeface="+mn-cs"/>
              </a:defRPr>
            </a:lvl1pPr>
            <a:lvl2pPr marL="457200" indent="0" algn="ctr" defTabSz="457200" rtl="0" eaLnBrk="1" latinLnBrk="0" hangingPunct="1">
              <a:lnSpc>
                <a:spcPct val="100000"/>
              </a:lnSpc>
              <a:spcBef>
                <a:spcPts val="0"/>
              </a:spcBef>
              <a:spcAft>
                <a:spcPts val="800"/>
              </a:spcAft>
              <a:buClr>
                <a:schemeClr val="tx2"/>
              </a:buClr>
              <a:buFont typeface="Arial"/>
              <a:buNone/>
              <a:defRPr sz="2000" kern="1200">
                <a:solidFill>
                  <a:schemeClr val="tx1">
                    <a:tint val="75000"/>
                  </a:schemeClr>
                </a:solidFill>
                <a:latin typeface="+mn-lt"/>
                <a:ea typeface="+mn-ea"/>
                <a:cs typeface="+mn-cs"/>
              </a:defRPr>
            </a:lvl2pPr>
            <a:lvl3pPr marL="914400" indent="0" algn="ctr" defTabSz="457200" rtl="0" eaLnBrk="1" latinLnBrk="0" hangingPunct="1">
              <a:lnSpc>
                <a:spcPct val="100000"/>
              </a:lnSpc>
              <a:spcBef>
                <a:spcPts val="0"/>
              </a:spcBef>
              <a:spcAft>
                <a:spcPts val="600"/>
              </a:spcAft>
              <a:buClr>
                <a:schemeClr val="tx2"/>
              </a:buClr>
              <a:buFont typeface="Lucida Grande"/>
              <a:buNone/>
              <a:defRPr sz="1800" kern="1200">
                <a:solidFill>
                  <a:schemeClr val="tx1">
                    <a:tint val="75000"/>
                  </a:schemeClr>
                </a:solidFill>
                <a:latin typeface="+mn-lt"/>
                <a:ea typeface="+mn-ea"/>
                <a:cs typeface="+mn-cs"/>
              </a:defRPr>
            </a:lvl3pPr>
            <a:lvl4pPr marL="1371600" indent="0" algn="ctr" defTabSz="457200" rtl="0" eaLnBrk="1" latinLnBrk="0" hangingPunct="1">
              <a:lnSpc>
                <a:spcPct val="100000"/>
              </a:lnSpc>
              <a:spcBef>
                <a:spcPts val="0"/>
              </a:spcBef>
              <a:spcAft>
                <a:spcPts val="600"/>
              </a:spcAft>
              <a:buClr>
                <a:schemeClr val="tx2"/>
              </a:buClr>
              <a:buFont typeface="Arial"/>
              <a:buNone/>
              <a:defRPr sz="1600" kern="1200">
                <a:solidFill>
                  <a:schemeClr val="tx1">
                    <a:tint val="75000"/>
                  </a:schemeClr>
                </a:solidFill>
                <a:latin typeface="+mn-lt"/>
                <a:ea typeface="+mn-ea"/>
                <a:cs typeface="+mn-cs"/>
              </a:defRPr>
            </a:lvl4pPr>
            <a:lvl5pPr marL="1828800" indent="0" algn="ctr" defTabSz="457200" rtl="0" eaLnBrk="1" latinLnBrk="0" hangingPunct="1">
              <a:lnSpc>
                <a:spcPct val="100000"/>
              </a:lnSpc>
              <a:spcBef>
                <a:spcPts val="0"/>
              </a:spcBef>
              <a:spcAft>
                <a:spcPts val="600"/>
              </a:spcAft>
              <a:buClr>
                <a:schemeClr val="tx2"/>
              </a:buClr>
              <a:buFont typeface="Arial"/>
              <a:buNone/>
              <a:defRPr sz="1400" kern="1200">
                <a:solidFill>
                  <a:schemeClr val="tx1">
                    <a:tint val="75000"/>
                  </a:schemeClr>
                </a:solidFill>
                <a:latin typeface="+mn-lt"/>
                <a:ea typeface="+mn-ea"/>
                <a:cs typeface="+mn-cs"/>
              </a:defRPr>
            </a:lvl5pPr>
            <a:lvl6pPr marL="2286000" indent="0" algn="ctr" defTabSz="457200" rtl="0" eaLnBrk="1" latinLnBrk="0" hangingPunct="1">
              <a:lnSpc>
                <a:spcPct val="100000"/>
              </a:lnSpc>
              <a:spcBef>
                <a:spcPts val="0"/>
              </a:spcBef>
              <a:spcAft>
                <a:spcPts val="400"/>
              </a:spcAft>
              <a:buClr>
                <a:schemeClr val="tx2"/>
              </a:buClr>
              <a:buFont typeface="Arial"/>
              <a:buNone/>
              <a:defRPr sz="1200" kern="1200">
                <a:solidFill>
                  <a:schemeClr val="tx1">
                    <a:tint val="75000"/>
                  </a:schemeClr>
                </a:solidFill>
                <a:latin typeface="+mn-lt"/>
                <a:ea typeface="+mn-ea"/>
                <a:cs typeface="+mn-cs"/>
              </a:defRPr>
            </a:lvl6pPr>
            <a:lvl7pPr marL="2743200" indent="0" algn="ctr" defTabSz="457200" rtl="0" eaLnBrk="1" latinLnBrk="0" hangingPunct="1">
              <a:lnSpc>
                <a:spcPct val="100000"/>
              </a:lnSpc>
              <a:spcBef>
                <a:spcPts val="0"/>
              </a:spcBef>
              <a:spcAft>
                <a:spcPts val="400"/>
              </a:spcAft>
              <a:buClr>
                <a:schemeClr val="tx2"/>
              </a:buClr>
              <a:buFont typeface="Lucida Grande"/>
              <a:buNone/>
              <a:defRPr sz="1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QA/Wrap-up</a:t>
            </a:r>
          </a:p>
        </p:txBody>
      </p:sp>
      <p:pic>
        <p:nvPicPr>
          <p:cNvPr id="9" name="Picture 8" descr="Icon&#10;&#10;Description automatically generated">
            <a:extLst>
              <a:ext uri="{FF2B5EF4-FFF2-40B4-BE49-F238E27FC236}">
                <a16:creationId xmlns:a16="http://schemas.microsoft.com/office/drawing/2014/main" id="{62F9768D-1C5A-DD4F-A876-BE7694E29B9F}"/>
              </a:ext>
            </a:extLst>
          </p:cNvPr>
          <p:cNvPicPr>
            <a:picLocks noChangeAspect="1"/>
          </p:cNvPicPr>
          <p:nvPr/>
        </p:nvPicPr>
        <p:blipFill>
          <a:blip r:embed="rId3"/>
          <a:stretch>
            <a:fillRect/>
          </a:stretch>
        </p:blipFill>
        <p:spPr>
          <a:xfrm>
            <a:off x="7126287" y="4467637"/>
            <a:ext cx="386214" cy="386214"/>
          </a:xfrm>
          <a:prstGeom prst="rect">
            <a:avLst/>
          </a:prstGeom>
        </p:spPr>
      </p:pic>
    </p:spTree>
    <p:extLst>
      <p:ext uri="{BB962C8B-B14F-4D97-AF65-F5344CB8AC3E}">
        <p14:creationId xmlns:p14="http://schemas.microsoft.com/office/powerpoint/2010/main" val="2511561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0AB63DF0-35F7-B940-935F-699FCF9A22DA}"/>
              </a:ext>
            </a:extLst>
          </p:cNvPr>
          <p:cNvSpPr/>
          <p:nvPr/>
        </p:nvSpPr>
        <p:spPr>
          <a:xfrm flipV="1">
            <a:off x="-1" y="2058313"/>
            <a:ext cx="7858897" cy="4196586"/>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96" name="TextBox 95">
            <a:extLst>
              <a:ext uri="{FF2B5EF4-FFF2-40B4-BE49-F238E27FC236}">
                <a16:creationId xmlns:a16="http://schemas.microsoft.com/office/drawing/2014/main" id="{BD7E56B5-32C9-B143-A7BD-0A318ECEC200}"/>
              </a:ext>
            </a:extLst>
          </p:cNvPr>
          <p:cNvSpPr txBox="1"/>
          <p:nvPr/>
        </p:nvSpPr>
        <p:spPr>
          <a:xfrm>
            <a:off x="7842240" y="2185162"/>
            <a:ext cx="4359955" cy="406973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pic>
        <p:nvPicPr>
          <p:cNvPr id="98" name="Picture 97">
            <a:extLst>
              <a:ext uri="{FF2B5EF4-FFF2-40B4-BE49-F238E27FC236}">
                <a16:creationId xmlns:a16="http://schemas.microsoft.com/office/drawing/2014/main" id="{F41F5BB2-23B2-5E47-AC9F-89F757CFDA6A}"/>
              </a:ext>
            </a:extLst>
          </p:cNvPr>
          <p:cNvPicPr>
            <a:picLocks noChangeAspect="1"/>
          </p:cNvPicPr>
          <p:nvPr/>
        </p:nvPicPr>
        <p:blipFill rotWithShape="1">
          <a:blip r:embed="rId3">
            <a:extLst>
              <a:ext uri="{28A0092B-C50C-407E-A947-70E740481C1C}">
                <a14:useLocalDpi xmlns:a14="http://schemas.microsoft.com/office/drawing/2010/main"/>
              </a:ext>
            </a:extLst>
          </a:blip>
          <a:srcRect b="22392"/>
          <a:stretch/>
        </p:blipFill>
        <p:spPr>
          <a:xfrm flipH="1">
            <a:off x="11062" y="-3839"/>
            <a:ext cx="12188823" cy="2443562"/>
          </a:xfrm>
          <a:prstGeom prst="rect">
            <a:avLst/>
          </a:prstGeom>
        </p:spPr>
      </p:pic>
      <p:grpSp>
        <p:nvGrpSpPr>
          <p:cNvPr id="10" name="Group 9" hidden="1">
            <a:extLst>
              <a:ext uri="{FF2B5EF4-FFF2-40B4-BE49-F238E27FC236}">
                <a16:creationId xmlns:a16="http://schemas.microsoft.com/office/drawing/2014/main" id="{DC54DDAB-4107-4C12-8DBD-4F2A9622F5E3}"/>
              </a:ext>
            </a:extLst>
          </p:cNvPr>
          <p:cNvGrpSpPr/>
          <p:nvPr/>
        </p:nvGrpSpPr>
        <p:grpSpPr>
          <a:xfrm>
            <a:off x="951977" y="2285656"/>
            <a:ext cx="2270240" cy="3382715"/>
            <a:chOff x="951977" y="2285656"/>
            <a:chExt cx="2270240" cy="3382715"/>
          </a:xfrm>
        </p:grpSpPr>
        <p:pic>
          <p:nvPicPr>
            <p:cNvPr id="6" name="Picture 5">
              <a:extLst>
                <a:ext uri="{FF2B5EF4-FFF2-40B4-BE49-F238E27FC236}">
                  <a16:creationId xmlns:a16="http://schemas.microsoft.com/office/drawing/2014/main" id="{71130908-50FA-41AC-869D-5E36911C6EDD}"/>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477968" y="2743200"/>
              <a:ext cx="1371600" cy="1371600"/>
            </a:xfrm>
            <a:prstGeom prst="rect">
              <a:avLst/>
            </a:prstGeom>
          </p:spPr>
        </p:pic>
        <p:sp>
          <p:nvSpPr>
            <p:cNvPr id="8" name="TextBox 7">
              <a:extLst>
                <a:ext uri="{FF2B5EF4-FFF2-40B4-BE49-F238E27FC236}">
                  <a16:creationId xmlns:a16="http://schemas.microsoft.com/office/drawing/2014/main" id="{EC3D78DD-C845-4776-B626-21570DCE58DE}"/>
                </a:ext>
              </a:extLst>
            </p:cNvPr>
            <p:cNvSpPr txBox="1"/>
            <p:nvPr/>
          </p:nvSpPr>
          <p:spPr>
            <a:xfrm>
              <a:off x="1105319" y="4572344"/>
              <a:ext cx="2116898" cy="1096027"/>
            </a:xfrm>
            <a:prstGeom prst="rect">
              <a:avLst/>
            </a:prstGeom>
            <a:noFill/>
          </p:spPr>
          <p:txBody>
            <a:bodyPr wrap="square" lIns="0" tIns="0" rIns="0" bIns="0" rtlCol="0" anchor="t">
              <a:noAutofit/>
            </a:bodyPr>
            <a:lstStyle/>
            <a:p>
              <a:pPr algn="ctr"/>
              <a:r>
                <a:rPr lang="en-US" sz="1600"/>
                <a:t>Remains flat, increasing by 0.4%</a:t>
              </a:r>
            </a:p>
          </p:txBody>
        </p:sp>
        <p:sp>
          <p:nvSpPr>
            <p:cNvPr id="9" name="TextBox 8">
              <a:extLst>
                <a:ext uri="{FF2B5EF4-FFF2-40B4-BE49-F238E27FC236}">
                  <a16:creationId xmlns:a16="http://schemas.microsoft.com/office/drawing/2014/main" id="{FEE30857-E5A1-4D33-AE01-3C3D80DAC06F}"/>
                </a:ext>
              </a:extLst>
            </p:cNvPr>
            <p:cNvSpPr txBox="1"/>
            <p:nvPr/>
          </p:nvSpPr>
          <p:spPr>
            <a:xfrm>
              <a:off x="951977" y="2285656"/>
              <a:ext cx="2229633" cy="663192"/>
            </a:xfrm>
            <a:prstGeom prst="rect">
              <a:avLst/>
            </a:prstGeom>
            <a:noFill/>
          </p:spPr>
          <p:txBody>
            <a:bodyPr wrap="square" lIns="0" tIns="0" rIns="0" bIns="0" rtlCol="0" anchor="t">
              <a:noAutofit/>
            </a:bodyPr>
            <a:lstStyle/>
            <a:p>
              <a:pPr algn="ctr"/>
              <a:r>
                <a:rPr lang="en-US" sz="2000" b="1">
                  <a:solidFill>
                    <a:srgbClr val="4D4D4D"/>
                  </a:solidFill>
                </a:rPr>
                <a:t>DEMAND</a:t>
              </a:r>
            </a:p>
          </p:txBody>
        </p:sp>
      </p:grpSp>
      <p:grpSp>
        <p:nvGrpSpPr>
          <p:cNvPr id="30" name="Group 29" hidden="1">
            <a:extLst>
              <a:ext uri="{FF2B5EF4-FFF2-40B4-BE49-F238E27FC236}">
                <a16:creationId xmlns:a16="http://schemas.microsoft.com/office/drawing/2014/main" id="{A3182D00-B0F8-442E-AC4C-933F890CB750}"/>
              </a:ext>
            </a:extLst>
          </p:cNvPr>
          <p:cNvGrpSpPr/>
          <p:nvPr/>
        </p:nvGrpSpPr>
        <p:grpSpPr>
          <a:xfrm>
            <a:off x="8922269" y="2285656"/>
            <a:ext cx="2229633" cy="3382714"/>
            <a:chOff x="8922269" y="2285656"/>
            <a:chExt cx="2229633" cy="3382714"/>
          </a:xfrm>
        </p:grpSpPr>
        <p:pic>
          <p:nvPicPr>
            <p:cNvPr id="23" name="Picture 22">
              <a:extLst>
                <a:ext uri="{FF2B5EF4-FFF2-40B4-BE49-F238E27FC236}">
                  <a16:creationId xmlns:a16="http://schemas.microsoft.com/office/drawing/2014/main" id="{5F053F81-2CC0-4364-81E8-E13E488EE3A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9364308" y="2743200"/>
              <a:ext cx="1371600" cy="1371600"/>
            </a:xfrm>
            <a:prstGeom prst="rect">
              <a:avLst/>
            </a:prstGeom>
          </p:spPr>
        </p:pic>
        <p:sp>
          <p:nvSpPr>
            <p:cNvPr id="27" name="TextBox 26">
              <a:extLst>
                <a:ext uri="{FF2B5EF4-FFF2-40B4-BE49-F238E27FC236}">
                  <a16:creationId xmlns:a16="http://schemas.microsoft.com/office/drawing/2014/main" id="{E100DE15-9F0F-4103-98CF-1F9F102227F1}"/>
                </a:ext>
              </a:extLst>
            </p:cNvPr>
            <p:cNvSpPr txBox="1"/>
            <p:nvPr/>
          </p:nvSpPr>
          <p:spPr>
            <a:xfrm>
              <a:off x="8922269" y="2285656"/>
              <a:ext cx="2229633" cy="663192"/>
            </a:xfrm>
            <a:prstGeom prst="rect">
              <a:avLst/>
            </a:prstGeom>
            <a:noFill/>
          </p:spPr>
          <p:txBody>
            <a:bodyPr wrap="square" lIns="0" tIns="0" rIns="0" bIns="0" rtlCol="0" anchor="t">
              <a:noAutofit/>
            </a:bodyPr>
            <a:lstStyle/>
            <a:p>
              <a:pPr algn="ctr"/>
              <a:r>
                <a:rPr lang="en-US" sz="2000" b="1">
                  <a:solidFill>
                    <a:srgbClr val="4D4D4D"/>
                  </a:solidFill>
                </a:rPr>
                <a:t>TECHNOLOGY</a:t>
              </a:r>
            </a:p>
          </p:txBody>
        </p:sp>
        <p:sp>
          <p:nvSpPr>
            <p:cNvPr id="29" name="TextBox 28">
              <a:extLst>
                <a:ext uri="{FF2B5EF4-FFF2-40B4-BE49-F238E27FC236}">
                  <a16:creationId xmlns:a16="http://schemas.microsoft.com/office/drawing/2014/main" id="{54EE8615-0824-451E-8394-62806D34ED53}"/>
                </a:ext>
              </a:extLst>
            </p:cNvPr>
            <p:cNvSpPr txBox="1"/>
            <p:nvPr/>
          </p:nvSpPr>
          <p:spPr>
            <a:xfrm>
              <a:off x="9113810" y="4572343"/>
              <a:ext cx="1924453" cy="1096027"/>
            </a:xfrm>
            <a:prstGeom prst="rect">
              <a:avLst/>
            </a:prstGeom>
            <a:noFill/>
          </p:spPr>
          <p:txBody>
            <a:bodyPr wrap="square" lIns="0" tIns="0" rIns="0" bIns="0" rtlCol="0" anchor="t">
              <a:noAutofit/>
            </a:bodyPr>
            <a:lstStyle/>
            <a:p>
              <a:pPr algn="ctr"/>
              <a:r>
                <a:rPr lang="en-US" sz="1600"/>
                <a:t>6.7% more spent year-over-year</a:t>
              </a:r>
            </a:p>
          </p:txBody>
        </p:sp>
      </p:grpSp>
      <p:grpSp>
        <p:nvGrpSpPr>
          <p:cNvPr id="39" name="Group 38" hidden="1">
            <a:extLst>
              <a:ext uri="{FF2B5EF4-FFF2-40B4-BE49-F238E27FC236}">
                <a16:creationId xmlns:a16="http://schemas.microsoft.com/office/drawing/2014/main" id="{742401D0-F3DB-4625-8ACA-28BEABA90CEA}"/>
              </a:ext>
            </a:extLst>
          </p:cNvPr>
          <p:cNvGrpSpPr/>
          <p:nvPr/>
        </p:nvGrpSpPr>
        <p:grpSpPr>
          <a:xfrm>
            <a:off x="4525452" y="2285656"/>
            <a:ext cx="3134395" cy="2993196"/>
            <a:chOff x="4184972" y="2289703"/>
            <a:chExt cx="3134395" cy="2993196"/>
          </a:xfrm>
        </p:grpSpPr>
        <p:pic>
          <p:nvPicPr>
            <p:cNvPr id="31" name="Picture 30">
              <a:extLst>
                <a:ext uri="{FF2B5EF4-FFF2-40B4-BE49-F238E27FC236}">
                  <a16:creationId xmlns:a16="http://schemas.microsoft.com/office/drawing/2014/main" id="{315CC5BD-2721-44F4-8CE0-478786060861}"/>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4922535" y="2743200"/>
              <a:ext cx="1371600" cy="1371600"/>
            </a:xfrm>
            <a:prstGeom prst="rect">
              <a:avLst/>
            </a:prstGeom>
          </p:spPr>
        </p:pic>
        <p:sp>
          <p:nvSpPr>
            <p:cNvPr id="32" name="TextBox 31">
              <a:extLst>
                <a:ext uri="{FF2B5EF4-FFF2-40B4-BE49-F238E27FC236}">
                  <a16:creationId xmlns:a16="http://schemas.microsoft.com/office/drawing/2014/main" id="{13E66D65-F0EF-4C6A-A3B9-C9AE21B4E38D}"/>
                </a:ext>
              </a:extLst>
            </p:cNvPr>
            <p:cNvSpPr txBox="1"/>
            <p:nvPr/>
          </p:nvSpPr>
          <p:spPr>
            <a:xfrm>
              <a:off x="4523594" y="2289703"/>
              <a:ext cx="2229633" cy="663192"/>
            </a:xfrm>
            <a:prstGeom prst="rect">
              <a:avLst/>
            </a:prstGeom>
            <a:noFill/>
          </p:spPr>
          <p:txBody>
            <a:bodyPr wrap="square" lIns="0" tIns="0" rIns="0" bIns="0" rtlCol="0" anchor="t">
              <a:noAutofit/>
            </a:bodyPr>
            <a:lstStyle/>
            <a:p>
              <a:pPr algn="ctr"/>
              <a:r>
                <a:rPr lang="en-US" sz="2000" b="1">
                  <a:solidFill>
                    <a:srgbClr val="4D4D4D"/>
                  </a:solidFill>
                </a:rPr>
                <a:t>EXPENSES</a:t>
              </a:r>
            </a:p>
          </p:txBody>
        </p:sp>
        <p:cxnSp>
          <p:nvCxnSpPr>
            <p:cNvPr id="34" name="Straight Connector 33">
              <a:extLst>
                <a:ext uri="{FF2B5EF4-FFF2-40B4-BE49-F238E27FC236}">
                  <a16:creationId xmlns:a16="http://schemas.microsoft.com/office/drawing/2014/main" id="{703FBEB8-A3FC-4E6A-ABB2-61200F74D803}"/>
                </a:ext>
              </a:extLst>
            </p:cNvPr>
            <p:cNvCxnSpPr>
              <a:cxnSpLocks/>
            </p:cNvCxnSpPr>
            <p:nvPr/>
          </p:nvCxnSpPr>
          <p:spPr>
            <a:xfrm flipH="1">
              <a:off x="4958599" y="4114800"/>
              <a:ext cx="560346" cy="544882"/>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6BC482C-2714-4F82-A561-277DB2A48A3C}"/>
                </a:ext>
              </a:extLst>
            </p:cNvPr>
            <p:cNvCxnSpPr>
              <a:cxnSpLocks/>
            </p:cNvCxnSpPr>
            <p:nvPr/>
          </p:nvCxnSpPr>
          <p:spPr>
            <a:xfrm>
              <a:off x="5671345" y="4129390"/>
              <a:ext cx="622790" cy="530292"/>
            </a:xfrm>
            <a:prstGeom prst="line">
              <a:avLst/>
            </a:prstGeom>
            <a:ln w="254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4E92990-B74D-498E-8278-6BFBE97ED400}"/>
                </a:ext>
              </a:extLst>
            </p:cNvPr>
            <p:cNvSpPr txBox="1"/>
            <p:nvPr/>
          </p:nvSpPr>
          <p:spPr>
            <a:xfrm>
              <a:off x="4184972" y="4733910"/>
              <a:ext cx="1475126" cy="544882"/>
            </a:xfrm>
            <a:prstGeom prst="rect">
              <a:avLst/>
            </a:prstGeom>
            <a:noFill/>
          </p:spPr>
          <p:txBody>
            <a:bodyPr wrap="square" lIns="0" tIns="0" rIns="0" bIns="0" rtlCol="0" anchor="t">
              <a:noAutofit/>
            </a:bodyPr>
            <a:lstStyle/>
            <a:p>
              <a:r>
                <a:rPr lang="en-US" sz="1600"/>
                <a:t>Direct +3.4%</a:t>
              </a:r>
            </a:p>
          </p:txBody>
        </p:sp>
        <p:sp>
          <p:nvSpPr>
            <p:cNvPr id="38" name="TextBox 37">
              <a:extLst>
                <a:ext uri="{FF2B5EF4-FFF2-40B4-BE49-F238E27FC236}">
                  <a16:creationId xmlns:a16="http://schemas.microsoft.com/office/drawing/2014/main" id="{36923542-5110-4EED-97E2-688DC422854C}"/>
                </a:ext>
              </a:extLst>
            </p:cNvPr>
            <p:cNvSpPr txBox="1"/>
            <p:nvPr/>
          </p:nvSpPr>
          <p:spPr>
            <a:xfrm>
              <a:off x="5844241" y="4738017"/>
              <a:ext cx="1475126" cy="544882"/>
            </a:xfrm>
            <a:prstGeom prst="rect">
              <a:avLst/>
            </a:prstGeom>
            <a:noFill/>
          </p:spPr>
          <p:txBody>
            <a:bodyPr wrap="square" lIns="0" tIns="0" rIns="0" bIns="0" rtlCol="0" anchor="t">
              <a:noAutofit/>
            </a:bodyPr>
            <a:lstStyle/>
            <a:p>
              <a:r>
                <a:rPr lang="en-US" sz="1600"/>
                <a:t>Indirect +1.4%</a:t>
              </a:r>
            </a:p>
          </p:txBody>
        </p:sp>
      </p:grpSp>
      <p:sp>
        <p:nvSpPr>
          <p:cNvPr id="40" name="Rounded Rectangle 39" hidden="1">
            <a:extLst>
              <a:ext uri="{FF2B5EF4-FFF2-40B4-BE49-F238E27FC236}">
                <a16:creationId xmlns:a16="http://schemas.microsoft.com/office/drawing/2014/main" id="{2153EA62-B892-B640-AA91-49AE1D3E7060}"/>
              </a:ext>
            </a:extLst>
          </p:cNvPr>
          <p:cNvSpPr/>
          <p:nvPr/>
        </p:nvSpPr>
        <p:spPr>
          <a:xfrm>
            <a:off x="4907052" y="1717421"/>
            <a:ext cx="2195443" cy="416546"/>
          </a:xfrm>
          <a:prstGeom prst="roundRect">
            <a:avLst>
              <a:gd name="adj" fmla="val 50000"/>
            </a:avLst>
          </a:prstGeom>
          <a:solidFill>
            <a:srgbClr val="D9D9D9">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hidden="1">
            <a:extLst>
              <a:ext uri="{FF2B5EF4-FFF2-40B4-BE49-F238E27FC236}">
                <a16:creationId xmlns:a16="http://schemas.microsoft.com/office/drawing/2014/main" id="{54BEA498-6993-7B48-8F67-AA0CE00146EB}"/>
              </a:ext>
            </a:extLst>
          </p:cNvPr>
          <p:cNvSpPr/>
          <p:nvPr/>
        </p:nvSpPr>
        <p:spPr>
          <a:xfrm>
            <a:off x="5795016" y="1715937"/>
            <a:ext cx="419515" cy="419515"/>
          </a:xfrm>
          <a:prstGeom prst="ellipse">
            <a:avLst/>
          </a:prstGeom>
          <a:solidFill>
            <a:srgbClr val="AF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hidden="1">
            <a:extLst>
              <a:ext uri="{FF2B5EF4-FFF2-40B4-BE49-F238E27FC236}">
                <a16:creationId xmlns:a16="http://schemas.microsoft.com/office/drawing/2014/main" id="{96F555B5-E78D-1D4E-9203-9F47C867A40E}"/>
              </a:ext>
            </a:extLst>
          </p:cNvPr>
          <p:cNvSpPr/>
          <p:nvPr/>
        </p:nvSpPr>
        <p:spPr>
          <a:xfrm>
            <a:off x="4321816" y="1715937"/>
            <a:ext cx="419515" cy="419515"/>
          </a:xfrm>
          <a:prstGeom prst="ellipse">
            <a:avLst/>
          </a:prstGeom>
          <a:solidFill>
            <a:srgbClr val="AF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hidden="1">
            <a:extLst>
              <a:ext uri="{FF2B5EF4-FFF2-40B4-BE49-F238E27FC236}">
                <a16:creationId xmlns:a16="http://schemas.microsoft.com/office/drawing/2014/main" id="{C4B0854C-A595-DB44-9395-D16EC629E882}"/>
              </a:ext>
            </a:extLst>
          </p:cNvPr>
          <p:cNvSpPr/>
          <p:nvPr/>
        </p:nvSpPr>
        <p:spPr>
          <a:xfrm>
            <a:off x="7197096" y="1715937"/>
            <a:ext cx="419515" cy="419515"/>
          </a:xfrm>
          <a:prstGeom prst="ellipse">
            <a:avLst/>
          </a:prstGeom>
          <a:solidFill>
            <a:srgbClr val="AF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hidden="1">
            <a:extLst>
              <a:ext uri="{FF2B5EF4-FFF2-40B4-BE49-F238E27FC236}">
                <a16:creationId xmlns:a16="http://schemas.microsoft.com/office/drawing/2014/main" id="{929E554E-1601-684D-9782-3E0D37E18024}"/>
              </a:ext>
            </a:extLst>
          </p:cNvPr>
          <p:cNvSpPr/>
          <p:nvPr/>
        </p:nvSpPr>
        <p:spPr>
          <a:xfrm>
            <a:off x="9396463" y="2445029"/>
            <a:ext cx="657322" cy="657322"/>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hidden="1">
            <a:extLst>
              <a:ext uri="{FF2B5EF4-FFF2-40B4-BE49-F238E27FC236}">
                <a16:creationId xmlns:a16="http://schemas.microsoft.com/office/drawing/2014/main" id="{1EE00A6F-FC80-484D-909D-DEC06267AD51}"/>
              </a:ext>
            </a:extLst>
          </p:cNvPr>
          <p:cNvSpPr/>
          <p:nvPr/>
        </p:nvSpPr>
        <p:spPr>
          <a:xfrm>
            <a:off x="9396463" y="3650051"/>
            <a:ext cx="657322" cy="657322"/>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hidden="1">
            <a:extLst>
              <a:ext uri="{FF2B5EF4-FFF2-40B4-BE49-F238E27FC236}">
                <a16:creationId xmlns:a16="http://schemas.microsoft.com/office/drawing/2014/main" id="{39998C75-3F4C-CE4F-A237-8EFF79376A48}"/>
              </a:ext>
            </a:extLst>
          </p:cNvPr>
          <p:cNvGrpSpPr/>
          <p:nvPr/>
        </p:nvGrpSpPr>
        <p:grpSpPr>
          <a:xfrm>
            <a:off x="12446968" y="1470464"/>
            <a:ext cx="7510151" cy="4168553"/>
            <a:chOff x="671997" y="3036698"/>
            <a:chExt cx="4718442" cy="2619000"/>
          </a:xfrm>
        </p:grpSpPr>
        <p:sp>
          <p:nvSpPr>
            <p:cNvPr id="62" name="TextBox 61">
              <a:extLst>
                <a:ext uri="{FF2B5EF4-FFF2-40B4-BE49-F238E27FC236}">
                  <a16:creationId xmlns:a16="http://schemas.microsoft.com/office/drawing/2014/main" id="{22AD4B09-2EBC-A646-9CA3-7C43FFB0E1DE}"/>
                </a:ext>
              </a:extLst>
            </p:cNvPr>
            <p:cNvSpPr txBox="1"/>
            <p:nvPr/>
          </p:nvSpPr>
          <p:spPr>
            <a:xfrm>
              <a:off x="905593" y="5082102"/>
              <a:ext cx="773084" cy="573596"/>
            </a:xfrm>
            <a:prstGeom prst="rect">
              <a:avLst/>
            </a:prstGeom>
            <a:noFill/>
          </p:spPr>
          <p:txBody>
            <a:bodyPr wrap="square" lIns="0" tIns="0" rIns="0" bIns="0" rtlCol="0" anchor="t">
              <a:noAutofit/>
            </a:bodyPr>
            <a:lstStyle/>
            <a:p>
              <a:pPr algn="ctr"/>
              <a:r>
                <a:rPr lang="en-US" sz="2000" b="1">
                  <a:solidFill>
                    <a:schemeClr val="bg1"/>
                  </a:solidFill>
                  <a:latin typeface="Knowledge2017" panose="020B0506000000020004" pitchFamily="34" charset="0"/>
                </a:rPr>
                <a:t>Q1</a:t>
              </a:r>
            </a:p>
          </p:txBody>
        </p:sp>
        <p:sp>
          <p:nvSpPr>
            <p:cNvPr id="63" name="TextBox 62">
              <a:extLst>
                <a:ext uri="{FF2B5EF4-FFF2-40B4-BE49-F238E27FC236}">
                  <a16:creationId xmlns:a16="http://schemas.microsoft.com/office/drawing/2014/main" id="{8CFD6722-5E70-D140-9DDB-F41F19644D31}"/>
                </a:ext>
              </a:extLst>
            </p:cNvPr>
            <p:cNvSpPr txBox="1"/>
            <p:nvPr/>
          </p:nvSpPr>
          <p:spPr>
            <a:xfrm>
              <a:off x="4617355" y="5082102"/>
              <a:ext cx="773084" cy="573596"/>
            </a:xfrm>
            <a:prstGeom prst="rect">
              <a:avLst/>
            </a:prstGeom>
            <a:noFill/>
          </p:spPr>
          <p:txBody>
            <a:bodyPr wrap="square" lIns="0" tIns="0" rIns="0" bIns="0" rtlCol="0" anchor="t">
              <a:noAutofit/>
            </a:bodyPr>
            <a:lstStyle/>
            <a:p>
              <a:pPr algn="ctr"/>
              <a:r>
                <a:rPr lang="en-US" sz="2000" b="1">
                  <a:solidFill>
                    <a:schemeClr val="bg1"/>
                  </a:solidFill>
                  <a:latin typeface="Knowledge2017" panose="020B0506000000020004" pitchFamily="34" charset="0"/>
                </a:rPr>
                <a:t>Q2</a:t>
              </a:r>
            </a:p>
          </p:txBody>
        </p:sp>
        <p:sp>
          <p:nvSpPr>
            <p:cNvPr id="64" name="Rectangle 63">
              <a:extLst>
                <a:ext uri="{FF2B5EF4-FFF2-40B4-BE49-F238E27FC236}">
                  <a16:creationId xmlns:a16="http://schemas.microsoft.com/office/drawing/2014/main" id="{686D57B0-7FB2-214C-952F-22C3CAB45C59}"/>
                </a:ext>
              </a:extLst>
            </p:cNvPr>
            <p:cNvSpPr/>
            <p:nvPr/>
          </p:nvSpPr>
          <p:spPr>
            <a:xfrm>
              <a:off x="728103" y="3935858"/>
              <a:ext cx="470000" cy="369332"/>
            </a:xfrm>
            <a:prstGeom prst="rect">
              <a:avLst/>
            </a:prstGeom>
          </p:spPr>
          <p:txBody>
            <a:bodyPr wrap="none">
              <a:spAutoFit/>
            </a:bodyPr>
            <a:lstStyle/>
            <a:p>
              <a:r>
                <a:rPr lang="en-US">
                  <a:solidFill>
                    <a:schemeClr val="bg1">
                      <a:lumMod val="85000"/>
                    </a:schemeClr>
                  </a:solidFill>
                  <a:latin typeface="Knowledge2017 Medium" panose="020B0506000000020004" pitchFamily="34" charset="0"/>
                </a:rPr>
                <a:t>1.0</a:t>
              </a:r>
            </a:p>
          </p:txBody>
        </p:sp>
        <p:sp>
          <p:nvSpPr>
            <p:cNvPr id="68" name="Rectangle 67">
              <a:extLst>
                <a:ext uri="{FF2B5EF4-FFF2-40B4-BE49-F238E27FC236}">
                  <a16:creationId xmlns:a16="http://schemas.microsoft.com/office/drawing/2014/main" id="{56AA62E9-BEBC-B146-8569-F6550FEA607A}"/>
                </a:ext>
              </a:extLst>
            </p:cNvPr>
            <p:cNvSpPr/>
            <p:nvPr/>
          </p:nvSpPr>
          <p:spPr>
            <a:xfrm>
              <a:off x="692836" y="3036698"/>
              <a:ext cx="505267" cy="369332"/>
            </a:xfrm>
            <a:prstGeom prst="rect">
              <a:avLst/>
            </a:prstGeom>
          </p:spPr>
          <p:txBody>
            <a:bodyPr wrap="none">
              <a:spAutoFit/>
            </a:bodyPr>
            <a:lstStyle/>
            <a:p>
              <a:r>
                <a:rPr lang="en-US">
                  <a:solidFill>
                    <a:schemeClr val="bg1">
                      <a:lumMod val="85000"/>
                    </a:schemeClr>
                  </a:solidFill>
                  <a:latin typeface="Knowledge2017 Medium" panose="020B0506000000020004" pitchFamily="34" charset="0"/>
                </a:rPr>
                <a:t>2.0</a:t>
              </a:r>
            </a:p>
          </p:txBody>
        </p:sp>
        <p:cxnSp>
          <p:nvCxnSpPr>
            <p:cNvPr id="70" name="Straight Connector 69">
              <a:extLst>
                <a:ext uri="{FF2B5EF4-FFF2-40B4-BE49-F238E27FC236}">
                  <a16:creationId xmlns:a16="http://schemas.microsoft.com/office/drawing/2014/main" id="{71B3F9B2-03BE-804B-B2C2-D14F269F45C6}"/>
                </a:ext>
              </a:extLst>
            </p:cNvPr>
            <p:cNvCxnSpPr>
              <a:cxnSpLocks/>
            </p:cNvCxnSpPr>
            <p:nvPr/>
          </p:nvCxnSpPr>
          <p:spPr>
            <a:xfrm>
              <a:off x="1135642" y="3170690"/>
              <a:ext cx="4251960" cy="0"/>
            </a:xfrm>
            <a:prstGeom prst="line">
              <a:avLst/>
            </a:prstGeom>
            <a:ln w="28575" cap="rnd" cmpd="sng">
              <a:solidFill>
                <a:schemeClr val="accent6">
                  <a:lumMod val="40000"/>
                  <a:lumOff val="60000"/>
                  <a:alpha val="59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B1C62806-5895-8949-96CD-D709F3CDCE1B}"/>
                </a:ext>
              </a:extLst>
            </p:cNvPr>
            <p:cNvCxnSpPr>
              <a:cxnSpLocks/>
            </p:cNvCxnSpPr>
            <p:nvPr/>
          </p:nvCxnSpPr>
          <p:spPr>
            <a:xfrm>
              <a:off x="1135642" y="4072477"/>
              <a:ext cx="4254797" cy="0"/>
            </a:xfrm>
            <a:prstGeom prst="line">
              <a:avLst/>
            </a:prstGeom>
            <a:ln w="28575" cap="rnd" cmpd="sng">
              <a:solidFill>
                <a:schemeClr val="accent6">
                  <a:lumMod val="40000"/>
                  <a:lumOff val="60000"/>
                  <a:alpha val="59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72" name="Rounded Rectangle 71">
              <a:extLst>
                <a:ext uri="{FF2B5EF4-FFF2-40B4-BE49-F238E27FC236}">
                  <a16:creationId xmlns:a16="http://schemas.microsoft.com/office/drawing/2014/main" id="{4E30A74C-1FCD-6A4A-9A61-D480D8C5F655}"/>
                </a:ext>
              </a:extLst>
            </p:cNvPr>
            <p:cNvSpPr/>
            <p:nvPr/>
          </p:nvSpPr>
          <p:spPr>
            <a:xfrm rot="21540000" flipV="1">
              <a:off x="1078433" y="4158852"/>
              <a:ext cx="4111764" cy="408309"/>
            </a:xfrm>
            <a:prstGeom prst="roundRect">
              <a:avLst>
                <a:gd name="adj" fmla="val 50000"/>
              </a:avLst>
            </a:prstGeom>
            <a:solidFill>
              <a:srgbClr val="D9D9D9">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ounded Rectangle 81">
              <a:extLst>
                <a:ext uri="{FF2B5EF4-FFF2-40B4-BE49-F238E27FC236}">
                  <a16:creationId xmlns:a16="http://schemas.microsoft.com/office/drawing/2014/main" id="{D5EF9947-0E46-FA48-92A1-5B3A14711CB2}"/>
                </a:ext>
              </a:extLst>
            </p:cNvPr>
            <p:cNvSpPr/>
            <p:nvPr/>
          </p:nvSpPr>
          <p:spPr>
            <a:xfrm rot="21540000" flipV="1">
              <a:off x="1077306" y="3177166"/>
              <a:ext cx="4152169" cy="425279"/>
            </a:xfrm>
            <a:prstGeom prst="roundRect">
              <a:avLst>
                <a:gd name="adj" fmla="val 50000"/>
              </a:avLst>
            </a:prstGeom>
            <a:solidFill>
              <a:srgbClr val="D9D9D9">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3746DC80-9745-4F43-925B-6F5D6D469D57}"/>
                </a:ext>
              </a:extLst>
            </p:cNvPr>
            <p:cNvSpPr/>
            <p:nvPr/>
          </p:nvSpPr>
          <p:spPr>
            <a:xfrm>
              <a:off x="1079750" y="4190157"/>
              <a:ext cx="420624" cy="419515"/>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100" b="1"/>
            </a:p>
          </p:txBody>
        </p:sp>
        <p:cxnSp>
          <p:nvCxnSpPr>
            <p:cNvPr id="84" name="Straight Connector 83">
              <a:extLst>
                <a:ext uri="{FF2B5EF4-FFF2-40B4-BE49-F238E27FC236}">
                  <a16:creationId xmlns:a16="http://schemas.microsoft.com/office/drawing/2014/main" id="{7873C4BB-4727-D943-86A1-A77A698029ED}"/>
                </a:ext>
              </a:extLst>
            </p:cNvPr>
            <p:cNvCxnSpPr>
              <a:cxnSpLocks/>
            </p:cNvCxnSpPr>
            <p:nvPr/>
          </p:nvCxnSpPr>
          <p:spPr>
            <a:xfrm>
              <a:off x="1135642" y="4879671"/>
              <a:ext cx="4251960" cy="0"/>
            </a:xfrm>
            <a:prstGeom prst="line">
              <a:avLst/>
            </a:prstGeom>
            <a:ln w="28575" cap="rnd" cmpd="sng">
              <a:solidFill>
                <a:schemeClr val="accent6">
                  <a:lumMod val="40000"/>
                  <a:lumOff val="60000"/>
                  <a:alpha val="59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ECE63654-202A-7D41-A790-57C76B48BB7C}"/>
                </a:ext>
              </a:extLst>
            </p:cNvPr>
            <p:cNvSpPr/>
            <p:nvPr/>
          </p:nvSpPr>
          <p:spPr>
            <a:xfrm>
              <a:off x="671997" y="4736746"/>
              <a:ext cx="526106" cy="369332"/>
            </a:xfrm>
            <a:prstGeom prst="rect">
              <a:avLst/>
            </a:prstGeom>
          </p:spPr>
          <p:txBody>
            <a:bodyPr wrap="none">
              <a:spAutoFit/>
            </a:bodyPr>
            <a:lstStyle/>
            <a:p>
              <a:r>
                <a:rPr lang="en-US">
                  <a:solidFill>
                    <a:schemeClr val="bg1">
                      <a:lumMod val="85000"/>
                    </a:schemeClr>
                  </a:solidFill>
                  <a:latin typeface="Knowledge2017 Medium" panose="020B0506000000020004" pitchFamily="34" charset="0"/>
                </a:rPr>
                <a:t>0.0</a:t>
              </a:r>
            </a:p>
          </p:txBody>
        </p:sp>
        <p:sp>
          <p:nvSpPr>
            <p:cNvPr id="86" name="Oval 85">
              <a:extLst>
                <a:ext uri="{FF2B5EF4-FFF2-40B4-BE49-F238E27FC236}">
                  <a16:creationId xmlns:a16="http://schemas.microsoft.com/office/drawing/2014/main" id="{4ECB2FA2-7E66-544F-B73A-D84600A2CA1E}"/>
                </a:ext>
              </a:extLst>
            </p:cNvPr>
            <p:cNvSpPr/>
            <p:nvPr/>
          </p:nvSpPr>
          <p:spPr>
            <a:xfrm>
              <a:off x="4809637" y="3140785"/>
              <a:ext cx="419515" cy="419515"/>
            </a:xfrm>
            <a:prstGeom prst="ellipse">
              <a:avLst/>
            </a:prstGeom>
            <a:solidFill>
              <a:srgbClr val="0099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0D205051-0889-F844-AE2A-B6AED5CDC81C}"/>
                </a:ext>
              </a:extLst>
            </p:cNvPr>
            <p:cNvSpPr/>
            <p:nvPr/>
          </p:nvSpPr>
          <p:spPr>
            <a:xfrm>
              <a:off x="4769775" y="4129393"/>
              <a:ext cx="420624" cy="419515"/>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100" b="1"/>
            </a:p>
          </p:txBody>
        </p:sp>
        <p:sp>
          <p:nvSpPr>
            <p:cNvPr id="88" name="Oval 87">
              <a:extLst>
                <a:ext uri="{FF2B5EF4-FFF2-40B4-BE49-F238E27FC236}">
                  <a16:creationId xmlns:a16="http://schemas.microsoft.com/office/drawing/2014/main" id="{78C5741D-3281-2F46-AE58-0FF9477ED956}"/>
                </a:ext>
              </a:extLst>
            </p:cNvPr>
            <p:cNvSpPr/>
            <p:nvPr/>
          </p:nvSpPr>
          <p:spPr>
            <a:xfrm>
              <a:off x="1080859" y="3206756"/>
              <a:ext cx="419515" cy="419515"/>
            </a:xfrm>
            <a:prstGeom prst="ellipse">
              <a:avLst/>
            </a:prstGeom>
            <a:solidFill>
              <a:srgbClr val="0099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0" name="Slide Number Placeholder 1">
            <a:extLst>
              <a:ext uri="{FF2B5EF4-FFF2-40B4-BE49-F238E27FC236}">
                <a16:creationId xmlns:a16="http://schemas.microsoft.com/office/drawing/2014/main" id="{E133C9B1-6C1D-774E-A71A-31472C74A01E}"/>
              </a:ext>
            </a:extLst>
          </p:cNvPr>
          <p:cNvSpPr>
            <a:spLocks noGrp="1"/>
          </p:cNvSpPr>
          <p:nvPr>
            <p:ph type="sldNum" sz="quarter" idx="11"/>
          </p:nvPr>
        </p:nvSpPr>
        <p:spPr/>
        <p:txBody>
          <a:bodyPr/>
          <a:lstStyle/>
          <a:p>
            <a:fld id="{0A655226-6E4F-8847-85CD-AF95F3D3F39A}" type="slidenum">
              <a:rPr lang="en-US" smtClean="0"/>
              <a:pPr/>
              <a:t>3</a:t>
            </a:fld>
            <a:endParaRPr lang="en-US"/>
          </a:p>
        </p:txBody>
      </p:sp>
      <p:grpSp>
        <p:nvGrpSpPr>
          <p:cNvPr id="12" name="Group 11">
            <a:extLst>
              <a:ext uri="{FF2B5EF4-FFF2-40B4-BE49-F238E27FC236}">
                <a16:creationId xmlns:a16="http://schemas.microsoft.com/office/drawing/2014/main" id="{B1D32266-B390-AB49-B5AE-CD456EC11F45}"/>
              </a:ext>
            </a:extLst>
          </p:cNvPr>
          <p:cNvGrpSpPr/>
          <p:nvPr/>
        </p:nvGrpSpPr>
        <p:grpSpPr>
          <a:xfrm>
            <a:off x="8529687" y="3590954"/>
            <a:ext cx="2732544" cy="1593357"/>
            <a:chOff x="8529687" y="3590954"/>
            <a:chExt cx="2732544" cy="1593357"/>
          </a:xfrm>
        </p:grpSpPr>
        <p:sp>
          <p:nvSpPr>
            <p:cNvPr id="107" name="Rectangle 106">
              <a:extLst>
                <a:ext uri="{FF2B5EF4-FFF2-40B4-BE49-F238E27FC236}">
                  <a16:creationId xmlns:a16="http://schemas.microsoft.com/office/drawing/2014/main" id="{10963577-8170-A04E-A032-8371BE6BC933}"/>
                </a:ext>
              </a:extLst>
            </p:cNvPr>
            <p:cNvSpPr/>
            <p:nvPr/>
          </p:nvSpPr>
          <p:spPr>
            <a:xfrm>
              <a:off x="8529687" y="3590954"/>
              <a:ext cx="2732544" cy="1593357"/>
            </a:xfrm>
            <a:prstGeom prst="rect">
              <a:avLst/>
            </a:prstGeom>
            <a:solidFill>
              <a:schemeClr val="tx1">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A748C1B6-EE77-4D4A-BD8D-585B199C000C}"/>
                </a:ext>
              </a:extLst>
            </p:cNvPr>
            <p:cNvSpPr/>
            <p:nvPr/>
          </p:nvSpPr>
          <p:spPr>
            <a:xfrm>
              <a:off x="9030944" y="4692472"/>
              <a:ext cx="2158590" cy="369332"/>
            </a:xfrm>
            <a:prstGeom prst="rect">
              <a:avLst/>
            </a:prstGeom>
          </p:spPr>
          <p:txBody>
            <a:bodyPr wrap="square">
              <a:spAutoFit/>
            </a:bodyPr>
            <a:lstStyle/>
            <a:p>
              <a:r>
                <a:rPr lang="en-US" dirty="0">
                  <a:solidFill>
                    <a:schemeClr val="bg1">
                      <a:lumMod val="95000"/>
                    </a:schemeClr>
                  </a:solidFill>
                  <a:latin typeface="+mj-lt"/>
                </a:rPr>
                <a:t>LEGAL SERVICES</a:t>
              </a:r>
            </a:p>
          </p:txBody>
        </p:sp>
        <p:pic>
          <p:nvPicPr>
            <p:cNvPr id="114" name="Picture 113">
              <a:extLst>
                <a:ext uri="{FF2B5EF4-FFF2-40B4-BE49-F238E27FC236}">
                  <a16:creationId xmlns:a16="http://schemas.microsoft.com/office/drawing/2014/main" id="{3B956B52-D3A7-C047-9CF5-7739A5478D99}"/>
                </a:ext>
              </a:extLst>
            </p:cNvPr>
            <p:cNvPicPr>
              <a:picLocks noChangeAspect="1"/>
            </p:cNvPicPr>
            <p:nvPr/>
          </p:nvPicPr>
          <p:blipFill>
            <a:blip r:embed="rId7"/>
            <a:stretch>
              <a:fillRect/>
            </a:stretch>
          </p:blipFill>
          <p:spPr>
            <a:xfrm>
              <a:off x="8685341" y="4645198"/>
              <a:ext cx="322596" cy="322596"/>
            </a:xfrm>
            <a:prstGeom prst="rect">
              <a:avLst/>
            </a:prstGeom>
          </p:spPr>
        </p:pic>
        <p:sp>
          <p:nvSpPr>
            <p:cNvPr id="115" name="Rectangle 114">
              <a:extLst>
                <a:ext uri="{FF2B5EF4-FFF2-40B4-BE49-F238E27FC236}">
                  <a16:creationId xmlns:a16="http://schemas.microsoft.com/office/drawing/2014/main" id="{ED63B6A8-0A23-AC40-8C83-88D6CC4AF4D0}"/>
                </a:ext>
              </a:extLst>
            </p:cNvPr>
            <p:cNvSpPr/>
            <p:nvPr/>
          </p:nvSpPr>
          <p:spPr>
            <a:xfrm>
              <a:off x="8709524" y="3590954"/>
              <a:ext cx="2324356" cy="1015663"/>
            </a:xfrm>
            <a:prstGeom prst="rect">
              <a:avLst/>
            </a:prstGeom>
          </p:spPr>
          <p:txBody>
            <a:bodyPr wrap="square" lIns="91440" tIns="45720" rIns="91440" bIns="45720" anchor="t">
              <a:spAutoFit/>
            </a:bodyPr>
            <a:lstStyle/>
            <a:p>
              <a:r>
                <a:rPr lang="en-US" sz="6000" dirty="0">
                  <a:solidFill>
                    <a:schemeClr val="bg1"/>
                  </a:solidFill>
                  <a:latin typeface="+mj-lt"/>
                </a:rPr>
                <a:t>-6.7%</a:t>
              </a:r>
            </a:p>
          </p:txBody>
        </p:sp>
      </p:grpSp>
      <p:sp>
        <p:nvSpPr>
          <p:cNvPr id="116" name="Rectangle 115">
            <a:extLst>
              <a:ext uri="{FF2B5EF4-FFF2-40B4-BE49-F238E27FC236}">
                <a16:creationId xmlns:a16="http://schemas.microsoft.com/office/drawing/2014/main" id="{17A6154C-04BD-A141-9B3B-D714717504FC}"/>
              </a:ext>
            </a:extLst>
          </p:cNvPr>
          <p:cNvSpPr/>
          <p:nvPr/>
        </p:nvSpPr>
        <p:spPr>
          <a:xfrm>
            <a:off x="8404492" y="3058429"/>
            <a:ext cx="1978874" cy="369332"/>
          </a:xfrm>
          <a:prstGeom prst="rect">
            <a:avLst/>
          </a:prstGeom>
        </p:spPr>
        <p:txBody>
          <a:bodyPr wrap="square">
            <a:spAutoFit/>
          </a:bodyPr>
          <a:lstStyle/>
          <a:p>
            <a:r>
              <a:rPr lang="en-US" dirty="0">
                <a:latin typeface="+mj-lt"/>
              </a:rPr>
              <a:t>COVID</a:t>
            </a:r>
          </a:p>
        </p:txBody>
      </p:sp>
      <p:grpSp>
        <p:nvGrpSpPr>
          <p:cNvPr id="117" name="Group 116">
            <a:extLst>
              <a:ext uri="{FF2B5EF4-FFF2-40B4-BE49-F238E27FC236}">
                <a16:creationId xmlns:a16="http://schemas.microsoft.com/office/drawing/2014/main" id="{DEBFDEFE-B649-2941-86A5-29C1B718D11B}"/>
              </a:ext>
            </a:extLst>
          </p:cNvPr>
          <p:cNvGrpSpPr/>
          <p:nvPr/>
        </p:nvGrpSpPr>
        <p:grpSpPr>
          <a:xfrm>
            <a:off x="650292" y="2989993"/>
            <a:ext cx="6600422" cy="2951785"/>
            <a:chOff x="545203" y="2698072"/>
            <a:chExt cx="5870563" cy="2539081"/>
          </a:xfrm>
        </p:grpSpPr>
        <p:sp>
          <p:nvSpPr>
            <p:cNvPr id="118" name="TextBox 117">
              <a:extLst>
                <a:ext uri="{FF2B5EF4-FFF2-40B4-BE49-F238E27FC236}">
                  <a16:creationId xmlns:a16="http://schemas.microsoft.com/office/drawing/2014/main" id="{232AF330-EF7C-8042-9443-B1E9CA059DB0}"/>
                </a:ext>
              </a:extLst>
            </p:cNvPr>
            <p:cNvSpPr txBox="1"/>
            <p:nvPr/>
          </p:nvSpPr>
          <p:spPr>
            <a:xfrm>
              <a:off x="5791979" y="4971248"/>
              <a:ext cx="623787" cy="265905"/>
            </a:xfrm>
            <a:prstGeom prst="rect">
              <a:avLst/>
            </a:prstGeom>
            <a:noFill/>
          </p:spPr>
          <p:txBody>
            <a:bodyPr wrap="square" lIns="0" tIns="0" rIns="0" bIns="0" rtlCol="0" anchor="t">
              <a:noAutofit/>
            </a:bodyPr>
            <a:lstStyle/>
            <a:p>
              <a:pPr algn="ctr"/>
              <a:r>
                <a:rPr lang="en-US" sz="2000" b="1" dirty="0">
                  <a:latin typeface="+mj-lt"/>
                </a:rPr>
                <a:t>Q2</a:t>
              </a:r>
            </a:p>
          </p:txBody>
        </p:sp>
        <p:sp>
          <p:nvSpPr>
            <p:cNvPr id="119" name="TextBox 118">
              <a:extLst>
                <a:ext uri="{FF2B5EF4-FFF2-40B4-BE49-F238E27FC236}">
                  <a16:creationId xmlns:a16="http://schemas.microsoft.com/office/drawing/2014/main" id="{CFDADCB5-67B5-4942-B6F6-AA99E0EC9383}"/>
                </a:ext>
              </a:extLst>
            </p:cNvPr>
            <p:cNvSpPr txBox="1"/>
            <p:nvPr/>
          </p:nvSpPr>
          <p:spPr>
            <a:xfrm>
              <a:off x="1222793" y="4971248"/>
              <a:ext cx="468662" cy="265905"/>
            </a:xfrm>
            <a:prstGeom prst="rect">
              <a:avLst/>
            </a:prstGeom>
            <a:noFill/>
          </p:spPr>
          <p:txBody>
            <a:bodyPr wrap="square" lIns="0" tIns="0" rIns="0" bIns="0" rtlCol="0" anchor="t">
              <a:noAutofit/>
            </a:bodyPr>
            <a:lstStyle/>
            <a:p>
              <a:pPr algn="ctr"/>
              <a:r>
                <a:rPr lang="en-US" sz="2000" b="1" dirty="0">
                  <a:latin typeface="+mj-lt"/>
                </a:rPr>
                <a:t>Q1</a:t>
              </a:r>
            </a:p>
          </p:txBody>
        </p:sp>
        <p:cxnSp>
          <p:nvCxnSpPr>
            <p:cNvPr id="120" name="Straight Connector 119">
              <a:extLst>
                <a:ext uri="{FF2B5EF4-FFF2-40B4-BE49-F238E27FC236}">
                  <a16:creationId xmlns:a16="http://schemas.microsoft.com/office/drawing/2014/main" id="{AEA52CAA-3BA0-0A4B-8C13-0F65F8FDB210}"/>
                </a:ext>
              </a:extLst>
            </p:cNvPr>
            <p:cNvCxnSpPr>
              <a:cxnSpLocks/>
            </p:cNvCxnSpPr>
            <p:nvPr/>
          </p:nvCxnSpPr>
          <p:spPr>
            <a:xfrm>
              <a:off x="1238181" y="4930474"/>
              <a:ext cx="5088044" cy="0"/>
            </a:xfrm>
            <a:prstGeom prst="line">
              <a:avLst/>
            </a:prstGeom>
            <a:ln w="28575" cap="rnd" cmpd="sng">
              <a:solidFill>
                <a:schemeClr val="tx1">
                  <a:lumMod val="60000"/>
                  <a:lumOff val="40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609E6AB6-2AA9-134F-8A89-FCA9A11683ED}"/>
                </a:ext>
              </a:extLst>
            </p:cNvPr>
            <p:cNvCxnSpPr>
              <a:cxnSpLocks/>
            </p:cNvCxnSpPr>
            <p:nvPr/>
          </p:nvCxnSpPr>
          <p:spPr>
            <a:xfrm>
              <a:off x="1238181" y="2878806"/>
              <a:ext cx="5088044" cy="0"/>
            </a:xfrm>
            <a:prstGeom prst="line">
              <a:avLst/>
            </a:prstGeom>
            <a:ln w="28575" cap="rnd" cmpd="sng">
              <a:solidFill>
                <a:schemeClr val="tx1">
                  <a:lumMod val="60000"/>
                  <a:lumOff val="4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3A239764-AF37-7445-B165-25E1B32CE0B7}"/>
                </a:ext>
              </a:extLst>
            </p:cNvPr>
            <p:cNvCxnSpPr>
              <a:cxnSpLocks/>
            </p:cNvCxnSpPr>
            <p:nvPr/>
          </p:nvCxnSpPr>
          <p:spPr>
            <a:xfrm>
              <a:off x="1238181" y="3873266"/>
              <a:ext cx="5088044" cy="0"/>
            </a:xfrm>
            <a:prstGeom prst="line">
              <a:avLst/>
            </a:prstGeom>
            <a:ln w="28575" cap="rnd" cmpd="sng">
              <a:solidFill>
                <a:schemeClr val="tx1">
                  <a:lumMod val="60000"/>
                  <a:lumOff val="4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125" name="Rectangle 124">
              <a:extLst>
                <a:ext uri="{FF2B5EF4-FFF2-40B4-BE49-F238E27FC236}">
                  <a16:creationId xmlns:a16="http://schemas.microsoft.com/office/drawing/2014/main" id="{ECEAD5B7-8402-4B46-A880-35328C7E4112}"/>
                </a:ext>
              </a:extLst>
            </p:cNvPr>
            <p:cNvSpPr/>
            <p:nvPr/>
          </p:nvSpPr>
          <p:spPr>
            <a:xfrm>
              <a:off x="545203" y="2698072"/>
              <a:ext cx="652073" cy="344168"/>
            </a:xfrm>
            <a:prstGeom prst="rect">
              <a:avLst/>
            </a:prstGeom>
          </p:spPr>
          <p:txBody>
            <a:bodyPr wrap="none">
              <a:spAutoFit/>
            </a:bodyPr>
            <a:lstStyle/>
            <a:p>
              <a:pPr algn="ctr"/>
              <a:r>
                <a:rPr lang="en-US" sz="2000" b="1" dirty="0">
                  <a:latin typeface="+mj-lt"/>
                </a:rPr>
                <a:t>2.0%</a:t>
              </a:r>
            </a:p>
          </p:txBody>
        </p:sp>
        <p:sp>
          <p:nvSpPr>
            <p:cNvPr id="126" name="Rectangle 125">
              <a:extLst>
                <a:ext uri="{FF2B5EF4-FFF2-40B4-BE49-F238E27FC236}">
                  <a16:creationId xmlns:a16="http://schemas.microsoft.com/office/drawing/2014/main" id="{3B98F675-5C05-0A47-9433-1E4AAD925C61}"/>
                </a:ext>
              </a:extLst>
            </p:cNvPr>
            <p:cNvSpPr/>
            <p:nvPr/>
          </p:nvSpPr>
          <p:spPr>
            <a:xfrm>
              <a:off x="699471" y="4756067"/>
              <a:ext cx="476276" cy="344168"/>
            </a:xfrm>
            <a:prstGeom prst="rect">
              <a:avLst/>
            </a:prstGeom>
          </p:spPr>
          <p:txBody>
            <a:bodyPr wrap="none">
              <a:spAutoFit/>
            </a:bodyPr>
            <a:lstStyle/>
            <a:p>
              <a:pPr algn="ctr"/>
              <a:r>
                <a:rPr lang="en-US" sz="2000" b="1">
                  <a:latin typeface="+mj-lt"/>
                </a:rPr>
                <a:t>0%</a:t>
              </a:r>
            </a:p>
          </p:txBody>
        </p:sp>
        <p:sp>
          <p:nvSpPr>
            <p:cNvPr id="127" name="Rectangle 126">
              <a:extLst>
                <a:ext uri="{FF2B5EF4-FFF2-40B4-BE49-F238E27FC236}">
                  <a16:creationId xmlns:a16="http://schemas.microsoft.com/office/drawing/2014/main" id="{9EAA9619-79D7-CA40-9AC2-4C1B5AEC4595}"/>
                </a:ext>
              </a:extLst>
            </p:cNvPr>
            <p:cNvSpPr/>
            <p:nvPr/>
          </p:nvSpPr>
          <p:spPr>
            <a:xfrm>
              <a:off x="547233" y="3723561"/>
              <a:ext cx="648016" cy="344168"/>
            </a:xfrm>
            <a:prstGeom prst="rect">
              <a:avLst/>
            </a:prstGeom>
          </p:spPr>
          <p:txBody>
            <a:bodyPr wrap="none">
              <a:spAutoFit/>
            </a:bodyPr>
            <a:lstStyle/>
            <a:p>
              <a:pPr algn="ctr"/>
              <a:r>
                <a:rPr lang="en-US" sz="2000" b="1" dirty="0">
                  <a:latin typeface="+mj-lt"/>
                </a:rPr>
                <a:t>1.0%</a:t>
              </a:r>
            </a:p>
          </p:txBody>
        </p:sp>
      </p:grpSp>
      <p:sp>
        <p:nvSpPr>
          <p:cNvPr id="131" name="Rounded Rectangle 130">
            <a:extLst>
              <a:ext uri="{FF2B5EF4-FFF2-40B4-BE49-F238E27FC236}">
                <a16:creationId xmlns:a16="http://schemas.microsoft.com/office/drawing/2014/main" id="{A1979AA1-F79E-3846-9304-7FF115D6846F}"/>
              </a:ext>
            </a:extLst>
          </p:cNvPr>
          <p:cNvSpPr/>
          <p:nvPr/>
        </p:nvSpPr>
        <p:spPr>
          <a:xfrm>
            <a:off x="1429425" y="5086855"/>
            <a:ext cx="5631105" cy="165295"/>
          </a:xfrm>
          <a:prstGeom prst="roundRect">
            <a:avLst>
              <a:gd name="adj" fmla="val 50000"/>
            </a:avLst>
          </a:prstGeom>
          <a:solidFill>
            <a:srgbClr val="FA64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Knowledge2017" panose="020B0506000000020004" pitchFamily="34" charset="0"/>
            </a:endParaRPr>
          </a:p>
        </p:txBody>
      </p:sp>
      <p:sp>
        <p:nvSpPr>
          <p:cNvPr id="133" name="Oval 132">
            <a:extLst>
              <a:ext uri="{FF2B5EF4-FFF2-40B4-BE49-F238E27FC236}">
                <a16:creationId xmlns:a16="http://schemas.microsoft.com/office/drawing/2014/main" id="{3D234C19-6FB7-E646-9618-A054A8648925}"/>
              </a:ext>
            </a:extLst>
          </p:cNvPr>
          <p:cNvSpPr/>
          <p:nvPr/>
        </p:nvSpPr>
        <p:spPr>
          <a:xfrm>
            <a:off x="6617579" y="4783423"/>
            <a:ext cx="640080" cy="640080"/>
          </a:xfrm>
          <a:prstGeom prst="ellipse">
            <a:avLst/>
          </a:prstGeom>
          <a:solidFill>
            <a:srgbClr val="FA6400"/>
          </a:solidFill>
        </p:spPr>
        <p:txBody>
          <a:bodyPr wrap="none" tIns="91440">
            <a:noAutofit/>
          </a:bodyPr>
          <a:lstStyle/>
          <a:p>
            <a:pPr algn="ctr"/>
            <a:r>
              <a:rPr lang="en-US" sz="2000" b="1" dirty="0">
                <a:solidFill>
                  <a:schemeClr val="bg1"/>
                </a:solidFill>
                <a:latin typeface="Arial Black" panose="020B0604020202020204" pitchFamily="34" charset="0"/>
                <a:cs typeface="Arial Black" panose="020B0604020202020204" pitchFamily="34" charset="0"/>
              </a:rPr>
              <a:t>0.4</a:t>
            </a:r>
          </a:p>
        </p:txBody>
      </p:sp>
      <p:sp>
        <p:nvSpPr>
          <p:cNvPr id="74" name="Rectangle 73">
            <a:extLst>
              <a:ext uri="{FF2B5EF4-FFF2-40B4-BE49-F238E27FC236}">
                <a16:creationId xmlns:a16="http://schemas.microsoft.com/office/drawing/2014/main" id="{69174F92-5211-814F-9DC4-20B78E39DDDE}"/>
              </a:ext>
            </a:extLst>
          </p:cNvPr>
          <p:cNvSpPr/>
          <p:nvPr/>
        </p:nvSpPr>
        <p:spPr>
          <a:xfrm>
            <a:off x="-5919" y="-3839"/>
            <a:ext cx="12187482" cy="2456997"/>
          </a:xfrm>
          <a:prstGeom prst="rect">
            <a:avLst/>
          </a:prstGeom>
          <a:gradFill>
            <a:gsLst>
              <a:gs pos="47000">
                <a:schemeClr val="tx1">
                  <a:lumMod val="50000"/>
                  <a:alpha val="43000"/>
                </a:schemeClr>
              </a:gs>
              <a:gs pos="0">
                <a:schemeClr val="tx1">
                  <a:lumMod val="50000"/>
                  <a:alpha val="75000"/>
                </a:schemeClr>
              </a:gs>
              <a:gs pos="99000">
                <a:schemeClr val="tx1">
                  <a:lumMod val="50000"/>
                  <a:alpha val="23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75" name="Rectangle 74">
            <a:extLst>
              <a:ext uri="{FF2B5EF4-FFF2-40B4-BE49-F238E27FC236}">
                <a16:creationId xmlns:a16="http://schemas.microsoft.com/office/drawing/2014/main" id="{54895A33-2612-2244-9DC7-A209323C4A20}"/>
              </a:ext>
            </a:extLst>
          </p:cNvPr>
          <p:cNvSpPr/>
          <p:nvPr/>
        </p:nvSpPr>
        <p:spPr>
          <a:xfrm>
            <a:off x="697506" y="906671"/>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76" name="Freeform 75">
            <a:extLst>
              <a:ext uri="{FF2B5EF4-FFF2-40B4-BE49-F238E27FC236}">
                <a16:creationId xmlns:a16="http://schemas.microsoft.com/office/drawing/2014/main" id="{097C36C3-84E6-3349-87BD-CFDCAC443B16}"/>
              </a:ext>
            </a:extLst>
          </p:cNvPr>
          <p:cNvSpPr/>
          <p:nvPr/>
        </p:nvSpPr>
        <p:spPr>
          <a:xfrm rot="10800000">
            <a:off x="7368765" y="2080123"/>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Freeform 76">
            <a:extLst>
              <a:ext uri="{FF2B5EF4-FFF2-40B4-BE49-F238E27FC236}">
                <a16:creationId xmlns:a16="http://schemas.microsoft.com/office/drawing/2014/main" id="{F3146E06-DDE9-4C44-93F0-C1B7DBF23205}"/>
              </a:ext>
            </a:extLst>
          </p:cNvPr>
          <p:cNvSpPr/>
          <p:nvPr/>
        </p:nvSpPr>
        <p:spPr>
          <a:xfrm rot="10800000">
            <a:off x="10054538" y="2080124"/>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7FBCEFDF-3DCD-FF46-A1EA-050B526B38E8}"/>
              </a:ext>
            </a:extLst>
          </p:cNvPr>
          <p:cNvSpPr/>
          <p:nvPr/>
        </p:nvSpPr>
        <p:spPr>
          <a:xfrm>
            <a:off x="650292" y="1271784"/>
            <a:ext cx="5334105" cy="1461490"/>
          </a:xfrm>
          <a:prstGeom prst="rect">
            <a:avLst/>
          </a:prstGeom>
        </p:spPr>
        <p:txBody>
          <a:bodyPr wrap="square" lIns="0" tIns="0" rIns="0" bIns="0">
            <a:spAutoFit/>
          </a:bodyPr>
          <a:lstStyle/>
          <a:p>
            <a:pPr defTabSz="914126">
              <a:spcBef>
                <a:spcPts val="400"/>
              </a:spcBef>
              <a:defRPr/>
            </a:pPr>
            <a:r>
              <a:rPr lang="en-US" sz="9497" dirty="0">
                <a:solidFill>
                  <a:prstClr val="white">
                    <a:alpha val="60000"/>
                  </a:prstClr>
                </a:solidFill>
              </a:rPr>
              <a:t>DEMAND</a:t>
            </a:r>
          </a:p>
        </p:txBody>
      </p:sp>
    </p:spTree>
    <p:extLst>
      <p:ext uri="{BB962C8B-B14F-4D97-AF65-F5344CB8AC3E}">
        <p14:creationId xmlns:p14="http://schemas.microsoft.com/office/powerpoint/2010/main" val="409489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7"/>
                                        </p:tgtEl>
                                        <p:attrNameLst>
                                          <p:attrName>style.visibility</p:attrName>
                                        </p:attrNameLst>
                                      </p:cBhvr>
                                      <p:to>
                                        <p:strVal val="visible"/>
                                      </p:to>
                                    </p:set>
                                    <p:animEffect transition="in" filter="fade">
                                      <p:cBhvr>
                                        <p:cTn id="11" dur="500"/>
                                        <p:tgtEl>
                                          <p:spTgt spid="11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1"/>
                                        </p:tgtEl>
                                        <p:attrNameLst>
                                          <p:attrName>style.visibility</p:attrName>
                                        </p:attrNameLst>
                                      </p:cBhvr>
                                      <p:to>
                                        <p:strVal val="visible"/>
                                      </p:to>
                                    </p:set>
                                    <p:animEffect transition="in" filter="wipe(left)">
                                      <p:cBhvr>
                                        <p:cTn id="15" dur="500"/>
                                        <p:tgtEl>
                                          <p:spTgt spid="131"/>
                                        </p:tgtEl>
                                      </p:cBhvr>
                                    </p:animEffect>
                                  </p:childTnLst>
                                </p:cTn>
                              </p:par>
                              <p:par>
                                <p:cTn id="16" presetID="6" presetClass="entr" presetSubtype="32" fill="hold" grpId="0" nodeType="withEffect">
                                  <p:stCondLst>
                                    <p:cond delay="400"/>
                                  </p:stCondLst>
                                  <p:childTnLst>
                                    <p:set>
                                      <p:cBhvr>
                                        <p:cTn id="17" dur="1" fill="hold">
                                          <p:stCondLst>
                                            <p:cond delay="0"/>
                                          </p:stCondLst>
                                        </p:cTn>
                                        <p:tgtEl>
                                          <p:spTgt spid="133"/>
                                        </p:tgtEl>
                                        <p:attrNameLst>
                                          <p:attrName>style.visibility</p:attrName>
                                        </p:attrNameLst>
                                      </p:cBhvr>
                                      <p:to>
                                        <p:strVal val="visible"/>
                                      </p:to>
                                    </p:set>
                                    <p:animEffect transition="in" filter="circle(out)">
                                      <p:cBhvr>
                                        <p:cTn id="18" dur="200"/>
                                        <p:tgtEl>
                                          <p:spTgt spid="13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6"/>
                                        </p:tgtEl>
                                        <p:attrNameLst>
                                          <p:attrName>style.visibility</p:attrName>
                                        </p:attrNameLst>
                                      </p:cBhvr>
                                      <p:to>
                                        <p:strVal val="visible"/>
                                      </p:to>
                                    </p:set>
                                    <p:animEffect transition="in" filter="fade">
                                      <p:cBhvr>
                                        <p:cTn id="23" dur="500"/>
                                        <p:tgtEl>
                                          <p:spTgt spid="116"/>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P spid="131" grpId="0" animBg="1"/>
      <p:bldP spid="1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77" descr="A hand holding a remote control&#10;&#10;Description automatically generated">
            <a:extLst>
              <a:ext uri="{FF2B5EF4-FFF2-40B4-BE49-F238E27FC236}">
                <a16:creationId xmlns:a16="http://schemas.microsoft.com/office/drawing/2014/main" id="{82B622C0-9163-A849-8FFE-50768F56D8D1}"/>
              </a:ext>
            </a:extLst>
          </p:cNvPr>
          <p:cNvPicPr>
            <a:picLocks noChangeAspect="1"/>
          </p:cNvPicPr>
          <p:nvPr/>
        </p:nvPicPr>
        <p:blipFill rotWithShape="1">
          <a:blip r:embed="rId3"/>
          <a:srcRect t="48719" b="15590"/>
          <a:stretch/>
        </p:blipFill>
        <p:spPr>
          <a:xfrm>
            <a:off x="0" y="-7777"/>
            <a:ext cx="12193207" cy="2450415"/>
          </a:xfrm>
          <a:prstGeom prst="rect">
            <a:avLst/>
          </a:prstGeom>
        </p:spPr>
      </p:pic>
      <p:grpSp>
        <p:nvGrpSpPr>
          <p:cNvPr id="38" name="Group 37">
            <a:extLst>
              <a:ext uri="{FF2B5EF4-FFF2-40B4-BE49-F238E27FC236}">
                <a16:creationId xmlns:a16="http://schemas.microsoft.com/office/drawing/2014/main" id="{4DD453AF-43B4-2E41-BCC9-8DB2B9632506}"/>
              </a:ext>
            </a:extLst>
          </p:cNvPr>
          <p:cNvGrpSpPr/>
          <p:nvPr/>
        </p:nvGrpSpPr>
        <p:grpSpPr>
          <a:xfrm>
            <a:off x="2636658" y="3073937"/>
            <a:ext cx="1981745" cy="2395926"/>
            <a:chOff x="1751155" y="3870893"/>
            <a:chExt cx="1746504" cy="2111520"/>
          </a:xfrm>
        </p:grpSpPr>
        <p:grpSp>
          <p:nvGrpSpPr>
            <p:cNvPr id="36" name="Group 35">
              <a:extLst>
                <a:ext uri="{FF2B5EF4-FFF2-40B4-BE49-F238E27FC236}">
                  <a16:creationId xmlns:a16="http://schemas.microsoft.com/office/drawing/2014/main" id="{CBABFF88-777F-5247-B6A3-F0B90EA6078B}"/>
                </a:ext>
              </a:extLst>
            </p:cNvPr>
            <p:cNvGrpSpPr/>
            <p:nvPr/>
          </p:nvGrpSpPr>
          <p:grpSpPr>
            <a:xfrm rot="10800000">
              <a:off x="1751155" y="3870893"/>
              <a:ext cx="1746504" cy="2111520"/>
              <a:chOff x="2064794" y="4196366"/>
              <a:chExt cx="1746504" cy="2111520"/>
            </a:xfrm>
          </p:grpSpPr>
          <p:sp>
            <p:nvSpPr>
              <p:cNvPr id="69" name="Freeform 68">
                <a:extLst>
                  <a:ext uri="{FF2B5EF4-FFF2-40B4-BE49-F238E27FC236}">
                    <a16:creationId xmlns:a16="http://schemas.microsoft.com/office/drawing/2014/main" id="{361374BB-5C64-744F-88AB-5506E052E2B5}"/>
                  </a:ext>
                </a:extLst>
              </p:cNvPr>
              <p:cNvSpPr/>
              <p:nvPr/>
            </p:nvSpPr>
            <p:spPr>
              <a:xfrm>
                <a:off x="2064794" y="4196366"/>
                <a:ext cx="1746504" cy="2111520"/>
              </a:xfrm>
              <a:custGeom>
                <a:avLst/>
                <a:gdLst>
                  <a:gd name="connsiteX0" fmla="*/ 873253 w 1746504"/>
                  <a:gd name="connsiteY0" fmla="*/ 0 h 2111520"/>
                  <a:gd name="connsiteX1" fmla="*/ 1746504 w 1746504"/>
                  <a:gd name="connsiteY1" fmla="*/ 897218 h 2111520"/>
                  <a:gd name="connsiteX2" fmla="*/ 1412075 w 1746504"/>
                  <a:gd name="connsiteY2" fmla="*/ 897218 h 2111520"/>
                  <a:gd name="connsiteX3" fmla="*/ 1412075 w 1746504"/>
                  <a:gd name="connsiteY3" fmla="*/ 1567662 h 2111520"/>
                  <a:gd name="connsiteX4" fmla="*/ 1412748 w 1746504"/>
                  <a:gd name="connsiteY4" fmla="*/ 1574310 h 2111520"/>
                  <a:gd name="connsiteX5" fmla="*/ 873252 w 1746504"/>
                  <a:gd name="connsiteY5" fmla="*/ 2111520 h 2111520"/>
                  <a:gd name="connsiteX6" fmla="*/ 333756 w 1746504"/>
                  <a:gd name="connsiteY6" fmla="*/ 1574310 h 2111520"/>
                  <a:gd name="connsiteX7" fmla="*/ 334429 w 1746504"/>
                  <a:gd name="connsiteY7" fmla="*/ 1567662 h 2111520"/>
                  <a:gd name="connsiteX8" fmla="*/ 334429 w 1746504"/>
                  <a:gd name="connsiteY8" fmla="*/ 897218 h 2111520"/>
                  <a:gd name="connsiteX9" fmla="*/ 0 w 1746504"/>
                  <a:gd name="connsiteY9" fmla="*/ 897218 h 211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6504" h="2111520">
                    <a:moveTo>
                      <a:pt x="873253" y="0"/>
                    </a:moveTo>
                    <a:lnTo>
                      <a:pt x="1746504" y="897218"/>
                    </a:lnTo>
                    <a:lnTo>
                      <a:pt x="1412075" y="897218"/>
                    </a:lnTo>
                    <a:lnTo>
                      <a:pt x="1412075" y="1567662"/>
                    </a:lnTo>
                    <a:lnTo>
                      <a:pt x="1412748" y="1574310"/>
                    </a:lnTo>
                    <a:cubicBezTo>
                      <a:pt x="1412748" y="1871003"/>
                      <a:pt x="1171207" y="2111520"/>
                      <a:pt x="873252" y="2111520"/>
                    </a:cubicBezTo>
                    <a:cubicBezTo>
                      <a:pt x="575297" y="2111520"/>
                      <a:pt x="333756" y="1871003"/>
                      <a:pt x="333756" y="1574310"/>
                    </a:cubicBezTo>
                    <a:lnTo>
                      <a:pt x="334429" y="1567662"/>
                    </a:lnTo>
                    <a:lnTo>
                      <a:pt x="334429" y="897218"/>
                    </a:lnTo>
                    <a:lnTo>
                      <a:pt x="0" y="897218"/>
                    </a:ln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C855337-088B-3140-870B-6984A946635B}"/>
                  </a:ext>
                </a:extLst>
              </p:cNvPr>
              <p:cNvSpPr/>
              <p:nvPr/>
            </p:nvSpPr>
            <p:spPr>
              <a:xfrm>
                <a:off x="2511149" y="5340573"/>
                <a:ext cx="854521" cy="85452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Graphic 17">
                <a:extLst>
                  <a:ext uri="{FF2B5EF4-FFF2-40B4-BE49-F238E27FC236}">
                    <a16:creationId xmlns:a16="http://schemas.microsoft.com/office/drawing/2014/main" id="{714612B3-F2D3-E440-AF95-F93FB08B56F2}"/>
                  </a:ext>
                </a:extLst>
              </p:cNvPr>
              <p:cNvSpPr/>
              <p:nvPr/>
            </p:nvSpPr>
            <p:spPr>
              <a:xfrm rot="10800000">
                <a:off x="2747697" y="5410981"/>
                <a:ext cx="380698" cy="729671"/>
              </a:xfrm>
              <a:custGeom>
                <a:avLst/>
                <a:gdLst>
                  <a:gd name="connsiteX0" fmla="*/ 30080 w 334736"/>
                  <a:gd name="connsiteY0" fmla="*/ 429657 h 641577"/>
                  <a:gd name="connsiteX1" fmla="*/ 92810 w 334736"/>
                  <a:gd name="connsiteY1" fmla="*/ 451475 h 641577"/>
                  <a:gd name="connsiteX2" fmla="*/ 160994 w 334736"/>
                  <a:gd name="connsiteY2" fmla="*/ 461024 h 641577"/>
                  <a:gd name="connsiteX3" fmla="*/ 205653 w 334736"/>
                  <a:gd name="connsiteY3" fmla="*/ 451136 h 641577"/>
                  <a:gd name="connsiteX4" fmla="*/ 221679 w 334736"/>
                  <a:gd name="connsiteY4" fmla="*/ 421475 h 641577"/>
                  <a:gd name="connsiteX5" fmla="*/ 205997 w 334736"/>
                  <a:gd name="connsiteY5" fmla="*/ 391813 h 641577"/>
                  <a:gd name="connsiteX6" fmla="*/ 152812 w 334736"/>
                  <a:gd name="connsiteY6" fmla="*/ 370334 h 641577"/>
                  <a:gd name="connsiteX7" fmla="*/ 92127 w 334736"/>
                  <a:gd name="connsiteY7" fmla="*/ 349539 h 641577"/>
                  <a:gd name="connsiteX8" fmla="*/ 45078 w 334736"/>
                  <a:gd name="connsiteY8" fmla="*/ 323969 h 641577"/>
                  <a:gd name="connsiteX9" fmla="*/ 14394 w 334736"/>
                  <a:gd name="connsiteY9" fmla="*/ 286804 h 641577"/>
                  <a:gd name="connsiteX10" fmla="*/ 3487 w 334736"/>
                  <a:gd name="connsiteY10" fmla="*/ 230549 h 641577"/>
                  <a:gd name="connsiteX11" fmla="*/ 11330 w 334736"/>
                  <a:gd name="connsiteY11" fmla="*/ 178047 h 641577"/>
                  <a:gd name="connsiteX12" fmla="*/ 33492 w 334736"/>
                  <a:gd name="connsiteY12" fmla="*/ 139180 h 641577"/>
                  <a:gd name="connsiteX13" fmla="*/ 67584 w 334736"/>
                  <a:gd name="connsiteY13" fmla="*/ 112588 h 641577"/>
                  <a:gd name="connsiteX14" fmla="*/ 111221 w 334736"/>
                  <a:gd name="connsiteY14" fmla="*/ 97585 h 641577"/>
                  <a:gd name="connsiteX15" fmla="*/ 111221 w 334736"/>
                  <a:gd name="connsiteY15" fmla="*/ 3487 h 641577"/>
                  <a:gd name="connsiteX16" fmla="*/ 221684 w 334736"/>
                  <a:gd name="connsiteY16" fmla="*/ 3487 h 641577"/>
                  <a:gd name="connsiteX17" fmla="*/ 221684 w 334736"/>
                  <a:gd name="connsiteY17" fmla="*/ 96218 h 641577"/>
                  <a:gd name="connsiteX18" fmla="*/ 272824 w 334736"/>
                  <a:gd name="connsiteY18" fmla="*/ 107129 h 641577"/>
                  <a:gd name="connsiteX19" fmla="*/ 319189 w 334736"/>
                  <a:gd name="connsiteY19" fmla="*/ 126219 h 641577"/>
                  <a:gd name="connsiteX20" fmla="*/ 294647 w 334736"/>
                  <a:gd name="connsiteY20" fmla="*/ 210772 h 641577"/>
                  <a:gd name="connsiteX21" fmla="*/ 236007 w 334736"/>
                  <a:gd name="connsiteY21" fmla="*/ 189633 h 641577"/>
                  <a:gd name="connsiteX22" fmla="*/ 167140 w 334736"/>
                  <a:gd name="connsiteY22" fmla="*/ 180088 h 641577"/>
                  <a:gd name="connsiteX23" fmla="*/ 125884 w 334736"/>
                  <a:gd name="connsiteY23" fmla="*/ 188610 h 641577"/>
                  <a:gd name="connsiteX24" fmla="*/ 113271 w 334736"/>
                  <a:gd name="connsiteY24" fmla="*/ 216904 h 641577"/>
                  <a:gd name="connsiteX25" fmla="*/ 118385 w 334736"/>
                  <a:gd name="connsiteY25" fmla="*/ 233953 h 641577"/>
                  <a:gd name="connsiteX26" fmla="*/ 133727 w 334736"/>
                  <a:gd name="connsiteY26" fmla="*/ 246226 h 641577"/>
                  <a:gd name="connsiteX27" fmla="*/ 160320 w 334736"/>
                  <a:gd name="connsiteY27" fmla="*/ 257133 h 641577"/>
                  <a:gd name="connsiteX28" fmla="*/ 199182 w 334736"/>
                  <a:gd name="connsiteY28" fmla="*/ 270090 h 641577"/>
                  <a:gd name="connsiteX29" fmla="*/ 248965 w 334736"/>
                  <a:gd name="connsiteY29" fmla="*/ 289184 h 641577"/>
                  <a:gd name="connsiteX30" fmla="*/ 291234 w 334736"/>
                  <a:gd name="connsiteY30" fmla="*/ 314754 h 641577"/>
                  <a:gd name="connsiteX31" fmla="*/ 320556 w 334736"/>
                  <a:gd name="connsiteY31" fmla="*/ 352598 h 641577"/>
                  <a:gd name="connsiteX32" fmla="*/ 331472 w 334736"/>
                  <a:gd name="connsiteY32" fmla="*/ 409196 h 641577"/>
                  <a:gd name="connsiteX33" fmla="*/ 301806 w 334736"/>
                  <a:gd name="connsiteY33" fmla="*/ 496130 h 641577"/>
                  <a:gd name="connsiteX34" fmla="*/ 220331 w 334736"/>
                  <a:gd name="connsiteY34" fmla="*/ 542840 h 641577"/>
                  <a:gd name="connsiteX35" fmla="*/ 220331 w 334736"/>
                  <a:gd name="connsiteY35" fmla="*/ 638979 h 641577"/>
                  <a:gd name="connsiteX36" fmla="*/ 109868 w 334736"/>
                  <a:gd name="connsiteY36" fmla="*/ 638979 h 641577"/>
                  <a:gd name="connsiteX37" fmla="*/ 109868 w 334736"/>
                  <a:gd name="connsiteY37" fmla="*/ 546247 h 641577"/>
                  <a:gd name="connsiteX38" fmla="*/ 56003 w 334736"/>
                  <a:gd name="connsiteY38" fmla="*/ 534318 h 641577"/>
                  <a:gd name="connsiteX39" fmla="*/ 5546 w 334736"/>
                  <a:gd name="connsiteY39" fmla="*/ 516247 h 641577"/>
                  <a:gd name="connsiteX40" fmla="*/ 30080 w 334736"/>
                  <a:gd name="connsiteY40" fmla="*/ 429657 h 64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4736" h="641577">
                    <a:moveTo>
                      <a:pt x="30080" y="429657"/>
                    </a:moveTo>
                    <a:cubicBezTo>
                      <a:pt x="48713" y="437839"/>
                      <a:pt x="69625" y="445115"/>
                      <a:pt x="92810" y="451475"/>
                    </a:cubicBezTo>
                    <a:cubicBezTo>
                      <a:pt x="115991" y="457844"/>
                      <a:pt x="138720" y="461024"/>
                      <a:pt x="160994" y="461024"/>
                    </a:cubicBezTo>
                    <a:cubicBezTo>
                      <a:pt x="180088" y="461024"/>
                      <a:pt x="194970" y="457728"/>
                      <a:pt x="205653" y="451136"/>
                    </a:cubicBezTo>
                    <a:cubicBezTo>
                      <a:pt x="216332" y="444553"/>
                      <a:pt x="221679" y="434664"/>
                      <a:pt x="221679" y="421475"/>
                    </a:cubicBezTo>
                    <a:cubicBezTo>
                      <a:pt x="221679" y="408294"/>
                      <a:pt x="216449" y="398406"/>
                      <a:pt x="205997" y="391813"/>
                    </a:cubicBezTo>
                    <a:cubicBezTo>
                      <a:pt x="195537" y="385230"/>
                      <a:pt x="177805" y="378070"/>
                      <a:pt x="152812" y="370334"/>
                    </a:cubicBezTo>
                    <a:cubicBezTo>
                      <a:pt x="130533" y="363514"/>
                      <a:pt x="110300" y="356591"/>
                      <a:pt x="92127" y="349539"/>
                    </a:cubicBezTo>
                    <a:cubicBezTo>
                      <a:pt x="73939" y="342491"/>
                      <a:pt x="58258" y="333969"/>
                      <a:pt x="45078" y="323969"/>
                    </a:cubicBezTo>
                    <a:cubicBezTo>
                      <a:pt x="31888" y="313978"/>
                      <a:pt x="21660" y="301588"/>
                      <a:pt x="14394" y="286804"/>
                    </a:cubicBezTo>
                    <a:cubicBezTo>
                      <a:pt x="7118" y="272038"/>
                      <a:pt x="3487" y="253288"/>
                      <a:pt x="3487" y="230549"/>
                    </a:cubicBezTo>
                    <a:cubicBezTo>
                      <a:pt x="3487" y="210554"/>
                      <a:pt x="6095" y="193050"/>
                      <a:pt x="11330" y="178047"/>
                    </a:cubicBezTo>
                    <a:cubicBezTo>
                      <a:pt x="16551" y="163044"/>
                      <a:pt x="23943" y="150092"/>
                      <a:pt x="33492" y="139180"/>
                    </a:cubicBezTo>
                    <a:cubicBezTo>
                      <a:pt x="43041" y="128269"/>
                      <a:pt x="54395" y="119408"/>
                      <a:pt x="67584" y="112588"/>
                    </a:cubicBezTo>
                    <a:cubicBezTo>
                      <a:pt x="80764" y="105767"/>
                      <a:pt x="95307" y="100769"/>
                      <a:pt x="111221" y="97585"/>
                    </a:cubicBezTo>
                    <a:lnTo>
                      <a:pt x="111221" y="3487"/>
                    </a:lnTo>
                    <a:lnTo>
                      <a:pt x="221684" y="3487"/>
                    </a:lnTo>
                    <a:lnTo>
                      <a:pt x="221684" y="96218"/>
                    </a:lnTo>
                    <a:cubicBezTo>
                      <a:pt x="240317" y="98496"/>
                      <a:pt x="257361" y="102132"/>
                      <a:pt x="272824" y="107129"/>
                    </a:cubicBezTo>
                    <a:cubicBezTo>
                      <a:pt x="288268" y="112137"/>
                      <a:pt x="303731" y="118497"/>
                      <a:pt x="319189" y="126219"/>
                    </a:cubicBezTo>
                    <a:lnTo>
                      <a:pt x="294647" y="210772"/>
                    </a:lnTo>
                    <a:cubicBezTo>
                      <a:pt x="276915" y="203045"/>
                      <a:pt x="257361" y="196007"/>
                      <a:pt x="236007" y="189633"/>
                    </a:cubicBezTo>
                    <a:cubicBezTo>
                      <a:pt x="214631" y="183273"/>
                      <a:pt x="191683" y="180088"/>
                      <a:pt x="167140" y="180088"/>
                    </a:cubicBezTo>
                    <a:cubicBezTo>
                      <a:pt x="148046" y="180088"/>
                      <a:pt x="134294" y="182933"/>
                      <a:pt x="125884" y="188610"/>
                    </a:cubicBezTo>
                    <a:cubicBezTo>
                      <a:pt x="117469" y="194300"/>
                      <a:pt x="113271" y="203724"/>
                      <a:pt x="113271" y="216904"/>
                    </a:cubicBezTo>
                    <a:cubicBezTo>
                      <a:pt x="113271" y="223725"/>
                      <a:pt x="114977" y="229410"/>
                      <a:pt x="118385" y="233953"/>
                    </a:cubicBezTo>
                    <a:cubicBezTo>
                      <a:pt x="121793" y="238504"/>
                      <a:pt x="126907" y="242591"/>
                      <a:pt x="133727" y="246226"/>
                    </a:cubicBezTo>
                    <a:cubicBezTo>
                      <a:pt x="140543" y="249871"/>
                      <a:pt x="149408" y="253502"/>
                      <a:pt x="160320" y="257133"/>
                    </a:cubicBezTo>
                    <a:cubicBezTo>
                      <a:pt x="171231" y="260778"/>
                      <a:pt x="184184" y="265092"/>
                      <a:pt x="199182" y="270090"/>
                    </a:cubicBezTo>
                    <a:cubicBezTo>
                      <a:pt x="216453" y="276004"/>
                      <a:pt x="233046" y="282364"/>
                      <a:pt x="248965" y="289184"/>
                    </a:cubicBezTo>
                    <a:cubicBezTo>
                      <a:pt x="264865" y="296000"/>
                      <a:pt x="278965" y="304521"/>
                      <a:pt x="291234" y="314754"/>
                    </a:cubicBezTo>
                    <a:cubicBezTo>
                      <a:pt x="303513" y="324982"/>
                      <a:pt x="313280" y="337595"/>
                      <a:pt x="320556" y="352598"/>
                    </a:cubicBezTo>
                    <a:cubicBezTo>
                      <a:pt x="327818" y="367601"/>
                      <a:pt x="331472" y="386467"/>
                      <a:pt x="331472" y="409196"/>
                    </a:cubicBezTo>
                    <a:cubicBezTo>
                      <a:pt x="331472" y="444204"/>
                      <a:pt x="321584" y="473182"/>
                      <a:pt x="301806" y="496130"/>
                    </a:cubicBezTo>
                    <a:cubicBezTo>
                      <a:pt x="282038" y="519087"/>
                      <a:pt x="254869" y="534652"/>
                      <a:pt x="220331" y="542840"/>
                    </a:cubicBezTo>
                    <a:lnTo>
                      <a:pt x="220331" y="638979"/>
                    </a:lnTo>
                    <a:lnTo>
                      <a:pt x="109868" y="638979"/>
                    </a:lnTo>
                    <a:lnTo>
                      <a:pt x="109868" y="546247"/>
                    </a:lnTo>
                    <a:cubicBezTo>
                      <a:pt x="91680" y="543523"/>
                      <a:pt x="73730" y="539548"/>
                      <a:pt x="56003" y="534318"/>
                    </a:cubicBezTo>
                    <a:cubicBezTo>
                      <a:pt x="38276" y="529097"/>
                      <a:pt x="21451" y="523067"/>
                      <a:pt x="5546" y="516247"/>
                    </a:cubicBezTo>
                    <a:lnTo>
                      <a:pt x="30080" y="429657"/>
                    </a:lnTo>
                    <a:close/>
                  </a:path>
                </a:pathLst>
              </a:custGeom>
              <a:solidFill>
                <a:schemeClr val="tx2"/>
              </a:solidFill>
              <a:ln w="9525" cap="flat">
                <a:noFill/>
                <a:prstDash val="solid"/>
                <a:miter/>
              </a:ln>
            </p:spPr>
            <p:txBody>
              <a:bodyPr rtlCol="0" anchor="ctr"/>
              <a:lstStyle/>
              <a:p>
                <a:endParaRPr lang="en-US"/>
              </a:p>
            </p:txBody>
          </p:sp>
        </p:grpSp>
        <p:sp>
          <p:nvSpPr>
            <p:cNvPr id="72" name="TextBox 71">
              <a:extLst>
                <a:ext uri="{FF2B5EF4-FFF2-40B4-BE49-F238E27FC236}">
                  <a16:creationId xmlns:a16="http://schemas.microsoft.com/office/drawing/2014/main" id="{27312092-60FC-3E4C-BB05-8E41F7B112F5}"/>
                </a:ext>
              </a:extLst>
            </p:cNvPr>
            <p:cNvSpPr txBox="1"/>
            <p:nvPr/>
          </p:nvSpPr>
          <p:spPr>
            <a:xfrm>
              <a:off x="2094936" y="5102602"/>
              <a:ext cx="1022991" cy="486859"/>
            </a:xfrm>
            <a:prstGeom prst="rect">
              <a:avLst/>
            </a:prstGeom>
            <a:noFill/>
          </p:spPr>
          <p:txBody>
            <a:bodyPr wrap="square" lIns="0" tIns="0" rIns="0" bIns="0" rtlCol="0" anchor="t">
              <a:noAutofit/>
            </a:bodyPr>
            <a:lstStyle/>
            <a:p>
              <a:pPr algn="ctr">
                <a:lnSpc>
                  <a:spcPct val="90000"/>
                </a:lnSpc>
              </a:pPr>
              <a:r>
                <a:rPr lang="en-US" sz="1600" b="1" dirty="0">
                  <a:solidFill>
                    <a:schemeClr val="tx2"/>
                  </a:solidFill>
                  <a:latin typeface="Arial Black" panose="020B0604020202020204" pitchFamily="34" charset="0"/>
                  <a:cs typeface="Arial Black" panose="020B0604020202020204" pitchFamily="34" charset="0"/>
                </a:rPr>
                <a:t>Overall</a:t>
              </a:r>
              <a:br>
                <a:rPr lang="en-US" sz="1600" b="1" dirty="0">
                  <a:solidFill>
                    <a:schemeClr val="tx2"/>
                  </a:solidFill>
                  <a:latin typeface="Arial Black" panose="020B0604020202020204" pitchFamily="34" charset="0"/>
                  <a:cs typeface="Arial Black" panose="020B0604020202020204" pitchFamily="34" charset="0"/>
                </a:rPr>
              </a:br>
              <a:r>
                <a:rPr lang="en-US" sz="1600" b="1" dirty="0">
                  <a:solidFill>
                    <a:schemeClr val="tx2"/>
                  </a:solidFill>
                  <a:latin typeface="Arial Black" panose="020B0604020202020204" pitchFamily="34" charset="0"/>
                  <a:cs typeface="Arial Black" panose="020B0604020202020204" pitchFamily="34" charset="0"/>
                </a:rPr>
                <a:t>Spend</a:t>
              </a:r>
            </a:p>
          </p:txBody>
        </p:sp>
      </p:grpSp>
      <p:grpSp>
        <p:nvGrpSpPr>
          <p:cNvPr id="37" name="Group 36">
            <a:extLst>
              <a:ext uri="{FF2B5EF4-FFF2-40B4-BE49-F238E27FC236}">
                <a16:creationId xmlns:a16="http://schemas.microsoft.com/office/drawing/2014/main" id="{668BED87-8618-C143-A0C7-04B68526CF4A}"/>
              </a:ext>
            </a:extLst>
          </p:cNvPr>
          <p:cNvGrpSpPr/>
          <p:nvPr/>
        </p:nvGrpSpPr>
        <p:grpSpPr>
          <a:xfrm>
            <a:off x="5150192" y="3140231"/>
            <a:ext cx="1981745" cy="2395926"/>
            <a:chOff x="10429896" y="3127807"/>
            <a:chExt cx="1746504" cy="2111520"/>
          </a:xfrm>
        </p:grpSpPr>
        <p:sp>
          <p:nvSpPr>
            <p:cNvPr id="68" name="Freeform 67">
              <a:extLst>
                <a:ext uri="{FF2B5EF4-FFF2-40B4-BE49-F238E27FC236}">
                  <a16:creationId xmlns:a16="http://schemas.microsoft.com/office/drawing/2014/main" id="{A6A7BFF2-088C-4D4B-86DF-193C095DD554}"/>
                </a:ext>
              </a:extLst>
            </p:cNvPr>
            <p:cNvSpPr/>
            <p:nvPr/>
          </p:nvSpPr>
          <p:spPr>
            <a:xfrm>
              <a:off x="10429896" y="3127807"/>
              <a:ext cx="1746504" cy="2111520"/>
            </a:xfrm>
            <a:custGeom>
              <a:avLst/>
              <a:gdLst>
                <a:gd name="connsiteX0" fmla="*/ 873253 w 1746504"/>
                <a:gd name="connsiteY0" fmla="*/ 0 h 2111520"/>
                <a:gd name="connsiteX1" fmla="*/ 1746504 w 1746504"/>
                <a:gd name="connsiteY1" fmla="*/ 897218 h 2111520"/>
                <a:gd name="connsiteX2" fmla="*/ 1412075 w 1746504"/>
                <a:gd name="connsiteY2" fmla="*/ 897218 h 2111520"/>
                <a:gd name="connsiteX3" fmla="*/ 1412075 w 1746504"/>
                <a:gd name="connsiteY3" fmla="*/ 1567662 h 2111520"/>
                <a:gd name="connsiteX4" fmla="*/ 1412748 w 1746504"/>
                <a:gd name="connsiteY4" fmla="*/ 1574310 h 2111520"/>
                <a:gd name="connsiteX5" fmla="*/ 873252 w 1746504"/>
                <a:gd name="connsiteY5" fmla="*/ 2111520 h 2111520"/>
                <a:gd name="connsiteX6" fmla="*/ 333756 w 1746504"/>
                <a:gd name="connsiteY6" fmla="*/ 1574310 h 2111520"/>
                <a:gd name="connsiteX7" fmla="*/ 334429 w 1746504"/>
                <a:gd name="connsiteY7" fmla="*/ 1567662 h 2111520"/>
                <a:gd name="connsiteX8" fmla="*/ 334429 w 1746504"/>
                <a:gd name="connsiteY8" fmla="*/ 897218 h 2111520"/>
                <a:gd name="connsiteX9" fmla="*/ 0 w 1746504"/>
                <a:gd name="connsiteY9" fmla="*/ 897218 h 211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6504" h="2111520">
                  <a:moveTo>
                    <a:pt x="873253" y="0"/>
                  </a:moveTo>
                  <a:lnTo>
                    <a:pt x="1746504" y="897218"/>
                  </a:lnTo>
                  <a:lnTo>
                    <a:pt x="1412075" y="897218"/>
                  </a:lnTo>
                  <a:lnTo>
                    <a:pt x="1412075" y="1567662"/>
                  </a:lnTo>
                  <a:lnTo>
                    <a:pt x="1412748" y="1574310"/>
                  </a:lnTo>
                  <a:cubicBezTo>
                    <a:pt x="1412748" y="1871003"/>
                    <a:pt x="1171207" y="2111520"/>
                    <a:pt x="873252" y="2111520"/>
                  </a:cubicBezTo>
                  <a:cubicBezTo>
                    <a:pt x="575297" y="2111520"/>
                    <a:pt x="333756" y="1871003"/>
                    <a:pt x="333756" y="1574310"/>
                  </a:cubicBezTo>
                  <a:lnTo>
                    <a:pt x="334429" y="1567662"/>
                  </a:lnTo>
                  <a:lnTo>
                    <a:pt x="334429" y="897218"/>
                  </a:lnTo>
                  <a:lnTo>
                    <a:pt x="0" y="897218"/>
                  </a:ln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2AA5879-A78F-AF47-BF88-727BDD80C37D}"/>
                </a:ext>
              </a:extLst>
            </p:cNvPr>
            <p:cNvSpPr/>
            <p:nvPr/>
          </p:nvSpPr>
          <p:spPr>
            <a:xfrm>
              <a:off x="10876251" y="4272014"/>
              <a:ext cx="854521" cy="85452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29B62F85-F885-F84F-9CFE-E134E464745C}"/>
                </a:ext>
              </a:extLst>
            </p:cNvPr>
            <p:cNvSpPr txBox="1"/>
            <p:nvPr/>
          </p:nvSpPr>
          <p:spPr>
            <a:xfrm>
              <a:off x="10888831" y="4641965"/>
              <a:ext cx="797105" cy="224900"/>
            </a:xfrm>
            <a:prstGeom prst="rect">
              <a:avLst/>
            </a:prstGeom>
            <a:noFill/>
          </p:spPr>
          <p:txBody>
            <a:bodyPr wrap="square" lIns="0" tIns="0" rIns="0" bIns="0" rtlCol="0" anchor="t">
              <a:noAutofit/>
            </a:bodyPr>
            <a:lstStyle/>
            <a:p>
              <a:pPr algn="ctr">
                <a:lnSpc>
                  <a:spcPct val="90000"/>
                </a:lnSpc>
              </a:pPr>
              <a:r>
                <a:rPr lang="en-US" sz="1500" b="1" dirty="0">
                  <a:solidFill>
                    <a:schemeClr val="accent3"/>
                  </a:solidFill>
                  <a:latin typeface="Arial Black" panose="020B0604020202020204" pitchFamily="34" charset="0"/>
                  <a:cs typeface="Arial Black" panose="020B0604020202020204" pitchFamily="34" charset="0"/>
                </a:rPr>
                <a:t>Demand</a:t>
              </a:r>
            </a:p>
          </p:txBody>
        </p:sp>
      </p:grpSp>
      <p:grpSp>
        <p:nvGrpSpPr>
          <p:cNvPr id="74" name="Group 73">
            <a:extLst>
              <a:ext uri="{FF2B5EF4-FFF2-40B4-BE49-F238E27FC236}">
                <a16:creationId xmlns:a16="http://schemas.microsoft.com/office/drawing/2014/main" id="{B1FF8653-FBCB-1A40-B826-E0CC227C47EA}"/>
              </a:ext>
            </a:extLst>
          </p:cNvPr>
          <p:cNvGrpSpPr/>
          <p:nvPr/>
        </p:nvGrpSpPr>
        <p:grpSpPr>
          <a:xfrm>
            <a:off x="7748859" y="3153447"/>
            <a:ext cx="1981745" cy="2395926"/>
            <a:chOff x="10429896" y="3127807"/>
            <a:chExt cx="1746504" cy="2111520"/>
          </a:xfrm>
        </p:grpSpPr>
        <p:sp>
          <p:nvSpPr>
            <p:cNvPr id="75" name="Freeform 74">
              <a:extLst>
                <a:ext uri="{FF2B5EF4-FFF2-40B4-BE49-F238E27FC236}">
                  <a16:creationId xmlns:a16="http://schemas.microsoft.com/office/drawing/2014/main" id="{F2521CB8-6B14-744F-88CB-DA59A26D3CE2}"/>
                </a:ext>
              </a:extLst>
            </p:cNvPr>
            <p:cNvSpPr/>
            <p:nvPr/>
          </p:nvSpPr>
          <p:spPr>
            <a:xfrm>
              <a:off x="10429896" y="3127807"/>
              <a:ext cx="1746504" cy="2111520"/>
            </a:xfrm>
            <a:custGeom>
              <a:avLst/>
              <a:gdLst>
                <a:gd name="connsiteX0" fmla="*/ 873253 w 1746504"/>
                <a:gd name="connsiteY0" fmla="*/ 0 h 2111520"/>
                <a:gd name="connsiteX1" fmla="*/ 1746504 w 1746504"/>
                <a:gd name="connsiteY1" fmla="*/ 897218 h 2111520"/>
                <a:gd name="connsiteX2" fmla="*/ 1412075 w 1746504"/>
                <a:gd name="connsiteY2" fmla="*/ 897218 h 2111520"/>
                <a:gd name="connsiteX3" fmla="*/ 1412075 w 1746504"/>
                <a:gd name="connsiteY3" fmla="*/ 1567662 h 2111520"/>
                <a:gd name="connsiteX4" fmla="*/ 1412748 w 1746504"/>
                <a:gd name="connsiteY4" fmla="*/ 1574310 h 2111520"/>
                <a:gd name="connsiteX5" fmla="*/ 873252 w 1746504"/>
                <a:gd name="connsiteY5" fmla="*/ 2111520 h 2111520"/>
                <a:gd name="connsiteX6" fmla="*/ 333756 w 1746504"/>
                <a:gd name="connsiteY6" fmla="*/ 1574310 h 2111520"/>
                <a:gd name="connsiteX7" fmla="*/ 334429 w 1746504"/>
                <a:gd name="connsiteY7" fmla="*/ 1567662 h 2111520"/>
                <a:gd name="connsiteX8" fmla="*/ 334429 w 1746504"/>
                <a:gd name="connsiteY8" fmla="*/ 897218 h 2111520"/>
                <a:gd name="connsiteX9" fmla="*/ 0 w 1746504"/>
                <a:gd name="connsiteY9" fmla="*/ 897218 h 211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6504" h="2111520">
                  <a:moveTo>
                    <a:pt x="873253" y="0"/>
                  </a:moveTo>
                  <a:lnTo>
                    <a:pt x="1746504" y="897218"/>
                  </a:lnTo>
                  <a:lnTo>
                    <a:pt x="1412075" y="897218"/>
                  </a:lnTo>
                  <a:lnTo>
                    <a:pt x="1412075" y="1567662"/>
                  </a:lnTo>
                  <a:lnTo>
                    <a:pt x="1412748" y="1574310"/>
                  </a:lnTo>
                  <a:cubicBezTo>
                    <a:pt x="1412748" y="1871003"/>
                    <a:pt x="1171207" y="2111520"/>
                    <a:pt x="873252" y="2111520"/>
                  </a:cubicBezTo>
                  <a:cubicBezTo>
                    <a:pt x="575297" y="2111520"/>
                    <a:pt x="333756" y="1871003"/>
                    <a:pt x="333756" y="1574310"/>
                  </a:cubicBezTo>
                  <a:lnTo>
                    <a:pt x="334429" y="1567662"/>
                  </a:lnTo>
                  <a:lnTo>
                    <a:pt x="334429" y="897218"/>
                  </a:lnTo>
                  <a:lnTo>
                    <a:pt x="0" y="897218"/>
                  </a:ln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E96190B-1230-9340-8013-3A8DC62ACAFB}"/>
                </a:ext>
              </a:extLst>
            </p:cNvPr>
            <p:cNvSpPr/>
            <p:nvPr/>
          </p:nvSpPr>
          <p:spPr>
            <a:xfrm>
              <a:off x="10876251" y="4272014"/>
              <a:ext cx="854521" cy="85452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A518A1C4-7712-1543-BEDB-985560B91C78}"/>
                </a:ext>
              </a:extLst>
            </p:cNvPr>
            <p:cNvSpPr txBox="1"/>
            <p:nvPr/>
          </p:nvSpPr>
          <p:spPr>
            <a:xfrm>
              <a:off x="10868872" y="4665115"/>
              <a:ext cx="874940" cy="192070"/>
            </a:xfrm>
            <a:prstGeom prst="rect">
              <a:avLst/>
            </a:prstGeom>
            <a:noFill/>
          </p:spPr>
          <p:txBody>
            <a:bodyPr wrap="square" lIns="0" tIns="0" rIns="0" bIns="0" rtlCol="0" anchor="t">
              <a:noAutofit/>
            </a:bodyPr>
            <a:lstStyle/>
            <a:p>
              <a:pPr algn="ctr">
                <a:lnSpc>
                  <a:spcPct val="90000"/>
                </a:lnSpc>
              </a:pPr>
              <a:r>
                <a:rPr lang="en-US" sz="1500" b="1" spc="-30" dirty="0">
                  <a:solidFill>
                    <a:schemeClr val="accent3"/>
                  </a:solidFill>
                  <a:latin typeface="Arial Black" panose="020B0604020202020204" pitchFamily="34" charset="0"/>
                  <a:cs typeface="Arial Black" panose="020B0604020202020204" pitchFamily="34" charset="0"/>
                </a:rPr>
                <a:t>Workload</a:t>
              </a:r>
            </a:p>
          </p:txBody>
        </p:sp>
      </p:grpSp>
      <p:sp>
        <p:nvSpPr>
          <p:cNvPr id="2" name="Slide Number Placeholder 1">
            <a:extLst>
              <a:ext uri="{FF2B5EF4-FFF2-40B4-BE49-F238E27FC236}">
                <a16:creationId xmlns:a16="http://schemas.microsoft.com/office/drawing/2014/main" id="{A8BEBD3D-1435-427E-8279-8E547B8859FF}"/>
              </a:ext>
            </a:extLst>
          </p:cNvPr>
          <p:cNvSpPr>
            <a:spLocks noGrp="1"/>
          </p:cNvSpPr>
          <p:nvPr>
            <p:ph type="sldNum" sz="quarter" idx="11"/>
          </p:nvPr>
        </p:nvSpPr>
        <p:spPr/>
        <p:txBody>
          <a:bodyPr/>
          <a:lstStyle/>
          <a:p>
            <a:fld id="{0A655226-6E4F-8847-85CD-AF95F3D3F39A}" type="slidenum">
              <a:rPr lang="en-US" smtClean="0"/>
              <a:pPr/>
              <a:t>4</a:t>
            </a:fld>
            <a:endParaRPr lang="en-US"/>
          </a:p>
        </p:txBody>
      </p:sp>
      <p:grpSp>
        <p:nvGrpSpPr>
          <p:cNvPr id="3" name="Group 2" hidden="1">
            <a:extLst>
              <a:ext uri="{FF2B5EF4-FFF2-40B4-BE49-F238E27FC236}">
                <a16:creationId xmlns:a16="http://schemas.microsoft.com/office/drawing/2014/main" id="{59245F8C-2639-4049-873A-230C73C9D05F}"/>
              </a:ext>
            </a:extLst>
          </p:cNvPr>
          <p:cNvGrpSpPr/>
          <p:nvPr/>
        </p:nvGrpSpPr>
        <p:grpSpPr>
          <a:xfrm>
            <a:off x="1353732" y="2073759"/>
            <a:ext cx="2229633" cy="3247720"/>
            <a:chOff x="977951" y="2199019"/>
            <a:chExt cx="2229633" cy="3247720"/>
          </a:xfrm>
        </p:grpSpPr>
        <p:sp>
          <p:nvSpPr>
            <p:cNvPr id="8" name="TextBox 7">
              <a:extLst>
                <a:ext uri="{FF2B5EF4-FFF2-40B4-BE49-F238E27FC236}">
                  <a16:creationId xmlns:a16="http://schemas.microsoft.com/office/drawing/2014/main" id="{EC3D78DD-C845-4776-B626-21570DCE58DE}"/>
                </a:ext>
              </a:extLst>
            </p:cNvPr>
            <p:cNvSpPr txBox="1"/>
            <p:nvPr/>
          </p:nvSpPr>
          <p:spPr>
            <a:xfrm>
              <a:off x="1034319" y="4350712"/>
              <a:ext cx="2116898" cy="1096027"/>
            </a:xfrm>
            <a:prstGeom prst="rect">
              <a:avLst/>
            </a:prstGeom>
            <a:noFill/>
          </p:spPr>
          <p:txBody>
            <a:bodyPr wrap="square" lIns="0" tIns="0" rIns="0" bIns="0" rtlCol="0" anchor="t">
              <a:noAutofit/>
            </a:bodyPr>
            <a:lstStyle/>
            <a:p>
              <a:pPr algn="ctr"/>
              <a:r>
                <a:rPr lang="en-US" sz="1600"/>
                <a:t>Rates are too high</a:t>
              </a:r>
            </a:p>
          </p:txBody>
        </p:sp>
        <p:sp>
          <p:nvSpPr>
            <p:cNvPr id="9" name="TextBox 8">
              <a:extLst>
                <a:ext uri="{FF2B5EF4-FFF2-40B4-BE49-F238E27FC236}">
                  <a16:creationId xmlns:a16="http://schemas.microsoft.com/office/drawing/2014/main" id="{FEE30857-E5A1-4D33-AE01-3C3D80DAC06F}"/>
                </a:ext>
              </a:extLst>
            </p:cNvPr>
            <p:cNvSpPr txBox="1"/>
            <p:nvPr/>
          </p:nvSpPr>
          <p:spPr>
            <a:xfrm>
              <a:off x="977951" y="2199019"/>
              <a:ext cx="2229633" cy="663192"/>
            </a:xfrm>
            <a:prstGeom prst="rect">
              <a:avLst/>
            </a:prstGeom>
            <a:noFill/>
          </p:spPr>
          <p:txBody>
            <a:bodyPr wrap="square" lIns="0" tIns="0" rIns="0" bIns="0" rtlCol="0" anchor="t">
              <a:noAutofit/>
            </a:bodyPr>
            <a:lstStyle/>
            <a:p>
              <a:pPr algn="ctr"/>
              <a:r>
                <a:rPr lang="en-US" sz="2000" b="1">
                  <a:solidFill>
                    <a:srgbClr val="4D4D4D"/>
                  </a:solidFill>
                </a:rPr>
                <a:t>FIRM LEADERS BELIEVE</a:t>
              </a:r>
            </a:p>
          </p:txBody>
        </p:sp>
        <p:pic>
          <p:nvPicPr>
            <p:cNvPr id="19" name="Picture 18">
              <a:extLst>
                <a:ext uri="{FF2B5EF4-FFF2-40B4-BE49-F238E27FC236}">
                  <a16:creationId xmlns:a16="http://schemas.microsoft.com/office/drawing/2014/main" id="{E92B0AE4-97E9-4679-A557-B1E397C9725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406968" y="2877879"/>
              <a:ext cx="1371600" cy="1371600"/>
            </a:xfrm>
            <a:prstGeom prst="rect">
              <a:avLst/>
            </a:prstGeom>
          </p:spPr>
        </p:pic>
      </p:grpSp>
      <p:sp>
        <p:nvSpPr>
          <p:cNvPr id="47" name="Rounded Rectangle 46">
            <a:extLst>
              <a:ext uri="{FF2B5EF4-FFF2-40B4-BE49-F238E27FC236}">
                <a16:creationId xmlns:a16="http://schemas.microsoft.com/office/drawing/2014/main" id="{7744A381-0F4D-8A4C-B7E4-78A9992A6421}"/>
              </a:ext>
            </a:extLst>
          </p:cNvPr>
          <p:cNvSpPr/>
          <p:nvPr/>
        </p:nvSpPr>
        <p:spPr>
          <a:xfrm>
            <a:off x="1076737" y="5860409"/>
            <a:ext cx="10215968" cy="56459"/>
          </a:xfrm>
          <a:prstGeom prst="roundRect">
            <a:avLst>
              <a:gd name="adj" fmla="val 50000"/>
            </a:avLst>
          </a:prstGeom>
          <a:solidFill>
            <a:srgbClr val="000000">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mj-lt"/>
            </a:endParaRPr>
          </a:p>
        </p:txBody>
      </p:sp>
      <p:sp>
        <p:nvSpPr>
          <p:cNvPr id="42" name="Rounded Rectangle 41">
            <a:extLst>
              <a:ext uri="{FF2B5EF4-FFF2-40B4-BE49-F238E27FC236}">
                <a16:creationId xmlns:a16="http://schemas.microsoft.com/office/drawing/2014/main" id="{CB8EADED-C117-3E45-BA21-D585723293FC}"/>
              </a:ext>
            </a:extLst>
          </p:cNvPr>
          <p:cNvSpPr/>
          <p:nvPr/>
        </p:nvSpPr>
        <p:spPr>
          <a:xfrm rot="510114">
            <a:off x="1082936" y="3728353"/>
            <a:ext cx="10112491" cy="860655"/>
          </a:xfrm>
          <a:prstGeom prst="roundRect">
            <a:avLst>
              <a:gd name="adj" fmla="val 50000"/>
            </a:avLst>
          </a:prstGeom>
          <a:solidFill>
            <a:srgbClr val="AFAFAF">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mj-lt"/>
            </a:endParaRPr>
          </a:p>
        </p:txBody>
      </p:sp>
      <p:sp>
        <p:nvSpPr>
          <p:cNvPr id="45" name="Oval 44">
            <a:extLst>
              <a:ext uri="{FF2B5EF4-FFF2-40B4-BE49-F238E27FC236}">
                <a16:creationId xmlns:a16="http://schemas.microsoft.com/office/drawing/2014/main" id="{3CBBCECA-A874-EC40-AFFA-6C848AE5C29A}"/>
              </a:ext>
            </a:extLst>
          </p:cNvPr>
          <p:cNvSpPr/>
          <p:nvPr/>
        </p:nvSpPr>
        <p:spPr>
          <a:xfrm>
            <a:off x="989342" y="2992089"/>
            <a:ext cx="895376" cy="895376"/>
          </a:xfrm>
          <a:prstGeom prst="ellipse">
            <a:avLst/>
          </a:prstGeom>
          <a:solidFill>
            <a:srgbClr val="F15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mj-lt"/>
            </a:endParaRPr>
          </a:p>
        </p:txBody>
      </p:sp>
      <p:sp>
        <p:nvSpPr>
          <p:cNvPr id="46" name="Oval 45">
            <a:extLst>
              <a:ext uri="{FF2B5EF4-FFF2-40B4-BE49-F238E27FC236}">
                <a16:creationId xmlns:a16="http://schemas.microsoft.com/office/drawing/2014/main" id="{0085B5FB-7787-BB4E-8694-AA814CE78379}"/>
              </a:ext>
            </a:extLst>
          </p:cNvPr>
          <p:cNvSpPr/>
          <p:nvPr/>
        </p:nvSpPr>
        <p:spPr>
          <a:xfrm>
            <a:off x="10390601" y="4425836"/>
            <a:ext cx="895376" cy="895376"/>
          </a:xfrm>
          <a:prstGeom prst="ellipse">
            <a:avLst/>
          </a:prstGeom>
          <a:solidFill>
            <a:srgbClr val="F15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mj-lt"/>
            </a:endParaRPr>
          </a:p>
        </p:txBody>
      </p:sp>
      <p:sp>
        <p:nvSpPr>
          <p:cNvPr id="5" name="TextBox 4" hidden="1">
            <a:extLst>
              <a:ext uri="{FF2B5EF4-FFF2-40B4-BE49-F238E27FC236}">
                <a16:creationId xmlns:a16="http://schemas.microsoft.com/office/drawing/2014/main" id="{1257B483-DDA1-464E-AB45-B640D699131E}"/>
              </a:ext>
            </a:extLst>
          </p:cNvPr>
          <p:cNvSpPr txBox="1"/>
          <p:nvPr/>
        </p:nvSpPr>
        <p:spPr>
          <a:xfrm>
            <a:off x="3526998" y="2973900"/>
            <a:ext cx="1891431" cy="1352811"/>
          </a:xfrm>
          <a:prstGeom prst="rect">
            <a:avLst/>
          </a:prstGeom>
          <a:noFill/>
        </p:spPr>
        <p:txBody>
          <a:bodyPr wrap="square" lIns="0" tIns="0" rIns="0" bIns="0" rtlCol="0" anchor="t">
            <a:noAutofit/>
          </a:bodyPr>
          <a:lstStyle/>
          <a:p>
            <a:pPr algn="ctr"/>
            <a:r>
              <a:rPr lang="en-US" sz="4800" b="1">
                <a:solidFill>
                  <a:schemeClr val="accent1"/>
                </a:solidFill>
              </a:rPr>
              <a:t>VS</a:t>
            </a:r>
          </a:p>
        </p:txBody>
      </p:sp>
      <p:pic>
        <p:nvPicPr>
          <p:cNvPr id="24" name="Picture 23" hidden="1">
            <a:extLst>
              <a:ext uri="{FF2B5EF4-FFF2-40B4-BE49-F238E27FC236}">
                <a16:creationId xmlns:a16="http://schemas.microsoft.com/office/drawing/2014/main" id="{12168955-F2E2-49A7-B86A-08B417B925BD}"/>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778551" y="2752618"/>
            <a:ext cx="1371600" cy="1371600"/>
          </a:xfrm>
          <a:prstGeom prst="rect">
            <a:avLst/>
          </a:prstGeom>
        </p:spPr>
      </p:pic>
      <p:sp>
        <p:nvSpPr>
          <p:cNvPr id="26" name="TextBox 25" hidden="1">
            <a:extLst>
              <a:ext uri="{FF2B5EF4-FFF2-40B4-BE49-F238E27FC236}">
                <a16:creationId xmlns:a16="http://schemas.microsoft.com/office/drawing/2014/main" id="{4919CFF7-CBCB-4FC1-AAFA-F52087D13EAD}"/>
              </a:ext>
            </a:extLst>
          </p:cNvPr>
          <p:cNvSpPr txBox="1"/>
          <p:nvPr/>
        </p:nvSpPr>
        <p:spPr>
          <a:xfrm>
            <a:off x="5349534" y="2073759"/>
            <a:ext cx="2229633" cy="663192"/>
          </a:xfrm>
          <a:prstGeom prst="rect">
            <a:avLst/>
          </a:prstGeom>
          <a:noFill/>
        </p:spPr>
        <p:txBody>
          <a:bodyPr wrap="square" lIns="0" tIns="0" rIns="0" bIns="0" rtlCol="0" anchor="t">
            <a:noAutofit/>
          </a:bodyPr>
          <a:lstStyle/>
          <a:p>
            <a:pPr algn="ctr"/>
            <a:r>
              <a:rPr lang="en-US" sz="2000" b="1">
                <a:solidFill>
                  <a:srgbClr val="4D4D4D"/>
                </a:solidFill>
              </a:rPr>
              <a:t>CORPORATE COUNSEL SAY</a:t>
            </a:r>
          </a:p>
        </p:txBody>
      </p:sp>
      <p:sp>
        <p:nvSpPr>
          <p:cNvPr id="28" name="TextBox 27" hidden="1">
            <a:extLst>
              <a:ext uri="{FF2B5EF4-FFF2-40B4-BE49-F238E27FC236}">
                <a16:creationId xmlns:a16="http://schemas.microsoft.com/office/drawing/2014/main" id="{846A57E3-A11F-4457-9781-B55F7221B086}"/>
              </a:ext>
            </a:extLst>
          </p:cNvPr>
          <p:cNvSpPr txBox="1"/>
          <p:nvPr/>
        </p:nvSpPr>
        <p:spPr>
          <a:xfrm>
            <a:off x="5405901" y="4225465"/>
            <a:ext cx="2116898" cy="1096027"/>
          </a:xfrm>
          <a:prstGeom prst="rect">
            <a:avLst/>
          </a:prstGeom>
          <a:noFill/>
        </p:spPr>
        <p:txBody>
          <a:bodyPr wrap="square" lIns="0" tIns="0" rIns="0" bIns="0" rtlCol="0" anchor="t">
            <a:noAutofit/>
          </a:bodyPr>
          <a:lstStyle/>
          <a:p>
            <a:pPr algn="ctr"/>
            <a:r>
              <a:rPr lang="en-US" sz="1600"/>
              <a:t>Lack of value</a:t>
            </a:r>
          </a:p>
        </p:txBody>
      </p:sp>
      <p:cxnSp>
        <p:nvCxnSpPr>
          <p:cNvPr id="12" name="Straight Arrow Connector 11" hidden="1">
            <a:extLst>
              <a:ext uri="{FF2B5EF4-FFF2-40B4-BE49-F238E27FC236}">
                <a16:creationId xmlns:a16="http://schemas.microsoft.com/office/drawing/2014/main" id="{07A92615-6805-4EE9-9BEB-3690ED338365}"/>
              </a:ext>
            </a:extLst>
          </p:cNvPr>
          <p:cNvCxnSpPr/>
          <p:nvPr/>
        </p:nvCxnSpPr>
        <p:spPr>
          <a:xfrm>
            <a:off x="7579167" y="3429000"/>
            <a:ext cx="1370680" cy="0"/>
          </a:xfrm>
          <a:prstGeom prst="straightConnector1">
            <a:avLst/>
          </a:prstGeom>
          <a:ln w="69850" cmpd="sng">
            <a:solidFill>
              <a:schemeClr val="accent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hidden="1">
            <a:extLst>
              <a:ext uri="{FF2B5EF4-FFF2-40B4-BE49-F238E27FC236}">
                <a16:creationId xmlns:a16="http://schemas.microsoft.com/office/drawing/2014/main" id="{9785428C-C1D3-40B3-9198-A667CCD343ED}"/>
              </a:ext>
            </a:extLst>
          </p:cNvPr>
          <p:cNvSpPr txBox="1"/>
          <p:nvPr/>
        </p:nvSpPr>
        <p:spPr>
          <a:xfrm>
            <a:off x="8993307" y="3084558"/>
            <a:ext cx="2825537" cy="1352811"/>
          </a:xfrm>
          <a:prstGeom prst="rect">
            <a:avLst/>
          </a:prstGeom>
          <a:noFill/>
        </p:spPr>
        <p:txBody>
          <a:bodyPr wrap="square" lIns="0" tIns="0" rIns="0" bIns="0" rtlCol="0" anchor="t">
            <a:noAutofit/>
          </a:bodyPr>
          <a:lstStyle/>
          <a:p>
            <a:pPr algn="ctr"/>
            <a:r>
              <a:rPr lang="en-US" sz="2400" b="1">
                <a:solidFill>
                  <a:schemeClr val="accent1"/>
                </a:solidFill>
              </a:rPr>
              <a:t>Quality &amp; Efficient Work Product</a:t>
            </a:r>
          </a:p>
        </p:txBody>
      </p:sp>
      <p:pic>
        <p:nvPicPr>
          <p:cNvPr id="31" name="Picture 30" hidden="1">
            <a:extLst>
              <a:ext uri="{FF2B5EF4-FFF2-40B4-BE49-F238E27FC236}">
                <a16:creationId xmlns:a16="http://schemas.microsoft.com/office/drawing/2014/main" id="{1B6203BF-27EC-4C77-A445-CABF263F3CE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9661617" y="2752618"/>
            <a:ext cx="1371600" cy="1371600"/>
          </a:xfrm>
          <a:prstGeom prst="rect">
            <a:avLst/>
          </a:prstGeom>
        </p:spPr>
      </p:pic>
      <p:grpSp>
        <p:nvGrpSpPr>
          <p:cNvPr id="23" name="Group 22" hidden="1">
            <a:extLst>
              <a:ext uri="{FF2B5EF4-FFF2-40B4-BE49-F238E27FC236}">
                <a16:creationId xmlns:a16="http://schemas.microsoft.com/office/drawing/2014/main" id="{D933E153-3E5B-1E49-ACA2-38782AC899F4}"/>
              </a:ext>
            </a:extLst>
          </p:cNvPr>
          <p:cNvGrpSpPr/>
          <p:nvPr/>
        </p:nvGrpSpPr>
        <p:grpSpPr>
          <a:xfrm>
            <a:off x="12998612" y="1872953"/>
            <a:ext cx="5037513" cy="2493095"/>
            <a:chOff x="3315116" y="2595329"/>
            <a:chExt cx="5037513" cy="2493095"/>
          </a:xfrm>
        </p:grpSpPr>
        <p:sp>
          <p:nvSpPr>
            <p:cNvPr id="21" name="TextBox 20">
              <a:extLst>
                <a:ext uri="{FF2B5EF4-FFF2-40B4-BE49-F238E27FC236}">
                  <a16:creationId xmlns:a16="http://schemas.microsoft.com/office/drawing/2014/main" id="{E51C5B16-63E0-F241-BE24-37585F57AF0A}"/>
                </a:ext>
              </a:extLst>
            </p:cNvPr>
            <p:cNvSpPr txBox="1"/>
            <p:nvPr/>
          </p:nvSpPr>
          <p:spPr>
            <a:xfrm>
              <a:off x="3655394" y="4514828"/>
              <a:ext cx="773084" cy="573596"/>
            </a:xfrm>
            <a:prstGeom prst="rect">
              <a:avLst/>
            </a:prstGeom>
            <a:noFill/>
          </p:spPr>
          <p:txBody>
            <a:bodyPr wrap="square" lIns="0" tIns="0" rIns="0" bIns="0" rtlCol="0" anchor="t">
              <a:noAutofit/>
            </a:bodyPr>
            <a:lstStyle/>
            <a:p>
              <a:pPr algn="ctr"/>
              <a:r>
                <a:rPr lang="en-US" sz="3200" b="1">
                  <a:solidFill>
                    <a:schemeClr val="bg1"/>
                  </a:solidFill>
                </a:rPr>
                <a:t>Q1</a:t>
              </a:r>
            </a:p>
          </p:txBody>
        </p:sp>
        <p:sp>
          <p:nvSpPr>
            <p:cNvPr id="22" name="TextBox 21">
              <a:extLst>
                <a:ext uri="{FF2B5EF4-FFF2-40B4-BE49-F238E27FC236}">
                  <a16:creationId xmlns:a16="http://schemas.microsoft.com/office/drawing/2014/main" id="{21189928-C8DA-634F-83F5-6FA305A5F47D}"/>
                </a:ext>
              </a:extLst>
            </p:cNvPr>
            <p:cNvSpPr txBox="1"/>
            <p:nvPr/>
          </p:nvSpPr>
          <p:spPr>
            <a:xfrm>
              <a:off x="7322138" y="4514828"/>
              <a:ext cx="773084" cy="573596"/>
            </a:xfrm>
            <a:prstGeom prst="rect">
              <a:avLst/>
            </a:prstGeom>
            <a:noFill/>
          </p:spPr>
          <p:txBody>
            <a:bodyPr wrap="square" lIns="0" tIns="0" rIns="0" bIns="0" rtlCol="0" anchor="t">
              <a:noAutofit/>
            </a:bodyPr>
            <a:lstStyle/>
            <a:p>
              <a:pPr algn="ctr"/>
              <a:r>
                <a:rPr lang="en-US" sz="3200" b="1">
                  <a:solidFill>
                    <a:schemeClr val="bg1"/>
                  </a:solidFill>
                </a:rPr>
                <a:t>Q2</a:t>
              </a:r>
            </a:p>
          </p:txBody>
        </p:sp>
        <p:pic>
          <p:nvPicPr>
            <p:cNvPr id="14" name="Picture 13">
              <a:extLst>
                <a:ext uri="{FF2B5EF4-FFF2-40B4-BE49-F238E27FC236}">
                  <a16:creationId xmlns:a16="http://schemas.microsoft.com/office/drawing/2014/main" id="{0E6D8108-A6FE-1144-89A9-1872AAB56A86}"/>
                </a:ext>
              </a:extLst>
            </p:cNvPr>
            <p:cNvPicPr>
              <a:picLocks noChangeAspect="1"/>
            </p:cNvPicPr>
            <p:nvPr/>
          </p:nvPicPr>
          <p:blipFill>
            <a:blip r:embed="rId7"/>
            <a:stretch>
              <a:fillRect/>
            </a:stretch>
          </p:blipFill>
          <p:spPr>
            <a:xfrm>
              <a:off x="3730576" y="3262603"/>
              <a:ext cx="609600" cy="431800"/>
            </a:xfrm>
            <a:prstGeom prst="rect">
              <a:avLst/>
            </a:prstGeom>
          </p:spPr>
        </p:pic>
        <p:pic>
          <p:nvPicPr>
            <p:cNvPr id="15" name="Picture 14">
              <a:extLst>
                <a:ext uri="{FF2B5EF4-FFF2-40B4-BE49-F238E27FC236}">
                  <a16:creationId xmlns:a16="http://schemas.microsoft.com/office/drawing/2014/main" id="{1FB355A6-CB10-2C4E-8FE7-7A318C9EE3DB}"/>
                </a:ext>
              </a:extLst>
            </p:cNvPr>
            <p:cNvPicPr>
              <a:picLocks noChangeAspect="1"/>
            </p:cNvPicPr>
            <p:nvPr/>
          </p:nvPicPr>
          <p:blipFill>
            <a:blip r:embed="rId8"/>
            <a:stretch>
              <a:fillRect/>
            </a:stretch>
          </p:blipFill>
          <p:spPr>
            <a:xfrm>
              <a:off x="3730576" y="3790067"/>
              <a:ext cx="609600" cy="127000"/>
            </a:xfrm>
            <a:prstGeom prst="rect">
              <a:avLst/>
            </a:prstGeom>
          </p:spPr>
        </p:pic>
        <p:pic>
          <p:nvPicPr>
            <p:cNvPr id="25" name="Picture 24">
              <a:extLst>
                <a:ext uri="{FF2B5EF4-FFF2-40B4-BE49-F238E27FC236}">
                  <a16:creationId xmlns:a16="http://schemas.microsoft.com/office/drawing/2014/main" id="{E948450D-3FB0-9D4A-92AE-003761F99765}"/>
                </a:ext>
              </a:extLst>
            </p:cNvPr>
            <p:cNvPicPr>
              <a:picLocks noChangeAspect="1"/>
            </p:cNvPicPr>
            <p:nvPr/>
          </p:nvPicPr>
          <p:blipFill>
            <a:blip r:embed="rId8"/>
            <a:stretch>
              <a:fillRect/>
            </a:stretch>
          </p:blipFill>
          <p:spPr>
            <a:xfrm>
              <a:off x="3730576" y="4012731"/>
              <a:ext cx="609600" cy="127000"/>
            </a:xfrm>
            <a:prstGeom prst="rect">
              <a:avLst/>
            </a:prstGeom>
          </p:spPr>
        </p:pic>
        <p:pic>
          <p:nvPicPr>
            <p:cNvPr id="27" name="Picture 26">
              <a:extLst>
                <a:ext uri="{FF2B5EF4-FFF2-40B4-BE49-F238E27FC236}">
                  <a16:creationId xmlns:a16="http://schemas.microsoft.com/office/drawing/2014/main" id="{FE3E7B50-BF68-B84C-A72E-CFF532C090B8}"/>
                </a:ext>
              </a:extLst>
            </p:cNvPr>
            <p:cNvPicPr>
              <a:picLocks noChangeAspect="1"/>
            </p:cNvPicPr>
            <p:nvPr/>
          </p:nvPicPr>
          <p:blipFill>
            <a:blip r:embed="rId8"/>
            <a:stretch>
              <a:fillRect/>
            </a:stretch>
          </p:blipFill>
          <p:spPr>
            <a:xfrm>
              <a:off x="3730576" y="4235395"/>
              <a:ext cx="609600" cy="127000"/>
            </a:xfrm>
            <a:prstGeom prst="rect">
              <a:avLst/>
            </a:prstGeom>
          </p:spPr>
        </p:pic>
        <p:sp>
          <p:nvSpPr>
            <p:cNvPr id="29" name="TextBox 28">
              <a:extLst>
                <a:ext uri="{FF2B5EF4-FFF2-40B4-BE49-F238E27FC236}">
                  <a16:creationId xmlns:a16="http://schemas.microsoft.com/office/drawing/2014/main" id="{756B45B6-B4DB-3248-94CE-6DBA96ECE471}"/>
                </a:ext>
              </a:extLst>
            </p:cNvPr>
            <p:cNvSpPr txBox="1"/>
            <p:nvPr/>
          </p:nvSpPr>
          <p:spPr>
            <a:xfrm>
              <a:off x="3583365" y="2595329"/>
              <a:ext cx="935431" cy="573596"/>
            </a:xfrm>
            <a:prstGeom prst="rect">
              <a:avLst/>
            </a:prstGeom>
            <a:noFill/>
          </p:spPr>
          <p:txBody>
            <a:bodyPr wrap="square" lIns="0" tIns="0" rIns="0" bIns="0" rtlCol="0" anchor="t">
              <a:noAutofit/>
            </a:bodyPr>
            <a:lstStyle/>
            <a:p>
              <a:pPr algn="ctr"/>
              <a:r>
                <a:rPr lang="en-US" sz="3200" b="1">
                  <a:solidFill>
                    <a:schemeClr val="bg1"/>
                  </a:solidFill>
                </a:rPr>
                <a:t>42%</a:t>
              </a:r>
            </a:p>
          </p:txBody>
        </p:sp>
        <p:pic>
          <p:nvPicPr>
            <p:cNvPr id="32" name="Picture 31">
              <a:extLst>
                <a:ext uri="{FF2B5EF4-FFF2-40B4-BE49-F238E27FC236}">
                  <a16:creationId xmlns:a16="http://schemas.microsoft.com/office/drawing/2014/main" id="{AB5850EC-7C7D-8544-82D9-0C0B15E70895}"/>
                </a:ext>
              </a:extLst>
            </p:cNvPr>
            <p:cNvPicPr>
              <a:picLocks noChangeAspect="1"/>
            </p:cNvPicPr>
            <p:nvPr/>
          </p:nvPicPr>
          <p:blipFill>
            <a:blip r:embed="rId7"/>
            <a:stretch>
              <a:fillRect/>
            </a:stretch>
          </p:blipFill>
          <p:spPr>
            <a:xfrm>
              <a:off x="7381616" y="3707931"/>
              <a:ext cx="609600" cy="431800"/>
            </a:xfrm>
            <a:prstGeom prst="rect">
              <a:avLst/>
            </a:prstGeom>
          </p:spPr>
        </p:pic>
        <p:pic>
          <p:nvPicPr>
            <p:cNvPr id="33" name="Picture 32">
              <a:extLst>
                <a:ext uri="{FF2B5EF4-FFF2-40B4-BE49-F238E27FC236}">
                  <a16:creationId xmlns:a16="http://schemas.microsoft.com/office/drawing/2014/main" id="{A26CA4AF-CCA9-BA40-AD68-D3E3E0779F85}"/>
                </a:ext>
              </a:extLst>
            </p:cNvPr>
            <p:cNvPicPr>
              <a:picLocks noChangeAspect="1"/>
            </p:cNvPicPr>
            <p:nvPr/>
          </p:nvPicPr>
          <p:blipFill>
            <a:blip r:embed="rId8"/>
            <a:stretch>
              <a:fillRect/>
            </a:stretch>
          </p:blipFill>
          <p:spPr>
            <a:xfrm>
              <a:off x="7394736" y="4235395"/>
              <a:ext cx="609600" cy="127000"/>
            </a:xfrm>
            <a:prstGeom prst="rect">
              <a:avLst/>
            </a:prstGeom>
          </p:spPr>
        </p:pic>
        <p:sp>
          <p:nvSpPr>
            <p:cNvPr id="34" name="TextBox 33">
              <a:extLst>
                <a:ext uri="{FF2B5EF4-FFF2-40B4-BE49-F238E27FC236}">
                  <a16:creationId xmlns:a16="http://schemas.microsoft.com/office/drawing/2014/main" id="{7D1B5F37-2B2E-C549-9D37-F9E84E507232}"/>
                </a:ext>
              </a:extLst>
            </p:cNvPr>
            <p:cNvSpPr txBox="1"/>
            <p:nvPr/>
          </p:nvSpPr>
          <p:spPr>
            <a:xfrm>
              <a:off x="7240965" y="3015953"/>
              <a:ext cx="935431" cy="573596"/>
            </a:xfrm>
            <a:prstGeom prst="rect">
              <a:avLst/>
            </a:prstGeom>
            <a:noFill/>
          </p:spPr>
          <p:txBody>
            <a:bodyPr wrap="square" lIns="0" tIns="0" rIns="0" bIns="0" rtlCol="0" anchor="t">
              <a:noAutofit/>
            </a:bodyPr>
            <a:lstStyle/>
            <a:p>
              <a:pPr algn="ctr"/>
              <a:r>
                <a:rPr lang="en-US" sz="3200" b="1">
                  <a:solidFill>
                    <a:schemeClr val="bg1"/>
                  </a:solidFill>
                </a:rPr>
                <a:t>24%</a:t>
              </a:r>
            </a:p>
          </p:txBody>
        </p:sp>
        <p:sp>
          <p:nvSpPr>
            <p:cNvPr id="16" name="Rounded Rectangle 15">
              <a:extLst>
                <a:ext uri="{FF2B5EF4-FFF2-40B4-BE49-F238E27FC236}">
                  <a16:creationId xmlns:a16="http://schemas.microsoft.com/office/drawing/2014/main" id="{9719D050-4F5C-6E45-BC68-1D6B5EE2D3AE}"/>
                </a:ext>
              </a:extLst>
            </p:cNvPr>
            <p:cNvSpPr/>
            <p:nvPr/>
          </p:nvSpPr>
          <p:spPr>
            <a:xfrm>
              <a:off x="3315116" y="4433344"/>
              <a:ext cx="5037513" cy="25807"/>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0" name="TextBox 39">
            <a:extLst>
              <a:ext uri="{FF2B5EF4-FFF2-40B4-BE49-F238E27FC236}">
                <a16:creationId xmlns:a16="http://schemas.microsoft.com/office/drawing/2014/main" id="{4FC5C73A-937C-BF4D-819F-A2DACD18CF19}"/>
              </a:ext>
            </a:extLst>
          </p:cNvPr>
          <p:cNvSpPr txBox="1"/>
          <p:nvPr/>
        </p:nvSpPr>
        <p:spPr>
          <a:xfrm>
            <a:off x="1133105" y="5985046"/>
            <a:ext cx="638913" cy="391774"/>
          </a:xfrm>
          <a:prstGeom prst="rect">
            <a:avLst/>
          </a:prstGeom>
          <a:noFill/>
        </p:spPr>
        <p:txBody>
          <a:bodyPr wrap="square" lIns="0" tIns="0" rIns="0" bIns="0" rtlCol="0" anchor="t">
            <a:noAutofit/>
          </a:bodyPr>
          <a:lstStyle/>
          <a:p>
            <a:pPr algn="ctr"/>
            <a:r>
              <a:rPr lang="en-US" sz="1600" b="1" dirty="0">
                <a:solidFill>
                  <a:schemeClr val="bg2">
                    <a:lumMod val="50000"/>
                  </a:schemeClr>
                </a:solidFill>
                <a:latin typeface="+mj-lt"/>
              </a:rPr>
              <a:t>Q1</a:t>
            </a:r>
          </a:p>
        </p:txBody>
      </p:sp>
      <p:sp>
        <p:nvSpPr>
          <p:cNvPr id="41" name="TextBox 40">
            <a:extLst>
              <a:ext uri="{FF2B5EF4-FFF2-40B4-BE49-F238E27FC236}">
                <a16:creationId xmlns:a16="http://schemas.microsoft.com/office/drawing/2014/main" id="{92710CD0-B27F-9447-BFC3-5BBBF5972116}"/>
              </a:ext>
            </a:extLst>
          </p:cNvPr>
          <p:cNvSpPr txBox="1"/>
          <p:nvPr/>
        </p:nvSpPr>
        <p:spPr>
          <a:xfrm>
            <a:off x="10525230" y="5985046"/>
            <a:ext cx="638913" cy="391774"/>
          </a:xfrm>
          <a:prstGeom prst="rect">
            <a:avLst/>
          </a:prstGeom>
          <a:noFill/>
        </p:spPr>
        <p:txBody>
          <a:bodyPr wrap="square" lIns="0" tIns="0" rIns="0" bIns="0" rtlCol="0" anchor="t">
            <a:noAutofit/>
          </a:bodyPr>
          <a:lstStyle/>
          <a:p>
            <a:pPr algn="ctr"/>
            <a:r>
              <a:rPr lang="en-US" sz="1600" b="1" dirty="0">
                <a:solidFill>
                  <a:schemeClr val="bg2">
                    <a:lumMod val="50000"/>
                  </a:schemeClr>
                </a:solidFill>
                <a:latin typeface="+mj-lt"/>
              </a:rPr>
              <a:t>Q2</a:t>
            </a:r>
          </a:p>
        </p:txBody>
      </p:sp>
      <p:sp>
        <p:nvSpPr>
          <p:cNvPr id="43" name="Rectangle 42">
            <a:extLst>
              <a:ext uri="{FF2B5EF4-FFF2-40B4-BE49-F238E27FC236}">
                <a16:creationId xmlns:a16="http://schemas.microsoft.com/office/drawing/2014/main" id="{BCE3CF10-787A-604A-9833-480635CF2621}"/>
              </a:ext>
            </a:extLst>
          </p:cNvPr>
          <p:cNvSpPr/>
          <p:nvPr/>
        </p:nvSpPr>
        <p:spPr>
          <a:xfrm>
            <a:off x="1078455" y="3262308"/>
            <a:ext cx="730079" cy="369332"/>
          </a:xfrm>
          <a:prstGeom prst="rect">
            <a:avLst/>
          </a:prstGeom>
        </p:spPr>
        <p:txBody>
          <a:bodyPr wrap="square" lIns="0" rIns="0">
            <a:spAutoFit/>
          </a:bodyPr>
          <a:lstStyle/>
          <a:p>
            <a:pPr algn="ctr"/>
            <a:r>
              <a:rPr lang="en-US" b="1" dirty="0">
                <a:solidFill>
                  <a:schemeClr val="bg1"/>
                </a:solidFill>
                <a:latin typeface="Arial Black" panose="020B0604020202020204" pitchFamily="34" charset="0"/>
                <a:cs typeface="Arial Black" panose="020B0604020202020204" pitchFamily="34" charset="0"/>
              </a:rPr>
              <a:t>42%</a:t>
            </a:r>
          </a:p>
        </p:txBody>
      </p:sp>
      <p:sp>
        <p:nvSpPr>
          <p:cNvPr id="44" name="Rectangle 43">
            <a:extLst>
              <a:ext uri="{FF2B5EF4-FFF2-40B4-BE49-F238E27FC236}">
                <a16:creationId xmlns:a16="http://schemas.microsoft.com/office/drawing/2014/main" id="{997CCC6A-105A-0742-845C-ADAF5FE35398}"/>
              </a:ext>
            </a:extLst>
          </p:cNvPr>
          <p:cNvSpPr/>
          <p:nvPr/>
        </p:nvSpPr>
        <p:spPr>
          <a:xfrm>
            <a:off x="10589162" y="4699577"/>
            <a:ext cx="538609" cy="369332"/>
          </a:xfrm>
          <a:prstGeom prst="rect">
            <a:avLst/>
          </a:prstGeom>
        </p:spPr>
        <p:txBody>
          <a:bodyPr wrap="none" lIns="0" rIns="0">
            <a:spAutoFit/>
          </a:bodyPr>
          <a:lstStyle/>
          <a:p>
            <a:pPr algn="ctr"/>
            <a:r>
              <a:rPr lang="en-US" b="1" dirty="0">
                <a:solidFill>
                  <a:schemeClr val="bg1"/>
                </a:solidFill>
                <a:latin typeface="Arial Black" panose="020B0604020202020204" pitchFamily="34" charset="0"/>
                <a:cs typeface="Arial Black" panose="020B0604020202020204" pitchFamily="34" charset="0"/>
              </a:rPr>
              <a:t>24%</a:t>
            </a:r>
          </a:p>
        </p:txBody>
      </p:sp>
      <p:sp>
        <p:nvSpPr>
          <p:cNvPr id="53" name="Rectangle 52">
            <a:extLst>
              <a:ext uri="{FF2B5EF4-FFF2-40B4-BE49-F238E27FC236}">
                <a16:creationId xmlns:a16="http://schemas.microsoft.com/office/drawing/2014/main" id="{2A3194F8-AAFF-854B-AF84-CC9FDFD7096F}"/>
              </a:ext>
            </a:extLst>
          </p:cNvPr>
          <p:cNvSpPr/>
          <p:nvPr/>
        </p:nvSpPr>
        <p:spPr>
          <a:xfrm>
            <a:off x="-10108" y="-7777"/>
            <a:ext cx="12187482" cy="2460935"/>
          </a:xfrm>
          <a:prstGeom prst="rect">
            <a:avLst/>
          </a:prstGeom>
          <a:gradFill>
            <a:gsLst>
              <a:gs pos="47000">
                <a:schemeClr val="tx1">
                  <a:lumMod val="50000"/>
                  <a:alpha val="58000"/>
                </a:schemeClr>
              </a:gs>
              <a:gs pos="0">
                <a:schemeClr val="tx1">
                  <a:lumMod val="50000"/>
                  <a:alpha val="88000"/>
                </a:schemeClr>
              </a:gs>
              <a:gs pos="99000">
                <a:schemeClr val="tx1">
                  <a:lumMod val="50000"/>
                  <a:alpha val="8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58" name="Rectangle 57">
            <a:extLst>
              <a:ext uri="{FF2B5EF4-FFF2-40B4-BE49-F238E27FC236}">
                <a16:creationId xmlns:a16="http://schemas.microsoft.com/office/drawing/2014/main" id="{6C49A5C5-1B71-2843-B3DB-E74FF07350CD}"/>
              </a:ext>
            </a:extLst>
          </p:cNvPr>
          <p:cNvSpPr/>
          <p:nvPr/>
        </p:nvSpPr>
        <p:spPr>
          <a:xfrm>
            <a:off x="697506" y="1139305"/>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59" name="Freeform 58">
            <a:extLst>
              <a:ext uri="{FF2B5EF4-FFF2-40B4-BE49-F238E27FC236}">
                <a16:creationId xmlns:a16="http://schemas.microsoft.com/office/drawing/2014/main" id="{CE8F9926-680C-7C49-ACA7-71E9454ADAEC}"/>
              </a:ext>
            </a:extLst>
          </p:cNvPr>
          <p:cNvSpPr/>
          <p:nvPr/>
        </p:nvSpPr>
        <p:spPr>
          <a:xfrm rot="10800000">
            <a:off x="7368765" y="-9780"/>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4DB83A9F-BE27-594E-A2F5-796E571D1AE2}"/>
              </a:ext>
            </a:extLst>
          </p:cNvPr>
          <p:cNvSpPr/>
          <p:nvPr/>
        </p:nvSpPr>
        <p:spPr>
          <a:xfrm rot="10800000">
            <a:off x="10054538" y="-9779"/>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B4AD35FA-1FFC-9144-B94C-57FA7F97DE99}"/>
              </a:ext>
            </a:extLst>
          </p:cNvPr>
          <p:cNvSpPr/>
          <p:nvPr/>
        </p:nvSpPr>
        <p:spPr>
          <a:xfrm>
            <a:off x="650292" y="1504418"/>
            <a:ext cx="11394563" cy="1169551"/>
          </a:xfrm>
          <a:prstGeom prst="rect">
            <a:avLst/>
          </a:prstGeom>
        </p:spPr>
        <p:txBody>
          <a:bodyPr wrap="square" lIns="0" tIns="0" rIns="0" bIns="0">
            <a:spAutoFit/>
          </a:bodyPr>
          <a:lstStyle/>
          <a:p>
            <a:pPr defTabSz="914126">
              <a:spcBef>
                <a:spcPts val="400"/>
              </a:spcBef>
              <a:defRPr/>
            </a:pPr>
            <a:r>
              <a:rPr lang="en-US" sz="7600" dirty="0">
                <a:solidFill>
                  <a:prstClr val="white">
                    <a:alpha val="60000"/>
                  </a:prstClr>
                </a:solidFill>
              </a:rPr>
              <a:t>CORPORATE COUNSEL</a:t>
            </a:r>
          </a:p>
        </p:txBody>
      </p:sp>
      <p:sp>
        <p:nvSpPr>
          <p:cNvPr id="39" name="TextBox 38">
            <a:extLst>
              <a:ext uri="{FF2B5EF4-FFF2-40B4-BE49-F238E27FC236}">
                <a16:creationId xmlns:a16="http://schemas.microsoft.com/office/drawing/2014/main" id="{A5223322-CE3C-AA49-84A1-8E56C5BDB8F3}"/>
              </a:ext>
            </a:extLst>
          </p:cNvPr>
          <p:cNvSpPr txBox="1"/>
          <p:nvPr/>
        </p:nvSpPr>
        <p:spPr>
          <a:xfrm>
            <a:off x="-819807" y="-336331"/>
            <a:ext cx="0" cy="0"/>
          </a:xfrm>
          <a:prstGeom prst="rect">
            <a:avLst/>
          </a:prstGeom>
          <a:noFill/>
        </p:spPr>
        <p:txBody>
          <a:bodyPr wrap="none" lIns="0" tIns="0" rIns="0" bIns="0" rtlCol="0" anchor="t">
            <a:noAutofit/>
          </a:bodyPr>
          <a:lstStyle/>
          <a:p>
            <a:endParaRPr lang="en-US" sz="1400" dirty="0" err="1"/>
          </a:p>
        </p:txBody>
      </p:sp>
    </p:spTree>
    <p:extLst>
      <p:ext uri="{BB962C8B-B14F-4D97-AF65-F5344CB8AC3E}">
        <p14:creationId xmlns:p14="http://schemas.microsoft.com/office/powerpoint/2010/main" val="253220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fade">
                                      <p:cBhvr>
                                        <p:cTn id="32" dur="500"/>
                                        <p:tgtEl>
                                          <p:spTgt spid="46"/>
                                        </p:tgtEl>
                                      </p:cBhvr>
                                    </p:animEffect>
                                  </p:childTnLst>
                                </p:cTn>
                              </p:par>
                              <p:par>
                                <p:cTn id="33" presetID="10"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fade">
                                      <p:cBhvr>
                                        <p:cTn id="45"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2" grpId="0" animBg="1"/>
      <p:bldP spid="45" grpId="0" animBg="1"/>
      <p:bldP spid="46" grpId="0" animBg="1"/>
      <p:bldP spid="40" grpId="0"/>
      <p:bldP spid="41" grpId="0"/>
      <p:bldP spid="43" grpId="0"/>
      <p:bldP spid="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erson walking down a sidewalk&#10;&#10;Description automatically generated">
            <a:extLst>
              <a:ext uri="{FF2B5EF4-FFF2-40B4-BE49-F238E27FC236}">
                <a16:creationId xmlns:a16="http://schemas.microsoft.com/office/drawing/2014/main" id="{B3EA35BA-604B-6D43-AE25-150B3EF3638D}"/>
              </a:ext>
            </a:extLst>
          </p:cNvPr>
          <p:cNvPicPr>
            <a:picLocks noChangeAspect="1"/>
          </p:cNvPicPr>
          <p:nvPr/>
        </p:nvPicPr>
        <p:blipFill rotWithShape="1">
          <a:blip r:embed="rId3"/>
          <a:srcRect t="30531" r="66" b="33495"/>
          <a:stretch/>
        </p:blipFill>
        <p:spPr>
          <a:xfrm>
            <a:off x="-12752" y="-1"/>
            <a:ext cx="12201577" cy="2473313"/>
          </a:xfrm>
          <a:prstGeom prst="rect">
            <a:avLst/>
          </a:prstGeom>
        </p:spPr>
      </p:pic>
      <p:sp>
        <p:nvSpPr>
          <p:cNvPr id="2" name="Slide Number Placeholder 1">
            <a:extLst>
              <a:ext uri="{FF2B5EF4-FFF2-40B4-BE49-F238E27FC236}">
                <a16:creationId xmlns:a16="http://schemas.microsoft.com/office/drawing/2014/main" id="{A8BEBD3D-1435-427E-8279-8E547B8859FF}"/>
              </a:ext>
            </a:extLst>
          </p:cNvPr>
          <p:cNvSpPr>
            <a:spLocks noGrp="1"/>
          </p:cNvSpPr>
          <p:nvPr>
            <p:ph type="sldNum" sz="quarter" idx="11"/>
          </p:nvPr>
        </p:nvSpPr>
        <p:spPr/>
        <p:txBody>
          <a:bodyPr/>
          <a:lstStyle/>
          <a:p>
            <a:fld id="{0A655226-6E4F-8847-85CD-AF95F3D3F39A}" type="slidenum">
              <a:rPr lang="en-US" dirty="0" smtClean="0"/>
              <a:pPr/>
              <a:t>5</a:t>
            </a:fld>
            <a:endParaRPr lang="en-US"/>
          </a:p>
        </p:txBody>
      </p:sp>
      <p:sp>
        <p:nvSpPr>
          <p:cNvPr id="7" name="TextBox 6">
            <a:extLst>
              <a:ext uri="{FF2B5EF4-FFF2-40B4-BE49-F238E27FC236}">
                <a16:creationId xmlns:a16="http://schemas.microsoft.com/office/drawing/2014/main" id="{56146F6D-A5A8-4190-8A43-B1C749C6A79E}"/>
              </a:ext>
            </a:extLst>
          </p:cNvPr>
          <p:cNvSpPr txBox="1"/>
          <p:nvPr/>
        </p:nvSpPr>
        <p:spPr>
          <a:xfrm>
            <a:off x="373063" y="-1273136"/>
            <a:ext cx="8051920" cy="428678"/>
          </a:xfrm>
          <a:prstGeom prst="rect">
            <a:avLst/>
          </a:prstGeom>
          <a:noFill/>
        </p:spPr>
        <p:txBody>
          <a:bodyPr wrap="square" lIns="0" tIns="0" rIns="0" bIns="0" rtlCol="0" anchor="t">
            <a:noAutofit/>
          </a:bodyPr>
          <a:lstStyle/>
          <a:p>
            <a:r>
              <a:rPr lang="en-US" sz="2000" dirty="0">
                <a:solidFill>
                  <a:schemeClr val="bg2">
                    <a:lumMod val="50000"/>
                  </a:schemeClr>
                </a:solidFill>
                <a:latin typeface="Knowledge2017 Medium" panose="020B0506000000020004" pitchFamily="34" charset="0"/>
              </a:rPr>
              <a:t>Legal Departments</a:t>
            </a:r>
          </a:p>
        </p:txBody>
      </p:sp>
      <p:grpSp>
        <p:nvGrpSpPr>
          <p:cNvPr id="3" name="Group 2" hidden="1">
            <a:extLst>
              <a:ext uri="{FF2B5EF4-FFF2-40B4-BE49-F238E27FC236}">
                <a16:creationId xmlns:a16="http://schemas.microsoft.com/office/drawing/2014/main" id="{59245F8C-2639-4049-873A-230C73C9D05F}"/>
              </a:ext>
            </a:extLst>
          </p:cNvPr>
          <p:cNvGrpSpPr/>
          <p:nvPr/>
        </p:nvGrpSpPr>
        <p:grpSpPr>
          <a:xfrm>
            <a:off x="1353732" y="2073759"/>
            <a:ext cx="2229633" cy="3247720"/>
            <a:chOff x="977951" y="2199019"/>
            <a:chExt cx="2229633" cy="3247720"/>
          </a:xfrm>
        </p:grpSpPr>
        <p:sp>
          <p:nvSpPr>
            <p:cNvPr id="8" name="TextBox 7">
              <a:extLst>
                <a:ext uri="{FF2B5EF4-FFF2-40B4-BE49-F238E27FC236}">
                  <a16:creationId xmlns:a16="http://schemas.microsoft.com/office/drawing/2014/main" id="{EC3D78DD-C845-4776-B626-21570DCE58DE}"/>
                </a:ext>
              </a:extLst>
            </p:cNvPr>
            <p:cNvSpPr txBox="1"/>
            <p:nvPr/>
          </p:nvSpPr>
          <p:spPr>
            <a:xfrm>
              <a:off x="1034319" y="4350712"/>
              <a:ext cx="2116898" cy="1096027"/>
            </a:xfrm>
            <a:prstGeom prst="rect">
              <a:avLst/>
            </a:prstGeom>
            <a:noFill/>
          </p:spPr>
          <p:txBody>
            <a:bodyPr wrap="square" lIns="0" tIns="0" rIns="0" bIns="0" rtlCol="0" anchor="t">
              <a:noAutofit/>
            </a:bodyPr>
            <a:lstStyle/>
            <a:p>
              <a:pPr algn="ctr"/>
              <a:r>
                <a:rPr lang="en-US" sz="1600"/>
                <a:t>Rates are too high</a:t>
              </a:r>
            </a:p>
          </p:txBody>
        </p:sp>
        <p:sp>
          <p:nvSpPr>
            <p:cNvPr id="9" name="TextBox 8">
              <a:extLst>
                <a:ext uri="{FF2B5EF4-FFF2-40B4-BE49-F238E27FC236}">
                  <a16:creationId xmlns:a16="http://schemas.microsoft.com/office/drawing/2014/main" id="{FEE30857-E5A1-4D33-AE01-3C3D80DAC06F}"/>
                </a:ext>
              </a:extLst>
            </p:cNvPr>
            <p:cNvSpPr txBox="1"/>
            <p:nvPr/>
          </p:nvSpPr>
          <p:spPr>
            <a:xfrm>
              <a:off x="977951" y="2199019"/>
              <a:ext cx="2229633" cy="663192"/>
            </a:xfrm>
            <a:prstGeom prst="rect">
              <a:avLst/>
            </a:prstGeom>
            <a:noFill/>
          </p:spPr>
          <p:txBody>
            <a:bodyPr wrap="square" lIns="0" tIns="0" rIns="0" bIns="0" rtlCol="0" anchor="t">
              <a:noAutofit/>
            </a:bodyPr>
            <a:lstStyle/>
            <a:p>
              <a:pPr algn="ctr"/>
              <a:r>
                <a:rPr lang="en-US" sz="2000" b="1">
                  <a:solidFill>
                    <a:srgbClr val="4D4D4D"/>
                  </a:solidFill>
                </a:rPr>
                <a:t>FIRM LEADERS BELIEVE</a:t>
              </a:r>
            </a:p>
          </p:txBody>
        </p:sp>
        <p:pic>
          <p:nvPicPr>
            <p:cNvPr id="19" name="Picture 18">
              <a:extLst>
                <a:ext uri="{FF2B5EF4-FFF2-40B4-BE49-F238E27FC236}">
                  <a16:creationId xmlns:a16="http://schemas.microsoft.com/office/drawing/2014/main" id="{E92B0AE4-97E9-4679-A557-B1E397C9725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406968" y="2877879"/>
              <a:ext cx="1371600" cy="1371600"/>
            </a:xfrm>
            <a:prstGeom prst="rect">
              <a:avLst/>
            </a:prstGeom>
          </p:spPr>
        </p:pic>
      </p:grpSp>
      <p:sp>
        <p:nvSpPr>
          <p:cNvPr id="5" name="TextBox 4" hidden="1">
            <a:extLst>
              <a:ext uri="{FF2B5EF4-FFF2-40B4-BE49-F238E27FC236}">
                <a16:creationId xmlns:a16="http://schemas.microsoft.com/office/drawing/2014/main" id="{1257B483-DDA1-464E-AB45-B640D699131E}"/>
              </a:ext>
            </a:extLst>
          </p:cNvPr>
          <p:cNvSpPr txBox="1"/>
          <p:nvPr/>
        </p:nvSpPr>
        <p:spPr>
          <a:xfrm>
            <a:off x="3526998" y="2973900"/>
            <a:ext cx="1891431" cy="1352811"/>
          </a:xfrm>
          <a:prstGeom prst="rect">
            <a:avLst/>
          </a:prstGeom>
          <a:noFill/>
        </p:spPr>
        <p:txBody>
          <a:bodyPr wrap="square" lIns="0" tIns="0" rIns="0" bIns="0" rtlCol="0" anchor="t">
            <a:noAutofit/>
          </a:bodyPr>
          <a:lstStyle/>
          <a:p>
            <a:pPr algn="ctr"/>
            <a:r>
              <a:rPr lang="en-US" sz="4800" b="1">
                <a:solidFill>
                  <a:schemeClr val="accent1"/>
                </a:solidFill>
              </a:rPr>
              <a:t>VS</a:t>
            </a:r>
          </a:p>
        </p:txBody>
      </p:sp>
      <p:pic>
        <p:nvPicPr>
          <p:cNvPr id="24" name="Picture 23" hidden="1">
            <a:extLst>
              <a:ext uri="{FF2B5EF4-FFF2-40B4-BE49-F238E27FC236}">
                <a16:creationId xmlns:a16="http://schemas.microsoft.com/office/drawing/2014/main" id="{12168955-F2E2-49A7-B86A-08B417B925BD}"/>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778551" y="2752618"/>
            <a:ext cx="1371600" cy="1371600"/>
          </a:xfrm>
          <a:prstGeom prst="rect">
            <a:avLst/>
          </a:prstGeom>
        </p:spPr>
      </p:pic>
      <p:sp>
        <p:nvSpPr>
          <p:cNvPr id="26" name="TextBox 25" hidden="1">
            <a:extLst>
              <a:ext uri="{FF2B5EF4-FFF2-40B4-BE49-F238E27FC236}">
                <a16:creationId xmlns:a16="http://schemas.microsoft.com/office/drawing/2014/main" id="{4919CFF7-CBCB-4FC1-AAFA-F52087D13EAD}"/>
              </a:ext>
            </a:extLst>
          </p:cNvPr>
          <p:cNvSpPr txBox="1"/>
          <p:nvPr/>
        </p:nvSpPr>
        <p:spPr>
          <a:xfrm>
            <a:off x="5349534" y="2073759"/>
            <a:ext cx="2229633" cy="663192"/>
          </a:xfrm>
          <a:prstGeom prst="rect">
            <a:avLst/>
          </a:prstGeom>
          <a:noFill/>
        </p:spPr>
        <p:txBody>
          <a:bodyPr wrap="square" lIns="0" tIns="0" rIns="0" bIns="0" rtlCol="0" anchor="t">
            <a:noAutofit/>
          </a:bodyPr>
          <a:lstStyle/>
          <a:p>
            <a:pPr algn="ctr"/>
            <a:r>
              <a:rPr lang="en-US" sz="2000" b="1">
                <a:solidFill>
                  <a:srgbClr val="4D4D4D"/>
                </a:solidFill>
              </a:rPr>
              <a:t>CORPORATE COUNSEL SAY</a:t>
            </a:r>
          </a:p>
        </p:txBody>
      </p:sp>
      <p:sp>
        <p:nvSpPr>
          <p:cNvPr id="28" name="TextBox 27" hidden="1">
            <a:extLst>
              <a:ext uri="{FF2B5EF4-FFF2-40B4-BE49-F238E27FC236}">
                <a16:creationId xmlns:a16="http://schemas.microsoft.com/office/drawing/2014/main" id="{846A57E3-A11F-4457-9781-B55F7221B086}"/>
              </a:ext>
            </a:extLst>
          </p:cNvPr>
          <p:cNvSpPr txBox="1"/>
          <p:nvPr/>
        </p:nvSpPr>
        <p:spPr>
          <a:xfrm>
            <a:off x="5405901" y="4225465"/>
            <a:ext cx="2116898" cy="1096027"/>
          </a:xfrm>
          <a:prstGeom prst="rect">
            <a:avLst/>
          </a:prstGeom>
          <a:noFill/>
        </p:spPr>
        <p:txBody>
          <a:bodyPr wrap="square" lIns="0" tIns="0" rIns="0" bIns="0" rtlCol="0" anchor="t">
            <a:noAutofit/>
          </a:bodyPr>
          <a:lstStyle/>
          <a:p>
            <a:pPr algn="ctr"/>
            <a:r>
              <a:rPr lang="en-US" sz="1600"/>
              <a:t>Lack of value</a:t>
            </a:r>
          </a:p>
        </p:txBody>
      </p:sp>
      <p:cxnSp>
        <p:nvCxnSpPr>
          <p:cNvPr id="12" name="Straight Arrow Connector 11" hidden="1">
            <a:extLst>
              <a:ext uri="{FF2B5EF4-FFF2-40B4-BE49-F238E27FC236}">
                <a16:creationId xmlns:a16="http://schemas.microsoft.com/office/drawing/2014/main" id="{07A92615-6805-4EE9-9BEB-3690ED338365}"/>
              </a:ext>
            </a:extLst>
          </p:cNvPr>
          <p:cNvCxnSpPr/>
          <p:nvPr/>
        </p:nvCxnSpPr>
        <p:spPr>
          <a:xfrm>
            <a:off x="7579167" y="3429000"/>
            <a:ext cx="1370680" cy="0"/>
          </a:xfrm>
          <a:prstGeom prst="straightConnector1">
            <a:avLst/>
          </a:prstGeom>
          <a:ln w="69850" cmpd="sng">
            <a:solidFill>
              <a:schemeClr val="accent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hidden="1">
            <a:extLst>
              <a:ext uri="{FF2B5EF4-FFF2-40B4-BE49-F238E27FC236}">
                <a16:creationId xmlns:a16="http://schemas.microsoft.com/office/drawing/2014/main" id="{9785428C-C1D3-40B3-9198-A667CCD343ED}"/>
              </a:ext>
            </a:extLst>
          </p:cNvPr>
          <p:cNvSpPr txBox="1"/>
          <p:nvPr/>
        </p:nvSpPr>
        <p:spPr>
          <a:xfrm>
            <a:off x="8993307" y="3084558"/>
            <a:ext cx="2825537" cy="1352811"/>
          </a:xfrm>
          <a:prstGeom prst="rect">
            <a:avLst/>
          </a:prstGeom>
          <a:noFill/>
        </p:spPr>
        <p:txBody>
          <a:bodyPr wrap="square" lIns="0" tIns="0" rIns="0" bIns="0" rtlCol="0" anchor="t">
            <a:noAutofit/>
          </a:bodyPr>
          <a:lstStyle/>
          <a:p>
            <a:pPr algn="ctr"/>
            <a:r>
              <a:rPr lang="en-US" sz="2400" b="1">
                <a:solidFill>
                  <a:schemeClr val="accent1"/>
                </a:solidFill>
              </a:rPr>
              <a:t>Quality &amp; Efficient Work Product</a:t>
            </a:r>
          </a:p>
        </p:txBody>
      </p:sp>
      <p:pic>
        <p:nvPicPr>
          <p:cNvPr id="31" name="Picture 30" hidden="1">
            <a:extLst>
              <a:ext uri="{FF2B5EF4-FFF2-40B4-BE49-F238E27FC236}">
                <a16:creationId xmlns:a16="http://schemas.microsoft.com/office/drawing/2014/main" id="{1B6203BF-27EC-4C77-A445-CABF263F3CE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9661617" y="2752618"/>
            <a:ext cx="1371600" cy="1371600"/>
          </a:xfrm>
          <a:prstGeom prst="rect">
            <a:avLst/>
          </a:prstGeom>
        </p:spPr>
      </p:pic>
      <p:sp>
        <p:nvSpPr>
          <p:cNvPr id="37" name="Rectangle 36">
            <a:extLst>
              <a:ext uri="{FF2B5EF4-FFF2-40B4-BE49-F238E27FC236}">
                <a16:creationId xmlns:a16="http://schemas.microsoft.com/office/drawing/2014/main" id="{AE0A0A4E-05E5-3841-83E0-D2F1C9AD5FCC}"/>
              </a:ext>
            </a:extLst>
          </p:cNvPr>
          <p:cNvSpPr/>
          <p:nvPr/>
        </p:nvSpPr>
        <p:spPr>
          <a:xfrm>
            <a:off x="-31009" y="7891"/>
            <a:ext cx="12219833" cy="2445267"/>
          </a:xfrm>
          <a:prstGeom prst="rect">
            <a:avLst/>
          </a:prstGeom>
          <a:gradFill>
            <a:gsLst>
              <a:gs pos="47000">
                <a:srgbClr val="002060">
                  <a:alpha val="50000"/>
                </a:srgbClr>
              </a:gs>
              <a:gs pos="0">
                <a:srgbClr val="002060">
                  <a:alpha val="14000"/>
                </a:srgbClr>
              </a:gs>
              <a:gs pos="99000">
                <a:srgbClr val="002060">
                  <a:alpha val="62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38" name="Rectangle 37">
            <a:extLst>
              <a:ext uri="{FF2B5EF4-FFF2-40B4-BE49-F238E27FC236}">
                <a16:creationId xmlns:a16="http://schemas.microsoft.com/office/drawing/2014/main" id="{FE14DDED-AAA6-C44F-A0BC-83E518C55A3E}"/>
              </a:ext>
            </a:extLst>
          </p:cNvPr>
          <p:cNvSpPr/>
          <p:nvPr/>
        </p:nvSpPr>
        <p:spPr>
          <a:xfrm>
            <a:off x="697506" y="1139305"/>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41" name="Rectangle 40">
            <a:extLst>
              <a:ext uri="{FF2B5EF4-FFF2-40B4-BE49-F238E27FC236}">
                <a16:creationId xmlns:a16="http://schemas.microsoft.com/office/drawing/2014/main" id="{6983D79E-D9B8-7D42-9726-334269E32B39}"/>
              </a:ext>
            </a:extLst>
          </p:cNvPr>
          <p:cNvSpPr/>
          <p:nvPr/>
        </p:nvSpPr>
        <p:spPr>
          <a:xfrm>
            <a:off x="650292" y="1504418"/>
            <a:ext cx="11394563" cy="1215717"/>
          </a:xfrm>
          <a:prstGeom prst="rect">
            <a:avLst/>
          </a:prstGeom>
        </p:spPr>
        <p:txBody>
          <a:bodyPr wrap="square" lIns="0" tIns="0" rIns="0" bIns="0">
            <a:spAutoFit/>
          </a:bodyPr>
          <a:lstStyle/>
          <a:p>
            <a:pPr defTabSz="914126">
              <a:spcBef>
                <a:spcPts val="400"/>
              </a:spcBef>
              <a:defRPr/>
            </a:pPr>
            <a:r>
              <a:rPr lang="en-US" sz="7900" dirty="0">
                <a:solidFill>
                  <a:schemeClr val="bg1">
                    <a:alpha val="60000"/>
                  </a:schemeClr>
                </a:solidFill>
                <a:latin typeface="+mj-lt"/>
              </a:rPr>
              <a:t>LEGAL DEPARTMENTS</a:t>
            </a:r>
          </a:p>
        </p:txBody>
      </p:sp>
      <p:grpSp>
        <p:nvGrpSpPr>
          <p:cNvPr id="17" name="Group 16">
            <a:extLst>
              <a:ext uri="{FF2B5EF4-FFF2-40B4-BE49-F238E27FC236}">
                <a16:creationId xmlns:a16="http://schemas.microsoft.com/office/drawing/2014/main" id="{11AFE920-5025-4646-8246-41F30D5F09D9}"/>
              </a:ext>
            </a:extLst>
          </p:cNvPr>
          <p:cNvGrpSpPr/>
          <p:nvPr/>
        </p:nvGrpSpPr>
        <p:grpSpPr>
          <a:xfrm>
            <a:off x="5020594" y="3671137"/>
            <a:ext cx="2052107" cy="2087510"/>
            <a:chOff x="7086077" y="4371233"/>
            <a:chExt cx="1682050" cy="1711069"/>
          </a:xfrm>
        </p:grpSpPr>
        <p:grpSp>
          <p:nvGrpSpPr>
            <p:cNvPr id="46" name="Grupo 3122">
              <a:extLst>
                <a:ext uri="{FF2B5EF4-FFF2-40B4-BE49-F238E27FC236}">
                  <a16:creationId xmlns:a16="http://schemas.microsoft.com/office/drawing/2014/main" id="{C3C95B07-D634-5F46-94D9-ACB7F3ACCDFF}"/>
                </a:ext>
              </a:extLst>
            </p:cNvPr>
            <p:cNvGrpSpPr/>
            <p:nvPr/>
          </p:nvGrpSpPr>
          <p:grpSpPr>
            <a:xfrm>
              <a:off x="7794493" y="5274134"/>
              <a:ext cx="973634" cy="636586"/>
              <a:chOff x="2725962" y="1284871"/>
              <a:chExt cx="81961" cy="53588"/>
            </a:xfrm>
          </p:grpSpPr>
          <p:sp>
            <p:nvSpPr>
              <p:cNvPr id="47" name="Freeform: Shape 283">
                <a:extLst>
                  <a:ext uri="{FF2B5EF4-FFF2-40B4-BE49-F238E27FC236}">
                    <a16:creationId xmlns:a16="http://schemas.microsoft.com/office/drawing/2014/main" id="{DC6EC71C-3C08-3E43-98CC-8029A8F65544}"/>
                  </a:ext>
                </a:extLst>
              </p:cNvPr>
              <p:cNvSpPr/>
              <p:nvPr/>
            </p:nvSpPr>
            <p:spPr>
              <a:xfrm>
                <a:off x="2725962" y="1284871"/>
                <a:ext cx="16727" cy="31781"/>
              </a:xfrm>
              <a:custGeom>
                <a:avLst/>
                <a:gdLst>
                  <a:gd name="connsiteX0" fmla="*/ 8782 w 16726"/>
                  <a:gd name="connsiteY0" fmla="*/ 1255 h 31780"/>
                  <a:gd name="connsiteX1" fmla="*/ 1255 w 16726"/>
                  <a:gd name="connsiteY1" fmla="*/ 29690 h 31780"/>
                  <a:gd name="connsiteX2" fmla="*/ 8782 w 16726"/>
                  <a:gd name="connsiteY2" fmla="*/ 31363 h 31780"/>
                  <a:gd name="connsiteX3" fmla="*/ 16309 w 16726"/>
                  <a:gd name="connsiteY3" fmla="*/ 2927 h 31780"/>
                </a:gdLst>
                <a:ahLst/>
                <a:cxnLst>
                  <a:cxn ang="0">
                    <a:pos x="connsiteX0" y="connsiteY0"/>
                  </a:cxn>
                  <a:cxn ang="0">
                    <a:pos x="connsiteX1" y="connsiteY1"/>
                  </a:cxn>
                  <a:cxn ang="0">
                    <a:pos x="connsiteX2" y="connsiteY2"/>
                  </a:cxn>
                  <a:cxn ang="0">
                    <a:pos x="connsiteX3" y="connsiteY3"/>
                  </a:cxn>
                </a:cxnLst>
                <a:rect l="l" t="t" r="r" b="b"/>
                <a:pathLst>
                  <a:path w="16726" h="31780">
                    <a:moveTo>
                      <a:pt x="8782" y="1255"/>
                    </a:moveTo>
                    <a:lnTo>
                      <a:pt x="1255" y="29690"/>
                    </a:lnTo>
                    <a:lnTo>
                      <a:pt x="8782" y="31363"/>
                    </a:lnTo>
                    <a:lnTo>
                      <a:pt x="16309" y="2927"/>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48" name="Freeform: Shape 284">
                <a:extLst>
                  <a:ext uri="{FF2B5EF4-FFF2-40B4-BE49-F238E27FC236}">
                    <a16:creationId xmlns:a16="http://schemas.microsoft.com/office/drawing/2014/main" id="{15781B28-27D2-8941-BCB8-D5C685FE3FEE}"/>
                  </a:ext>
                </a:extLst>
              </p:cNvPr>
              <p:cNvSpPr/>
              <p:nvPr/>
            </p:nvSpPr>
            <p:spPr>
              <a:xfrm>
                <a:off x="2791196" y="1284871"/>
                <a:ext cx="16727" cy="31781"/>
              </a:xfrm>
              <a:custGeom>
                <a:avLst/>
                <a:gdLst>
                  <a:gd name="connsiteX0" fmla="*/ 8782 w 16726"/>
                  <a:gd name="connsiteY0" fmla="*/ 1255 h 31780"/>
                  <a:gd name="connsiteX1" fmla="*/ 1255 w 16726"/>
                  <a:gd name="connsiteY1" fmla="*/ 2927 h 31780"/>
                  <a:gd name="connsiteX2" fmla="*/ 8782 w 16726"/>
                  <a:gd name="connsiteY2" fmla="*/ 31363 h 31780"/>
                  <a:gd name="connsiteX3" fmla="*/ 16309 w 16726"/>
                  <a:gd name="connsiteY3" fmla="*/ 29690 h 31780"/>
                </a:gdLst>
                <a:ahLst/>
                <a:cxnLst>
                  <a:cxn ang="0">
                    <a:pos x="connsiteX0" y="connsiteY0"/>
                  </a:cxn>
                  <a:cxn ang="0">
                    <a:pos x="connsiteX1" y="connsiteY1"/>
                  </a:cxn>
                  <a:cxn ang="0">
                    <a:pos x="connsiteX2" y="connsiteY2"/>
                  </a:cxn>
                  <a:cxn ang="0">
                    <a:pos x="connsiteX3" y="connsiteY3"/>
                  </a:cxn>
                </a:cxnLst>
                <a:rect l="l" t="t" r="r" b="b"/>
                <a:pathLst>
                  <a:path w="16726" h="31780">
                    <a:moveTo>
                      <a:pt x="8782" y="1255"/>
                    </a:moveTo>
                    <a:lnTo>
                      <a:pt x="1255" y="2927"/>
                    </a:lnTo>
                    <a:lnTo>
                      <a:pt x="8782" y="31363"/>
                    </a:lnTo>
                    <a:lnTo>
                      <a:pt x="16309" y="29690"/>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49" name="Freeform: Shape 285">
                <a:extLst>
                  <a:ext uri="{FF2B5EF4-FFF2-40B4-BE49-F238E27FC236}">
                    <a16:creationId xmlns:a16="http://schemas.microsoft.com/office/drawing/2014/main" id="{2FD38E28-FD9F-FB4A-B879-901B2F861079}"/>
                  </a:ext>
                </a:extLst>
              </p:cNvPr>
              <p:cNvSpPr/>
              <p:nvPr/>
            </p:nvSpPr>
            <p:spPr>
              <a:xfrm>
                <a:off x="2738235" y="1288217"/>
                <a:ext cx="21745" cy="31781"/>
              </a:xfrm>
              <a:custGeom>
                <a:avLst/>
                <a:gdLst>
                  <a:gd name="connsiteX0" fmla="*/ 7716 w 21744"/>
                  <a:gd name="connsiteY0" fmla="*/ 29021 h 31780"/>
                  <a:gd name="connsiteX1" fmla="*/ 6043 w 21744"/>
                  <a:gd name="connsiteY1" fmla="*/ 27850 h 31780"/>
                  <a:gd name="connsiteX2" fmla="*/ 5039 w 21744"/>
                  <a:gd name="connsiteY2" fmla="*/ 25007 h 31780"/>
                  <a:gd name="connsiteX3" fmla="*/ 10559 w 21744"/>
                  <a:gd name="connsiteY3" fmla="*/ 5771 h 31780"/>
                  <a:gd name="connsiteX4" fmla="*/ 19592 w 21744"/>
                  <a:gd name="connsiteY4" fmla="*/ 5436 h 31780"/>
                  <a:gd name="connsiteX5" fmla="*/ 21264 w 21744"/>
                  <a:gd name="connsiteY5" fmla="*/ 1255 h 31780"/>
                  <a:gd name="connsiteX6" fmla="*/ 9890 w 21744"/>
                  <a:gd name="connsiteY6" fmla="*/ 1255 h 31780"/>
                  <a:gd name="connsiteX7" fmla="*/ 7046 w 21744"/>
                  <a:gd name="connsiteY7" fmla="*/ 3429 h 31780"/>
                  <a:gd name="connsiteX8" fmla="*/ 1359 w 21744"/>
                  <a:gd name="connsiteY8" fmla="*/ 25843 h 31780"/>
                  <a:gd name="connsiteX9" fmla="*/ 2363 w 21744"/>
                  <a:gd name="connsiteY9" fmla="*/ 28686 h 31780"/>
                  <a:gd name="connsiteX10" fmla="*/ 5708 w 21744"/>
                  <a:gd name="connsiteY10" fmla="*/ 30861 h 31780"/>
                  <a:gd name="connsiteX11" fmla="*/ 7716 w 21744"/>
                  <a:gd name="connsiteY11" fmla="*/ 29021 h 3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744" h="31780">
                    <a:moveTo>
                      <a:pt x="7716" y="29021"/>
                    </a:moveTo>
                    <a:lnTo>
                      <a:pt x="6043" y="27850"/>
                    </a:lnTo>
                    <a:cubicBezTo>
                      <a:pt x="5039" y="27181"/>
                      <a:pt x="4705" y="26010"/>
                      <a:pt x="5039" y="25007"/>
                    </a:cubicBezTo>
                    <a:lnTo>
                      <a:pt x="10559" y="5771"/>
                    </a:lnTo>
                    <a:lnTo>
                      <a:pt x="19592" y="5436"/>
                    </a:lnTo>
                    <a:lnTo>
                      <a:pt x="21264" y="1255"/>
                    </a:lnTo>
                    <a:lnTo>
                      <a:pt x="9890" y="1255"/>
                    </a:lnTo>
                    <a:cubicBezTo>
                      <a:pt x="8552" y="1255"/>
                      <a:pt x="7381" y="2091"/>
                      <a:pt x="7046" y="3429"/>
                    </a:cubicBezTo>
                    <a:lnTo>
                      <a:pt x="1359" y="25843"/>
                    </a:lnTo>
                    <a:cubicBezTo>
                      <a:pt x="1025" y="26847"/>
                      <a:pt x="1527" y="28017"/>
                      <a:pt x="2363" y="28686"/>
                    </a:cubicBezTo>
                    <a:lnTo>
                      <a:pt x="5708" y="30861"/>
                    </a:lnTo>
                    <a:cubicBezTo>
                      <a:pt x="6545" y="29690"/>
                      <a:pt x="7716" y="29021"/>
                      <a:pt x="7716" y="29021"/>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0" name="Freeform: Shape 286">
                <a:extLst>
                  <a:ext uri="{FF2B5EF4-FFF2-40B4-BE49-F238E27FC236}">
                    <a16:creationId xmlns:a16="http://schemas.microsoft.com/office/drawing/2014/main" id="{0930F1F1-AA0B-E64B-A58F-0BC6F61C27D2}"/>
                  </a:ext>
                </a:extLst>
              </p:cNvPr>
              <p:cNvSpPr/>
              <p:nvPr/>
            </p:nvSpPr>
            <p:spPr>
              <a:xfrm>
                <a:off x="2764935" y="1316443"/>
                <a:ext cx="31781" cy="21745"/>
              </a:xfrm>
              <a:custGeom>
                <a:avLst/>
                <a:gdLst>
                  <a:gd name="connsiteX0" fmla="*/ 29356 w 31780"/>
                  <a:gd name="connsiteY0" fmla="*/ 2802 h 21744"/>
                  <a:gd name="connsiteX1" fmla="*/ 28519 w 31780"/>
                  <a:gd name="connsiteY1" fmla="*/ 1965 h 21744"/>
                  <a:gd name="connsiteX2" fmla="*/ 28519 w 31780"/>
                  <a:gd name="connsiteY2" fmla="*/ 1965 h 21744"/>
                  <a:gd name="connsiteX3" fmla="*/ 26512 w 31780"/>
                  <a:gd name="connsiteY3" fmla="*/ 3136 h 21744"/>
                  <a:gd name="connsiteX4" fmla="*/ 27683 w 31780"/>
                  <a:gd name="connsiteY4" fmla="*/ 4307 h 21744"/>
                  <a:gd name="connsiteX5" fmla="*/ 27683 w 31780"/>
                  <a:gd name="connsiteY5" fmla="*/ 8154 h 21744"/>
                  <a:gd name="connsiteX6" fmla="*/ 24338 w 31780"/>
                  <a:gd name="connsiteY6" fmla="*/ 7820 h 21744"/>
                  <a:gd name="connsiteX7" fmla="*/ 18149 w 31780"/>
                  <a:gd name="connsiteY7" fmla="*/ 1631 h 21744"/>
                  <a:gd name="connsiteX8" fmla="*/ 16309 w 31780"/>
                  <a:gd name="connsiteY8" fmla="*/ 1631 h 21744"/>
                  <a:gd name="connsiteX9" fmla="*/ 16309 w 31780"/>
                  <a:gd name="connsiteY9" fmla="*/ 3471 h 21744"/>
                  <a:gd name="connsiteX10" fmla="*/ 20825 w 31780"/>
                  <a:gd name="connsiteY10" fmla="*/ 7987 h 21744"/>
                  <a:gd name="connsiteX11" fmla="*/ 21159 w 31780"/>
                  <a:gd name="connsiteY11" fmla="*/ 11165 h 21744"/>
                  <a:gd name="connsiteX12" fmla="*/ 17647 w 31780"/>
                  <a:gd name="connsiteY12" fmla="*/ 11165 h 21744"/>
                  <a:gd name="connsiteX13" fmla="*/ 11458 w 31780"/>
                  <a:gd name="connsiteY13" fmla="*/ 4976 h 21744"/>
                  <a:gd name="connsiteX14" fmla="*/ 9618 w 31780"/>
                  <a:gd name="connsiteY14" fmla="*/ 4976 h 21744"/>
                  <a:gd name="connsiteX15" fmla="*/ 9618 w 31780"/>
                  <a:gd name="connsiteY15" fmla="*/ 6816 h 21744"/>
                  <a:gd name="connsiteX16" fmla="*/ 14134 w 31780"/>
                  <a:gd name="connsiteY16" fmla="*/ 11332 h 21744"/>
                  <a:gd name="connsiteX17" fmla="*/ 14469 w 31780"/>
                  <a:gd name="connsiteY17" fmla="*/ 14511 h 21744"/>
                  <a:gd name="connsiteX18" fmla="*/ 10956 w 31780"/>
                  <a:gd name="connsiteY18" fmla="*/ 14511 h 21744"/>
                  <a:gd name="connsiteX19" fmla="*/ 4767 w 31780"/>
                  <a:gd name="connsiteY19" fmla="*/ 8322 h 21744"/>
                  <a:gd name="connsiteX20" fmla="*/ 2927 w 31780"/>
                  <a:gd name="connsiteY20" fmla="*/ 8322 h 21744"/>
                  <a:gd name="connsiteX21" fmla="*/ 2927 w 31780"/>
                  <a:gd name="connsiteY21" fmla="*/ 10161 h 21744"/>
                  <a:gd name="connsiteX22" fmla="*/ 7443 w 31780"/>
                  <a:gd name="connsiteY22" fmla="*/ 14678 h 21744"/>
                  <a:gd name="connsiteX23" fmla="*/ 7443 w 31780"/>
                  <a:gd name="connsiteY23" fmla="*/ 18190 h 21744"/>
                  <a:gd name="connsiteX24" fmla="*/ 3931 w 31780"/>
                  <a:gd name="connsiteY24" fmla="*/ 18190 h 21744"/>
                  <a:gd name="connsiteX25" fmla="*/ 2258 w 31780"/>
                  <a:gd name="connsiteY25" fmla="*/ 16518 h 21744"/>
                  <a:gd name="connsiteX26" fmla="*/ 1255 w 31780"/>
                  <a:gd name="connsiteY26" fmla="*/ 19194 h 21744"/>
                  <a:gd name="connsiteX27" fmla="*/ 1756 w 31780"/>
                  <a:gd name="connsiteY27" fmla="*/ 19696 h 21744"/>
                  <a:gd name="connsiteX28" fmla="*/ 8280 w 31780"/>
                  <a:gd name="connsiteY28" fmla="*/ 20532 h 21744"/>
                  <a:gd name="connsiteX29" fmla="*/ 10287 w 31780"/>
                  <a:gd name="connsiteY29" fmla="*/ 17689 h 21744"/>
                  <a:gd name="connsiteX30" fmla="*/ 15640 w 31780"/>
                  <a:gd name="connsiteY30" fmla="*/ 16518 h 21744"/>
                  <a:gd name="connsiteX31" fmla="*/ 16978 w 31780"/>
                  <a:gd name="connsiteY31" fmla="*/ 14343 h 21744"/>
                  <a:gd name="connsiteX32" fmla="*/ 22330 w 31780"/>
                  <a:gd name="connsiteY32" fmla="*/ 13172 h 21744"/>
                  <a:gd name="connsiteX33" fmla="*/ 23669 w 31780"/>
                  <a:gd name="connsiteY33" fmla="*/ 10998 h 21744"/>
                  <a:gd name="connsiteX34" fmla="*/ 29523 w 31780"/>
                  <a:gd name="connsiteY34" fmla="*/ 9492 h 21744"/>
                  <a:gd name="connsiteX35" fmla="*/ 29356 w 31780"/>
                  <a:gd name="connsiteY35" fmla="*/ 2802 h 21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1780" h="21744">
                    <a:moveTo>
                      <a:pt x="29356" y="2802"/>
                    </a:moveTo>
                    <a:lnTo>
                      <a:pt x="28519" y="1965"/>
                    </a:lnTo>
                    <a:lnTo>
                      <a:pt x="28519" y="1965"/>
                    </a:lnTo>
                    <a:cubicBezTo>
                      <a:pt x="27850" y="2467"/>
                      <a:pt x="27181" y="2802"/>
                      <a:pt x="26512" y="3136"/>
                    </a:cubicBezTo>
                    <a:lnTo>
                      <a:pt x="27683" y="4307"/>
                    </a:lnTo>
                    <a:cubicBezTo>
                      <a:pt x="28687" y="5311"/>
                      <a:pt x="28687" y="7151"/>
                      <a:pt x="27683" y="8154"/>
                    </a:cubicBezTo>
                    <a:cubicBezTo>
                      <a:pt x="26679" y="9158"/>
                      <a:pt x="25341" y="8823"/>
                      <a:pt x="24338" y="7820"/>
                    </a:cubicBezTo>
                    <a:lnTo>
                      <a:pt x="18149" y="1631"/>
                    </a:lnTo>
                    <a:cubicBezTo>
                      <a:pt x="17647" y="1129"/>
                      <a:pt x="16810" y="1129"/>
                      <a:pt x="16309" y="1631"/>
                    </a:cubicBezTo>
                    <a:cubicBezTo>
                      <a:pt x="15807" y="2133"/>
                      <a:pt x="15807" y="2969"/>
                      <a:pt x="16309" y="3471"/>
                    </a:cubicBezTo>
                    <a:lnTo>
                      <a:pt x="20825" y="7987"/>
                    </a:lnTo>
                    <a:cubicBezTo>
                      <a:pt x="21661" y="8823"/>
                      <a:pt x="21829" y="10329"/>
                      <a:pt x="21159" y="11165"/>
                    </a:cubicBezTo>
                    <a:cubicBezTo>
                      <a:pt x="20156" y="12503"/>
                      <a:pt x="18650" y="12169"/>
                      <a:pt x="17647" y="11165"/>
                    </a:cubicBezTo>
                    <a:lnTo>
                      <a:pt x="11458" y="4976"/>
                    </a:lnTo>
                    <a:cubicBezTo>
                      <a:pt x="10956" y="4474"/>
                      <a:pt x="10120" y="4474"/>
                      <a:pt x="9618" y="4976"/>
                    </a:cubicBezTo>
                    <a:cubicBezTo>
                      <a:pt x="9116" y="5478"/>
                      <a:pt x="9116" y="6314"/>
                      <a:pt x="9618" y="6816"/>
                    </a:cubicBezTo>
                    <a:lnTo>
                      <a:pt x="14134" y="11332"/>
                    </a:lnTo>
                    <a:cubicBezTo>
                      <a:pt x="14971" y="12169"/>
                      <a:pt x="15138" y="13507"/>
                      <a:pt x="14469" y="14511"/>
                    </a:cubicBezTo>
                    <a:cubicBezTo>
                      <a:pt x="13465" y="15849"/>
                      <a:pt x="11960" y="15514"/>
                      <a:pt x="10956" y="14511"/>
                    </a:cubicBezTo>
                    <a:lnTo>
                      <a:pt x="4767" y="8322"/>
                    </a:lnTo>
                    <a:cubicBezTo>
                      <a:pt x="4265" y="7820"/>
                      <a:pt x="3429" y="7820"/>
                      <a:pt x="2927" y="8322"/>
                    </a:cubicBezTo>
                    <a:cubicBezTo>
                      <a:pt x="2425" y="8823"/>
                      <a:pt x="2425" y="9660"/>
                      <a:pt x="2927" y="10161"/>
                    </a:cubicBezTo>
                    <a:lnTo>
                      <a:pt x="7443" y="14678"/>
                    </a:lnTo>
                    <a:cubicBezTo>
                      <a:pt x="8447" y="15681"/>
                      <a:pt x="8447" y="17187"/>
                      <a:pt x="7443" y="18190"/>
                    </a:cubicBezTo>
                    <a:cubicBezTo>
                      <a:pt x="6440" y="19194"/>
                      <a:pt x="4934" y="19194"/>
                      <a:pt x="3931" y="18190"/>
                    </a:cubicBezTo>
                    <a:lnTo>
                      <a:pt x="2258" y="16518"/>
                    </a:lnTo>
                    <a:cubicBezTo>
                      <a:pt x="2258" y="17354"/>
                      <a:pt x="1589" y="18859"/>
                      <a:pt x="1255" y="19194"/>
                    </a:cubicBezTo>
                    <a:lnTo>
                      <a:pt x="1756" y="19696"/>
                    </a:lnTo>
                    <a:cubicBezTo>
                      <a:pt x="3429" y="21368"/>
                      <a:pt x="6273" y="21870"/>
                      <a:pt x="8280" y="20532"/>
                    </a:cubicBezTo>
                    <a:cubicBezTo>
                      <a:pt x="9451" y="19863"/>
                      <a:pt x="10120" y="18692"/>
                      <a:pt x="10287" y="17689"/>
                    </a:cubicBezTo>
                    <a:cubicBezTo>
                      <a:pt x="12127" y="18358"/>
                      <a:pt x="14301" y="18023"/>
                      <a:pt x="15640" y="16518"/>
                    </a:cubicBezTo>
                    <a:cubicBezTo>
                      <a:pt x="16309" y="15849"/>
                      <a:pt x="16643" y="15180"/>
                      <a:pt x="16978" y="14343"/>
                    </a:cubicBezTo>
                    <a:cubicBezTo>
                      <a:pt x="18818" y="15012"/>
                      <a:pt x="20992" y="14678"/>
                      <a:pt x="22330" y="13172"/>
                    </a:cubicBezTo>
                    <a:cubicBezTo>
                      <a:pt x="22999" y="12503"/>
                      <a:pt x="23334" y="11834"/>
                      <a:pt x="23669" y="10998"/>
                    </a:cubicBezTo>
                    <a:cubicBezTo>
                      <a:pt x="25676" y="11834"/>
                      <a:pt x="28017" y="11332"/>
                      <a:pt x="29523" y="9492"/>
                    </a:cubicBezTo>
                    <a:cubicBezTo>
                      <a:pt x="31530" y="7652"/>
                      <a:pt x="31196" y="4642"/>
                      <a:pt x="29356" y="2802"/>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1" name="Freeform: Shape 287">
                <a:extLst>
                  <a:ext uri="{FF2B5EF4-FFF2-40B4-BE49-F238E27FC236}">
                    <a16:creationId xmlns:a16="http://schemas.microsoft.com/office/drawing/2014/main" id="{DC8162C5-3E01-2041-A2EE-64C3DEAD5E19}"/>
                  </a:ext>
                </a:extLst>
              </p:cNvPr>
              <p:cNvSpPr/>
              <p:nvPr/>
            </p:nvSpPr>
            <p:spPr>
              <a:xfrm>
                <a:off x="2741278" y="1315041"/>
                <a:ext cx="26763" cy="23418"/>
              </a:xfrm>
              <a:custGeom>
                <a:avLst/>
                <a:gdLst>
                  <a:gd name="connsiteX0" fmla="*/ 25247 w 26762"/>
                  <a:gd name="connsiteY0" fmla="*/ 20763 h 23417"/>
                  <a:gd name="connsiteX1" fmla="*/ 26250 w 26762"/>
                  <a:gd name="connsiteY1" fmla="*/ 18087 h 23417"/>
                  <a:gd name="connsiteX2" fmla="*/ 25247 w 26762"/>
                  <a:gd name="connsiteY2" fmla="*/ 15578 h 23417"/>
                  <a:gd name="connsiteX3" fmla="*/ 22236 w 26762"/>
                  <a:gd name="connsiteY3" fmla="*/ 14742 h 23417"/>
                  <a:gd name="connsiteX4" fmla="*/ 21065 w 26762"/>
                  <a:gd name="connsiteY4" fmla="*/ 13905 h 23417"/>
                  <a:gd name="connsiteX5" fmla="*/ 20228 w 26762"/>
                  <a:gd name="connsiteY5" fmla="*/ 12400 h 23417"/>
                  <a:gd name="connsiteX6" fmla="*/ 17552 w 26762"/>
                  <a:gd name="connsiteY6" fmla="*/ 11396 h 23417"/>
                  <a:gd name="connsiteX7" fmla="*/ 16047 w 26762"/>
                  <a:gd name="connsiteY7" fmla="*/ 10393 h 23417"/>
                  <a:gd name="connsiteX8" fmla="*/ 15210 w 26762"/>
                  <a:gd name="connsiteY8" fmla="*/ 7382 h 23417"/>
                  <a:gd name="connsiteX9" fmla="*/ 11029 w 26762"/>
                  <a:gd name="connsiteY9" fmla="*/ 6713 h 23417"/>
                  <a:gd name="connsiteX10" fmla="*/ 10861 w 26762"/>
                  <a:gd name="connsiteY10" fmla="*/ 6545 h 23417"/>
                  <a:gd name="connsiteX11" fmla="*/ 10360 w 26762"/>
                  <a:gd name="connsiteY11" fmla="*/ 2196 h 23417"/>
                  <a:gd name="connsiteX12" fmla="*/ 4840 w 26762"/>
                  <a:gd name="connsiteY12" fmla="*/ 2196 h 23417"/>
                  <a:gd name="connsiteX13" fmla="*/ 2665 w 26762"/>
                  <a:gd name="connsiteY13" fmla="*/ 4204 h 23417"/>
                  <a:gd name="connsiteX14" fmla="*/ 2163 w 26762"/>
                  <a:gd name="connsiteY14" fmla="*/ 10393 h 23417"/>
                  <a:gd name="connsiteX15" fmla="*/ 6680 w 26762"/>
                  <a:gd name="connsiteY15" fmla="*/ 10894 h 23417"/>
                  <a:gd name="connsiteX16" fmla="*/ 7182 w 26762"/>
                  <a:gd name="connsiteY16" fmla="*/ 15411 h 23417"/>
                  <a:gd name="connsiteX17" fmla="*/ 13036 w 26762"/>
                  <a:gd name="connsiteY17" fmla="*/ 15076 h 23417"/>
                  <a:gd name="connsiteX18" fmla="*/ 13872 w 26762"/>
                  <a:gd name="connsiteY18" fmla="*/ 18756 h 23417"/>
                  <a:gd name="connsiteX19" fmla="*/ 17887 w 26762"/>
                  <a:gd name="connsiteY19" fmla="*/ 19425 h 23417"/>
                  <a:gd name="connsiteX20" fmla="*/ 18890 w 26762"/>
                  <a:gd name="connsiteY20" fmla="*/ 22101 h 23417"/>
                  <a:gd name="connsiteX21" fmla="*/ 24745 w 26762"/>
                  <a:gd name="connsiteY21" fmla="*/ 21600 h 23417"/>
                  <a:gd name="connsiteX22" fmla="*/ 25247 w 26762"/>
                  <a:gd name="connsiteY22" fmla="*/ 20763 h 2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762" h="23417">
                    <a:moveTo>
                      <a:pt x="25247" y="20763"/>
                    </a:moveTo>
                    <a:cubicBezTo>
                      <a:pt x="25414" y="20429"/>
                      <a:pt x="26083" y="18923"/>
                      <a:pt x="26250" y="18087"/>
                    </a:cubicBezTo>
                    <a:cubicBezTo>
                      <a:pt x="26250" y="17251"/>
                      <a:pt x="25916" y="16247"/>
                      <a:pt x="25247" y="15578"/>
                    </a:cubicBezTo>
                    <a:cubicBezTo>
                      <a:pt x="24410" y="14742"/>
                      <a:pt x="23407" y="14574"/>
                      <a:pt x="22236" y="14742"/>
                    </a:cubicBezTo>
                    <a:lnTo>
                      <a:pt x="21065" y="13905"/>
                    </a:lnTo>
                    <a:cubicBezTo>
                      <a:pt x="20898" y="13236"/>
                      <a:pt x="20730" y="12734"/>
                      <a:pt x="20228" y="12400"/>
                    </a:cubicBezTo>
                    <a:cubicBezTo>
                      <a:pt x="19559" y="11731"/>
                      <a:pt x="18556" y="11396"/>
                      <a:pt x="17552" y="11396"/>
                    </a:cubicBezTo>
                    <a:lnTo>
                      <a:pt x="16047" y="10393"/>
                    </a:lnTo>
                    <a:cubicBezTo>
                      <a:pt x="16214" y="9222"/>
                      <a:pt x="15879" y="8051"/>
                      <a:pt x="15210" y="7382"/>
                    </a:cubicBezTo>
                    <a:cubicBezTo>
                      <a:pt x="14207" y="6378"/>
                      <a:pt x="12534" y="6211"/>
                      <a:pt x="11029" y="6713"/>
                    </a:cubicBezTo>
                    <a:lnTo>
                      <a:pt x="10861" y="6545"/>
                    </a:lnTo>
                    <a:cubicBezTo>
                      <a:pt x="11530" y="4873"/>
                      <a:pt x="11363" y="3200"/>
                      <a:pt x="10360" y="2196"/>
                    </a:cubicBezTo>
                    <a:cubicBezTo>
                      <a:pt x="9021" y="858"/>
                      <a:pt x="6847" y="1026"/>
                      <a:pt x="4840" y="2196"/>
                    </a:cubicBezTo>
                    <a:cubicBezTo>
                      <a:pt x="4840" y="2196"/>
                      <a:pt x="3502" y="3033"/>
                      <a:pt x="2665" y="4204"/>
                    </a:cubicBezTo>
                    <a:cubicBezTo>
                      <a:pt x="1160" y="6211"/>
                      <a:pt x="658" y="9054"/>
                      <a:pt x="2163" y="10393"/>
                    </a:cubicBezTo>
                    <a:cubicBezTo>
                      <a:pt x="3167" y="11396"/>
                      <a:pt x="5007" y="11563"/>
                      <a:pt x="6680" y="10894"/>
                    </a:cubicBezTo>
                    <a:cubicBezTo>
                      <a:pt x="6011" y="12567"/>
                      <a:pt x="6011" y="14407"/>
                      <a:pt x="7182" y="15411"/>
                    </a:cubicBezTo>
                    <a:cubicBezTo>
                      <a:pt x="8520" y="16749"/>
                      <a:pt x="11029" y="16581"/>
                      <a:pt x="13036" y="15076"/>
                    </a:cubicBezTo>
                    <a:cubicBezTo>
                      <a:pt x="12701" y="16414"/>
                      <a:pt x="12869" y="17752"/>
                      <a:pt x="13872" y="18756"/>
                    </a:cubicBezTo>
                    <a:cubicBezTo>
                      <a:pt x="14876" y="19760"/>
                      <a:pt x="16549" y="19927"/>
                      <a:pt x="17887" y="19425"/>
                    </a:cubicBezTo>
                    <a:cubicBezTo>
                      <a:pt x="17887" y="20429"/>
                      <a:pt x="18054" y="21432"/>
                      <a:pt x="18890" y="22101"/>
                    </a:cubicBezTo>
                    <a:cubicBezTo>
                      <a:pt x="20396" y="23607"/>
                      <a:pt x="23072" y="23272"/>
                      <a:pt x="24745" y="21600"/>
                    </a:cubicBezTo>
                    <a:cubicBezTo>
                      <a:pt x="24912" y="21265"/>
                      <a:pt x="25079" y="20931"/>
                      <a:pt x="25247" y="20763"/>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2" name="Freeform: Shape 288">
                <a:extLst>
                  <a:ext uri="{FF2B5EF4-FFF2-40B4-BE49-F238E27FC236}">
                    <a16:creationId xmlns:a16="http://schemas.microsoft.com/office/drawing/2014/main" id="{22B0AE7F-7133-F64F-8DB6-B905F4E38B1A}"/>
                  </a:ext>
                </a:extLst>
              </p:cNvPr>
              <p:cNvSpPr/>
              <p:nvPr/>
            </p:nvSpPr>
            <p:spPr>
              <a:xfrm>
                <a:off x="2751219" y="1288217"/>
                <a:ext cx="45162" cy="31781"/>
              </a:xfrm>
              <a:custGeom>
                <a:avLst/>
                <a:gdLst>
                  <a:gd name="connsiteX0" fmla="*/ 40228 w 45162"/>
                  <a:gd name="connsiteY0" fmla="*/ 31363 h 31780"/>
                  <a:gd name="connsiteX1" fmla="*/ 42235 w 45162"/>
                  <a:gd name="connsiteY1" fmla="*/ 30192 h 31780"/>
                  <a:gd name="connsiteX2" fmla="*/ 42235 w 45162"/>
                  <a:gd name="connsiteY2" fmla="*/ 30192 h 31780"/>
                  <a:gd name="connsiteX3" fmla="*/ 43573 w 45162"/>
                  <a:gd name="connsiteY3" fmla="*/ 28854 h 31780"/>
                  <a:gd name="connsiteX4" fmla="*/ 44242 w 45162"/>
                  <a:gd name="connsiteY4" fmla="*/ 26177 h 31780"/>
                  <a:gd name="connsiteX5" fmla="*/ 38555 w 45162"/>
                  <a:gd name="connsiteY5" fmla="*/ 3596 h 31780"/>
                  <a:gd name="connsiteX6" fmla="*/ 35712 w 45162"/>
                  <a:gd name="connsiteY6" fmla="*/ 1255 h 31780"/>
                  <a:gd name="connsiteX7" fmla="*/ 8280 w 45162"/>
                  <a:gd name="connsiteY7" fmla="*/ 1255 h 31780"/>
                  <a:gd name="connsiteX8" fmla="*/ 1255 w 45162"/>
                  <a:gd name="connsiteY8" fmla="*/ 19654 h 31780"/>
                  <a:gd name="connsiteX9" fmla="*/ 4600 w 45162"/>
                  <a:gd name="connsiteY9" fmla="*/ 22999 h 31780"/>
                  <a:gd name="connsiteX10" fmla="*/ 9618 w 45162"/>
                  <a:gd name="connsiteY10" fmla="*/ 20490 h 31780"/>
                  <a:gd name="connsiteX11" fmla="*/ 14636 w 45162"/>
                  <a:gd name="connsiteY11" fmla="*/ 12963 h 31780"/>
                  <a:gd name="connsiteX12" fmla="*/ 22665 w 45162"/>
                  <a:gd name="connsiteY12" fmla="*/ 12963 h 31780"/>
                  <a:gd name="connsiteX13" fmla="*/ 40228 w 45162"/>
                  <a:gd name="connsiteY13" fmla="*/ 31363 h 3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162" h="31780">
                    <a:moveTo>
                      <a:pt x="40228" y="31363"/>
                    </a:moveTo>
                    <a:cubicBezTo>
                      <a:pt x="40897" y="30861"/>
                      <a:pt x="41566" y="30526"/>
                      <a:pt x="42235" y="30192"/>
                    </a:cubicBezTo>
                    <a:lnTo>
                      <a:pt x="42235" y="30192"/>
                    </a:lnTo>
                    <a:lnTo>
                      <a:pt x="43573" y="28854"/>
                    </a:lnTo>
                    <a:cubicBezTo>
                      <a:pt x="44242" y="28185"/>
                      <a:pt x="44577" y="27181"/>
                      <a:pt x="44242" y="26177"/>
                    </a:cubicBezTo>
                    <a:lnTo>
                      <a:pt x="38555" y="3596"/>
                    </a:lnTo>
                    <a:cubicBezTo>
                      <a:pt x="38221" y="2258"/>
                      <a:pt x="37050" y="1255"/>
                      <a:pt x="35712" y="1255"/>
                    </a:cubicBezTo>
                    <a:lnTo>
                      <a:pt x="8280" y="1255"/>
                    </a:lnTo>
                    <a:lnTo>
                      <a:pt x="1255" y="19654"/>
                    </a:lnTo>
                    <a:cubicBezTo>
                      <a:pt x="1255" y="21327"/>
                      <a:pt x="2927" y="22999"/>
                      <a:pt x="4600" y="22999"/>
                    </a:cubicBezTo>
                    <a:cubicBezTo>
                      <a:pt x="7945" y="22999"/>
                      <a:pt x="9618" y="20490"/>
                      <a:pt x="9618" y="20490"/>
                    </a:cubicBezTo>
                    <a:lnTo>
                      <a:pt x="14636" y="12963"/>
                    </a:lnTo>
                    <a:lnTo>
                      <a:pt x="22665" y="12963"/>
                    </a:lnTo>
                    <a:lnTo>
                      <a:pt x="40228" y="31363"/>
                    </a:ln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3" name="Freeform: Shape 289">
                <a:extLst>
                  <a:ext uri="{FF2B5EF4-FFF2-40B4-BE49-F238E27FC236}">
                    <a16:creationId xmlns:a16="http://schemas.microsoft.com/office/drawing/2014/main" id="{DF4FD8F2-3474-3340-9878-5D1F7F930C7C}"/>
                  </a:ext>
                </a:extLst>
              </p:cNvPr>
              <p:cNvSpPr/>
              <p:nvPr/>
            </p:nvSpPr>
            <p:spPr>
              <a:xfrm>
                <a:off x="2772295" y="1299926"/>
                <a:ext cx="21745" cy="20072"/>
              </a:xfrm>
              <a:custGeom>
                <a:avLst/>
                <a:gdLst>
                  <a:gd name="connsiteX0" fmla="*/ 19654 w 21744"/>
                  <a:gd name="connsiteY0" fmla="*/ 20323 h 20072"/>
                  <a:gd name="connsiteX1" fmla="*/ 1255 w 21744"/>
                  <a:gd name="connsiteY1" fmla="*/ 1255 h 20072"/>
                  <a:gd name="connsiteX2" fmla="*/ 4600 w 21744"/>
                  <a:gd name="connsiteY2" fmla="*/ 1255 h 20072"/>
                  <a:gd name="connsiteX3" fmla="*/ 21327 w 21744"/>
                  <a:gd name="connsiteY3" fmla="*/ 18650 h 20072"/>
                </a:gdLst>
                <a:ahLst/>
                <a:cxnLst>
                  <a:cxn ang="0">
                    <a:pos x="connsiteX0" y="connsiteY0"/>
                  </a:cxn>
                  <a:cxn ang="0">
                    <a:pos x="connsiteX1" y="connsiteY1"/>
                  </a:cxn>
                  <a:cxn ang="0">
                    <a:pos x="connsiteX2" y="connsiteY2"/>
                  </a:cxn>
                  <a:cxn ang="0">
                    <a:pos x="connsiteX3" y="connsiteY3"/>
                  </a:cxn>
                </a:cxnLst>
                <a:rect l="l" t="t" r="r" b="b"/>
                <a:pathLst>
                  <a:path w="21744" h="20072">
                    <a:moveTo>
                      <a:pt x="19654" y="20323"/>
                    </a:moveTo>
                    <a:lnTo>
                      <a:pt x="1255" y="1255"/>
                    </a:lnTo>
                    <a:lnTo>
                      <a:pt x="4600" y="1255"/>
                    </a:lnTo>
                    <a:lnTo>
                      <a:pt x="21327" y="18650"/>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grpSp>
        <p:sp>
          <p:nvSpPr>
            <p:cNvPr id="58" name="Graphic 17">
              <a:extLst>
                <a:ext uri="{FF2B5EF4-FFF2-40B4-BE49-F238E27FC236}">
                  <a16:creationId xmlns:a16="http://schemas.microsoft.com/office/drawing/2014/main" id="{9AAA5C07-1F97-5849-9560-ACC5B3D1F9F7}"/>
                </a:ext>
              </a:extLst>
            </p:cNvPr>
            <p:cNvSpPr/>
            <p:nvPr/>
          </p:nvSpPr>
          <p:spPr>
            <a:xfrm>
              <a:off x="7111730" y="4371233"/>
              <a:ext cx="498052" cy="954599"/>
            </a:xfrm>
            <a:custGeom>
              <a:avLst/>
              <a:gdLst>
                <a:gd name="connsiteX0" fmla="*/ 30080 w 334736"/>
                <a:gd name="connsiteY0" fmla="*/ 429657 h 641577"/>
                <a:gd name="connsiteX1" fmla="*/ 92810 w 334736"/>
                <a:gd name="connsiteY1" fmla="*/ 451475 h 641577"/>
                <a:gd name="connsiteX2" fmla="*/ 160994 w 334736"/>
                <a:gd name="connsiteY2" fmla="*/ 461024 h 641577"/>
                <a:gd name="connsiteX3" fmla="*/ 205653 w 334736"/>
                <a:gd name="connsiteY3" fmla="*/ 451136 h 641577"/>
                <a:gd name="connsiteX4" fmla="*/ 221679 w 334736"/>
                <a:gd name="connsiteY4" fmla="*/ 421475 h 641577"/>
                <a:gd name="connsiteX5" fmla="*/ 205997 w 334736"/>
                <a:gd name="connsiteY5" fmla="*/ 391813 h 641577"/>
                <a:gd name="connsiteX6" fmla="*/ 152812 w 334736"/>
                <a:gd name="connsiteY6" fmla="*/ 370334 h 641577"/>
                <a:gd name="connsiteX7" fmla="*/ 92127 w 334736"/>
                <a:gd name="connsiteY7" fmla="*/ 349539 h 641577"/>
                <a:gd name="connsiteX8" fmla="*/ 45078 w 334736"/>
                <a:gd name="connsiteY8" fmla="*/ 323969 h 641577"/>
                <a:gd name="connsiteX9" fmla="*/ 14394 w 334736"/>
                <a:gd name="connsiteY9" fmla="*/ 286804 h 641577"/>
                <a:gd name="connsiteX10" fmla="*/ 3487 w 334736"/>
                <a:gd name="connsiteY10" fmla="*/ 230549 h 641577"/>
                <a:gd name="connsiteX11" fmla="*/ 11330 w 334736"/>
                <a:gd name="connsiteY11" fmla="*/ 178047 h 641577"/>
                <a:gd name="connsiteX12" fmla="*/ 33492 w 334736"/>
                <a:gd name="connsiteY12" fmla="*/ 139180 h 641577"/>
                <a:gd name="connsiteX13" fmla="*/ 67584 w 334736"/>
                <a:gd name="connsiteY13" fmla="*/ 112588 h 641577"/>
                <a:gd name="connsiteX14" fmla="*/ 111221 w 334736"/>
                <a:gd name="connsiteY14" fmla="*/ 97585 h 641577"/>
                <a:gd name="connsiteX15" fmla="*/ 111221 w 334736"/>
                <a:gd name="connsiteY15" fmla="*/ 3487 h 641577"/>
                <a:gd name="connsiteX16" fmla="*/ 221684 w 334736"/>
                <a:gd name="connsiteY16" fmla="*/ 3487 h 641577"/>
                <a:gd name="connsiteX17" fmla="*/ 221684 w 334736"/>
                <a:gd name="connsiteY17" fmla="*/ 96218 h 641577"/>
                <a:gd name="connsiteX18" fmla="*/ 272824 w 334736"/>
                <a:gd name="connsiteY18" fmla="*/ 107129 h 641577"/>
                <a:gd name="connsiteX19" fmla="*/ 319189 w 334736"/>
                <a:gd name="connsiteY19" fmla="*/ 126219 h 641577"/>
                <a:gd name="connsiteX20" fmla="*/ 294647 w 334736"/>
                <a:gd name="connsiteY20" fmla="*/ 210772 h 641577"/>
                <a:gd name="connsiteX21" fmla="*/ 236007 w 334736"/>
                <a:gd name="connsiteY21" fmla="*/ 189633 h 641577"/>
                <a:gd name="connsiteX22" fmla="*/ 167140 w 334736"/>
                <a:gd name="connsiteY22" fmla="*/ 180088 h 641577"/>
                <a:gd name="connsiteX23" fmla="*/ 125884 w 334736"/>
                <a:gd name="connsiteY23" fmla="*/ 188610 h 641577"/>
                <a:gd name="connsiteX24" fmla="*/ 113271 w 334736"/>
                <a:gd name="connsiteY24" fmla="*/ 216904 h 641577"/>
                <a:gd name="connsiteX25" fmla="*/ 118385 w 334736"/>
                <a:gd name="connsiteY25" fmla="*/ 233953 h 641577"/>
                <a:gd name="connsiteX26" fmla="*/ 133727 w 334736"/>
                <a:gd name="connsiteY26" fmla="*/ 246226 h 641577"/>
                <a:gd name="connsiteX27" fmla="*/ 160320 w 334736"/>
                <a:gd name="connsiteY27" fmla="*/ 257133 h 641577"/>
                <a:gd name="connsiteX28" fmla="*/ 199182 w 334736"/>
                <a:gd name="connsiteY28" fmla="*/ 270090 h 641577"/>
                <a:gd name="connsiteX29" fmla="*/ 248965 w 334736"/>
                <a:gd name="connsiteY29" fmla="*/ 289184 h 641577"/>
                <a:gd name="connsiteX30" fmla="*/ 291234 w 334736"/>
                <a:gd name="connsiteY30" fmla="*/ 314754 h 641577"/>
                <a:gd name="connsiteX31" fmla="*/ 320556 w 334736"/>
                <a:gd name="connsiteY31" fmla="*/ 352598 h 641577"/>
                <a:gd name="connsiteX32" fmla="*/ 331472 w 334736"/>
                <a:gd name="connsiteY32" fmla="*/ 409196 h 641577"/>
                <a:gd name="connsiteX33" fmla="*/ 301806 w 334736"/>
                <a:gd name="connsiteY33" fmla="*/ 496130 h 641577"/>
                <a:gd name="connsiteX34" fmla="*/ 220331 w 334736"/>
                <a:gd name="connsiteY34" fmla="*/ 542840 h 641577"/>
                <a:gd name="connsiteX35" fmla="*/ 220331 w 334736"/>
                <a:gd name="connsiteY35" fmla="*/ 638979 h 641577"/>
                <a:gd name="connsiteX36" fmla="*/ 109868 w 334736"/>
                <a:gd name="connsiteY36" fmla="*/ 638979 h 641577"/>
                <a:gd name="connsiteX37" fmla="*/ 109868 w 334736"/>
                <a:gd name="connsiteY37" fmla="*/ 546247 h 641577"/>
                <a:gd name="connsiteX38" fmla="*/ 56003 w 334736"/>
                <a:gd name="connsiteY38" fmla="*/ 534318 h 641577"/>
                <a:gd name="connsiteX39" fmla="*/ 5546 w 334736"/>
                <a:gd name="connsiteY39" fmla="*/ 516247 h 641577"/>
                <a:gd name="connsiteX40" fmla="*/ 30080 w 334736"/>
                <a:gd name="connsiteY40" fmla="*/ 429657 h 64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4736" h="641577">
                  <a:moveTo>
                    <a:pt x="30080" y="429657"/>
                  </a:moveTo>
                  <a:cubicBezTo>
                    <a:pt x="48713" y="437839"/>
                    <a:pt x="69625" y="445115"/>
                    <a:pt x="92810" y="451475"/>
                  </a:cubicBezTo>
                  <a:cubicBezTo>
                    <a:pt x="115991" y="457844"/>
                    <a:pt x="138720" y="461024"/>
                    <a:pt x="160994" y="461024"/>
                  </a:cubicBezTo>
                  <a:cubicBezTo>
                    <a:pt x="180088" y="461024"/>
                    <a:pt x="194970" y="457728"/>
                    <a:pt x="205653" y="451136"/>
                  </a:cubicBezTo>
                  <a:cubicBezTo>
                    <a:pt x="216332" y="444553"/>
                    <a:pt x="221679" y="434664"/>
                    <a:pt x="221679" y="421475"/>
                  </a:cubicBezTo>
                  <a:cubicBezTo>
                    <a:pt x="221679" y="408294"/>
                    <a:pt x="216449" y="398406"/>
                    <a:pt x="205997" y="391813"/>
                  </a:cubicBezTo>
                  <a:cubicBezTo>
                    <a:pt x="195537" y="385230"/>
                    <a:pt x="177805" y="378070"/>
                    <a:pt x="152812" y="370334"/>
                  </a:cubicBezTo>
                  <a:cubicBezTo>
                    <a:pt x="130533" y="363514"/>
                    <a:pt x="110300" y="356591"/>
                    <a:pt x="92127" y="349539"/>
                  </a:cubicBezTo>
                  <a:cubicBezTo>
                    <a:pt x="73939" y="342491"/>
                    <a:pt x="58258" y="333969"/>
                    <a:pt x="45078" y="323969"/>
                  </a:cubicBezTo>
                  <a:cubicBezTo>
                    <a:pt x="31888" y="313978"/>
                    <a:pt x="21660" y="301588"/>
                    <a:pt x="14394" y="286804"/>
                  </a:cubicBezTo>
                  <a:cubicBezTo>
                    <a:pt x="7118" y="272038"/>
                    <a:pt x="3487" y="253288"/>
                    <a:pt x="3487" y="230549"/>
                  </a:cubicBezTo>
                  <a:cubicBezTo>
                    <a:pt x="3487" y="210554"/>
                    <a:pt x="6095" y="193050"/>
                    <a:pt x="11330" y="178047"/>
                  </a:cubicBezTo>
                  <a:cubicBezTo>
                    <a:pt x="16551" y="163044"/>
                    <a:pt x="23943" y="150092"/>
                    <a:pt x="33492" y="139180"/>
                  </a:cubicBezTo>
                  <a:cubicBezTo>
                    <a:pt x="43041" y="128269"/>
                    <a:pt x="54395" y="119408"/>
                    <a:pt x="67584" y="112588"/>
                  </a:cubicBezTo>
                  <a:cubicBezTo>
                    <a:pt x="80764" y="105767"/>
                    <a:pt x="95307" y="100769"/>
                    <a:pt x="111221" y="97585"/>
                  </a:cubicBezTo>
                  <a:lnTo>
                    <a:pt x="111221" y="3487"/>
                  </a:lnTo>
                  <a:lnTo>
                    <a:pt x="221684" y="3487"/>
                  </a:lnTo>
                  <a:lnTo>
                    <a:pt x="221684" y="96218"/>
                  </a:lnTo>
                  <a:cubicBezTo>
                    <a:pt x="240317" y="98496"/>
                    <a:pt x="257361" y="102132"/>
                    <a:pt x="272824" y="107129"/>
                  </a:cubicBezTo>
                  <a:cubicBezTo>
                    <a:pt x="288268" y="112137"/>
                    <a:pt x="303731" y="118497"/>
                    <a:pt x="319189" y="126219"/>
                  </a:cubicBezTo>
                  <a:lnTo>
                    <a:pt x="294647" y="210772"/>
                  </a:lnTo>
                  <a:cubicBezTo>
                    <a:pt x="276915" y="203045"/>
                    <a:pt x="257361" y="196007"/>
                    <a:pt x="236007" y="189633"/>
                  </a:cubicBezTo>
                  <a:cubicBezTo>
                    <a:pt x="214631" y="183273"/>
                    <a:pt x="191683" y="180088"/>
                    <a:pt x="167140" y="180088"/>
                  </a:cubicBezTo>
                  <a:cubicBezTo>
                    <a:pt x="148046" y="180088"/>
                    <a:pt x="134294" y="182933"/>
                    <a:pt x="125884" y="188610"/>
                  </a:cubicBezTo>
                  <a:cubicBezTo>
                    <a:pt x="117469" y="194300"/>
                    <a:pt x="113271" y="203724"/>
                    <a:pt x="113271" y="216904"/>
                  </a:cubicBezTo>
                  <a:cubicBezTo>
                    <a:pt x="113271" y="223725"/>
                    <a:pt x="114977" y="229410"/>
                    <a:pt x="118385" y="233953"/>
                  </a:cubicBezTo>
                  <a:cubicBezTo>
                    <a:pt x="121793" y="238504"/>
                    <a:pt x="126907" y="242591"/>
                    <a:pt x="133727" y="246226"/>
                  </a:cubicBezTo>
                  <a:cubicBezTo>
                    <a:pt x="140543" y="249871"/>
                    <a:pt x="149408" y="253502"/>
                    <a:pt x="160320" y="257133"/>
                  </a:cubicBezTo>
                  <a:cubicBezTo>
                    <a:pt x="171231" y="260778"/>
                    <a:pt x="184184" y="265092"/>
                    <a:pt x="199182" y="270090"/>
                  </a:cubicBezTo>
                  <a:cubicBezTo>
                    <a:pt x="216453" y="276004"/>
                    <a:pt x="233046" y="282364"/>
                    <a:pt x="248965" y="289184"/>
                  </a:cubicBezTo>
                  <a:cubicBezTo>
                    <a:pt x="264865" y="296000"/>
                    <a:pt x="278965" y="304521"/>
                    <a:pt x="291234" y="314754"/>
                  </a:cubicBezTo>
                  <a:cubicBezTo>
                    <a:pt x="303513" y="324982"/>
                    <a:pt x="313280" y="337595"/>
                    <a:pt x="320556" y="352598"/>
                  </a:cubicBezTo>
                  <a:cubicBezTo>
                    <a:pt x="327818" y="367601"/>
                    <a:pt x="331472" y="386467"/>
                    <a:pt x="331472" y="409196"/>
                  </a:cubicBezTo>
                  <a:cubicBezTo>
                    <a:pt x="331472" y="444204"/>
                    <a:pt x="321584" y="473182"/>
                    <a:pt x="301806" y="496130"/>
                  </a:cubicBezTo>
                  <a:cubicBezTo>
                    <a:pt x="282038" y="519087"/>
                    <a:pt x="254869" y="534652"/>
                    <a:pt x="220331" y="542840"/>
                  </a:cubicBezTo>
                  <a:lnTo>
                    <a:pt x="220331" y="638979"/>
                  </a:lnTo>
                  <a:lnTo>
                    <a:pt x="109868" y="638979"/>
                  </a:lnTo>
                  <a:lnTo>
                    <a:pt x="109868" y="546247"/>
                  </a:lnTo>
                  <a:cubicBezTo>
                    <a:pt x="91680" y="543523"/>
                    <a:pt x="73730" y="539548"/>
                    <a:pt x="56003" y="534318"/>
                  </a:cubicBezTo>
                  <a:cubicBezTo>
                    <a:pt x="38276" y="529097"/>
                    <a:pt x="21451" y="523067"/>
                    <a:pt x="5546" y="516247"/>
                  </a:cubicBezTo>
                  <a:lnTo>
                    <a:pt x="30080" y="429657"/>
                  </a:lnTo>
                  <a:close/>
                </a:path>
              </a:pathLst>
            </a:custGeom>
            <a:solidFill>
              <a:schemeClr val="tx2"/>
            </a:solidFill>
            <a:ln w="952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EBAA29CF-215D-B642-917E-1BD6AD992CFE}"/>
                </a:ext>
              </a:extLst>
            </p:cNvPr>
            <p:cNvSpPr/>
            <p:nvPr/>
          </p:nvSpPr>
          <p:spPr>
            <a:xfrm rot="5786484">
              <a:off x="7781433" y="4339465"/>
              <a:ext cx="664526" cy="906661"/>
            </a:xfrm>
            <a:custGeom>
              <a:avLst/>
              <a:gdLst>
                <a:gd name="connsiteX0" fmla="*/ 0 w 664526"/>
                <a:gd name="connsiteY0" fmla="*/ 694221 h 906661"/>
                <a:gd name="connsiteX1" fmla="*/ 107884 w 664526"/>
                <a:gd name="connsiteY1" fmla="*/ 682041 h 906661"/>
                <a:gd name="connsiteX2" fmla="*/ 102581 w 664526"/>
                <a:gd name="connsiteY2" fmla="*/ 622109 h 906661"/>
                <a:gd name="connsiteX3" fmla="*/ 217576 w 664526"/>
                <a:gd name="connsiteY3" fmla="*/ 264277 h 906661"/>
                <a:gd name="connsiteX4" fmla="*/ 637407 w 664526"/>
                <a:gd name="connsiteY4" fmla="*/ 0 h 906661"/>
                <a:gd name="connsiteX5" fmla="*/ 664526 w 664526"/>
                <a:gd name="connsiteY5" fmla="*/ 165259 h 906661"/>
                <a:gd name="connsiteX6" fmla="*/ 354859 w 664526"/>
                <a:gd name="connsiteY6" fmla="*/ 360190 h 906661"/>
                <a:gd name="connsiteX7" fmla="*/ 270039 w 664526"/>
                <a:gd name="connsiteY7" fmla="*/ 624126 h 906661"/>
                <a:gd name="connsiteX8" fmla="*/ 273509 w 664526"/>
                <a:gd name="connsiteY8" fmla="*/ 663342 h 906661"/>
                <a:gd name="connsiteX9" fmla="*/ 407264 w 664526"/>
                <a:gd name="connsiteY9" fmla="*/ 648241 h 906661"/>
                <a:gd name="connsiteX10" fmla="*/ 219698 w 664526"/>
                <a:gd name="connsiteY10" fmla="*/ 906661 h 90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4526" h="906661">
                  <a:moveTo>
                    <a:pt x="0" y="694221"/>
                  </a:moveTo>
                  <a:lnTo>
                    <a:pt x="107884" y="682041"/>
                  </a:lnTo>
                  <a:lnTo>
                    <a:pt x="102581" y="622109"/>
                  </a:lnTo>
                  <a:cubicBezTo>
                    <a:pt x="104115" y="494964"/>
                    <a:pt x="143640" y="370104"/>
                    <a:pt x="217576" y="264277"/>
                  </a:cubicBezTo>
                  <a:cubicBezTo>
                    <a:pt x="316157" y="123175"/>
                    <a:pt x="467552" y="27874"/>
                    <a:pt x="637407" y="0"/>
                  </a:cubicBezTo>
                  <a:lnTo>
                    <a:pt x="664526" y="165259"/>
                  </a:lnTo>
                  <a:cubicBezTo>
                    <a:pt x="539241" y="185819"/>
                    <a:pt x="427572" y="256113"/>
                    <a:pt x="354859" y="360190"/>
                  </a:cubicBezTo>
                  <a:cubicBezTo>
                    <a:pt x="300324" y="438248"/>
                    <a:pt x="271171" y="530344"/>
                    <a:pt x="270039" y="624126"/>
                  </a:cubicBezTo>
                  <a:lnTo>
                    <a:pt x="273509" y="663342"/>
                  </a:lnTo>
                  <a:lnTo>
                    <a:pt x="407264" y="648241"/>
                  </a:lnTo>
                  <a:lnTo>
                    <a:pt x="219698" y="906661"/>
                  </a:ln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60" name="Freeform 59">
              <a:extLst>
                <a:ext uri="{FF2B5EF4-FFF2-40B4-BE49-F238E27FC236}">
                  <a16:creationId xmlns:a16="http://schemas.microsoft.com/office/drawing/2014/main" id="{E8D2DC2E-8569-CF4E-A48D-5587B59F9D9C}"/>
                </a:ext>
              </a:extLst>
            </p:cNvPr>
            <p:cNvSpPr/>
            <p:nvPr/>
          </p:nvSpPr>
          <p:spPr>
            <a:xfrm rot="16671473">
              <a:off x="7207145" y="5296708"/>
              <a:ext cx="664526" cy="906661"/>
            </a:xfrm>
            <a:custGeom>
              <a:avLst/>
              <a:gdLst>
                <a:gd name="connsiteX0" fmla="*/ 0 w 664526"/>
                <a:gd name="connsiteY0" fmla="*/ 694221 h 906661"/>
                <a:gd name="connsiteX1" fmla="*/ 107884 w 664526"/>
                <a:gd name="connsiteY1" fmla="*/ 682041 h 906661"/>
                <a:gd name="connsiteX2" fmla="*/ 102581 w 664526"/>
                <a:gd name="connsiteY2" fmla="*/ 622109 h 906661"/>
                <a:gd name="connsiteX3" fmla="*/ 217576 w 664526"/>
                <a:gd name="connsiteY3" fmla="*/ 264277 h 906661"/>
                <a:gd name="connsiteX4" fmla="*/ 637407 w 664526"/>
                <a:gd name="connsiteY4" fmla="*/ 0 h 906661"/>
                <a:gd name="connsiteX5" fmla="*/ 664526 w 664526"/>
                <a:gd name="connsiteY5" fmla="*/ 165259 h 906661"/>
                <a:gd name="connsiteX6" fmla="*/ 354859 w 664526"/>
                <a:gd name="connsiteY6" fmla="*/ 360190 h 906661"/>
                <a:gd name="connsiteX7" fmla="*/ 270039 w 664526"/>
                <a:gd name="connsiteY7" fmla="*/ 624126 h 906661"/>
                <a:gd name="connsiteX8" fmla="*/ 273509 w 664526"/>
                <a:gd name="connsiteY8" fmla="*/ 663342 h 906661"/>
                <a:gd name="connsiteX9" fmla="*/ 407264 w 664526"/>
                <a:gd name="connsiteY9" fmla="*/ 648241 h 906661"/>
                <a:gd name="connsiteX10" fmla="*/ 219698 w 664526"/>
                <a:gd name="connsiteY10" fmla="*/ 906661 h 906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4526" h="906661">
                  <a:moveTo>
                    <a:pt x="0" y="694221"/>
                  </a:moveTo>
                  <a:lnTo>
                    <a:pt x="107884" y="682041"/>
                  </a:lnTo>
                  <a:lnTo>
                    <a:pt x="102581" y="622109"/>
                  </a:lnTo>
                  <a:cubicBezTo>
                    <a:pt x="104115" y="494964"/>
                    <a:pt x="143640" y="370104"/>
                    <a:pt x="217576" y="264277"/>
                  </a:cubicBezTo>
                  <a:cubicBezTo>
                    <a:pt x="316157" y="123175"/>
                    <a:pt x="467552" y="27874"/>
                    <a:pt x="637407" y="0"/>
                  </a:cubicBezTo>
                  <a:lnTo>
                    <a:pt x="664526" y="165259"/>
                  </a:lnTo>
                  <a:cubicBezTo>
                    <a:pt x="539241" y="185819"/>
                    <a:pt x="427572" y="256113"/>
                    <a:pt x="354859" y="360190"/>
                  </a:cubicBezTo>
                  <a:cubicBezTo>
                    <a:pt x="300324" y="438248"/>
                    <a:pt x="271171" y="530344"/>
                    <a:pt x="270039" y="624126"/>
                  </a:cubicBezTo>
                  <a:lnTo>
                    <a:pt x="273509" y="663342"/>
                  </a:lnTo>
                  <a:lnTo>
                    <a:pt x="407264" y="648241"/>
                  </a:lnTo>
                  <a:lnTo>
                    <a:pt x="219698" y="906661"/>
                  </a:ln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pSp>
      <p:grpSp>
        <p:nvGrpSpPr>
          <p:cNvPr id="83" name="Group 82">
            <a:extLst>
              <a:ext uri="{FF2B5EF4-FFF2-40B4-BE49-F238E27FC236}">
                <a16:creationId xmlns:a16="http://schemas.microsoft.com/office/drawing/2014/main" id="{B2B63819-5886-2F4B-B535-ABEE930508D9}"/>
              </a:ext>
            </a:extLst>
          </p:cNvPr>
          <p:cNvGrpSpPr/>
          <p:nvPr/>
        </p:nvGrpSpPr>
        <p:grpSpPr>
          <a:xfrm>
            <a:off x="8288283" y="3376250"/>
            <a:ext cx="2138444" cy="2585375"/>
            <a:chOff x="8673909" y="3559458"/>
            <a:chExt cx="1752818" cy="2119154"/>
          </a:xfrm>
        </p:grpSpPr>
        <p:sp>
          <p:nvSpPr>
            <p:cNvPr id="73" name="Freeform 72">
              <a:extLst>
                <a:ext uri="{FF2B5EF4-FFF2-40B4-BE49-F238E27FC236}">
                  <a16:creationId xmlns:a16="http://schemas.microsoft.com/office/drawing/2014/main" id="{E53BA8CF-DD97-994D-A708-A42C2B9CFB38}"/>
                </a:ext>
              </a:extLst>
            </p:cNvPr>
            <p:cNvSpPr/>
            <p:nvPr/>
          </p:nvSpPr>
          <p:spPr>
            <a:xfrm>
              <a:off x="8673909" y="3559458"/>
              <a:ext cx="1752818" cy="2119154"/>
            </a:xfrm>
            <a:custGeom>
              <a:avLst/>
              <a:gdLst>
                <a:gd name="connsiteX0" fmla="*/ 873253 w 1746504"/>
                <a:gd name="connsiteY0" fmla="*/ 0 h 2111520"/>
                <a:gd name="connsiteX1" fmla="*/ 1746504 w 1746504"/>
                <a:gd name="connsiteY1" fmla="*/ 897218 h 2111520"/>
                <a:gd name="connsiteX2" fmla="*/ 1412075 w 1746504"/>
                <a:gd name="connsiteY2" fmla="*/ 897218 h 2111520"/>
                <a:gd name="connsiteX3" fmla="*/ 1412075 w 1746504"/>
                <a:gd name="connsiteY3" fmla="*/ 1567662 h 2111520"/>
                <a:gd name="connsiteX4" fmla="*/ 1412748 w 1746504"/>
                <a:gd name="connsiteY4" fmla="*/ 1574310 h 2111520"/>
                <a:gd name="connsiteX5" fmla="*/ 873252 w 1746504"/>
                <a:gd name="connsiteY5" fmla="*/ 2111520 h 2111520"/>
                <a:gd name="connsiteX6" fmla="*/ 333756 w 1746504"/>
                <a:gd name="connsiteY6" fmla="*/ 1574310 h 2111520"/>
                <a:gd name="connsiteX7" fmla="*/ 334429 w 1746504"/>
                <a:gd name="connsiteY7" fmla="*/ 1567662 h 2111520"/>
                <a:gd name="connsiteX8" fmla="*/ 334429 w 1746504"/>
                <a:gd name="connsiteY8" fmla="*/ 897218 h 2111520"/>
                <a:gd name="connsiteX9" fmla="*/ 0 w 1746504"/>
                <a:gd name="connsiteY9" fmla="*/ 897218 h 211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6504" h="2111520">
                  <a:moveTo>
                    <a:pt x="873253" y="0"/>
                  </a:moveTo>
                  <a:lnTo>
                    <a:pt x="1746504" y="897218"/>
                  </a:lnTo>
                  <a:lnTo>
                    <a:pt x="1412075" y="897218"/>
                  </a:lnTo>
                  <a:lnTo>
                    <a:pt x="1412075" y="1567662"/>
                  </a:lnTo>
                  <a:lnTo>
                    <a:pt x="1412748" y="1574310"/>
                  </a:lnTo>
                  <a:cubicBezTo>
                    <a:pt x="1412748" y="1871003"/>
                    <a:pt x="1171207" y="2111520"/>
                    <a:pt x="873252" y="2111520"/>
                  </a:cubicBezTo>
                  <a:cubicBezTo>
                    <a:pt x="575297" y="2111520"/>
                    <a:pt x="333756" y="1871003"/>
                    <a:pt x="333756" y="1574310"/>
                  </a:cubicBezTo>
                  <a:lnTo>
                    <a:pt x="334429" y="1567662"/>
                  </a:lnTo>
                  <a:lnTo>
                    <a:pt x="334429" y="897218"/>
                  </a:lnTo>
                  <a:lnTo>
                    <a:pt x="0" y="897218"/>
                  </a:ln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B2B40DF7-4C49-F941-A94C-C521B0B4312A}"/>
                </a:ext>
              </a:extLst>
            </p:cNvPr>
            <p:cNvSpPr/>
            <p:nvPr/>
          </p:nvSpPr>
          <p:spPr>
            <a:xfrm>
              <a:off x="9121878" y="4707802"/>
              <a:ext cx="857611" cy="857611"/>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8819F446-A503-3443-9743-99CB21F11F27}"/>
                </a:ext>
              </a:extLst>
            </p:cNvPr>
            <p:cNvSpPr txBox="1"/>
            <p:nvPr/>
          </p:nvSpPr>
          <p:spPr>
            <a:xfrm>
              <a:off x="9014635" y="4209378"/>
              <a:ext cx="1022991" cy="405295"/>
            </a:xfrm>
            <a:prstGeom prst="rect">
              <a:avLst/>
            </a:prstGeom>
            <a:noFill/>
          </p:spPr>
          <p:txBody>
            <a:bodyPr wrap="square" lIns="0" tIns="0" rIns="0" bIns="0" rtlCol="0" anchor="t">
              <a:noAutofit/>
            </a:bodyPr>
            <a:lstStyle/>
            <a:p>
              <a:pPr algn="ctr">
                <a:lnSpc>
                  <a:spcPct val="90000"/>
                </a:lnSpc>
              </a:pPr>
              <a:r>
                <a:rPr lang="en-US" sz="1400" b="1" dirty="0">
                  <a:solidFill>
                    <a:schemeClr val="bg1"/>
                  </a:solidFill>
                  <a:latin typeface="Arial" panose="020B0604020202020204" pitchFamily="34" charset="0"/>
                  <a:cs typeface="Arial" panose="020B0604020202020204" pitchFamily="34" charset="0"/>
                </a:rPr>
                <a:t>Technology</a:t>
              </a:r>
            </a:p>
            <a:p>
              <a:pPr algn="ctr">
                <a:lnSpc>
                  <a:spcPct val="90000"/>
                </a:lnSpc>
              </a:pPr>
              <a:r>
                <a:rPr lang="en-US" sz="1400" b="1" dirty="0">
                  <a:solidFill>
                    <a:schemeClr val="bg1"/>
                  </a:solidFill>
                  <a:latin typeface="Arial" panose="020B0604020202020204" pitchFamily="34" charset="0"/>
                  <a:cs typeface="Arial" panose="020B0604020202020204" pitchFamily="34" charset="0"/>
                </a:rPr>
                <a:t>Spend</a:t>
              </a:r>
            </a:p>
          </p:txBody>
        </p:sp>
        <p:grpSp>
          <p:nvGrpSpPr>
            <p:cNvPr id="77" name="Group 76">
              <a:extLst>
                <a:ext uri="{FF2B5EF4-FFF2-40B4-BE49-F238E27FC236}">
                  <a16:creationId xmlns:a16="http://schemas.microsoft.com/office/drawing/2014/main" id="{EDFDE2D7-AB98-BE46-A438-852E0AF78988}"/>
                </a:ext>
              </a:extLst>
            </p:cNvPr>
            <p:cNvGrpSpPr/>
            <p:nvPr/>
          </p:nvGrpSpPr>
          <p:grpSpPr>
            <a:xfrm>
              <a:off x="9227952" y="4892222"/>
              <a:ext cx="627951" cy="488260"/>
              <a:chOff x="4113114" y="5250158"/>
              <a:chExt cx="861026" cy="669486"/>
            </a:xfrm>
          </p:grpSpPr>
          <p:sp>
            <p:nvSpPr>
              <p:cNvPr id="56" name="Freeform: Shape 842">
                <a:extLst>
                  <a:ext uri="{FF2B5EF4-FFF2-40B4-BE49-F238E27FC236}">
                    <a16:creationId xmlns:a16="http://schemas.microsoft.com/office/drawing/2014/main" id="{3A423E98-9308-3642-A8C3-6AAFB2FDEA43}"/>
                  </a:ext>
                </a:extLst>
              </p:cNvPr>
              <p:cNvSpPr/>
              <p:nvPr/>
            </p:nvSpPr>
            <p:spPr>
              <a:xfrm>
                <a:off x="4183405" y="5250158"/>
                <a:ext cx="720454" cy="544735"/>
              </a:xfrm>
              <a:custGeom>
                <a:avLst/>
                <a:gdLst>
                  <a:gd name="connsiteX0" fmla="*/ 61471 w 68579"/>
                  <a:gd name="connsiteY0" fmla="*/ 1255 h 51853"/>
                  <a:gd name="connsiteX1" fmla="*/ 7945 w 68579"/>
                  <a:gd name="connsiteY1" fmla="*/ 1255 h 51853"/>
                  <a:gd name="connsiteX2" fmla="*/ 1255 w 68579"/>
                  <a:gd name="connsiteY2" fmla="*/ 7945 h 51853"/>
                  <a:gd name="connsiteX3" fmla="*/ 1255 w 68579"/>
                  <a:gd name="connsiteY3" fmla="*/ 51435 h 51853"/>
                  <a:gd name="connsiteX4" fmla="*/ 68162 w 68579"/>
                  <a:gd name="connsiteY4" fmla="*/ 51435 h 51853"/>
                  <a:gd name="connsiteX5" fmla="*/ 68162 w 68579"/>
                  <a:gd name="connsiteY5" fmla="*/ 7945 h 51853"/>
                  <a:gd name="connsiteX6" fmla="*/ 61471 w 68579"/>
                  <a:gd name="connsiteY6" fmla="*/ 1255 h 51853"/>
                  <a:gd name="connsiteX7" fmla="*/ 61471 w 68579"/>
                  <a:gd name="connsiteY7" fmla="*/ 43072 h 51853"/>
                  <a:gd name="connsiteX8" fmla="*/ 59798 w 68579"/>
                  <a:gd name="connsiteY8" fmla="*/ 44744 h 51853"/>
                  <a:gd name="connsiteX9" fmla="*/ 9618 w 68579"/>
                  <a:gd name="connsiteY9" fmla="*/ 44744 h 51853"/>
                  <a:gd name="connsiteX10" fmla="*/ 7945 w 68579"/>
                  <a:gd name="connsiteY10" fmla="*/ 43072 h 51853"/>
                  <a:gd name="connsiteX11" fmla="*/ 7945 w 68579"/>
                  <a:gd name="connsiteY11" fmla="*/ 9618 h 51853"/>
                  <a:gd name="connsiteX12" fmla="*/ 9618 w 68579"/>
                  <a:gd name="connsiteY12" fmla="*/ 7945 h 51853"/>
                  <a:gd name="connsiteX13" fmla="*/ 59798 w 68579"/>
                  <a:gd name="connsiteY13" fmla="*/ 7945 h 51853"/>
                  <a:gd name="connsiteX14" fmla="*/ 61471 w 68579"/>
                  <a:gd name="connsiteY14" fmla="*/ 9618 h 51853"/>
                  <a:gd name="connsiteX15" fmla="*/ 61471 w 68579"/>
                  <a:gd name="connsiteY15" fmla="*/ 43072 h 51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79" h="51853">
                    <a:moveTo>
                      <a:pt x="61471" y="1255"/>
                    </a:moveTo>
                    <a:lnTo>
                      <a:pt x="7945" y="1255"/>
                    </a:lnTo>
                    <a:cubicBezTo>
                      <a:pt x="4265" y="1255"/>
                      <a:pt x="1255" y="4265"/>
                      <a:pt x="1255" y="7945"/>
                    </a:cubicBezTo>
                    <a:lnTo>
                      <a:pt x="1255" y="51435"/>
                    </a:lnTo>
                    <a:lnTo>
                      <a:pt x="68162" y="51435"/>
                    </a:lnTo>
                    <a:lnTo>
                      <a:pt x="68162" y="7945"/>
                    </a:lnTo>
                    <a:cubicBezTo>
                      <a:pt x="68162" y="4265"/>
                      <a:pt x="65151" y="1255"/>
                      <a:pt x="61471" y="1255"/>
                    </a:cubicBezTo>
                    <a:close/>
                    <a:moveTo>
                      <a:pt x="61471" y="43072"/>
                    </a:moveTo>
                    <a:cubicBezTo>
                      <a:pt x="61471" y="44075"/>
                      <a:pt x="60802" y="44744"/>
                      <a:pt x="59798" y="44744"/>
                    </a:cubicBezTo>
                    <a:lnTo>
                      <a:pt x="9618" y="44744"/>
                    </a:lnTo>
                    <a:cubicBezTo>
                      <a:pt x="8614" y="44744"/>
                      <a:pt x="7945" y="44075"/>
                      <a:pt x="7945" y="43072"/>
                    </a:cubicBezTo>
                    <a:lnTo>
                      <a:pt x="7945" y="9618"/>
                    </a:lnTo>
                    <a:cubicBezTo>
                      <a:pt x="7945" y="8614"/>
                      <a:pt x="8614" y="7945"/>
                      <a:pt x="9618" y="7945"/>
                    </a:cubicBezTo>
                    <a:lnTo>
                      <a:pt x="59798" y="7945"/>
                    </a:lnTo>
                    <a:cubicBezTo>
                      <a:pt x="60802" y="7945"/>
                      <a:pt x="61471" y="8614"/>
                      <a:pt x="61471" y="9618"/>
                    </a:cubicBezTo>
                    <a:lnTo>
                      <a:pt x="61471" y="43072"/>
                    </a:ln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7" name="Freeform: Shape 843">
                <a:extLst>
                  <a:ext uri="{FF2B5EF4-FFF2-40B4-BE49-F238E27FC236}">
                    <a16:creationId xmlns:a16="http://schemas.microsoft.com/office/drawing/2014/main" id="{74DD9CA9-026F-914F-A748-BE8739CD229A}"/>
                  </a:ext>
                </a:extLst>
              </p:cNvPr>
              <p:cNvSpPr/>
              <p:nvPr/>
            </p:nvSpPr>
            <p:spPr>
              <a:xfrm>
                <a:off x="4113114" y="5831788"/>
                <a:ext cx="861026" cy="87856"/>
              </a:xfrm>
              <a:custGeom>
                <a:avLst/>
                <a:gdLst>
                  <a:gd name="connsiteX0" fmla="*/ 48090 w 81961"/>
                  <a:gd name="connsiteY0" fmla="*/ 1255 h 8363"/>
                  <a:gd name="connsiteX1" fmla="*/ 48090 w 81961"/>
                  <a:gd name="connsiteY1" fmla="*/ 2927 h 8363"/>
                  <a:gd name="connsiteX2" fmla="*/ 46417 w 81961"/>
                  <a:gd name="connsiteY2" fmla="*/ 4600 h 8363"/>
                  <a:gd name="connsiteX3" fmla="*/ 36381 w 81961"/>
                  <a:gd name="connsiteY3" fmla="*/ 4600 h 8363"/>
                  <a:gd name="connsiteX4" fmla="*/ 34708 w 81961"/>
                  <a:gd name="connsiteY4" fmla="*/ 2927 h 8363"/>
                  <a:gd name="connsiteX5" fmla="*/ 34708 w 81961"/>
                  <a:gd name="connsiteY5" fmla="*/ 1255 h 8363"/>
                  <a:gd name="connsiteX6" fmla="*/ 1255 w 81961"/>
                  <a:gd name="connsiteY6" fmla="*/ 1255 h 8363"/>
                  <a:gd name="connsiteX7" fmla="*/ 1255 w 81961"/>
                  <a:gd name="connsiteY7" fmla="*/ 4600 h 8363"/>
                  <a:gd name="connsiteX8" fmla="*/ 4600 w 81961"/>
                  <a:gd name="connsiteY8" fmla="*/ 7945 h 8363"/>
                  <a:gd name="connsiteX9" fmla="*/ 78198 w 81961"/>
                  <a:gd name="connsiteY9" fmla="*/ 7945 h 8363"/>
                  <a:gd name="connsiteX10" fmla="*/ 81543 w 81961"/>
                  <a:gd name="connsiteY10" fmla="*/ 4600 h 8363"/>
                  <a:gd name="connsiteX11" fmla="*/ 81543 w 81961"/>
                  <a:gd name="connsiteY11" fmla="*/ 1255 h 8363"/>
                  <a:gd name="connsiteX12" fmla="*/ 48090 w 81961"/>
                  <a:gd name="connsiteY12" fmla="*/ 1255 h 8363"/>
                  <a:gd name="connsiteX13" fmla="*/ 73180 w 81961"/>
                  <a:gd name="connsiteY13" fmla="*/ 6607 h 8363"/>
                  <a:gd name="connsiteX14" fmla="*/ 71172 w 81961"/>
                  <a:gd name="connsiteY14" fmla="*/ 4600 h 8363"/>
                  <a:gd name="connsiteX15" fmla="*/ 73180 w 81961"/>
                  <a:gd name="connsiteY15" fmla="*/ 2593 h 8363"/>
                  <a:gd name="connsiteX16" fmla="*/ 75187 w 81961"/>
                  <a:gd name="connsiteY16" fmla="*/ 4600 h 8363"/>
                  <a:gd name="connsiteX17" fmla="*/ 73180 w 81961"/>
                  <a:gd name="connsiteY17" fmla="*/ 6607 h 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1961" h="8363">
                    <a:moveTo>
                      <a:pt x="48090" y="1255"/>
                    </a:moveTo>
                    <a:lnTo>
                      <a:pt x="48090" y="2927"/>
                    </a:lnTo>
                    <a:cubicBezTo>
                      <a:pt x="48090" y="3931"/>
                      <a:pt x="47420" y="4600"/>
                      <a:pt x="46417" y="4600"/>
                    </a:cubicBezTo>
                    <a:lnTo>
                      <a:pt x="36381" y="4600"/>
                    </a:lnTo>
                    <a:cubicBezTo>
                      <a:pt x="35377" y="4600"/>
                      <a:pt x="34708" y="3931"/>
                      <a:pt x="34708" y="2927"/>
                    </a:cubicBezTo>
                    <a:lnTo>
                      <a:pt x="34708" y="1255"/>
                    </a:lnTo>
                    <a:lnTo>
                      <a:pt x="1255" y="1255"/>
                    </a:lnTo>
                    <a:cubicBezTo>
                      <a:pt x="1255" y="1255"/>
                      <a:pt x="1255" y="2760"/>
                      <a:pt x="1255" y="4600"/>
                    </a:cubicBezTo>
                    <a:cubicBezTo>
                      <a:pt x="1255" y="6440"/>
                      <a:pt x="2760" y="7945"/>
                      <a:pt x="4600" y="7945"/>
                    </a:cubicBezTo>
                    <a:lnTo>
                      <a:pt x="78198" y="7945"/>
                    </a:lnTo>
                    <a:cubicBezTo>
                      <a:pt x="80038" y="7945"/>
                      <a:pt x="81543" y="6440"/>
                      <a:pt x="81543" y="4600"/>
                    </a:cubicBezTo>
                    <a:cubicBezTo>
                      <a:pt x="81543" y="2760"/>
                      <a:pt x="81543" y="1255"/>
                      <a:pt x="81543" y="1255"/>
                    </a:cubicBezTo>
                    <a:lnTo>
                      <a:pt x="48090" y="1255"/>
                    </a:lnTo>
                    <a:close/>
                    <a:moveTo>
                      <a:pt x="73180" y="6607"/>
                    </a:moveTo>
                    <a:cubicBezTo>
                      <a:pt x="72009" y="6607"/>
                      <a:pt x="71172" y="5603"/>
                      <a:pt x="71172" y="4600"/>
                    </a:cubicBezTo>
                    <a:cubicBezTo>
                      <a:pt x="71172" y="3596"/>
                      <a:pt x="72176" y="2593"/>
                      <a:pt x="73180" y="2593"/>
                    </a:cubicBezTo>
                    <a:cubicBezTo>
                      <a:pt x="74183" y="2593"/>
                      <a:pt x="75187" y="3596"/>
                      <a:pt x="75187" y="4600"/>
                    </a:cubicBezTo>
                    <a:cubicBezTo>
                      <a:pt x="75187" y="5603"/>
                      <a:pt x="74351" y="6607"/>
                      <a:pt x="73180" y="6607"/>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75" name="Graphic 17">
                <a:extLst>
                  <a:ext uri="{FF2B5EF4-FFF2-40B4-BE49-F238E27FC236}">
                    <a16:creationId xmlns:a16="http://schemas.microsoft.com/office/drawing/2014/main" id="{48678A13-B272-8D43-8DA9-34BED71EB5E7}"/>
                  </a:ext>
                </a:extLst>
              </p:cNvPr>
              <p:cNvSpPr/>
              <p:nvPr/>
            </p:nvSpPr>
            <p:spPr>
              <a:xfrm>
                <a:off x="4468962" y="5382936"/>
                <a:ext cx="159045" cy="304836"/>
              </a:xfrm>
              <a:custGeom>
                <a:avLst/>
                <a:gdLst>
                  <a:gd name="connsiteX0" fmla="*/ 30080 w 334736"/>
                  <a:gd name="connsiteY0" fmla="*/ 429657 h 641577"/>
                  <a:gd name="connsiteX1" fmla="*/ 92810 w 334736"/>
                  <a:gd name="connsiteY1" fmla="*/ 451475 h 641577"/>
                  <a:gd name="connsiteX2" fmla="*/ 160994 w 334736"/>
                  <a:gd name="connsiteY2" fmla="*/ 461024 h 641577"/>
                  <a:gd name="connsiteX3" fmla="*/ 205653 w 334736"/>
                  <a:gd name="connsiteY3" fmla="*/ 451136 h 641577"/>
                  <a:gd name="connsiteX4" fmla="*/ 221679 w 334736"/>
                  <a:gd name="connsiteY4" fmla="*/ 421475 h 641577"/>
                  <a:gd name="connsiteX5" fmla="*/ 205997 w 334736"/>
                  <a:gd name="connsiteY5" fmla="*/ 391813 h 641577"/>
                  <a:gd name="connsiteX6" fmla="*/ 152812 w 334736"/>
                  <a:gd name="connsiteY6" fmla="*/ 370334 h 641577"/>
                  <a:gd name="connsiteX7" fmla="*/ 92127 w 334736"/>
                  <a:gd name="connsiteY7" fmla="*/ 349539 h 641577"/>
                  <a:gd name="connsiteX8" fmla="*/ 45078 w 334736"/>
                  <a:gd name="connsiteY8" fmla="*/ 323969 h 641577"/>
                  <a:gd name="connsiteX9" fmla="*/ 14394 w 334736"/>
                  <a:gd name="connsiteY9" fmla="*/ 286804 h 641577"/>
                  <a:gd name="connsiteX10" fmla="*/ 3487 w 334736"/>
                  <a:gd name="connsiteY10" fmla="*/ 230549 h 641577"/>
                  <a:gd name="connsiteX11" fmla="*/ 11330 w 334736"/>
                  <a:gd name="connsiteY11" fmla="*/ 178047 h 641577"/>
                  <a:gd name="connsiteX12" fmla="*/ 33492 w 334736"/>
                  <a:gd name="connsiteY12" fmla="*/ 139180 h 641577"/>
                  <a:gd name="connsiteX13" fmla="*/ 67584 w 334736"/>
                  <a:gd name="connsiteY13" fmla="*/ 112588 h 641577"/>
                  <a:gd name="connsiteX14" fmla="*/ 111221 w 334736"/>
                  <a:gd name="connsiteY14" fmla="*/ 97585 h 641577"/>
                  <a:gd name="connsiteX15" fmla="*/ 111221 w 334736"/>
                  <a:gd name="connsiteY15" fmla="*/ 3487 h 641577"/>
                  <a:gd name="connsiteX16" fmla="*/ 221684 w 334736"/>
                  <a:gd name="connsiteY16" fmla="*/ 3487 h 641577"/>
                  <a:gd name="connsiteX17" fmla="*/ 221684 w 334736"/>
                  <a:gd name="connsiteY17" fmla="*/ 96218 h 641577"/>
                  <a:gd name="connsiteX18" fmla="*/ 272824 w 334736"/>
                  <a:gd name="connsiteY18" fmla="*/ 107129 h 641577"/>
                  <a:gd name="connsiteX19" fmla="*/ 319189 w 334736"/>
                  <a:gd name="connsiteY19" fmla="*/ 126219 h 641577"/>
                  <a:gd name="connsiteX20" fmla="*/ 294647 w 334736"/>
                  <a:gd name="connsiteY20" fmla="*/ 210772 h 641577"/>
                  <a:gd name="connsiteX21" fmla="*/ 236007 w 334736"/>
                  <a:gd name="connsiteY21" fmla="*/ 189633 h 641577"/>
                  <a:gd name="connsiteX22" fmla="*/ 167140 w 334736"/>
                  <a:gd name="connsiteY22" fmla="*/ 180088 h 641577"/>
                  <a:gd name="connsiteX23" fmla="*/ 125884 w 334736"/>
                  <a:gd name="connsiteY23" fmla="*/ 188610 h 641577"/>
                  <a:gd name="connsiteX24" fmla="*/ 113271 w 334736"/>
                  <a:gd name="connsiteY24" fmla="*/ 216904 h 641577"/>
                  <a:gd name="connsiteX25" fmla="*/ 118385 w 334736"/>
                  <a:gd name="connsiteY25" fmla="*/ 233953 h 641577"/>
                  <a:gd name="connsiteX26" fmla="*/ 133727 w 334736"/>
                  <a:gd name="connsiteY26" fmla="*/ 246226 h 641577"/>
                  <a:gd name="connsiteX27" fmla="*/ 160320 w 334736"/>
                  <a:gd name="connsiteY27" fmla="*/ 257133 h 641577"/>
                  <a:gd name="connsiteX28" fmla="*/ 199182 w 334736"/>
                  <a:gd name="connsiteY28" fmla="*/ 270090 h 641577"/>
                  <a:gd name="connsiteX29" fmla="*/ 248965 w 334736"/>
                  <a:gd name="connsiteY29" fmla="*/ 289184 h 641577"/>
                  <a:gd name="connsiteX30" fmla="*/ 291234 w 334736"/>
                  <a:gd name="connsiteY30" fmla="*/ 314754 h 641577"/>
                  <a:gd name="connsiteX31" fmla="*/ 320556 w 334736"/>
                  <a:gd name="connsiteY31" fmla="*/ 352598 h 641577"/>
                  <a:gd name="connsiteX32" fmla="*/ 331472 w 334736"/>
                  <a:gd name="connsiteY32" fmla="*/ 409196 h 641577"/>
                  <a:gd name="connsiteX33" fmla="*/ 301806 w 334736"/>
                  <a:gd name="connsiteY33" fmla="*/ 496130 h 641577"/>
                  <a:gd name="connsiteX34" fmla="*/ 220331 w 334736"/>
                  <a:gd name="connsiteY34" fmla="*/ 542840 h 641577"/>
                  <a:gd name="connsiteX35" fmla="*/ 220331 w 334736"/>
                  <a:gd name="connsiteY35" fmla="*/ 638979 h 641577"/>
                  <a:gd name="connsiteX36" fmla="*/ 109868 w 334736"/>
                  <a:gd name="connsiteY36" fmla="*/ 638979 h 641577"/>
                  <a:gd name="connsiteX37" fmla="*/ 109868 w 334736"/>
                  <a:gd name="connsiteY37" fmla="*/ 546247 h 641577"/>
                  <a:gd name="connsiteX38" fmla="*/ 56003 w 334736"/>
                  <a:gd name="connsiteY38" fmla="*/ 534318 h 641577"/>
                  <a:gd name="connsiteX39" fmla="*/ 5546 w 334736"/>
                  <a:gd name="connsiteY39" fmla="*/ 516247 h 641577"/>
                  <a:gd name="connsiteX40" fmla="*/ 30080 w 334736"/>
                  <a:gd name="connsiteY40" fmla="*/ 429657 h 64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4736" h="641577">
                    <a:moveTo>
                      <a:pt x="30080" y="429657"/>
                    </a:moveTo>
                    <a:cubicBezTo>
                      <a:pt x="48713" y="437839"/>
                      <a:pt x="69625" y="445115"/>
                      <a:pt x="92810" y="451475"/>
                    </a:cubicBezTo>
                    <a:cubicBezTo>
                      <a:pt x="115991" y="457844"/>
                      <a:pt x="138720" y="461024"/>
                      <a:pt x="160994" y="461024"/>
                    </a:cubicBezTo>
                    <a:cubicBezTo>
                      <a:pt x="180088" y="461024"/>
                      <a:pt x="194970" y="457728"/>
                      <a:pt x="205653" y="451136"/>
                    </a:cubicBezTo>
                    <a:cubicBezTo>
                      <a:pt x="216332" y="444553"/>
                      <a:pt x="221679" y="434664"/>
                      <a:pt x="221679" y="421475"/>
                    </a:cubicBezTo>
                    <a:cubicBezTo>
                      <a:pt x="221679" y="408294"/>
                      <a:pt x="216449" y="398406"/>
                      <a:pt x="205997" y="391813"/>
                    </a:cubicBezTo>
                    <a:cubicBezTo>
                      <a:pt x="195537" y="385230"/>
                      <a:pt x="177805" y="378070"/>
                      <a:pt x="152812" y="370334"/>
                    </a:cubicBezTo>
                    <a:cubicBezTo>
                      <a:pt x="130533" y="363514"/>
                      <a:pt x="110300" y="356591"/>
                      <a:pt x="92127" y="349539"/>
                    </a:cubicBezTo>
                    <a:cubicBezTo>
                      <a:pt x="73939" y="342491"/>
                      <a:pt x="58258" y="333969"/>
                      <a:pt x="45078" y="323969"/>
                    </a:cubicBezTo>
                    <a:cubicBezTo>
                      <a:pt x="31888" y="313978"/>
                      <a:pt x="21660" y="301588"/>
                      <a:pt x="14394" y="286804"/>
                    </a:cubicBezTo>
                    <a:cubicBezTo>
                      <a:pt x="7118" y="272038"/>
                      <a:pt x="3487" y="253288"/>
                      <a:pt x="3487" y="230549"/>
                    </a:cubicBezTo>
                    <a:cubicBezTo>
                      <a:pt x="3487" y="210554"/>
                      <a:pt x="6095" y="193050"/>
                      <a:pt x="11330" y="178047"/>
                    </a:cubicBezTo>
                    <a:cubicBezTo>
                      <a:pt x="16551" y="163044"/>
                      <a:pt x="23943" y="150092"/>
                      <a:pt x="33492" y="139180"/>
                    </a:cubicBezTo>
                    <a:cubicBezTo>
                      <a:pt x="43041" y="128269"/>
                      <a:pt x="54395" y="119408"/>
                      <a:pt x="67584" y="112588"/>
                    </a:cubicBezTo>
                    <a:cubicBezTo>
                      <a:pt x="80764" y="105767"/>
                      <a:pt x="95307" y="100769"/>
                      <a:pt x="111221" y="97585"/>
                    </a:cubicBezTo>
                    <a:lnTo>
                      <a:pt x="111221" y="3487"/>
                    </a:lnTo>
                    <a:lnTo>
                      <a:pt x="221684" y="3487"/>
                    </a:lnTo>
                    <a:lnTo>
                      <a:pt x="221684" y="96218"/>
                    </a:lnTo>
                    <a:cubicBezTo>
                      <a:pt x="240317" y="98496"/>
                      <a:pt x="257361" y="102132"/>
                      <a:pt x="272824" y="107129"/>
                    </a:cubicBezTo>
                    <a:cubicBezTo>
                      <a:pt x="288268" y="112137"/>
                      <a:pt x="303731" y="118497"/>
                      <a:pt x="319189" y="126219"/>
                    </a:cubicBezTo>
                    <a:lnTo>
                      <a:pt x="294647" y="210772"/>
                    </a:lnTo>
                    <a:cubicBezTo>
                      <a:pt x="276915" y="203045"/>
                      <a:pt x="257361" y="196007"/>
                      <a:pt x="236007" y="189633"/>
                    </a:cubicBezTo>
                    <a:cubicBezTo>
                      <a:pt x="214631" y="183273"/>
                      <a:pt x="191683" y="180088"/>
                      <a:pt x="167140" y="180088"/>
                    </a:cubicBezTo>
                    <a:cubicBezTo>
                      <a:pt x="148046" y="180088"/>
                      <a:pt x="134294" y="182933"/>
                      <a:pt x="125884" y="188610"/>
                    </a:cubicBezTo>
                    <a:cubicBezTo>
                      <a:pt x="117469" y="194300"/>
                      <a:pt x="113271" y="203724"/>
                      <a:pt x="113271" y="216904"/>
                    </a:cubicBezTo>
                    <a:cubicBezTo>
                      <a:pt x="113271" y="223725"/>
                      <a:pt x="114977" y="229410"/>
                      <a:pt x="118385" y="233953"/>
                    </a:cubicBezTo>
                    <a:cubicBezTo>
                      <a:pt x="121793" y="238504"/>
                      <a:pt x="126907" y="242591"/>
                      <a:pt x="133727" y="246226"/>
                    </a:cubicBezTo>
                    <a:cubicBezTo>
                      <a:pt x="140543" y="249871"/>
                      <a:pt x="149408" y="253502"/>
                      <a:pt x="160320" y="257133"/>
                    </a:cubicBezTo>
                    <a:cubicBezTo>
                      <a:pt x="171231" y="260778"/>
                      <a:pt x="184184" y="265092"/>
                      <a:pt x="199182" y="270090"/>
                    </a:cubicBezTo>
                    <a:cubicBezTo>
                      <a:pt x="216453" y="276004"/>
                      <a:pt x="233046" y="282364"/>
                      <a:pt x="248965" y="289184"/>
                    </a:cubicBezTo>
                    <a:cubicBezTo>
                      <a:pt x="264865" y="296000"/>
                      <a:pt x="278965" y="304521"/>
                      <a:pt x="291234" y="314754"/>
                    </a:cubicBezTo>
                    <a:cubicBezTo>
                      <a:pt x="303513" y="324982"/>
                      <a:pt x="313280" y="337595"/>
                      <a:pt x="320556" y="352598"/>
                    </a:cubicBezTo>
                    <a:cubicBezTo>
                      <a:pt x="327818" y="367601"/>
                      <a:pt x="331472" y="386467"/>
                      <a:pt x="331472" y="409196"/>
                    </a:cubicBezTo>
                    <a:cubicBezTo>
                      <a:pt x="331472" y="444204"/>
                      <a:pt x="321584" y="473182"/>
                      <a:pt x="301806" y="496130"/>
                    </a:cubicBezTo>
                    <a:cubicBezTo>
                      <a:pt x="282038" y="519087"/>
                      <a:pt x="254869" y="534652"/>
                      <a:pt x="220331" y="542840"/>
                    </a:cubicBezTo>
                    <a:lnTo>
                      <a:pt x="220331" y="638979"/>
                    </a:lnTo>
                    <a:lnTo>
                      <a:pt x="109868" y="638979"/>
                    </a:lnTo>
                    <a:lnTo>
                      <a:pt x="109868" y="546247"/>
                    </a:lnTo>
                    <a:cubicBezTo>
                      <a:pt x="91680" y="543523"/>
                      <a:pt x="73730" y="539548"/>
                      <a:pt x="56003" y="534318"/>
                    </a:cubicBezTo>
                    <a:cubicBezTo>
                      <a:pt x="38276" y="529097"/>
                      <a:pt x="21451" y="523067"/>
                      <a:pt x="5546" y="516247"/>
                    </a:cubicBezTo>
                    <a:lnTo>
                      <a:pt x="30080" y="429657"/>
                    </a:lnTo>
                    <a:close/>
                  </a:path>
                </a:pathLst>
              </a:custGeom>
              <a:solidFill>
                <a:schemeClr val="tx2"/>
              </a:solidFill>
              <a:ln w="9525" cap="flat">
                <a:noFill/>
                <a:prstDash val="solid"/>
                <a:miter/>
              </a:ln>
            </p:spPr>
            <p:txBody>
              <a:bodyPr rtlCol="0" anchor="ctr"/>
              <a:lstStyle/>
              <a:p>
                <a:endParaRPr lang="en-US"/>
              </a:p>
            </p:txBody>
          </p:sp>
        </p:grpSp>
      </p:grpSp>
      <p:grpSp>
        <p:nvGrpSpPr>
          <p:cNvPr id="82" name="Group 81">
            <a:extLst>
              <a:ext uri="{FF2B5EF4-FFF2-40B4-BE49-F238E27FC236}">
                <a16:creationId xmlns:a16="http://schemas.microsoft.com/office/drawing/2014/main" id="{7EC0CEB1-D5A2-1346-ADF1-406A3DF3B078}"/>
              </a:ext>
            </a:extLst>
          </p:cNvPr>
          <p:cNvGrpSpPr/>
          <p:nvPr/>
        </p:nvGrpSpPr>
        <p:grpSpPr>
          <a:xfrm>
            <a:off x="1535445" y="3376250"/>
            <a:ext cx="2138444" cy="2585375"/>
            <a:chOff x="2036626" y="3559458"/>
            <a:chExt cx="1752818" cy="2119154"/>
          </a:xfrm>
        </p:grpSpPr>
        <p:grpSp>
          <p:nvGrpSpPr>
            <p:cNvPr id="25" name="Group 24">
              <a:extLst>
                <a:ext uri="{FF2B5EF4-FFF2-40B4-BE49-F238E27FC236}">
                  <a16:creationId xmlns:a16="http://schemas.microsoft.com/office/drawing/2014/main" id="{02CCD22D-BC5C-7C4A-BA4F-C7D61D9D4429}"/>
                </a:ext>
              </a:extLst>
            </p:cNvPr>
            <p:cNvGrpSpPr/>
            <p:nvPr/>
          </p:nvGrpSpPr>
          <p:grpSpPr>
            <a:xfrm>
              <a:off x="2036626" y="3559458"/>
              <a:ext cx="1752818" cy="2119154"/>
              <a:chOff x="2571173" y="3574019"/>
              <a:chExt cx="1752818" cy="2119154"/>
            </a:xfrm>
          </p:grpSpPr>
          <p:grpSp>
            <p:nvGrpSpPr>
              <p:cNvPr id="20" name="Group 19">
                <a:extLst>
                  <a:ext uri="{FF2B5EF4-FFF2-40B4-BE49-F238E27FC236}">
                    <a16:creationId xmlns:a16="http://schemas.microsoft.com/office/drawing/2014/main" id="{59286157-EEDE-9543-B308-BA9A7C02E125}"/>
                  </a:ext>
                </a:extLst>
              </p:cNvPr>
              <p:cNvGrpSpPr/>
              <p:nvPr/>
            </p:nvGrpSpPr>
            <p:grpSpPr>
              <a:xfrm>
                <a:off x="2571173" y="3574019"/>
                <a:ext cx="1752818" cy="2119154"/>
                <a:chOff x="3179452" y="3454478"/>
                <a:chExt cx="1981745" cy="2395926"/>
              </a:xfrm>
            </p:grpSpPr>
            <p:sp>
              <p:nvSpPr>
                <p:cNvPr id="62" name="Freeform 61">
                  <a:extLst>
                    <a:ext uri="{FF2B5EF4-FFF2-40B4-BE49-F238E27FC236}">
                      <a16:creationId xmlns:a16="http://schemas.microsoft.com/office/drawing/2014/main" id="{AB0AD60F-9039-9D4F-B9E6-C20F303DA9B2}"/>
                    </a:ext>
                  </a:extLst>
                </p:cNvPr>
                <p:cNvSpPr/>
                <p:nvPr/>
              </p:nvSpPr>
              <p:spPr>
                <a:xfrm>
                  <a:off x="3179452" y="3454478"/>
                  <a:ext cx="1981745" cy="2395926"/>
                </a:xfrm>
                <a:custGeom>
                  <a:avLst/>
                  <a:gdLst>
                    <a:gd name="connsiteX0" fmla="*/ 873253 w 1746504"/>
                    <a:gd name="connsiteY0" fmla="*/ 0 h 2111520"/>
                    <a:gd name="connsiteX1" fmla="*/ 1746504 w 1746504"/>
                    <a:gd name="connsiteY1" fmla="*/ 897218 h 2111520"/>
                    <a:gd name="connsiteX2" fmla="*/ 1412075 w 1746504"/>
                    <a:gd name="connsiteY2" fmla="*/ 897218 h 2111520"/>
                    <a:gd name="connsiteX3" fmla="*/ 1412075 w 1746504"/>
                    <a:gd name="connsiteY3" fmla="*/ 1567662 h 2111520"/>
                    <a:gd name="connsiteX4" fmla="*/ 1412748 w 1746504"/>
                    <a:gd name="connsiteY4" fmla="*/ 1574310 h 2111520"/>
                    <a:gd name="connsiteX5" fmla="*/ 873252 w 1746504"/>
                    <a:gd name="connsiteY5" fmla="*/ 2111520 h 2111520"/>
                    <a:gd name="connsiteX6" fmla="*/ 333756 w 1746504"/>
                    <a:gd name="connsiteY6" fmla="*/ 1574310 h 2111520"/>
                    <a:gd name="connsiteX7" fmla="*/ 334429 w 1746504"/>
                    <a:gd name="connsiteY7" fmla="*/ 1567662 h 2111520"/>
                    <a:gd name="connsiteX8" fmla="*/ 334429 w 1746504"/>
                    <a:gd name="connsiteY8" fmla="*/ 897218 h 2111520"/>
                    <a:gd name="connsiteX9" fmla="*/ 0 w 1746504"/>
                    <a:gd name="connsiteY9" fmla="*/ 897218 h 211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6504" h="2111520">
                      <a:moveTo>
                        <a:pt x="873253" y="0"/>
                      </a:moveTo>
                      <a:lnTo>
                        <a:pt x="1746504" y="897218"/>
                      </a:lnTo>
                      <a:lnTo>
                        <a:pt x="1412075" y="897218"/>
                      </a:lnTo>
                      <a:lnTo>
                        <a:pt x="1412075" y="1567662"/>
                      </a:lnTo>
                      <a:lnTo>
                        <a:pt x="1412748" y="1574310"/>
                      </a:lnTo>
                      <a:cubicBezTo>
                        <a:pt x="1412748" y="1871003"/>
                        <a:pt x="1171207" y="2111520"/>
                        <a:pt x="873252" y="2111520"/>
                      </a:cubicBezTo>
                      <a:cubicBezTo>
                        <a:pt x="575297" y="2111520"/>
                        <a:pt x="333756" y="1871003"/>
                        <a:pt x="333756" y="1574310"/>
                      </a:cubicBezTo>
                      <a:lnTo>
                        <a:pt x="334429" y="1567662"/>
                      </a:lnTo>
                      <a:lnTo>
                        <a:pt x="334429" y="897218"/>
                      </a:lnTo>
                      <a:lnTo>
                        <a:pt x="0" y="897218"/>
                      </a:lnTo>
                      <a:close/>
                    </a:path>
                  </a:pathLst>
                </a:cu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A125CDCD-DFCD-0245-92FA-F83CD5E69EE0}"/>
                    </a:ext>
                  </a:extLst>
                </p:cNvPr>
                <p:cNvSpPr/>
                <p:nvPr/>
              </p:nvSpPr>
              <p:spPr>
                <a:xfrm>
                  <a:off x="3685928" y="4752801"/>
                  <a:ext cx="969619" cy="96961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2" name="Grupo 3115">
                <a:extLst>
                  <a:ext uri="{FF2B5EF4-FFF2-40B4-BE49-F238E27FC236}">
                    <a16:creationId xmlns:a16="http://schemas.microsoft.com/office/drawing/2014/main" id="{5E000619-613C-0043-AF7D-4F70DE69952A}"/>
                  </a:ext>
                </a:extLst>
              </p:cNvPr>
              <p:cNvGrpSpPr/>
              <p:nvPr/>
            </p:nvGrpSpPr>
            <p:grpSpPr>
              <a:xfrm>
                <a:off x="3082522" y="4943604"/>
                <a:ext cx="751179" cy="487581"/>
                <a:chOff x="3526006" y="562649"/>
                <a:chExt cx="82464" cy="53526"/>
              </a:xfrm>
            </p:grpSpPr>
            <p:sp>
              <p:nvSpPr>
                <p:cNvPr id="43" name="Freeform: Shape 251">
                  <a:extLst>
                    <a:ext uri="{FF2B5EF4-FFF2-40B4-BE49-F238E27FC236}">
                      <a16:creationId xmlns:a16="http://schemas.microsoft.com/office/drawing/2014/main" id="{EE27EFFA-81D4-BC4C-9BF4-4A88F39334CC}"/>
                    </a:ext>
                  </a:extLst>
                </p:cNvPr>
                <p:cNvSpPr/>
                <p:nvPr/>
              </p:nvSpPr>
              <p:spPr>
                <a:xfrm>
                  <a:off x="3580034" y="563945"/>
                  <a:ext cx="28436" cy="35126"/>
                </a:xfrm>
                <a:custGeom>
                  <a:avLst/>
                  <a:gdLst>
                    <a:gd name="connsiteX0" fmla="*/ 9116 w 28435"/>
                    <a:gd name="connsiteY0" fmla="*/ 17814 h 35126"/>
                    <a:gd name="connsiteX1" fmla="*/ 2425 w 28435"/>
                    <a:gd name="connsiteY1" fmla="*/ 19821 h 35126"/>
                    <a:gd name="connsiteX2" fmla="*/ 1255 w 28435"/>
                    <a:gd name="connsiteY2" fmla="*/ 20992 h 35126"/>
                    <a:gd name="connsiteX3" fmla="*/ 8614 w 28435"/>
                    <a:gd name="connsiteY3" fmla="*/ 25341 h 35126"/>
                    <a:gd name="connsiteX4" fmla="*/ 12462 w 28435"/>
                    <a:gd name="connsiteY4" fmla="*/ 34541 h 35126"/>
                    <a:gd name="connsiteX5" fmla="*/ 27181 w 28435"/>
                    <a:gd name="connsiteY5" fmla="*/ 34541 h 35126"/>
                    <a:gd name="connsiteX6" fmla="*/ 24003 w 28435"/>
                    <a:gd name="connsiteY6" fmla="*/ 21996 h 35126"/>
                    <a:gd name="connsiteX7" fmla="*/ 13632 w 28435"/>
                    <a:gd name="connsiteY7" fmla="*/ 18149 h 35126"/>
                    <a:gd name="connsiteX8" fmla="*/ 17145 w 28435"/>
                    <a:gd name="connsiteY8" fmla="*/ 15807 h 35126"/>
                    <a:gd name="connsiteX9" fmla="*/ 17145 w 28435"/>
                    <a:gd name="connsiteY9" fmla="*/ 3764 h 35126"/>
                    <a:gd name="connsiteX10" fmla="*/ 5102 w 28435"/>
                    <a:gd name="connsiteY10" fmla="*/ 3764 h 35126"/>
                    <a:gd name="connsiteX11" fmla="*/ 5102 w 28435"/>
                    <a:gd name="connsiteY11" fmla="*/ 15807 h 35126"/>
                    <a:gd name="connsiteX12" fmla="*/ 9116 w 28435"/>
                    <a:gd name="connsiteY12" fmla="*/ 17814 h 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5" h="35126">
                      <a:moveTo>
                        <a:pt x="9116" y="17814"/>
                      </a:moveTo>
                      <a:cubicBezTo>
                        <a:pt x="6942" y="17981"/>
                        <a:pt x="4433" y="18818"/>
                        <a:pt x="2425" y="19821"/>
                      </a:cubicBezTo>
                      <a:cubicBezTo>
                        <a:pt x="1924" y="20156"/>
                        <a:pt x="1589" y="20490"/>
                        <a:pt x="1255" y="20992"/>
                      </a:cubicBezTo>
                      <a:cubicBezTo>
                        <a:pt x="3764" y="21996"/>
                        <a:pt x="6607" y="23501"/>
                        <a:pt x="8614" y="25341"/>
                      </a:cubicBezTo>
                      <a:cubicBezTo>
                        <a:pt x="9451" y="26010"/>
                        <a:pt x="10622" y="27348"/>
                        <a:pt x="12462" y="34541"/>
                      </a:cubicBezTo>
                      <a:lnTo>
                        <a:pt x="27181" y="34541"/>
                      </a:lnTo>
                      <a:cubicBezTo>
                        <a:pt x="27181" y="29690"/>
                        <a:pt x="25174" y="22832"/>
                        <a:pt x="24003" y="21996"/>
                      </a:cubicBezTo>
                      <a:cubicBezTo>
                        <a:pt x="21494" y="19654"/>
                        <a:pt x="17145" y="18316"/>
                        <a:pt x="13632" y="18149"/>
                      </a:cubicBezTo>
                      <a:cubicBezTo>
                        <a:pt x="14971" y="17814"/>
                        <a:pt x="16141" y="16810"/>
                        <a:pt x="17145" y="15807"/>
                      </a:cubicBezTo>
                      <a:cubicBezTo>
                        <a:pt x="20490" y="12462"/>
                        <a:pt x="20490" y="7109"/>
                        <a:pt x="17145" y="3764"/>
                      </a:cubicBezTo>
                      <a:cubicBezTo>
                        <a:pt x="13800" y="418"/>
                        <a:pt x="8447" y="418"/>
                        <a:pt x="5102" y="3764"/>
                      </a:cubicBezTo>
                      <a:cubicBezTo>
                        <a:pt x="1756" y="7109"/>
                        <a:pt x="1756" y="12462"/>
                        <a:pt x="5102" y="15807"/>
                      </a:cubicBezTo>
                      <a:cubicBezTo>
                        <a:pt x="6607" y="16810"/>
                        <a:pt x="7778" y="17480"/>
                        <a:pt x="9116" y="17814"/>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44" name="Freeform: Shape 252">
                  <a:extLst>
                    <a:ext uri="{FF2B5EF4-FFF2-40B4-BE49-F238E27FC236}">
                      <a16:creationId xmlns:a16="http://schemas.microsoft.com/office/drawing/2014/main" id="{385EE2A1-E49D-874E-A800-CD07D1014D0A}"/>
                    </a:ext>
                  </a:extLst>
                </p:cNvPr>
                <p:cNvSpPr/>
                <p:nvPr/>
              </p:nvSpPr>
              <p:spPr>
                <a:xfrm>
                  <a:off x="3543904" y="562649"/>
                  <a:ext cx="46835" cy="53526"/>
                </a:xfrm>
                <a:custGeom>
                  <a:avLst/>
                  <a:gdLst>
                    <a:gd name="connsiteX0" fmla="*/ 41733 w 46835"/>
                    <a:gd name="connsiteY0" fmla="*/ 30819 h 53525"/>
                    <a:gd name="connsiteX1" fmla="*/ 26847 w 46835"/>
                    <a:gd name="connsiteY1" fmla="*/ 25467 h 53525"/>
                    <a:gd name="connsiteX2" fmla="*/ 32032 w 46835"/>
                    <a:gd name="connsiteY2" fmla="*/ 22289 h 53525"/>
                    <a:gd name="connsiteX3" fmla="*/ 32032 w 46835"/>
                    <a:gd name="connsiteY3" fmla="*/ 4893 h 53525"/>
                    <a:gd name="connsiteX4" fmla="*/ 14803 w 46835"/>
                    <a:gd name="connsiteY4" fmla="*/ 4893 h 53525"/>
                    <a:gd name="connsiteX5" fmla="*/ 14803 w 46835"/>
                    <a:gd name="connsiteY5" fmla="*/ 22121 h 53525"/>
                    <a:gd name="connsiteX6" fmla="*/ 20156 w 46835"/>
                    <a:gd name="connsiteY6" fmla="*/ 25299 h 53525"/>
                    <a:gd name="connsiteX7" fmla="*/ 5771 w 46835"/>
                    <a:gd name="connsiteY7" fmla="*/ 30986 h 53525"/>
                    <a:gd name="connsiteX8" fmla="*/ 1255 w 46835"/>
                    <a:gd name="connsiteY8" fmla="*/ 52899 h 53525"/>
                    <a:gd name="connsiteX9" fmla="*/ 23836 w 46835"/>
                    <a:gd name="connsiteY9" fmla="*/ 52899 h 53525"/>
                    <a:gd name="connsiteX10" fmla="*/ 46250 w 46835"/>
                    <a:gd name="connsiteY10" fmla="*/ 52899 h 53525"/>
                    <a:gd name="connsiteX11" fmla="*/ 41733 w 46835"/>
                    <a:gd name="connsiteY11" fmla="*/ 30819 h 5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835" h="53525">
                      <a:moveTo>
                        <a:pt x="41733" y="30819"/>
                      </a:moveTo>
                      <a:cubicBezTo>
                        <a:pt x="38054" y="27474"/>
                        <a:pt x="31865" y="25801"/>
                        <a:pt x="26847" y="25467"/>
                      </a:cubicBezTo>
                      <a:cubicBezTo>
                        <a:pt x="28687" y="24965"/>
                        <a:pt x="30526" y="23794"/>
                        <a:pt x="32032" y="22289"/>
                      </a:cubicBezTo>
                      <a:cubicBezTo>
                        <a:pt x="36883" y="17438"/>
                        <a:pt x="36883" y="9743"/>
                        <a:pt x="32032" y="4893"/>
                      </a:cubicBezTo>
                      <a:cubicBezTo>
                        <a:pt x="27181" y="42"/>
                        <a:pt x="19487" y="42"/>
                        <a:pt x="14803" y="4893"/>
                      </a:cubicBezTo>
                      <a:cubicBezTo>
                        <a:pt x="9952" y="9743"/>
                        <a:pt x="9952" y="17438"/>
                        <a:pt x="14803" y="22121"/>
                      </a:cubicBezTo>
                      <a:cubicBezTo>
                        <a:pt x="16309" y="23627"/>
                        <a:pt x="18149" y="24630"/>
                        <a:pt x="20156" y="25299"/>
                      </a:cubicBezTo>
                      <a:cubicBezTo>
                        <a:pt x="14971" y="25801"/>
                        <a:pt x="9283" y="27808"/>
                        <a:pt x="5771" y="30986"/>
                      </a:cubicBezTo>
                      <a:cubicBezTo>
                        <a:pt x="4265" y="32325"/>
                        <a:pt x="1255" y="46208"/>
                        <a:pt x="1255" y="52899"/>
                      </a:cubicBezTo>
                      <a:lnTo>
                        <a:pt x="23836" y="52899"/>
                      </a:lnTo>
                      <a:lnTo>
                        <a:pt x="46250" y="52899"/>
                      </a:lnTo>
                      <a:cubicBezTo>
                        <a:pt x="46250" y="46208"/>
                        <a:pt x="43406" y="32157"/>
                        <a:pt x="41733" y="30819"/>
                      </a:cubicBezTo>
                      <a:close/>
                    </a:path>
                  </a:pathLst>
                </a:custGeom>
                <a:solidFill>
                  <a:srgbClr val="4D4D4D"/>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45" name="Freeform: Shape 253">
                  <a:extLst>
                    <a:ext uri="{FF2B5EF4-FFF2-40B4-BE49-F238E27FC236}">
                      <a16:creationId xmlns:a16="http://schemas.microsoft.com/office/drawing/2014/main" id="{ED6C3494-44C1-D04D-9320-249C455B07F2}"/>
                    </a:ext>
                  </a:extLst>
                </p:cNvPr>
                <p:cNvSpPr/>
                <p:nvPr/>
              </p:nvSpPr>
              <p:spPr>
                <a:xfrm>
                  <a:off x="3526006" y="563945"/>
                  <a:ext cx="28436" cy="35126"/>
                </a:xfrm>
                <a:custGeom>
                  <a:avLst/>
                  <a:gdLst>
                    <a:gd name="connsiteX0" fmla="*/ 20323 w 28435"/>
                    <a:gd name="connsiteY0" fmla="*/ 25508 h 35126"/>
                    <a:gd name="connsiteX1" fmla="*/ 27348 w 28435"/>
                    <a:gd name="connsiteY1" fmla="*/ 21327 h 35126"/>
                    <a:gd name="connsiteX2" fmla="*/ 26345 w 28435"/>
                    <a:gd name="connsiteY2" fmla="*/ 19989 h 35126"/>
                    <a:gd name="connsiteX3" fmla="*/ 19319 w 28435"/>
                    <a:gd name="connsiteY3" fmla="*/ 18149 h 35126"/>
                    <a:gd name="connsiteX4" fmla="*/ 22832 w 28435"/>
                    <a:gd name="connsiteY4" fmla="*/ 15807 h 35126"/>
                    <a:gd name="connsiteX5" fmla="*/ 22832 w 28435"/>
                    <a:gd name="connsiteY5" fmla="*/ 3764 h 35126"/>
                    <a:gd name="connsiteX6" fmla="*/ 10789 w 28435"/>
                    <a:gd name="connsiteY6" fmla="*/ 3764 h 35126"/>
                    <a:gd name="connsiteX7" fmla="*/ 10789 w 28435"/>
                    <a:gd name="connsiteY7" fmla="*/ 15807 h 35126"/>
                    <a:gd name="connsiteX8" fmla="*/ 14469 w 28435"/>
                    <a:gd name="connsiteY8" fmla="*/ 17981 h 35126"/>
                    <a:gd name="connsiteX9" fmla="*/ 4433 w 28435"/>
                    <a:gd name="connsiteY9" fmla="*/ 22330 h 35126"/>
                    <a:gd name="connsiteX10" fmla="*/ 1255 w 28435"/>
                    <a:gd name="connsiteY10" fmla="*/ 35043 h 35126"/>
                    <a:gd name="connsiteX11" fmla="*/ 16476 w 28435"/>
                    <a:gd name="connsiteY11" fmla="*/ 35043 h 35126"/>
                    <a:gd name="connsiteX12" fmla="*/ 20323 w 28435"/>
                    <a:gd name="connsiteY12" fmla="*/ 25508 h 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5" h="35126">
                      <a:moveTo>
                        <a:pt x="20323" y="25508"/>
                      </a:moveTo>
                      <a:cubicBezTo>
                        <a:pt x="22330" y="23668"/>
                        <a:pt x="25007" y="22330"/>
                        <a:pt x="27348" y="21327"/>
                      </a:cubicBezTo>
                      <a:cubicBezTo>
                        <a:pt x="27014" y="20825"/>
                        <a:pt x="26847" y="20156"/>
                        <a:pt x="26345" y="19989"/>
                      </a:cubicBezTo>
                      <a:cubicBezTo>
                        <a:pt x="24170" y="18985"/>
                        <a:pt x="21494" y="18316"/>
                        <a:pt x="19319" y="18149"/>
                      </a:cubicBezTo>
                      <a:cubicBezTo>
                        <a:pt x="20658" y="17814"/>
                        <a:pt x="21828" y="16810"/>
                        <a:pt x="22832" y="15807"/>
                      </a:cubicBezTo>
                      <a:cubicBezTo>
                        <a:pt x="26178" y="12462"/>
                        <a:pt x="26178" y="7109"/>
                        <a:pt x="22832" y="3764"/>
                      </a:cubicBezTo>
                      <a:cubicBezTo>
                        <a:pt x="19487" y="418"/>
                        <a:pt x="14134" y="418"/>
                        <a:pt x="10789" y="3764"/>
                      </a:cubicBezTo>
                      <a:cubicBezTo>
                        <a:pt x="7443" y="7109"/>
                        <a:pt x="7443" y="12462"/>
                        <a:pt x="10789" y="15807"/>
                      </a:cubicBezTo>
                      <a:cubicBezTo>
                        <a:pt x="11792" y="16810"/>
                        <a:pt x="13131" y="17647"/>
                        <a:pt x="14469" y="17981"/>
                      </a:cubicBezTo>
                      <a:cubicBezTo>
                        <a:pt x="10956" y="18316"/>
                        <a:pt x="6942" y="19989"/>
                        <a:pt x="4433" y="22330"/>
                      </a:cubicBezTo>
                      <a:cubicBezTo>
                        <a:pt x="3262" y="23334"/>
                        <a:pt x="1255" y="30025"/>
                        <a:pt x="1255" y="35043"/>
                      </a:cubicBezTo>
                      <a:lnTo>
                        <a:pt x="16476" y="35043"/>
                      </a:lnTo>
                      <a:cubicBezTo>
                        <a:pt x="18316" y="27348"/>
                        <a:pt x="19487" y="26177"/>
                        <a:pt x="20323" y="25508"/>
                      </a:cubicBezTo>
                      <a:close/>
                    </a:path>
                  </a:pathLst>
                </a:custGeom>
                <a:solidFill>
                  <a:schemeClr val="tx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grpSp>
        </p:grpSp>
        <p:sp>
          <p:nvSpPr>
            <p:cNvPr id="79" name="TextBox 78">
              <a:extLst>
                <a:ext uri="{FF2B5EF4-FFF2-40B4-BE49-F238E27FC236}">
                  <a16:creationId xmlns:a16="http://schemas.microsoft.com/office/drawing/2014/main" id="{13B2B249-454D-4644-A842-9375AD44C626}"/>
                </a:ext>
              </a:extLst>
            </p:cNvPr>
            <p:cNvSpPr txBox="1"/>
            <p:nvPr/>
          </p:nvSpPr>
          <p:spPr>
            <a:xfrm>
              <a:off x="2385235" y="4085860"/>
              <a:ext cx="1022991" cy="567533"/>
            </a:xfrm>
            <a:prstGeom prst="rect">
              <a:avLst/>
            </a:prstGeom>
            <a:noFill/>
          </p:spPr>
          <p:txBody>
            <a:bodyPr wrap="square" lIns="0" tIns="0" rIns="0" bIns="0" rtlCol="0" anchor="t">
              <a:noAutofit/>
            </a:bodyPr>
            <a:lstStyle/>
            <a:p>
              <a:pPr algn="ctr">
                <a:lnSpc>
                  <a:spcPct val="90000"/>
                </a:lnSpc>
              </a:pPr>
              <a:r>
                <a:rPr lang="en-US" sz="1400" b="1" dirty="0">
                  <a:solidFill>
                    <a:schemeClr val="bg1"/>
                  </a:solidFill>
                  <a:latin typeface="Arial" panose="020B0604020202020204" pitchFamily="34" charset="0"/>
                  <a:cs typeface="Arial" panose="020B0604020202020204" pitchFamily="34" charset="0"/>
                </a:rPr>
                <a:t>Labor &amp;</a:t>
              </a:r>
            </a:p>
            <a:p>
              <a:pPr algn="ctr">
                <a:lnSpc>
                  <a:spcPct val="90000"/>
                </a:lnSpc>
              </a:pPr>
              <a:r>
                <a:rPr lang="en-US" sz="1400" b="1" dirty="0">
                  <a:solidFill>
                    <a:schemeClr val="bg1"/>
                  </a:solidFill>
                  <a:latin typeface="Arial" panose="020B0604020202020204" pitchFamily="34" charset="0"/>
                  <a:cs typeface="Arial" panose="020B0604020202020204" pitchFamily="34" charset="0"/>
                </a:rPr>
                <a:t>Employment</a:t>
              </a:r>
            </a:p>
            <a:p>
              <a:pPr algn="ctr">
                <a:lnSpc>
                  <a:spcPct val="90000"/>
                </a:lnSpc>
              </a:pPr>
              <a:r>
                <a:rPr lang="en-US" sz="1400" b="1" dirty="0">
                  <a:solidFill>
                    <a:schemeClr val="bg1"/>
                  </a:solidFill>
                  <a:latin typeface="Arial" panose="020B0604020202020204" pitchFamily="34" charset="0"/>
                  <a:cs typeface="Arial" panose="020B0604020202020204" pitchFamily="34" charset="0"/>
                </a:rPr>
                <a:t>Spend</a:t>
              </a:r>
            </a:p>
          </p:txBody>
        </p:sp>
      </p:grpSp>
      <p:sp>
        <p:nvSpPr>
          <p:cNvPr id="54" name="Freeform 53">
            <a:extLst>
              <a:ext uri="{FF2B5EF4-FFF2-40B4-BE49-F238E27FC236}">
                <a16:creationId xmlns:a16="http://schemas.microsoft.com/office/drawing/2014/main" id="{18A450D6-CF98-A04B-8DFE-ED9E9E5DF2FF}"/>
              </a:ext>
            </a:extLst>
          </p:cNvPr>
          <p:cNvSpPr/>
          <p:nvPr/>
        </p:nvSpPr>
        <p:spPr>
          <a:xfrm rot="10800000">
            <a:off x="7368765" y="-9780"/>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Freeform 54">
            <a:extLst>
              <a:ext uri="{FF2B5EF4-FFF2-40B4-BE49-F238E27FC236}">
                <a16:creationId xmlns:a16="http://schemas.microsoft.com/office/drawing/2014/main" id="{3AA4CD32-E847-6E4F-AA1A-9C8BDD5CA5D4}"/>
              </a:ext>
            </a:extLst>
          </p:cNvPr>
          <p:cNvSpPr/>
          <p:nvPr/>
        </p:nvSpPr>
        <p:spPr>
          <a:xfrm rot="10800000">
            <a:off x="10054538" y="-9779"/>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823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p:cTn id="1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Picture 61">
            <a:extLst>
              <a:ext uri="{FF2B5EF4-FFF2-40B4-BE49-F238E27FC236}">
                <a16:creationId xmlns:a16="http://schemas.microsoft.com/office/drawing/2014/main" id="{36C0C758-F824-4945-A788-A4DAFDEDE8EE}"/>
              </a:ext>
            </a:extLst>
          </p:cNvPr>
          <p:cNvPicPr>
            <a:picLocks noChangeAspect="1"/>
          </p:cNvPicPr>
          <p:nvPr/>
        </p:nvPicPr>
        <p:blipFill rotWithShape="1">
          <a:blip r:embed="rId3">
            <a:extLst>
              <a:ext uri="{28A0092B-C50C-407E-A947-70E740481C1C}">
                <a14:useLocalDpi xmlns:a14="http://schemas.microsoft.com/office/drawing/2010/main"/>
              </a:ext>
            </a:extLst>
          </a:blip>
          <a:srcRect t="8161" b="16347"/>
          <a:stretch/>
        </p:blipFill>
        <p:spPr>
          <a:xfrm flipH="1">
            <a:off x="-3176" y="0"/>
            <a:ext cx="12191999" cy="2065640"/>
          </a:xfrm>
          <a:prstGeom prst="rect">
            <a:avLst/>
          </a:prstGeom>
        </p:spPr>
      </p:pic>
      <p:sp>
        <p:nvSpPr>
          <p:cNvPr id="63" name="Rectangle 62">
            <a:extLst>
              <a:ext uri="{FF2B5EF4-FFF2-40B4-BE49-F238E27FC236}">
                <a16:creationId xmlns:a16="http://schemas.microsoft.com/office/drawing/2014/main" id="{544B154D-CC4D-6D41-9115-7A4F317D24E2}"/>
              </a:ext>
            </a:extLst>
          </p:cNvPr>
          <p:cNvSpPr/>
          <p:nvPr/>
        </p:nvSpPr>
        <p:spPr>
          <a:xfrm>
            <a:off x="-3179" y="0"/>
            <a:ext cx="12192003" cy="2072196"/>
          </a:xfrm>
          <a:prstGeom prst="rect">
            <a:avLst/>
          </a:prstGeom>
          <a:gradFill>
            <a:gsLst>
              <a:gs pos="47000">
                <a:schemeClr val="tx1">
                  <a:lumMod val="50000"/>
                  <a:alpha val="58000"/>
                </a:schemeClr>
              </a:gs>
              <a:gs pos="0">
                <a:schemeClr val="tx1">
                  <a:lumMod val="50000"/>
                  <a:alpha val="64000"/>
                </a:schemeClr>
              </a:gs>
              <a:gs pos="99000">
                <a:schemeClr val="tx1">
                  <a:lumMod val="50000"/>
                  <a:alpha val="8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2" name="Slide Number Placeholder 1">
            <a:extLst>
              <a:ext uri="{FF2B5EF4-FFF2-40B4-BE49-F238E27FC236}">
                <a16:creationId xmlns:a16="http://schemas.microsoft.com/office/drawing/2014/main" id="{A8BEBD3D-1435-427E-8279-8E547B8859FF}"/>
              </a:ext>
            </a:extLst>
          </p:cNvPr>
          <p:cNvSpPr>
            <a:spLocks noGrp="1"/>
          </p:cNvSpPr>
          <p:nvPr>
            <p:ph type="sldNum"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655226-6E4F-8847-85CD-AF95F3D3F39A}" type="slidenum">
              <a:rPr kumimoji="0" lang="en-US" sz="1000" b="0" i="0" u="none" strike="noStrike" kern="1200" cap="none" spc="0" normalizeH="0" baseline="0" noProof="0" dirty="0" smtClean="0">
                <a:ln>
                  <a:noFill/>
                </a:ln>
                <a:solidFill>
                  <a:srgbClr val="666666"/>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666666"/>
              </a:solidFill>
              <a:effectLst/>
              <a:uLnTx/>
              <a:uFillTx/>
              <a:latin typeface="Arial"/>
              <a:ea typeface="+mn-ea"/>
              <a:cs typeface="+mn-cs"/>
            </a:endParaRPr>
          </a:p>
        </p:txBody>
      </p:sp>
      <p:grpSp>
        <p:nvGrpSpPr>
          <p:cNvPr id="3" name="Group 2" hidden="1">
            <a:extLst>
              <a:ext uri="{FF2B5EF4-FFF2-40B4-BE49-F238E27FC236}">
                <a16:creationId xmlns:a16="http://schemas.microsoft.com/office/drawing/2014/main" id="{59245F8C-2639-4049-873A-230C73C9D05F}"/>
              </a:ext>
            </a:extLst>
          </p:cNvPr>
          <p:cNvGrpSpPr/>
          <p:nvPr/>
        </p:nvGrpSpPr>
        <p:grpSpPr>
          <a:xfrm>
            <a:off x="1353732" y="2073759"/>
            <a:ext cx="2229633" cy="3247720"/>
            <a:chOff x="977951" y="2199019"/>
            <a:chExt cx="2229633" cy="3247720"/>
          </a:xfrm>
        </p:grpSpPr>
        <p:sp>
          <p:nvSpPr>
            <p:cNvPr id="8" name="TextBox 7">
              <a:extLst>
                <a:ext uri="{FF2B5EF4-FFF2-40B4-BE49-F238E27FC236}">
                  <a16:creationId xmlns:a16="http://schemas.microsoft.com/office/drawing/2014/main" id="{EC3D78DD-C845-4776-B626-21570DCE58DE}"/>
                </a:ext>
              </a:extLst>
            </p:cNvPr>
            <p:cNvSpPr txBox="1"/>
            <p:nvPr/>
          </p:nvSpPr>
          <p:spPr>
            <a:xfrm>
              <a:off x="1034319" y="4350712"/>
              <a:ext cx="2116898" cy="1096027"/>
            </a:xfrm>
            <a:prstGeom prst="rect">
              <a:avLst/>
            </a:prstGeom>
            <a:noFill/>
          </p:spPr>
          <p:txBody>
            <a:bodyPr wrap="square" lIns="0" tIns="0" rIns="0" bIns="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D4D4D"/>
                  </a:solidFill>
                  <a:effectLst/>
                  <a:uLnTx/>
                  <a:uFillTx/>
                  <a:latin typeface="Arial"/>
                  <a:ea typeface="+mn-ea"/>
                  <a:cs typeface="+mn-cs"/>
                </a:rPr>
                <a:t>Rates are too high</a:t>
              </a:r>
            </a:p>
          </p:txBody>
        </p:sp>
        <p:sp>
          <p:nvSpPr>
            <p:cNvPr id="9" name="TextBox 8">
              <a:extLst>
                <a:ext uri="{FF2B5EF4-FFF2-40B4-BE49-F238E27FC236}">
                  <a16:creationId xmlns:a16="http://schemas.microsoft.com/office/drawing/2014/main" id="{FEE30857-E5A1-4D33-AE01-3C3D80DAC06F}"/>
                </a:ext>
              </a:extLst>
            </p:cNvPr>
            <p:cNvSpPr txBox="1"/>
            <p:nvPr/>
          </p:nvSpPr>
          <p:spPr>
            <a:xfrm>
              <a:off x="977951" y="2199019"/>
              <a:ext cx="2229633" cy="663192"/>
            </a:xfrm>
            <a:prstGeom prst="rect">
              <a:avLst/>
            </a:prstGeom>
            <a:noFill/>
          </p:spPr>
          <p:txBody>
            <a:bodyPr wrap="square" lIns="0" tIns="0" rIns="0" bIns="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4D4D4D"/>
                  </a:solidFill>
                  <a:effectLst/>
                  <a:uLnTx/>
                  <a:uFillTx/>
                  <a:latin typeface="Arial"/>
                  <a:ea typeface="+mn-ea"/>
                  <a:cs typeface="+mn-cs"/>
                </a:rPr>
                <a:t>FIRM LEADERS BELIEVE</a:t>
              </a:r>
            </a:p>
          </p:txBody>
        </p:sp>
        <p:pic>
          <p:nvPicPr>
            <p:cNvPr id="19" name="Picture 18">
              <a:extLst>
                <a:ext uri="{FF2B5EF4-FFF2-40B4-BE49-F238E27FC236}">
                  <a16:creationId xmlns:a16="http://schemas.microsoft.com/office/drawing/2014/main" id="{E92B0AE4-97E9-4679-A557-B1E397C9725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406968" y="2877879"/>
              <a:ext cx="1371600" cy="1371600"/>
            </a:xfrm>
            <a:prstGeom prst="rect">
              <a:avLst/>
            </a:prstGeom>
          </p:spPr>
        </p:pic>
      </p:grpSp>
      <p:sp>
        <p:nvSpPr>
          <p:cNvPr id="5" name="TextBox 4" hidden="1">
            <a:extLst>
              <a:ext uri="{FF2B5EF4-FFF2-40B4-BE49-F238E27FC236}">
                <a16:creationId xmlns:a16="http://schemas.microsoft.com/office/drawing/2014/main" id="{1257B483-DDA1-464E-AB45-B640D699131E}"/>
              </a:ext>
            </a:extLst>
          </p:cNvPr>
          <p:cNvSpPr txBox="1"/>
          <p:nvPr/>
        </p:nvSpPr>
        <p:spPr>
          <a:xfrm>
            <a:off x="3526998" y="2973900"/>
            <a:ext cx="1891431" cy="1352811"/>
          </a:xfrm>
          <a:prstGeom prst="rect">
            <a:avLst/>
          </a:prstGeom>
          <a:noFill/>
        </p:spPr>
        <p:txBody>
          <a:bodyPr wrap="square" lIns="0" tIns="0" rIns="0" bIns="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FF8000"/>
                </a:solidFill>
                <a:effectLst/>
                <a:uLnTx/>
                <a:uFillTx/>
                <a:latin typeface="Arial"/>
                <a:ea typeface="+mn-ea"/>
                <a:cs typeface="+mn-cs"/>
              </a:rPr>
              <a:t>VS</a:t>
            </a:r>
          </a:p>
        </p:txBody>
      </p:sp>
      <p:pic>
        <p:nvPicPr>
          <p:cNvPr id="24" name="Picture 23" hidden="1">
            <a:extLst>
              <a:ext uri="{FF2B5EF4-FFF2-40B4-BE49-F238E27FC236}">
                <a16:creationId xmlns:a16="http://schemas.microsoft.com/office/drawing/2014/main" id="{12168955-F2E2-49A7-B86A-08B417B925BD}"/>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778551" y="2752618"/>
            <a:ext cx="1371600" cy="1371600"/>
          </a:xfrm>
          <a:prstGeom prst="rect">
            <a:avLst/>
          </a:prstGeom>
        </p:spPr>
      </p:pic>
      <p:sp>
        <p:nvSpPr>
          <p:cNvPr id="26" name="TextBox 25" hidden="1">
            <a:extLst>
              <a:ext uri="{FF2B5EF4-FFF2-40B4-BE49-F238E27FC236}">
                <a16:creationId xmlns:a16="http://schemas.microsoft.com/office/drawing/2014/main" id="{4919CFF7-CBCB-4FC1-AAFA-F52087D13EAD}"/>
              </a:ext>
            </a:extLst>
          </p:cNvPr>
          <p:cNvSpPr txBox="1"/>
          <p:nvPr/>
        </p:nvSpPr>
        <p:spPr>
          <a:xfrm>
            <a:off x="5349534" y="2073759"/>
            <a:ext cx="2229633" cy="663192"/>
          </a:xfrm>
          <a:prstGeom prst="rect">
            <a:avLst/>
          </a:prstGeom>
          <a:noFill/>
        </p:spPr>
        <p:txBody>
          <a:bodyPr wrap="square" lIns="0" tIns="0" rIns="0" bIns="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4D4D4D"/>
                </a:solidFill>
                <a:effectLst/>
                <a:uLnTx/>
                <a:uFillTx/>
                <a:latin typeface="Arial"/>
                <a:ea typeface="+mn-ea"/>
                <a:cs typeface="+mn-cs"/>
              </a:rPr>
              <a:t>CORPORATE COUNSEL SAY</a:t>
            </a:r>
          </a:p>
        </p:txBody>
      </p:sp>
      <p:sp>
        <p:nvSpPr>
          <p:cNvPr id="28" name="TextBox 27" hidden="1">
            <a:extLst>
              <a:ext uri="{FF2B5EF4-FFF2-40B4-BE49-F238E27FC236}">
                <a16:creationId xmlns:a16="http://schemas.microsoft.com/office/drawing/2014/main" id="{846A57E3-A11F-4457-9781-B55F7221B086}"/>
              </a:ext>
            </a:extLst>
          </p:cNvPr>
          <p:cNvSpPr txBox="1"/>
          <p:nvPr/>
        </p:nvSpPr>
        <p:spPr>
          <a:xfrm>
            <a:off x="5405901" y="4225465"/>
            <a:ext cx="2116898" cy="1096027"/>
          </a:xfrm>
          <a:prstGeom prst="rect">
            <a:avLst/>
          </a:prstGeom>
          <a:noFill/>
        </p:spPr>
        <p:txBody>
          <a:bodyPr wrap="square" lIns="0" tIns="0" rIns="0" bIns="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4D4D4D"/>
                </a:solidFill>
                <a:effectLst/>
                <a:uLnTx/>
                <a:uFillTx/>
                <a:latin typeface="Arial"/>
                <a:ea typeface="+mn-ea"/>
                <a:cs typeface="+mn-cs"/>
              </a:rPr>
              <a:t>Lack of value</a:t>
            </a:r>
          </a:p>
        </p:txBody>
      </p:sp>
      <p:cxnSp>
        <p:nvCxnSpPr>
          <p:cNvPr id="12" name="Straight Arrow Connector 11" hidden="1">
            <a:extLst>
              <a:ext uri="{FF2B5EF4-FFF2-40B4-BE49-F238E27FC236}">
                <a16:creationId xmlns:a16="http://schemas.microsoft.com/office/drawing/2014/main" id="{07A92615-6805-4EE9-9BEB-3690ED338365}"/>
              </a:ext>
            </a:extLst>
          </p:cNvPr>
          <p:cNvCxnSpPr/>
          <p:nvPr/>
        </p:nvCxnSpPr>
        <p:spPr>
          <a:xfrm>
            <a:off x="7579167" y="3429000"/>
            <a:ext cx="1370680" cy="0"/>
          </a:xfrm>
          <a:prstGeom prst="straightConnector1">
            <a:avLst/>
          </a:prstGeom>
          <a:ln w="69850" cmpd="sng">
            <a:solidFill>
              <a:schemeClr val="accent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hidden="1">
            <a:extLst>
              <a:ext uri="{FF2B5EF4-FFF2-40B4-BE49-F238E27FC236}">
                <a16:creationId xmlns:a16="http://schemas.microsoft.com/office/drawing/2014/main" id="{9785428C-C1D3-40B3-9198-A667CCD343ED}"/>
              </a:ext>
            </a:extLst>
          </p:cNvPr>
          <p:cNvSpPr txBox="1"/>
          <p:nvPr/>
        </p:nvSpPr>
        <p:spPr>
          <a:xfrm>
            <a:off x="8993307" y="3084558"/>
            <a:ext cx="2825537" cy="1352811"/>
          </a:xfrm>
          <a:prstGeom prst="rect">
            <a:avLst/>
          </a:prstGeom>
          <a:noFill/>
        </p:spPr>
        <p:txBody>
          <a:bodyPr wrap="square" lIns="0" tIns="0" rIns="0" bIns="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8000"/>
                </a:solidFill>
                <a:effectLst/>
                <a:uLnTx/>
                <a:uFillTx/>
                <a:latin typeface="Arial"/>
                <a:ea typeface="+mn-ea"/>
                <a:cs typeface="+mn-cs"/>
              </a:rPr>
              <a:t>Quality &amp; Efficient Work Product</a:t>
            </a:r>
          </a:p>
        </p:txBody>
      </p:sp>
      <p:pic>
        <p:nvPicPr>
          <p:cNvPr id="31" name="Picture 30" hidden="1">
            <a:extLst>
              <a:ext uri="{FF2B5EF4-FFF2-40B4-BE49-F238E27FC236}">
                <a16:creationId xmlns:a16="http://schemas.microsoft.com/office/drawing/2014/main" id="{1B6203BF-27EC-4C77-A445-CABF263F3CE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9661617" y="2752618"/>
            <a:ext cx="1371600" cy="1371600"/>
          </a:xfrm>
          <a:prstGeom prst="rect">
            <a:avLst/>
          </a:prstGeom>
        </p:spPr>
      </p:pic>
      <p:sp>
        <p:nvSpPr>
          <p:cNvPr id="36" name="Rounded Rectangle 35">
            <a:extLst>
              <a:ext uri="{FF2B5EF4-FFF2-40B4-BE49-F238E27FC236}">
                <a16:creationId xmlns:a16="http://schemas.microsoft.com/office/drawing/2014/main" id="{B1718BCA-830E-4645-87E2-3D06296C4FAF}"/>
              </a:ext>
            </a:extLst>
          </p:cNvPr>
          <p:cNvSpPr/>
          <p:nvPr/>
        </p:nvSpPr>
        <p:spPr>
          <a:xfrm rot="20969336" flipV="1">
            <a:off x="1948373" y="5161155"/>
            <a:ext cx="4491037" cy="304699"/>
          </a:xfrm>
          <a:prstGeom prst="roundRect">
            <a:avLst>
              <a:gd name="adj" fmla="val 50000"/>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60" name="Graph Base">
            <a:extLst>
              <a:ext uri="{FF2B5EF4-FFF2-40B4-BE49-F238E27FC236}">
                <a16:creationId xmlns:a16="http://schemas.microsoft.com/office/drawing/2014/main" id="{D1ACCD86-138F-7D4A-B155-19F726F04373}"/>
              </a:ext>
            </a:extLst>
          </p:cNvPr>
          <p:cNvGrpSpPr/>
          <p:nvPr/>
        </p:nvGrpSpPr>
        <p:grpSpPr>
          <a:xfrm>
            <a:off x="838086" y="2487590"/>
            <a:ext cx="10591915" cy="3895560"/>
            <a:chOff x="566582" y="1737145"/>
            <a:chExt cx="10625326" cy="4161783"/>
          </a:xfrm>
        </p:grpSpPr>
        <p:sp>
          <p:nvSpPr>
            <p:cNvPr id="32" name="Rectangle 31">
              <a:extLst>
                <a:ext uri="{FF2B5EF4-FFF2-40B4-BE49-F238E27FC236}">
                  <a16:creationId xmlns:a16="http://schemas.microsoft.com/office/drawing/2014/main" id="{C169A429-A1BA-5741-93CC-BCDA8574CEA7}"/>
                </a:ext>
              </a:extLst>
            </p:cNvPr>
            <p:cNvSpPr/>
            <p:nvPr/>
          </p:nvSpPr>
          <p:spPr>
            <a:xfrm>
              <a:off x="637795" y="3647961"/>
              <a:ext cx="545454" cy="32881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dirty="0">
                  <a:ln>
                    <a:noFill/>
                  </a:ln>
                  <a:solidFill>
                    <a:schemeClr val="bg2">
                      <a:lumMod val="50000"/>
                    </a:schemeClr>
                  </a:solidFill>
                  <a:effectLst/>
                  <a:uLnTx/>
                  <a:uFillTx/>
                  <a:latin typeface="Arial" panose="020B0604020202020204" pitchFamily="34" charset="0"/>
                  <a:cs typeface="Arial" panose="020B0604020202020204" pitchFamily="34" charset="0"/>
                </a:rPr>
                <a:t>50%</a:t>
              </a:r>
            </a:p>
          </p:txBody>
        </p:sp>
        <p:sp>
          <p:nvSpPr>
            <p:cNvPr id="33" name="Rectangle 32">
              <a:extLst>
                <a:ext uri="{FF2B5EF4-FFF2-40B4-BE49-F238E27FC236}">
                  <a16:creationId xmlns:a16="http://schemas.microsoft.com/office/drawing/2014/main" id="{374E0D7E-495A-8B4C-9111-3BB17AA55CB2}"/>
                </a:ext>
              </a:extLst>
            </p:cNvPr>
            <p:cNvSpPr/>
            <p:nvPr/>
          </p:nvSpPr>
          <p:spPr>
            <a:xfrm>
              <a:off x="566582" y="1737145"/>
              <a:ext cx="645154" cy="32881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dirty="0">
                  <a:ln>
                    <a:noFill/>
                  </a:ln>
                  <a:solidFill>
                    <a:schemeClr val="bg2">
                      <a:lumMod val="50000"/>
                    </a:schemeClr>
                  </a:solidFill>
                  <a:effectLst/>
                  <a:uLnTx/>
                  <a:uFillTx/>
                  <a:latin typeface="Arial" panose="020B0604020202020204" pitchFamily="34" charset="0"/>
                  <a:cs typeface="Arial" panose="020B0604020202020204" pitchFamily="34" charset="0"/>
                </a:rPr>
                <a:t>100%</a:t>
              </a:r>
            </a:p>
          </p:txBody>
        </p:sp>
        <p:cxnSp>
          <p:nvCxnSpPr>
            <p:cNvPr id="34" name="Straight Connector 33">
              <a:extLst>
                <a:ext uri="{FF2B5EF4-FFF2-40B4-BE49-F238E27FC236}">
                  <a16:creationId xmlns:a16="http://schemas.microsoft.com/office/drawing/2014/main" id="{725C2063-25CB-804E-8477-45D5396C5CFD}"/>
                </a:ext>
              </a:extLst>
            </p:cNvPr>
            <p:cNvCxnSpPr>
              <a:cxnSpLocks/>
            </p:cNvCxnSpPr>
            <p:nvPr/>
          </p:nvCxnSpPr>
          <p:spPr>
            <a:xfrm>
              <a:off x="1215092" y="1849485"/>
              <a:ext cx="9976816" cy="26160"/>
            </a:xfrm>
            <a:prstGeom prst="line">
              <a:avLst/>
            </a:prstGeom>
            <a:ln w="28575" cap="rnd" cmpd="sng">
              <a:solidFill>
                <a:schemeClr val="bg2">
                  <a:lumMod val="9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B8EBB13-3EA9-604D-A542-E5CADDDBE31B}"/>
                </a:ext>
              </a:extLst>
            </p:cNvPr>
            <p:cNvCxnSpPr>
              <a:cxnSpLocks/>
            </p:cNvCxnSpPr>
            <p:nvPr/>
          </p:nvCxnSpPr>
          <p:spPr>
            <a:xfrm>
              <a:off x="1193329" y="3771473"/>
              <a:ext cx="9976105" cy="0"/>
            </a:xfrm>
            <a:prstGeom prst="line">
              <a:avLst/>
            </a:prstGeom>
            <a:ln w="28575" cap="rnd" cmpd="sng">
              <a:solidFill>
                <a:schemeClr val="bg2">
                  <a:lumMod val="9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EEBFC46-ABBC-2A45-B18B-7841D28924B0}"/>
                </a:ext>
              </a:extLst>
            </p:cNvPr>
            <p:cNvCxnSpPr>
              <a:cxnSpLocks/>
            </p:cNvCxnSpPr>
            <p:nvPr/>
          </p:nvCxnSpPr>
          <p:spPr>
            <a:xfrm>
              <a:off x="1215092" y="5708617"/>
              <a:ext cx="9976105" cy="0"/>
            </a:xfrm>
            <a:prstGeom prst="line">
              <a:avLst/>
            </a:prstGeom>
            <a:ln w="28575" cap="rnd" cmpd="sng">
              <a:solidFill>
                <a:schemeClr val="bg2">
                  <a:lumMod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8D69DC7C-120A-594E-99CF-0958FC61CAA4}"/>
                </a:ext>
              </a:extLst>
            </p:cNvPr>
            <p:cNvSpPr/>
            <p:nvPr/>
          </p:nvSpPr>
          <p:spPr>
            <a:xfrm>
              <a:off x="789398" y="5570117"/>
              <a:ext cx="445754" cy="32881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bg2">
                      <a:lumMod val="50000"/>
                    </a:schemeClr>
                  </a:solidFill>
                  <a:effectLst/>
                  <a:uLnTx/>
                  <a:uFillTx/>
                  <a:latin typeface="Arial" panose="020B0604020202020204" pitchFamily="34" charset="0"/>
                  <a:cs typeface="Arial" panose="020B0604020202020204" pitchFamily="34" charset="0"/>
                </a:rPr>
                <a:t>0%</a:t>
              </a:r>
            </a:p>
          </p:txBody>
        </p:sp>
        <p:cxnSp>
          <p:nvCxnSpPr>
            <p:cNvPr id="47" name="Straight Connector 46">
              <a:extLst>
                <a:ext uri="{FF2B5EF4-FFF2-40B4-BE49-F238E27FC236}">
                  <a16:creationId xmlns:a16="http://schemas.microsoft.com/office/drawing/2014/main" id="{C67AA9C3-3465-8843-A353-F66D05320FB8}"/>
                </a:ext>
              </a:extLst>
            </p:cNvPr>
            <p:cNvCxnSpPr>
              <a:cxnSpLocks/>
            </p:cNvCxnSpPr>
            <p:nvPr/>
          </p:nvCxnSpPr>
          <p:spPr>
            <a:xfrm>
              <a:off x="1215092" y="2777137"/>
              <a:ext cx="9976816" cy="26160"/>
            </a:xfrm>
            <a:prstGeom prst="line">
              <a:avLst/>
            </a:prstGeom>
            <a:ln w="28575" cap="rnd" cmpd="sng">
              <a:solidFill>
                <a:schemeClr val="bg1">
                  <a:lumMod val="85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7E07B155-D7C0-6A47-AC9D-37143A9EF4B6}"/>
                </a:ext>
              </a:extLst>
            </p:cNvPr>
            <p:cNvCxnSpPr>
              <a:cxnSpLocks/>
            </p:cNvCxnSpPr>
            <p:nvPr/>
          </p:nvCxnSpPr>
          <p:spPr>
            <a:xfrm>
              <a:off x="1193329" y="4699125"/>
              <a:ext cx="9976105" cy="0"/>
            </a:xfrm>
            <a:prstGeom prst="line">
              <a:avLst/>
            </a:prstGeom>
            <a:ln w="28575" cap="rnd" cmpd="sng">
              <a:solidFill>
                <a:schemeClr val="bg1">
                  <a:lumMod val="85000"/>
                </a:schemeClr>
              </a:solidFill>
              <a:prstDash val="sysDot"/>
            </a:ln>
            <a:effectLst/>
          </p:spPr>
          <p:style>
            <a:lnRef idx="2">
              <a:schemeClr val="accent1"/>
            </a:lnRef>
            <a:fillRef idx="0">
              <a:schemeClr val="accent1"/>
            </a:fillRef>
            <a:effectRef idx="1">
              <a:schemeClr val="accent1"/>
            </a:effectRef>
            <a:fontRef idx="minor">
              <a:schemeClr val="tx1"/>
            </a:fontRef>
          </p:style>
        </p:cxnSp>
      </p:grpSp>
      <p:sp>
        <p:nvSpPr>
          <p:cNvPr id="49" name="Rounded Rectangle 48">
            <a:extLst>
              <a:ext uri="{FF2B5EF4-FFF2-40B4-BE49-F238E27FC236}">
                <a16:creationId xmlns:a16="http://schemas.microsoft.com/office/drawing/2014/main" id="{8DF2F3F0-7FE2-764D-887A-F711952532B2}"/>
              </a:ext>
            </a:extLst>
          </p:cNvPr>
          <p:cNvSpPr/>
          <p:nvPr/>
        </p:nvSpPr>
        <p:spPr>
          <a:xfrm rot="20851106" flipV="1">
            <a:off x="6384667" y="4243249"/>
            <a:ext cx="4391566" cy="368687"/>
          </a:xfrm>
          <a:prstGeom prst="roundRect">
            <a:avLst>
              <a:gd name="adj" fmla="val 50000"/>
            </a:avLst>
          </a:prstGeom>
          <a:solidFill>
            <a:schemeClr val="bg1">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54" name="Typical Firm">
            <a:extLst>
              <a:ext uri="{FF2B5EF4-FFF2-40B4-BE49-F238E27FC236}">
                <a16:creationId xmlns:a16="http://schemas.microsoft.com/office/drawing/2014/main" id="{D0221E03-B0F9-1A42-98D9-8937ADC67313}"/>
              </a:ext>
            </a:extLst>
          </p:cNvPr>
          <p:cNvGrpSpPr/>
          <p:nvPr/>
        </p:nvGrpSpPr>
        <p:grpSpPr>
          <a:xfrm>
            <a:off x="1587869" y="5203461"/>
            <a:ext cx="989406" cy="993434"/>
            <a:chOff x="1616073" y="4813936"/>
            <a:chExt cx="731520" cy="734498"/>
          </a:xfrm>
        </p:grpSpPr>
        <p:sp>
          <p:nvSpPr>
            <p:cNvPr id="39" name="Oval 38">
              <a:extLst>
                <a:ext uri="{FF2B5EF4-FFF2-40B4-BE49-F238E27FC236}">
                  <a16:creationId xmlns:a16="http://schemas.microsoft.com/office/drawing/2014/main" id="{319433E7-8E3C-084E-82FF-B75931BB6D35}"/>
                </a:ext>
              </a:extLst>
            </p:cNvPr>
            <p:cNvSpPr/>
            <p:nvPr/>
          </p:nvSpPr>
          <p:spPr>
            <a:xfrm>
              <a:off x="1616073" y="4813936"/>
              <a:ext cx="731520" cy="734498"/>
            </a:xfrm>
            <a:prstGeom prst="ellipse">
              <a:avLst/>
            </a:prstGeom>
            <a:solidFill>
              <a:srgbClr val="F99C1B"/>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4CFAFC8B-0BEB-E14A-9662-18B585AA8462}"/>
                </a:ext>
              </a:extLst>
            </p:cNvPr>
            <p:cNvPicPr>
              <a:picLocks noChangeAspect="1"/>
            </p:cNvPicPr>
            <p:nvPr/>
          </p:nvPicPr>
          <p:blipFill>
            <a:blip r:embed="rId7">
              <a:biLevel thresh="25000"/>
            </a:blip>
            <a:stretch>
              <a:fillRect/>
            </a:stretch>
          </p:blipFill>
          <p:spPr>
            <a:xfrm>
              <a:off x="1835132" y="4957829"/>
              <a:ext cx="279289" cy="226922"/>
            </a:xfrm>
            <a:prstGeom prst="rect">
              <a:avLst/>
            </a:prstGeom>
          </p:spPr>
        </p:pic>
        <p:sp>
          <p:nvSpPr>
            <p:cNvPr id="50" name="Rectangle 49">
              <a:extLst>
                <a:ext uri="{FF2B5EF4-FFF2-40B4-BE49-F238E27FC236}">
                  <a16:creationId xmlns:a16="http://schemas.microsoft.com/office/drawing/2014/main" id="{9A1EAF2A-62D8-0149-97F3-A435B3CE6F94}"/>
                </a:ext>
              </a:extLst>
            </p:cNvPr>
            <p:cNvSpPr/>
            <p:nvPr/>
          </p:nvSpPr>
          <p:spPr>
            <a:xfrm>
              <a:off x="1771453" y="5234784"/>
              <a:ext cx="438756" cy="250311"/>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chemeClr val="bg1"/>
                  </a:solidFill>
                  <a:effectLst/>
                  <a:uLnTx/>
                  <a:uFillTx/>
                  <a:latin typeface="Arial Black" panose="020B0604020202020204" pitchFamily="34" charset="0"/>
                  <a:cs typeface="Arial Black" panose="020B0604020202020204" pitchFamily="34" charset="0"/>
                </a:rPr>
                <a:t>14</a:t>
              </a:r>
              <a:r>
                <a:rPr kumimoji="0" lang="en-US" sz="1600" b="1" u="none" strike="noStrike" kern="1200" cap="none" spc="0" normalizeH="0" baseline="15000" noProof="0" dirty="0">
                  <a:ln>
                    <a:noFill/>
                  </a:ln>
                  <a:solidFill>
                    <a:schemeClr val="bg1"/>
                  </a:solidFill>
                  <a:effectLst/>
                  <a:uLnTx/>
                  <a:uFillTx/>
                  <a:latin typeface="Arial Black" panose="020B0604020202020204" pitchFamily="34" charset="0"/>
                  <a:cs typeface="Arial Black" panose="020B0604020202020204" pitchFamily="34" charset="0"/>
                </a:rPr>
                <a:t>%</a:t>
              </a:r>
            </a:p>
          </p:txBody>
        </p:sp>
      </p:grpSp>
      <p:grpSp>
        <p:nvGrpSpPr>
          <p:cNvPr id="56" name="Innovation">
            <a:extLst>
              <a:ext uri="{FF2B5EF4-FFF2-40B4-BE49-F238E27FC236}">
                <a16:creationId xmlns:a16="http://schemas.microsoft.com/office/drawing/2014/main" id="{8F9FAE35-6C5F-D843-97C0-8E3A8F866D0E}"/>
              </a:ext>
            </a:extLst>
          </p:cNvPr>
          <p:cNvGrpSpPr/>
          <p:nvPr/>
        </p:nvGrpSpPr>
        <p:grpSpPr>
          <a:xfrm>
            <a:off x="5880610" y="4363763"/>
            <a:ext cx="993434" cy="993434"/>
            <a:chOff x="5909339" y="3826164"/>
            <a:chExt cx="734498" cy="734498"/>
          </a:xfrm>
        </p:grpSpPr>
        <p:grpSp>
          <p:nvGrpSpPr>
            <p:cNvPr id="55" name="Group 54">
              <a:extLst>
                <a:ext uri="{FF2B5EF4-FFF2-40B4-BE49-F238E27FC236}">
                  <a16:creationId xmlns:a16="http://schemas.microsoft.com/office/drawing/2014/main" id="{C70787AC-F000-0145-9127-6EC3A2F921C4}"/>
                </a:ext>
              </a:extLst>
            </p:cNvPr>
            <p:cNvGrpSpPr/>
            <p:nvPr/>
          </p:nvGrpSpPr>
          <p:grpSpPr>
            <a:xfrm>
              <a:off x="5909339" y="3826164"/>
              <a:ext cx="734498" cy="734498"/>
              <a:chOff x="5909339" y="3826164"/>
              <a:chExt cx="734498" cy="734498"/>
            </a:xfrm>
          </p:grpSpPr>
          <p:sp>
            <p:nvSpPr>
              <p:cNvPr id="38" name="Oval 37">
                <a:extLst>
                  <a:ext uri="{FF2B5EF4-FFF2-40B4-BE49-F238E27FC236}">
                    <a16:creationId xmlns:a16="http://schemas.microsoft.com/office/drawing/2014/main" id="{DFD9640D-132F-0644-B153-D651C5927023}"/>
                  </a:ext>
                </a:extLst>
              </p:cNvPr>
              <p:cNvSpPr/>
              <p:nvPr/>
            </p:nvSpPr>
            <p:spPr>
              <a:xfrm>
                <a:off x="5909339" y="3826164"/>
                <a:ext cx="734498" cy="73449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16" name="Picture 15">
                <a:extLst>
                  <a:ext uri="{FF2B5EF4-FFF2-40B4-BE49-F238E27FC236}">
                    <a16:creationId xmlns:a16="http://schemas.microsoft.com/office/drawing/2014/main" id="{6CC378F5-A40B-BC4D-AAAE-0DD5597B1EE1}"/>
                  </a:ext>
                </a:extLst>
              </p:cNvPr>
              <p:cNvPicPr>
                <a:picLocks noChangeAspect="1"/>
              </p:cNvPicPr>
              <p:nvPr/>
            </p:nvPicPr>
            <p:blipFill>
              <a:blip r:embed="rId8">
                <a:biLevel thresh="25000"/>
              </a:blip>
              <a:stretch>
                <a:fillRect/>
              </a:stretch>
            </p:blipFill>
            <p:spPr>
              <a:xfrm>
                <a:off x="6198064" y="3946260"/>
                <a:ext cx="175155" cy="283873"/>
              </a:xfrm>
              <a:prstGeom prst="rect">
                <a:avLst/>
              </a:prstGeom>
            </p:spPr>
          </p:pic>
        </p:grpSp>
        <p:sp>
          <p:nvSpPr>
            <p:cNvPr id="51" name="Rectangle 50">
              <a:extLst>
                <a:ext uri="{FF2B5EF4-FFF2-40B4-BE49-F238E27FC236}">
                  <a16:creationId xmlns:a16="http://schemas.microsoft.com/office/drawing/2014/main" id="{58A56FF2-1CA6-984D-94ED-6DA701C38FFE}"/>
                </a:ext>
              </a:extLst>
            </p:cNvPr>
            <p:cNvSpPr/>
            <p:nvPr/>
          </p:nvSpPr>
          <p:spPr>
            <a:xfrm>
              <a:off x="6086756" y="4255640"/>
              <a:ext cx="438755" cy="250311"/>
            </a:xfrm>
            <a:prstGeom prst="rect">
              <a:avLst/>
            </a:prstGeom>
          </p:spPr>
          <p:txBody>
            <a:bodyPr wrap="none">
              <a:spAutoFit/>
            </a:bodyPr>
            <a:lstStyle/>
            <a:p>
              <a:pPr lvl="0">
                <a:defRPr/>
              </a:pPr>
              <a:r>
                <a:rPr kumimoji="0" lang="en-US" sz="1600" b="1" u="none" strike="noStrike" kern="1200" cap="none" spc="0" normalizeH="0" baseline="0" noProof="0" dirty="0">
                  <a:ln>
                    <a:noFill/>
                  </a:ln>
                  <a:solidFill>
                    <a:schemeClr val="bg1"/>
                  </a:solidFill>
                  <a:effectLst/>
                  <a:uLnTx/>
                  <a:uFillTx/>
                  <a:latin typeface="Arial Black" panose="020B0604020202020204" pitchFamily="34" charset="0"/>
                  <a:cs typeface="Arial Black" panose="020B0604020202020204" pitchFamily="34" charset="0"/>
                </a:rPr>
                <a:t>32</a:t>
              </a:r>
              <a:r>
                <a:rPr lang="en-US" sz="1600" b="1" baseline="15000" dirty="0">
                  <a:solidFill>
                    <a:schemeClr val="bg1"/>
                  </a:solidFill>
                  <a:latin typeface="Arial Black" panose="020B0604020202020204" pitchFamily="34" charset="0"/>
                  <a:cs typeface="Arial Black" panose="020B0604020202020204" pitchFamily="34" charset="0"/>
                </a:rPr>
                <a:t>%</a:t>
              </a:r>
              <a:endParaRPr kumimoji="0" lang="en-US" sz="1600" b="1" u="none" strike="noStrike" kern="1200" cap="none" spc="0" normalizeH="0" baseline="0" noProof="0" dirty="0">
                <a:ln>
                  <a:noFill/>
                </a:ln>
                <a:solidFill>
                  <a:schemeClr val="bg1"/>
                </a:solidFill>
                <a:effectLst/>
                <a:uLnTx/>
                <a:uFillTx/>
                <a:latin typeface="Arial Black" panose="020B0604020202020204" pitchFamily="34" charset="0"/>
                <a:cs typeface="Arial Black" panose="020B0604020202020204" pitchFamily="34" charset="0"/>
              </a:endParaRPr>
            </a:p>
          </p:txBody>
        </p:sp>
      </p:grpSp>
      <p:grpSp>
        <p:nvGrpSpPr>
          <p:cNvPr id="58" name="Collaborative">
            <a:extLst>
              <a:ext uri="{FF2B5EF4-FFF2-40B4-BE49-F238E27FC236}">
                <a16:creationId xmlns:a16="http://schemas.microsoft.com/office/drawing/2014/main" id="{5FD7C645-388C-F744-A8CD-AA1B42B6FB29}"/>
              </a:ext>
            </a:extLst>
          </p:cNvPr>
          <p:cNvGrpSpPr/>
          <p:nvPr/>
        </p:nvGrpSpPr>
        <p:grpSpPr>
          <a:xfrm>
            <a:off x="10182567" y="3453838"/>
            <a:ext cx="993434" cy="993434"/>
            <a:chOff x="10200905" y="2974699"/>
            <a:chExt cx="734498" cy="734498"/>
          </a:xfrm>
        </p:grpSpPr>
        <p:grpSp>
          <p:nvGrpSpPr>
            <p:cNvPr id="57" name="Group 56">
              <a:extLst>
                <a:ext uri="{FF2B5EF4-FFF2-40B4-BE49-F238E27FC236}">
                  <a16:creationId xmlns:a16="http://schemas.microsoft.com/office/drawing/2014/main" id="{48CC7237-5089-E84F-931B-9E8A5E92EA36}"/>
                </a:ext>
              </a:extLst>
            </p:cNvPr>
            <p:cNvGrpSpPr/>
            <p:nvPr/>
          </p:nvGrpSpPr>
          <p:grpSpPr>
            <a:xfrm>
              <a:off x="10200905" y="2974699"/>
              <a:ext cx="734498" cy="734498"/>
              <a:chOff x="10200905" y="2974699"/>
              <a:chExt cx="734498" cy="734498"/>
            </a:xfrm>
          </p:grpSpPr>
          <p:sp>
            <p:nvSpPr>
              <p:cNvPr id="42" name="Oval 41">
                <a:extLst>
                  <a:ext uri="{FF2B5EF4-FFF2-40B4-BE49-F238E27FC236}">
                    <a16:creationId xmlns:a16="http://schemas.microsoft.com/office/drawing/2014/main" id="{4F70DCD5-58F8-C442-AA33-7D222C76F97D}"/>
                  </a:ext>
                </a:extLst>
              </p:cNvPr>
              <p:cNvSpPr/>
              <p:nvPr/>
            </p:nvSpPr>
            <p:spPr>
              <a:xfrm>
                <a:off x="10200905" y="2974699"/>
                <a:ext cx="734498" cy="734498"/>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9989989E-B646-E14E-8E46-9FD93E97C21C}"/>
                  </a:ext>
                </a:extLst>
              </p:cNvPr>
              <p:cNvPicPr>
                <a:picLocks noChangeAspect="1"/>
              </p:cNvPicPr>
              <p:nvPr/>
            </p:nvPicPr>
            <p:blipFill>
              <a:blip r:embed="rId9">
                <a:biLevel thresh="25000"/>
              </a:blip>
              <a:stretch>
                <a:fillRect/>
              </a:stretch>
            </p:blipFill>
            <p:spPr>
              <a:xfrm>
                <a:off x="10399220" y="3064651"/>
                <a:ext cx="321415" cy="321415"/>
              </a:xfrm>
              <a:prstGeom prst="rect">
                <a:avLst/>
              </a:prstGeom>
            </p:spPr>
          </p:pic>
        </p:grpSp>
        <p:sp>
          <p:nvSpPr>
            <p:cNvPr id="52" name="Rectangle 51">
              <a:extLst>
                <a:ext uri="{FF2B5EF4-FFF2-40B4-BE49-F238E27FC236}">
                  <a16:creationId xmlns:a16="http://schemas.microsoft.com/office/drawing/2014/main" id="{21A4C82A-BDE8-A941-BD4A-F99DE1E85B77}"/>
                </a:ext>
              </a:extLst>
            </p:cNvPr>
            <p:cNvSpPr/>
            <p:nvPr/>
          </p:nvSpPr>
          <p:spPr>
            <a:xfrm>
              <a:off x="10376344" y="3413015"/>
              <a:ext cx="438755" cy="250311"/>
            </a:xfrm>
            <a:prstGeom prst="rect">
              <a:avLst/>
            </a:prstGeom>
          </p:spPr>
          <p:txBody>
            <a:bodyPr wrap="none">
              <a:spAutoFit/>
            </a:bodyPr>
            <a:lstStyle/>
            <a:p>
              <a:pPr lvl="0">
                <a:defRPr/>
              </a:pPr>
              <a:r>
                <a:rPr kumimoji="0" lang="en-US" sz="1600" b="1" u="none" strike="noStrike" kern="1200" cap="none" spc="0" normalizeH="0" baseline="0" noProof="0" dirty="0">
                  <a:ln>
                    <a:noFill/>
                  </a:ln>
                  <a:solidFill>
                    <a:schemeClr val="bg1"/>
                  </a:solidFill>
                  <a:effectLst/>
                  <a:uLnTx/>
                  <a:uFillTx/>
                  <a:latin typeface="Arial Black" panose="020B0604020202020204" pitchFamily="34" charset="0"/>
                  <a:cs typeface="Arial Black" panose="020B0604020202020204" pitchFamily="34" charset="0"/>
                </a:rPr>
                <a:t>56</a:t>
              </a:r>
              <a:r>
                <a:rPr lang="en-US" sz="1600" b="1" baseline="15000" dirty="0">
                  <a:solidFill>
                    <a:schemeClr val="bg1"/>
                  </a:solidFill>
                  <a:latin typeface="Arial Black" panose="020B0604020202020204" pitchFamily="34" charset="0"/>
                  <a:cs typeface="Arial Black" panose="020B0604020202020204" pitchFamily="34" charset="0"/>
                </a:rPr>
                <a:t>%</a:t>
              </a:r>
              <a:endParaRPr kumimoji="0" lang="en-US" sz="1600" b="1" u="none" strike="noStrike" kern="1200" cap="none" spc="0" normalizeH="0" baseline="0" noProof="0" dirty="0">
                <a:ln>
                  <a:noFill/>
                </a:ln>
                <a:solidFill>
                  <a:schemeClr val="bg1"/>
                </a:solidFill>
                <a:effectLst/>
                <a:uLnTx/>
                <a:uFillTx/>
                <a:latin typeface="Arial Black" panose="020B0604020202020204" pitchFamily="34" charset="0"/>
                <a:cs typeface="Arial Black" panose="020B0604020202020204" pitchFamily="34" charset="0"/>
              </a:endParaRPr>
            </a:p>
          </p:txBody>
        </p:sp>
      </p:grpSp>
      <p:sp>
        <p:nvSpPr>
          <p:cNvPr id="46" name="Rectangle 45">
            <a:extLst>
              <a:ext uri="{FF2B5EF4-FFF2-40B4-BE49-F238E27FC236}">
                <a16:creationId xmlns:a16="http://schemas.microsoft.com/office/drawing/2014/main" id="{CF093FB4-093F-C04A-A498-A51CEB481135}"/>
              </a:ext>
            </a:extLst>
          </p:cNvPr>
          <p:cNvSpPr/>
          <p:nvPr/>
        </p:nvSpPr>
        <p:spPr>
          <a:xfrm>
            <a:off x="697506" y="733340"/>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61" name="Rectangle 60">
            <a:extLst>
              <a:ext uri="{FF2B5EF4-FFF2-40B4-BE49-F238E27FC236}">
                <a16:creationId xmlns:a16="http://schemas.microsoft.com/office/drawing/2014/main" id="{B0801789-777D-2E42-8781-1CCDE64399FB}"/>
              </a:ext>
            </a:extLst>
          </p:cNvPr>
          <p:cNvSpPr/>
          <p:nvPr/>
        </p:nvSpPr>
        <p:spPr>
          <a:xfrm>
            <a:off x="650292" y="1098453"/>
            <a:ext cx="11394563" cy="1231106"/>
          </a:xfrm>
          <a:prstGeom prst="rect">
            <a:avLst/>
          </a:prstGeom>
        </p:spPr>
        <p:txBody>
          <a:bodyPr wrap="square" lIns="0" tIns="0" rIns="0" bIns="0">
            <a:spAutoFit/>
          </a:bodyPr>
          <a:lstStyle/>
          <a:p>
            <a:pPr defTabSz="914126">
              <a:spcBef>
                <a:spcPts val="400"/>
              </a:spcBef>
              <a:defRPr/>
            </a:pPr>
            <a:r>
              <a:rPr lang="en-US" sz="7900" dirty="0">
                <a:solidFill>
                  <a:schemeClr val="bg1">
                    <a:alpha val="60000"/>
                  </a:schemeClr>
                </a:solidFill>
                <a:latin typeface="+mj-lt"/>
              </a:rPr>
              <a:t>SHARE OF WALLET</a:t>
            </a:r>
          </a:p>
        </p:txBody>
      </p:sp>
      <p:sp>
        <p:nvSpPr>
          <p:cNvPr id="45" name="Freeform 44">
            <a:extLst>
              <a:ext uri="{FF2B5EF4-FFF2-40B4-BE49-F238E27FC236}">
                <a16:creationId xmlns:a16="http://schemas.microsoft.com/office/drawing/2014/main" id="{7B658DF5-622B-FE47-866B-3752CE5833DC}"/>
              </a:ext>
            </a:extLst>
          </p:cNvPr>
          <p:cNvSpPr/>
          <p:nvPr/>
        </p:nvSpPr>
        <p:spPr>
          <a:xfrm rot="10800000">
            <a:off x="7368765" y="-9780"/>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Freeform 63">
            <a:extLst>
              <a:ext uri="{FF2B5EF4-FFF2-40B4-BE49-F238E27FC236}">
                <a16:creationId xmlns:a16="http://schemas.microsoft.com/office/drawing/2014/main" id="{30C821A6-2463-A641-9E5E-416F3A8DE0E1}"/>
              </a:ext>
            </a:extLst>
          </p:cNvPr>
          <p:cNvSpPr/>
          <p:nvPr/>
        </p:nvSpPr>
        <p:spPr>
          <a:xfrm rot="10800000">
            <a:off x="10054538" y="-9779"/>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8484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circle(out)">
                                      <p:cBhvr>
                                        <p:cTn id="12" dur="200"/>
                                        <p:tgtEl>
                                          <p:spTgt spid="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left)">
                                      <p:cBhvr>
                                        <p:cTn id="17" dur="500"/>
                                        <p:tgtEl>
                                          <p:spTgt spid="36"/>
                                        </p:tgtEl>
                                      </p:cBhvr>
                                    </p:animEffect>
                                  </p:childTnLst>
                                </p:cTn>
                              </p:par>
                            </p:childTnLst>
                          </p:cTn>
                        </p:par>
                        <p:par>
                          <p:cTn id="18" fill="hold">
                            <p:stCondLst>
                              <p:cond delay="500"/>
                            </p:stCondLst>
                            <p:childTnLst>
                              <p:par>
                                <p:cTn id="19" presetID="6" presetClass="entr" presetSubtype="32" fill="hold" nodeType="after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circle(out)">
                                      <p:cBhvr>
                                        <p:cTn id="21" dur="200"/>
                                        <p:tgtEl>
                                          <p:spTgt spid="5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wipe(left)">
                                      <p:cBhvr>
                                        <p:cTn id="26" dur="500"/>
                                        <p:tgtEl>
                                          <p:spTgt spid="49"/>
                                        </p:tgtEl>
                                      </p:cBhvr>
                                    </p:animEffect>
                                  </p:childTnLst>
                                </p:cTn>
                              </p:par>
                              <p:par>
                                <p:cTn id="27" presetID="6" presetClass="entr" presetSubtype="32" fill="hold" nodeType="withEffect">
                                  <p:stCondLst>
                                    <p:cond delay="400"/>
                                  </p:stCondLst>
                                  <p:childTnLst>
                                    <p:set>
                                      <p:cBhvr>
                                        <p:cTn id="28" dur="1" fill="hold">
                                          <p:stCondLst>
                                            <p:cond delay="0"/>
                                          </p:stCondLst>
                                        </p:cTn>
                                        <p:tgtEl>
                                          <p:spTgt spid="58"/>
                                        </p:tgtEl>
                                        <p:attrNameLst>
                                          <p:attrName>style.visibility</p:attrName>
                                        </p:attrNameLst>
                                      </p:cBhvr>
                                      <p:to>
                                        <p:strVal val="visible"/>
                                      </p:to>
                                    </p:set>
                                    <p:animEffect transition="in" filter="circle(out)">
                                      <p:cBhvr>
                                        <p:cTn id="29" dur="2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FDEF5EEB-BDD7-634B-920A-628742BA6525}"/>
              </a:ext>
            </a:extLst>
          </p:cNvPr>
          <p:cNvSpPr/>
          <p:nvPr/>
        </p:nvSpPr>
        <p:spPr>
          <a:xfrm>
            <a:off x="0" y="-5035"/>
            <a:ext cx="11085911" cy="2213976"/>
          </a:xfrm>
          <a:custGeom>
            <a:avLst/>
            <a:gdLst>
              <a:gd name="connsiteX0" fmla="*/ 0 w 11085911"/>
              <a:gd name="connsiteY0" fmla="*/ 0 h 2213976"/>
              <a:gd name="connsiteX1" fmla="*/ 1733797 w 11085911"/>
              <a:gd name="connsiteY1" fmla="*/ 0 h 2213976"/>
              <a:gd name="connsiteX2" fmla="*/ 2842882 w 11085911"/>
              <a:gd name="connsiteY2" fmla="*/ 0 h 2213976"/>
              <a:gd name="connsiteX3" fmla="*/ 2851796 w 11085911"/>
              <a:gd name="connsiteY3" fmla="*/ 0 h 2213976"/>
              <a:gd name="connsiteX4" fmla="*/ 4576679 w 11085911"/>
              <a:gd name="connsiteY4" fmla="*/ 0 h 2213976"/>
              <a:gd name="connsiteX5" fmla="*/ 4585592 w 11085911"/>
              <a:gd name="connsiteY5" fmla="*/ 0 h 2213976"/>
              <a:gd name="connsiteX6" fmla="*/ 8236211 w 11085911"/>
              <a:gd name="connsiteY6" fmla="*/ 0 h 2213976"/>
              <a:gd name="connsiteX7" fmla="*/ 8245125 w 11085911"/>
              <a:gd name="connsiteY7" fmla="*/ 0 h 2213976"/>
              <a:gd name="connsiteX8" fmla="*/ 9970008 w 11085911"/>
              <a:gd name="connsiteY8" fmla="*/ 0 h 2213976"/>
              <a:gd name="connsiteX9" fmla="*/ 9970008 w 11085911"/>
              <a:gd name="connsiteY9" fmla="*/ 898 h 2213976"/>
              <a:gd name="connsiteX10" fmla="*/ 9978922 w 11085911"/>
              <a:gd name="connsiteY10" fmla="*/ 0 h 2213976"/>
              <a:gd name="connsiteX11" fmla="*/ 11085911 w 11085911"/>
              <a:gd name="connsiteY11" fmla="*/ 1106992 h 2213976"/>
              <a:gd name="connsiteX12" fmla="*/ 9978922 w 11085911"/>
              <a:gd name="connsiteY12" fmla="*/ 2213976 h 2213976"/>
              <a:gd name="connsiteX13" fmla="*/ 9970008 w 11085911"/>
              <a:gd name="connsiteY13" fmla="*/ 2213078 h 2213976"/>
              <a:gd name="connsiteX14" fmla="*/ 9970008 w 11085911"/>
              <a:gd name="connsiteY14" fmla="*/ 2213976 h 2213976"/>
              <a:gd name="connsiteX15" fmla="*/ 8245125 w 11085911"/>
              <a:gd name="connsiteY15" fmla="*/ 2213976 h 2213976"/>
              <a:gd name="connsiteX16" fmla="*/ 8236211 w 11085911"/>
              <a:gd name="connsiteY16" fmla="*/ 2213976 h 2213976"/>
              <a:gd name="connsiteX17" fmla="*/ 4585610 w 11085911"/>
              <a:gd name="connsiteY17" fmla="*/ 2213976 h 2213976"/>
              <a:gd name="connsiteX18" fmla="*/ 4585592 w 11085911"/>
              <a:gd name="connsiteY18" fmla="*/ 2213976 h 2213976"/>
              <a:gd name="connsiteX19" fmla="*/ 4585574 w 11085911"/>
              <a:gd name="connsiteY19" fmla="*/ 2213976 h 2213976"/>
              <a:gd name="connsiteX20" fmla="*/ 4576679 w 11085911"/>
              <a:gd name="connsiteY20" fmla="*/ 2213976 h 2213976"/>
              <a:gd name="connsiteX21" fmla="*/ 2851813 w 11085911"/>
              <a:gd name="connsiteY21" fmla="*/ 2213976 h 2213976"/>
              <a:gd name="connsiteX22" fmla="*/ 2851796 w 11085911"/>
              <a:gd name="connsiteY22" fmla="*/ 2213976 h 2213976"/>
              <a:gd name="connsiteX23" fmla="*/ 2851777 w 11085911"/>
              <a:gd name="connsiteY23" fmla="*/ 2213976 h 2213976"/>
              <a:gd name="connsiteX24" fmla="*/ 2842882 w 11085911"/>
              <a:gd name="connsiteY24" fmla="*/ 2213976 h 2213976"/>
              <a:gd name="connsiteX25" fmla="*/ 1733797 w 11085911"/>
              <a:gd name="connsiteY25" fmla="*/ 2213976 h 2213976"/>
              <a:gd name="connsiteX26" fmla="*/ 0 w 11085911"/>
              <a:gd name="connsiteY26" fmla="*/ 2213976 h 2213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911" h="2213976">
                <a:moveTo>
                  <a:pt x="0" y="0"/>
                </a:moveTo>
                <a:lnTo>
                  <a:pt x="1733797" y="0"/>
                </a:lnTo>
                <a:lnTo>
                  <a:pt x="2842882" y="0"/>
                </a:lnTo>
                <a:lnTo>
                  <a:pt x="2851796" y="0"/>
                </a:lnTo>
                <a:lnTo>
                  <a:pt x="4576679" y="0"/>
                </a:lnTo>
                <a:lnTo>
                  <a:pt x="4585592" y="0"/>
                </a:lnTo>
                <a:lnTo>
                  <a:pt x="8236211" y="0"/>
                </a:lnTo>
                <a:lnTo>
                  <a:pt x="8245125" y="0"/>
                </a:lnTo>
                <a:lnTo>
                  <a:pt x="9970008" y="0"/>
                </a:lnTo>
                <a:lnTo>
                  <a:pt x="9970008" y="898"/>
                </a:lnTo>
                <a:lnTo>
                  <a:pt x="9978922" y="0"/>
                </a:lnTo>
                <a:cubicBezTo>
                  <a:pt x="10590298" y="0"/>
                  <a:pt x="11085911" y="495614"/>
                  <a:pt x="11085911" y="1106992"/>
                </a:cubicBezTo>
                <a:cubicBezTo>
                  <a:pt x="11085911" y="1718362"/>
                  <a:pt x="10590298" y="2213976"/>
                  <a:pt x="9978922" y="2213976"/>
                </a:cubicBezTo>
                <a:lnTo>
                  <a:pt x="9970008" y="2213078"/>
                </a:lnTo>
                <a:lnTo>
                  <a:pt x="9970008" y="2213976"/>
                </a:lnTo>
                <a:lnTo>
                  <a:pt x="8245125" y="2213976"/>
                </a:lnTo>
                <a:lnTo>
                  <a:pt x="8236211" y="2213976"/>
                </a:lnTo>
                <a:lnTo>
                  <a:pt x="4585610" y="2213976"/>
                </a:lnTo>
                <a:lnTo>
                  <a:pt x="4585592" y="2213976"/>
                </a:lnTo>
                <a:lnTo>
                  <a:pt x="4585574" y="2213976"/>
                </a:lnTo>
                <a:lnTo>
                  <a:pt x="4576679" y="2213976"/>
                </a:lnTo>
                <a:lnTo>
                  <a:pt x="2851813" y="2213976"/>
                </a:lnTo>
                <a:lnTo>
                  <a:pt x="2851796" y="2213976"/>
                </a:lnTo>
                <a:lnTo>
                  <a:pt x="2851777" y="2213976"/>
                </a:lnTo>
                <a:lnTo>
                  <a:pt x="2842882" y="2213976"/>
                </a:lnTo>
                <a:lnTo>
                  <a:pt x="1733797" y="2213976"/>
                </a:lnTo>
                <a:lnTo>
                  <a:pt x="0" y="2213976"/>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C558F546-3BF7-5B4A-91B9-005A33F8C48B}"/>
              </a:ext>
            </a:extLst>
          </p:cNvPr>
          <p:cNvSpPr>
            <a:spLocks noGrp="1"/>
          </p:cNvSpPr>
          <p:nvPr>
            <p:ph type="sldNum"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655226-6E4F-8847-85CD-AF95F3D3F39A}" type="slidenum">
              <a:rPr kumimoji="0" lang="en-US" sz="1000" b="0" i="0" u="none" strike="noStrike" kern="1200" cap="none" spc="0" normalizeH="0" baseline="0" noProof="0" smtClean="0">
                <a:ln>
                  <a:noFill/>
                </a:ln>
                <a:solidFill>
                  <a:srgbClr val="666666"/>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666666"/>
              </a:solidFill>
              <a:effectLst/>
              <a:uLnTx/>
              <a:uFillTx/>
              <a:latin typeface="Arial"/>
              <a:ea typeface="+mn-ea"/>
              <a:cs typeface="+mn-cs"/>
            </a:endParaRPr>
          </a:p>
        </p:txBody>
      </p:sp>
      <p:sp>
        <p:nvSpPr>
          <p:cNvPr id="29" name="Oval 28">
            <a:extLst>
              <a:ext uri="{FF2B5EF4-FFF2-40B4-BE49-F238E27FC236}">
                <a16:creationId xmlns:a16="http://schemas.microsoft.com/office/drawing/2014/main" id="{8292FBA6-2E1C-004A-B908-F3E1B4E0BDAF}"/>
              </a:ext>
            </a:extLst>
          </p:cNvPr>
          <p:cNvSpPr/>
          <p:nvPr/>
        </p:nvSpPr>
        <p:spPr>
          <a:xfrm>
            <a:off x="3665017" y="1789646"/>
            <a:ext cx="4822930" cy="482293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Knowledge2017 Medium" panose="020B0506000000020004" pitchFamily="34" charset="0"/>
                <a:ea typeface="+mn-ea"/>
                <a:cs typeface="+mn-cs"/>
              </a:rPr>
              <a:t>HighQ</a:t>
            </a:r>
            <a:endParaRPr kumimoji="0" lang="en-US" sz="1800" b="0" i="0" u="none" strike="noStrike" kern="1200" cap="none" spc="0" normalizeH="0" baseline="0" noProof="0">
              <a:ln>
                <a:noFill/>
              </a:ln>
              <a:solidFill>
                <a:prstClr val="white"/>
              </a:solidFill>
              <a:effectLst/>
              <a:uLnTx/>
              <a:uFillTx/>
              <a:latin typeface="Knowledge2017 Medium" panose="020B0506000000020004" pitchFamily="34" charset="0"/>
              <a:ea typeface="+mn-ea"/>
              <a:cs typeface="+mn-cs"/>
            </a:endParaRPr>
          </a:p>
        </p:txBody>
      </p:sp>
      <p:sp>
        <p:nvSpPr>
          <p:cNvPr id="50" name="Block Arc 49">
            <a:extLst>
              <a:ext uri="{FF2B5EF4-FFF2-40B4-BE49-F238E27FC236}">
                <a16:creationId xmlns:a16="http://schemas.microsoft.com/office/drawing/2014/main" id="{AC328A09-8A37-DC46-9757-A9DADA077C85}"/>
              </a:ext>
            </a:extLst>
          </p:cNvPr>
          <p:cNvSpPr/>
          <p:nvPr/>
        </p:nvSpPr>
        <p:spPr>
          <a:xfrm>
            <a:off x="3875595" y="3821925"/>
            <a:ext cx="4264545" cy="3587203"/>
          </a:xfrm>
          <a:prstGeom prst="blockArc">
            <a:avLst>
              <a:gd name="adj1" fmla="val 10800000"/>
              <a:gd name="adj2" fmla="val 15473004"/>
              <a:gd name="adj3" fmla="val 3804"/>
            </a:avLst>
          </a:prstGeom>
          <a:gradFill>
            <a:gsLst>
              <a:gs pos="0">
                <a:srgbClr val="F15822">
                  <a:alpha val="46000"/>
                </a:srgbClr>
              </a:gs>
              <a:gs pos="100000">
                <a:schemeClr val="accent1">
                  <a:lumMod val="45000"/>
                  <a:lumOff val="55000"/>
                  <a:alpha val="54000"/>
                </a:scheme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D4D4D"/>
              </a:solidFill>
              <a:effectLst/>
              <a:uLnTx/>
              <a:uFillTx/>
              <a:latin typeface="Arial"/>
              <a:ea typeface="+mn-ea"/>
              <a:cs typeface="+mn-cs"/>
            </a:endParaRPr>
          </a:p>
        </p:txBody>
      </p:sp>
      <p:sp>
        <p:nvSpPr>
          <p:cNvPr id="25" name="Block Arc 24">
            <a:extLst>
              <a:ext uri="{FF2B5EF4-FFF2-40B4-BE49-F238E27FC236}">
                <a16:creationId xmlns:a16="http://schemas.microsoft.com/office/drawing/2014/main" id="{05DD68BC-D196-1645-A4FB-BCE3C4E5D2FE}"/>
              </a:ext>
            </a:extLst>
          </p:cNvPr>
          <p:cNvSpPr/>
          <p:nvPr/>
        </p:nvSpPr>
        <p:spPr>
          <a:xfrm flipH="1">
            <a:off x="4085854" y="3821925"/>
            <a:ext cx="4264545" cy="3587203"/>
          </a:xfrm>
          <a:prstGeom prst="blockArc">
            <a:avLst>
              <a:gd name="adj1" fmla="val 10800000"/>
              <a:gd name="adj2" fmla="val 15473004"/>
              <a:gd name="adj3" fmla="val 3804"/>
            </a:avLst>
          </a:prstGeom>
          <a:gradFill>
            <a:gsLst>
              <a:gs pos="0">
                <a:srgbClr val="F15822">
                  <a:alpha val="46000"/>
                </a:srgbClr>
              </a:gs>
              <a:gs pos="100000">
                <a:schemeClr val="accent1">
                  <a:lumMod val="45000"/>
                  <a:lumOff val="55000"/>
                  <a:alpha val="54000"/>
                </a:scheme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4D4D4D"/>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B47B3A05-D5E5-9A49-825F-187E2741BB92}"/>
              </a:ext>
            </a:extLst>
          </p:cNvPr>
          <p:cNvSpPr/>
          <p:nvPr/>
        </p:nvSpPr>
        <p:spPr>
          <a:xfrm>
            <a:off x="4612017" y="5057584"/>
            <a:ext cx="1383392" cy="200055"/>
          </a:xfrm>
          <a:prstGeom prst="rect">
            <a:avLst/>
          </a:prstGeom>
        </p:spPr>
        <p:txBody>
          <a:bodyPr wrap="none" lIns="0" tIns="0" rIns="0" bIns="0">
            <a:spAutoFit/>
          </a:bodyPr>
          <a:lstStyle/>
          <a:p>
            <a:pPr marL="174625" marR="0" lvl="0" indent="-174625" algn="l" defTabSz="457200" rtl="0" eaLnBrk="1" fontAlgn="auto" latinLnBrk="0" hangingPunct="1">
              <a:lnSpc>
                <a:spcPct val="100000"/>
              </a:lnSpc>
              <a:spcBef>
                <a:spcPts val="0"/>
              </a:spcBef>
              <a:spcAft>
                <a:spcPts val="0"/>
              </a:spcAft>
              <a:buClr>
                <a:schemeClr val="tx2"/>
              </a:buClr>
              <a:buSzPct val="100000"/>
              <a:buFont typeface="System Font Regular"/>
              <a:buChar char="•"/>
              <a:defRPr/>
            </a:pPr>
            <a:r>
              <a:rPr kumimoji="0" lang="en-US" sz="1300" b="1" i="0" u="none" strike="noStrike" kern="1200" cap="none" spc="0" normalizeH="0" baseline="0" noProof="0" dirty="0">
                <a:ln>
                  <a:noFill/>
                </a:ln>
                <a:solidFill>
                  <a:prstClr val="white"/>
                </a:solidFill>
                <a:effectLst/>
                <a:uLnTx/>
                <a:uFillTx/>
                <a:latin typeface="+mj-lt"/>
                <a:ea typeface="+mn-ea"/>
                <a:cs typeface="+mn-cs"/>
              </a:rPr>
              <a:t>Secure sharing</a:t>
            </a:r>
          </a:p>
        </p:txBody>
      </p:sp>
      <p:sp>
        <p:nvSpPr>
          <p:cNvPr id="28" name="Rectangle 27">
            <a:extLst>
              <a:ext uri="{FF2B5EF4-FFF2-40B4-BE49-F238E27FC236}">
                <a16:creationId xmlns:a16="http://schemas.microsoft.com/office/drawing/2014/main" id="{716E77CA-4D73-2F48-8B49-7A06D283283C}"/>
              </a:ext>
            </a:extLst>
          </p:cNvPr>
          <p:cNvSpPr/>
          <p:nvPr/>
        </p:nvSpPr>
        <p:spPr>
          <a:xfrm>
            <a:off x="4612017" y="5327434"/>
            <a:ext cx="1987724" cy="200055"/>
          </a:xfrm>
          <a:prstGeom prst="rect">
            <a:avLst/>
          </a:prstGeom>
        </p:spPr>
        <p:txBody>
          <a:bodyPr wrap="none" lIns="0" tIns="0" rIns="0" bIns="0">
            <a:spAutoFit/>
          </a:bodyPr>
          <a:lstStyle/>
          <a:p>
            <a:pPr marL="174625" marR="0" lvl="0" indent="-174625" algn="l" defTabSz="457200" rtl="0" eaLnBrk="1" fontAlgn="auto" latinLnBrk="0" hangingPunct="1">
              <a:lnSpc>
                <a:spcPct val="100000"/>
              </a:lnSpc>
              <a:spcBef>
                <a:spcPts val="0"/>
              </a:spcBef>
              <a:spcAft>
                <a:spcPts val="0"/>
              </a:spcAft>
              <a:buClr>
                <a:schemeClr val="tx2"/>
              </a:buClr>
              <a:buSzTx/>
              <a:buFont typeface="System Font Regular"/>
              <a:buChar char="•"/>
              <a:defRPr/>
            </a:pPr>
            <a:r>
              <a:rPr kumimoji="0" lang="en-US" sz="1300" b="1" i="0" u="none" strike="noStrike" kern="1200" cap="none" spc="0" normalizeH="0" baseline="0" noProof="0" dirty="0">
                <a:ln>
                  <a:noFill/>
                </a:ln>
                <a:solidFill>
                  <a:prstClr val="white"/>
                </a:solidFill>
                <a:effectLst/>
                <a:uLnTx/>
                <a:uFillTx/>
                <a:latin typeface="+mj-lt"/>
                <a:ea typeface="+mn-ea"/>
                <a:cs typeface="+mn-cs"/>
              </a:rPr>
              <a:t>Streamline legal intake</a:t>
            </a:r>
          </a:p>
        </p:txBody>
      </p:sp>
      <p:sp>
        <p:nvSpPr>
          <p:cNvPr id="38" name="Rectangle 37">
            <a:extLst>
              <a:ext uri="{FF2B5EF4-FFF2-40B4-BE49-F238E27FC236}">
                <a16:creationId xmlns:a16="http://schemas.microsoft.com/office/drawing/2014/main" id="{D4005DB5-7FF0-8B40-AB3E-D849E0AA77B6}"/>
              </a:ext>
            </a:extLst>
          </p:cNvPr>
          <p:cNvSpPr/>
          <p:nvPr/>
        </p:nvSpPr>
        <p:spPr>
          <a:xfrm>
            <a:off x="4612017" y="5597285"/>
            <a:ext cx="3141886" cy="200055"/>
          </a:xfrm>
          <a:prstGeom prst="rect">
            <a:avLst/>
          </a:prstGeom>
        </p:spPr>
        <p:txBody>
          <a:bodyPr wrap="none" lIns="0" tIns="0" rIns="0" bIns="0">
            <a:spAutoFit/>
          </a:bodyPr>
          <a:lstStyle/>
          <a:p>
            <a:pPr marL="174625" marR="0" lvl="0" indent="-174625" algn="l" defTabSz="457200" rtl="0" eaLnBrk="1" fontAlgn="auto" latinLnBrk="0" hangingPunct="1">
              <a:lnSpc>
                <a:spcPct val="100000"/>
              </a:lnSpc>
              <a:spcBef>
                <a:spcPts val="0"/>
              </a:spcBef>
              <a:spcAft>
                <a:spcPts val="0"/>
              </a:spcAft>
              <a:buClr>
                <a:schemeClr val="tx2"/>
              </a:buClr>
              <a:buSzTx/>
              <a:buFont typeface="System Font Regular"/>
              <a:buChar char="•"/>
              <a:defRPr/>
            </a:pPr>
            <a:r>
              <a:rPr kumimoji="0" lang="en-US" sz="1300" b="1" i="0" u="none" strike="noStrike" kern="1200" cap="none" spc="0" normalizeH="0" baseline="0" noProof="0" dirty="0">
                <a:ln>
                  <a:noFill/>
                </a:ln>
                <a:solidFill>
                  <a:prstClr val="white"/>
                </a:solidFill>
                <a:effectLst/>
                <a:uLnTx/>
                <a:uFillTx/>
                <a:latin typeface="+mj-lt"/>
                <a:ea typeface="+mn-ea"/>
                <a:cs typeface="+mn-cs"/>
              </a:rPr>
              <a:t>Automate workflows and processes</a:t>
            </a:r>
          </a:p>
        </p:txBody>
      </p:sp>
      <p:sp>
        <p:nvSpPr>
          <p:cNvPr id="40" name="Rectangle 39">
            <a:extLst>
              <a:ext uri="{FF2B5EF4-FFF2-40B4-BE49-F238E27FC236}">
                <a16:creationId xmlns:a16="http://schemas.microsoft.com/office/drawing/2014/main" id="{EC8D7F59-6E25-1642-89A3-C8DF594A5847}"/>
              </a:ext>
            </a:extLst>
          </p:cNvPr>
          <p:cNvSpPr/>
          <p:nvPr/>
        </p:nvSpPr>
        <p:spPr>
          <a:xfrm>
            <a:off x="4612017" y="4787734"/>
            <a:ext cx="2731517" cy="200055"/>
          </a:xfrm>
          <a:prstGeom prst="rect">
            <a:avLst/>
          </a:prstGeom>
        </p:spPr>
        <p:txBody>
          <a:bodyPr wrap="none" lIns="0" tIns="0" rIns="0" bIns="0">
            <a:spAutoFit/>
          </a:bodyPr>
          <a:lstStyle/>
          <a:p>
            <a:pPr marL="174625" marR="0" lvl="0" indent="-174625" algn="l" defTabSz="457200" rtl="0" eaLnBrk="1" fontAlgn="auto" latinLnBrk="0" hangingPunct="1">
              <a:lnSpc>
                <a:spcPct val="100000"/>
              </a:lnSpc>
              <a:spcBef>
                <a:spcPts val="0"/>
              </a:spcBef>
              <a:spcAft>
                <a:spcPts val="0"/>
              </a:spcAft>
              <a:buClr>
                <a:schemeClr val="tx2"/>
              </a:buClr>
              <a:buSzPct val="100000"/>
              <a:buFont typeface="System Font Regular"/>
              <a:buChar char="•"/>
              <a:defRPr/>
            </a:pPr>
            <a:r>
              <a:rPr kumimoji="0" lang="en-US" sz="1300" b="1" i="0" u="none" strike="noStrike" kern="1200" cap="none" spc="0" normalizeH="0" baseline="0" noProof="0" dirty="0">
                <a:ln>
                  <a:noFill/>
                </a:ln>
                <a:solidFill>
                  <a:prstClr val="white"/>
                </a:solidFill>
                <a:effectLst/>
                <a:uLnTx/>
                <a:uFillTx/>
                <a:latin typeface="+mj-lt"/>
                <a:ea typeface="+mn-ea"/>
                <a:cs typeface="+mn-cs"/>
              </a:rPr>
              <a:t>Easily administrate one to many</a:t>
            </a:r>
          </a:p>
        </p:txBody>
      </p:sp>
      <p:grpSp>
        <p:nvGrpSpPr>
          <p:cNvPr id="30" name="Collaborative">
            <a:extLst>
              <a:ext uri="{FF2B5EF4-FFF2-40B4-BE49-F238E27FC236}">
                <a16:creationId xmlns:a16="http://schemas.microsoft.com/office/drawing/2014/main" id="{6A9D8CBB-1560-CE42-B685-BD970F009A7B}"/>
              </a:ext>
            </a:extLst>
          </p:cNvPr>
          <p:cNvGrpSpPr/>
          <p:nvPr/>
        </p:nvGrpSpPr>
        <p:grpSpPr>
          <a:xfrm>
            <a:off x="5330685" y="3096133"/>
            <a:ext cx="1501447" cy="1501447"/>
            <a:chOff x="10292235" y="2116421"/>
            <a:chExt cx="1501447" cy="1501447"/>
          </a:xfrm>
        </p:grpSpPr>
        <p:grpSp>
          <p:nvGrpSpPr>
            <p:cNvPr id="31" name="Group 30">
              <a:extLst>
                <a:ext uri="{FF2B5EF4-FFF2-40B4-BE49-F238E27FC236}">
                  <a16:creationId xmlns:a16="http://schemas.microsoft.com/office/drawing/2014/main" id="{AF642FAB-EE69-894C-B91B-22C457F38823}"/>
                </a:ext>
              </a:extLst>
            </p:cNvPr>
            <p:cNvGrpSpPr/>
            <p:nvPr/>
          </p:nvGrpSpPr>
          <p:grpSpPr>
            <a:xfrm>
              <a:off x="10292235" y="2116421"/>
              <a:ext cx="1501447" cy="1501447"/>
              <a:chOff x="10292235" y="2116421"/>
              <a:chExt cx="1501447" cy="1501447"/>
            </a:xfrm>
          </p:grpSpPr>
          <p:sp>
            <p:nvSpPr>
              <p:cNvPr id="33" name="Oval 32">
                <a:extLst>
                  <a:ext uri="{FF2B5EF4-FFF2-40B4-BE49-F238E27FC236}">
                    <a16:creationId xmlns:a16="http://schemas.microsoft.com/office/drawing/2014/main" id="{6163294D-EF14-B34F-A745-06ECB70A004B}"/>
                  </a:ext>
                </a:extLst>
              </p:cNvPr>
              <p:cNvSpPr/>
              <p:nvPr/>
            </p:nvSpPr>
            <p:spPr>
              <a:xfrm>
                <a:off x="10292235" y="2116421"/>
                <a:ext cx="1501447" cy="1501447"/>
              </a:xfrm>
              <a:prstGeom prst="ellipse">
                <a:avLst/>
              </a:prstGeom>
              <a:solidFill>
                <a:srgbClr val="F15822"/>
              </a:solidFill>
              <a:ln>
                <a:noFill/>
              </a:ln>
              <a:effectLst>
                <a:outerShdw blurRad="381000" dist="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mn-ea"/>
                  <a:cs typeface="+mn-cs"/>
                </a:endParaRPr>
              </a:p>
            </p:txBody>
          </p:sp>
          <p:pic>
            <p:nvPicPr>
              <p:cNvPr id="34" name="Picture 33">
                <a:extLst>
                  <a:ext uri="{FF2B5EF4-FFF2-40B4-BE49-F238E27FC236}">
                    <a16:creationId xmlns:a16="http://schemas.microsoft.com/office/drawing/2014/main" id="{0E63906B-007E-E744-8C87-18DADA937828}"/>
                  </a:ext>
                </a:extLst>
              </p:cNvPr>
              <p:cNvPicPr>
                <a:picLocks noChangeAspect="1"/>
              </p:cNvPicPr>
              <p:nvPr/>
            </p:nvPicPr>
            <p:blipFill>
              <a:blip r:embed="rId3">
                <a:biLevel thresh="25000"/>
              </a:blip>
              <a:stretch>
                <a:fillRect/>
              </a:stretch>
            </p:blipFill>
            <p:spPr>
              <a:xfrm>
                <a:off x="10702523" y="2312637"/>
                <a:ext cx="676967" cy="676967"/>
              </a:xfrm>
              <a:prstGeom prst="rect">
                <a:avLst/>
              </a:prstGeom>
            </p:spPr>
          </p:pic>
        </p:grpSp>
        <p:sp>
          <p:nvSpPr>
            <p:cNvPr id="32" name="Rectangle 31">
              <a:extLst>
                <a:ext uri="{FF2B5EF4-FFF2-40B4-BE49-F238E27FC236}">
                  <a16:creationId xmlns:a16="http://schemas.microsoft.com/office/drawing/2014/main" id="{5B2A51B4-3B8D-164B-BCD0-7BF97EAF22D0}"/>
                </a:ext>
              </a:extLst>
            </p:cNvPr>
            <p:cNvSpPr/>
            <p:nvPr/>
          </p:nvSpPr>
          <p:spPr>
            <a:xfrm>
              <a:off x="10525294" y="3059668"/>
              <a:ext cx="1024639"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Knowledge2017 Medium" panose="020B0506000000020004" pitchFamily="34" charset="0"/>
                  <a:ea typeface="+mn-ea"/>
                  <a:cs typeface="+mn-cs"/>
                </a:rPr>
                <a:t>Extranets</a:t>
              </a:r>
            </a:p>
          </p:txBody>
        </p:sp>
      </p:grpSp>
      <p:sp>
        <p:nvSpPr>
          <p:cNvPr id="43" name="Rectangle 42">
            <a:extLst>
              <a:ext uri="{FF2B5EF4-FFF2-40B4-BE49-F238E27FC236}">
                <a16:creationId xmlns:a16="http://schemas.microsoft.com/office/drawing/2014/main" id="{3F30DD2A-5E26-AE44-A392-63DF4B662C83}"/>
              </a:ext>
            </a:extLst>
          </p:cNvPr>
          <p:cNvSpPr/>
          <p:nvPr/>
        </p:nvSpPr>
        <p:spPr>
          <a:xfrm>
            <a:off x="697506" y="458430"/>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44" name="Rectangle 43">
            <a:extLst>
              <a:ext uri="{FF2B5EF4-FFF2-40B4-BE49-F238E27FC236}">
                <a16:creationId xmlns:a16="http://schemas.microsoft.com/office/drawing/2014/main" id="{135468DD-2967-B94F-BB07-9E8D05E2B297}"/>
              </a:ext>
            </a:extLst>
          </p:cNvPr>
          <p:cNvSpPr/>
          <p:nvPr/>
        </p:nvSpPr>
        <p:spPr>
          <a:xfrm>
            <a:off x="650292" y="823543"/>
            <a:ext cx="11394563" cy="1077218"/>
          </a:xfrm>
          <a:prstGeom prst="rect">
            <a:avLst/>
          </a:prstGeom>
        </p:spPr>
        <p:txBody>
          <a:bodyPr wrap="square" lIns="0" tIns="0" rIns="0" bIns="0">
            <a:spAutoFit/>
          </a:bodyPr>
          <a:lstStyle/>
          <a:p>
            <a:pPr defTabSz="914126">
              <a:spcBef>
                <a:spcPts val="400"/>
              </a:spcBef>
              <a:defRPr/>
            </a:pPr>
            <a:r>
              <a:rPr lang="en-US" sz="7000" dirty="0">
                <a:solidFill>
                  <a:schemeClr val="bg1">
                    <a:alpha val="60000"/>
                  </a:schemeClr>
                </a:solidFill>
                <a:latin typeface="+mj-lt"/>
              </a:rPr>
              <a:t>CLIENT VALUE</a:t>
            </a:r>
          </a:p>
        </p:txBody>
      </p:sp>
      <p:grpSp>
        <p:nvGrpSpPr>
          <p:cNvPr id="5" name="Group 4">
            <a:extLst>
              <a:ext uri="{FF2B5EF4-FFF2-40B4-BE49-F238E27FC236}">
                <a16:creationId xmlns:a16="http://schemas.microsoft.com/office/drawing/2014/main" id="{CBE366E2-E2C1-BC4E-9CBD-04726A3C1A68}"/>
              </a:ext>
            </a:extLst>
          </p:cNvPr>
          <p:cNvGrpSpPr/>
          <p:nvPr/>
        </p:nvGrpSpPr>
        <p:grpSpPr>
          <a:xfrm>
            <a:off x="7848305" y="4875887"/>
            <a:ext cx="1188002" cy="1184870"/>
            <a:chOff x="9223960" y="4424855"/>
            <a:chExt cx="1188002" cy="1184870"/>
          </a:xfrm>
        </p:grpSpPr>
        <p:sp>
          <p:nvSpPr>
            <p:cNvPr id="57" name="Oval 56">
              <a:extLst>
                <a:ext uri="{FF2B5EF4-FFF2-40B4-BE49-F238E27FC236}">
                  <a16:creationId xmlns:a16="http://schemas.microsoft.com/office/drawing/2014/main" id="{959AC8BF-2028-3B41-88F8-0CEC7B5D5472}"/>
                </a:ext>
              </a:extLst>
            </p:cNvPr>
            <p:cNvSpPr/>
            <p:nvPr/>
          </p:nvSpPr>
          <p:spPr>
            <a:xfrm>
              <a:off x="9223960" y="4424855"/>
              <a:ext cx="1188002" cy="1184870"/>
            </a:xfrm>
            <a:prstGeom prst="ellipse">
              <a:avLst/>
            </a:prstGeom>
            <a:solidFill>
              <a:srgbClr val="F99C1B"/>
            </a:solidFill>
            <a:ln>
              <a:noFill/>
            </a:ln>
            <a:effectLst>
              <a:outerShdw blurRad="381000" dist="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prstClr val="white"/>
                </a:solidFill>
                <a:effectLst/>
                <a:uLnTx/>
                <a:uFillTx/>
                <a:latin typeface="Arial"/>
                <a:ea typeface="+mn-ea"/>
                <a:cs typeface="+mn-cs"/>
              </a:endParaRPr>
            </a:p>
          </p:txBody>
        </p:sp>
        <p:grpSp>
          <p:nvGrpSpPr>
            <p:cNvPr id="3" name="Group 2">
              <a:extLst>
                <a:ext uri="{FF2B5EF4-FFF2-40B4-BE49-F238E27FC236}">
                  <a16:creationId xmlns:a16="http://schemas.microsoft.com/office/drawing/2014/main" id="{32B00AD1-94FF-EE4D-80E1-3DEEF17F25DD}"/>
                </a:ext>
              </a:extLst>
            </p:cNvPr>
            <p:cNvGrpSpPr/>
            <p:nvPr/>
          </p:nvGrpSpPr>
          <p:grpSpPr>
            <a:xfrm>
              <a:off x="9494351" y="4702827"/>
              <a:ext cx="659264" cy="427920"/>
              <a:chOff x="9328708" y="4812281"/>
              <a:chExt cx="916441" cy="594850"/>
            </a:xfrm>
          </p:grpSpPr>
          <p:sp>
            <p:nvSpPr>
              <p:cNvPr id="54" name="Freeform: Shape 251">
                <a:extLst>
                  <a:ext uri="{FF2B5EF4-FFF2-40B4-BE49-F238E27FC236}">
                    <a16:creationId xmlns:a16="http://schemas.microsoft.com/office/drawing/2014/main" id="{3FBAD228-DB2F-E343-928F-FB44726552FA}"/>
                  </a:ext>
                </a:extLst>
              </p:cNvPr>
              <p:cNvSpPr/>
              <p:nvPr/>
            </p:nvSpPr>
            <p:spPr>
              <a:xfrm>
                <a:off x="9929133" y="4826684"/>
                <a:ext cx="316016" cy="390365"/>
              </a:xfrm>
              <a:custGeom>
                <a:avLst/>
                <a:gdLst>
                  <a:gd name="connsiteX0" fmla="*/ 9116 w 28435"/>
                  <a:gd name="connsiteY0" fmla="*/ 17814 h 35126"/>
                  <a:gd name="connsiteX1" fmla="*/ 2425 w 28435"/>
                  <a:gd name="connsiteY1" fmla="*/ 19821 h 35126"/>
                  <a:gd name="connsiteX2" fmla="*/ 1255 w 28435"/>
                  <a:gd name="connsiteY2" fmla="*/ 20992 h 35126"/>
                  <a:gd name="connsiteX3" fmla="*/ 8614 w 28435"/>
                  <a:gd name="connsiteY3" fmla="*/ 25341 h 35126"/>
                  <a:gd name="connsiteX4" fmla="*/ 12462 w 28435"/>
                  <a:gd name="connsiteY4" fmla="*/ 34541 h 35126"/>
                  <a:gd name="connsiteX5" fmla="*/ 27181 w 28435"/>
                  <a:gd name="connsiteY5" fmla="*/ 34541 h 35126"/>
                  <a:gd name="connsiteX6" fmla="*/ 24003 w 28435"/>
                  <a:gd name="connsiteY6" fmla="*/ 21996 h 35126"/>
                  <a:gd name="connsiteX7" fmla="*/ 13632 w 28435"/>
                  <a:gd name="connsiteY7" fmla="*/ 18149 h 35126"/>
                  <a:gd name="connsiteX8" fmla="*/ 17145 w 28435"/>
                  <a:gd name="connsiteY8" fmla="*/ 15807 h 35126"/>
                  <a:gd name="connsiteX9" fmla="*/ 17145 w 28435"/>
                  <a:gd name="connsiteY9" fmla="*/ 3764 h 35126"/>
                  <a:gd name="connsiteX10" fmla="*/ 5102 w 28435"/>
                  <a:gd name="connsiteY10" fmla="*/ 3764 h 35126"/>
                  <a:gd name="connsiteX11" fmla="*/ 5102 w 28435"/>
                  <a:gd name="connsiteY11" fmla="*/ 15807 h 35126"/>
                  <a:gd name="connsiteX12" fmla="*/ 9116 w 28435"/>
                  <a:gd name="connsiteY12" fmla="*/ 17814 h 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5" h="35126">
                    <a:moveTo>
                      <a:pt x="9116" y="17814"/>
                    </a:moveTo>
                    <a:cubicBezTo>
                      <a:pt x="6942" y="17981"/>
                      <a:pt x="4433" y="18818"/>
                      <a:pt x="2425" y="19821"/>
                    </a:cubicBezTo>
                    <a:cubicBezTo>
                      <a:pt x="1924" y="20156"/>
                      <a:pt x="1589" y="20490"/>
                      <a:pt x="1255" y="20992"/>
                    </a:cubicBezTo>
                    <a:cubicBezTo>
                      <a:pt x="3764" y="21996"/>
                      <a:pt x="6607" y="23501"/>
                      <a:pt x="8614" y="25341"/>
                    </a:cubicBezTo>
                    <a:cubicBezTo>
                      <a:pt x="9451" y="26010"/>
                      <a:pt x="10622" y="27348"/>
                      <a:pt x="12462" y="34541"/>
                    </a:cubicBezTo>
                    <a:lnTo>
                      <a:pt x="27181" y="34541"/>
                    </a:lnTo>
                    <a:cubicBezTo>
                      <a:pt x="27181" y="29690"/>
                      <a:pt x="25174" y="22832"/>
                      <a:pt x="24003" y="21996"/>
                    </a:cubicBezTo>
                    <a:cubicBezTo>
                      <a:pt x="21494" y="19654"/>
                      <a:pt x="17145" y="18316"/>
                      <a:pt x="13632" y="18149"/>
                    </a:cubicBezTo>
                    <a:cubicBezTo>
                      <a:pt x="14971" y="17814"/>
                      <a:pt x="16141" y="16810"/>
                      <a:pt x="17145" y="15807"/>
                    </a:cubicBezTo>
                    <a:cubicBezTo>
                      <a:pt x="20490" y="12462"/>
                      <a:pt x="20490" y="7109"/>
                      <a:pt x="17145" y="3764"/>
                    </a:cubicBezTo>
                    <a:cubicBezTo>
                      <a:pt x="13800" y="418"/>
                      <a:pt x="8447" y="418"/>
                      <a:pt x="5102" y="3764"/>
                    </a:cubicBezTo>
                    <a:cubicBezTo>
                      <a:pt x="1756" y="7109"/>
                      <a:pt x="1756" y="12462"/>
                      <a:pt x="5102" y="15807"/>
                    </a:cubicBezTo>
                    <a:cubicBezTo>
                      <a:pt x="6607" y="16810"/>
                      <a:pt x="7778" y="17480"/>
                      <a:pt x="9116" y="178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5" name="Freeform: Shape 252">
                <a:extLst>
                  <a:ext uri="{FF2B5EF4-FFF2-40B4-BE49-F238E27FC236}">
                    <a16:creationId xmlns:a16="http://schemas.microsoft.com/office/drawing/2014/main" id="{431A1E42-E307-3042-AA0F-9CF4B35F6C69}"/>
                  </a:ext>
                </a:extLst>
              </p:cNvPr>
              <p:cNvSpPr/>
              <p:nvPr/>
            </p:nvSpPr>
            <p:spPr>
              <a:xfrm>
                <a:off x="9527613" y="4812281"/>
                <a:ext cx="520488" cy="594850"/>
              </a:xfrm>
              <a:custGeom>
                <a:avLst/>
                <a:gdLst>
                  <a:gd name="connsiteX0" fmla="*/ 41733 w 46835"/>
                  <a:gd name="connsiteY0" fmla="*/ 30819 h 53525"/>
                  <a:gd name="connsiteX1" fmla="*/ 26847 w 46835"/>
                  <a:gd name="connsiteY1" fmla="*/ 25467 h 53525"/>
                  <a:gd name="connsiteX2" fmla="*/ 32032 w 46835"/>
                  <a:gd name="connsiteY2" fmla="*/ 22289 h 53525"/>
                  <a:gd name="connsiteX3" fmla="*/ 32032 w 46835"/>
                  <a:gd name="connsiteY3" fmla="*/ 4893 h 53525"/>
                  <a:gd name="connsiteX4" fmla="*/ 14803 w 46835"/>
                  <a:gd name="connsiteY4" fmla="*/ 4893 h 53525"/>
                  <a:gd name="connsiteX5" fmla="*/ 14803 w 46835"/>
                  <a:gd name="connsiteY5" fmla="*/ 22121 h 53525"/>
                  <a:gd name="connsiteX6" fmla="*/ 20156 w 46835"/>
                  <a:gd name="connsiteY6" fmla="*/ 25299 h 53525"/>
                  <a:gd name="connsiteX7" fmla="*/ 5771 w 46835"/>
                  <a:gd name="connsiteY7" fmla="*/ 30986 h 53525"/>
                  <a:gd name="connsiteX8" fmla="*/ 1255 w 46835"/>
                  <a:gd name="connsiteY8" fmla="*/ 52899 h 53525"/>
                  <a:gd name="connsiteX9" fmla="*/ 23836 w 46835"/>
                  <a:gd name="connsiteY9" fmla="*/ 52899 h 53525"/>
                  <a:gd name="connsiteX10" fmla="*/ 46250 w 46835"/>
                  <a:gd name="connsiteY10" fmla="*/ 52899 h 53525"/>
                  <a:gd name="connsiteX11" fmla="*/ 41733 w 46835"/>
                  <a:gd name="connsiteY11" fmla="*/ 30819 h 5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835" h="53525">
                    <a:moveTo>
                      <a:pt x="41733" y="30819"/>
                    </a:moveTo>
                    <a:cubicBezTo>
                      <a:pt x="38054" y="27474"/>
                      <a:pt x="31865" y="25801"/>
                      <a:pt x="26847" y="25467"/>
                    </a:cubicBezTo>
                    <a:cubicBezTo>
                      <a:pt x="28687" y="24965"/>
                      <a:pt x="30526" y="23794"/>
                      <a:pt x="32032" y="22289"/>
                    </a:cubicBezTo>
                    <a:cubicBezTo>
                      <a:pt x="36883" y="17438"/>
                      <a:pt x="36883" y="9743"/>
                      <a:pt x="32032" y="4893"/>
                    </a:cubicBezTo>
                    <a:cubicBezTo>
                      <a:pt x="27181" y="42"/>
                      <a:pt x="19487" y="42"/>
                      <a:pt x="14803" y="4893"/>
                    </a:cubicBezTo>
                    <a:cubicBezTo>
                      <a:pt x="9952" y="9743"/>
                      <a:pt x="9952" y="17438"/>
                      <a:pt x="14803" y="22121"/>
                    </a:cubicBezTo>
                    <a:cubicBezTo>
                      <a:pt x="16309" y="23627"/>
                      <a:pt x="18149" y="24630"/>
                      <a:pt x="20156" y="25299"/>
                    </a:cubicBezTo>
                    <a:cubicBezTo>
                      <a:pt x="14971" y="25801"/>
                      <a:pt x="9283" y="27808"/>
                      <a:pt x="5771" y="30986"/>
                    </a:cubicBezTo>
                    <a:cubicBezTo>
                      <a:pt x="4265" y="32325"/>
                      <a:pt x="1255" y="46208"/>
                      <a:pt x="1255" y="52899"/>
                    </a:cubicBezTo>
                    <a:lnTo>
                      <a:pt x="23836" y="52899"/>
                    </a:lnTo>
                    <a:lnTo>
                      <a:pt x="46250" y="52899"/>
                    </a:lnTo>
                    <a:cubicBezTo>
                      <a:pt x="46250" y="46208"/>
                      <a:pt x="43406" y="32157"/>
                      <a:pt x="41733" y="3081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6" name="Freeform: Shape 253">
                <a:extLst>
                  <a:ext uri="{FF2B5EF4-FFF2-40B4-BE49-F238E27FC236}">
                    <a16:creationId xmlns:a16="http://schemas.microsoft.com/office/drawing/2014/main" id="{E1622AF7-98C5-4E42-ACBA-F6CC87D6C538}"/>
                  </a:ext>
                </a:extLst>
              </p:cNvPr>
              <p:cNvSpPr/>
              <p:nvPr/>
            </p:nvSpPr>
            <p:spPr>
              <a:xfrm>
                <a:off x="9328708" y="4826684"/>
                <a:ext cx="316016" cy="390365"/>
              </a:xfrm>
              <a:custGeom>
                <a:avLst/>
                <a:gdLst>
                  <a:gd name="connsiteX0" fmla="*/ 20323 w 28435"/>
                  <a:gd name="connsiteY0" fmla="*/ 25508 h 35126"/>
                  <a:gd name="connsiteX1" fmla="*/ 27348 w 28435"/>
                  <a:gd name="connsiteY1" fmla="*/ 21327 h 35126"/>
                  <a:gd name="connsiteX2" fmla="*/ 26345 w 28435"/>
                  <a:gd name="connsiteY2" fmla="*/ 19989 h 35126"/>
                  <a:gd name="connsiteX3" fmla="*/ 19319 w 28435"/>
                  <a:gd name="connsiteY3" fmla="*/ 18149 h 35126"/>
                  <a:gd name="connsiteX4" fmla="*/ 22832 w 28435"/>
                  <a:gd name="connsiteY4" fmla="*/ 15807 h 35126"/>
                  <a:gd name="connsiteX5" fmla="*/ 22832 w 28435"/>
                  <a:gd name="connsiteY5" fmla="*/ 3764 h 35126"/>
                  <a:gd name="connsiteX6" fmla="*/ 10789 w 28435"/>
                  <a:gd name="connsiteY6" fmla="*/ 3764 h 35126"/>
                  <a:gd name="connsiteX7" fmla="*/ 10789 w 28435"/>
                  <a:gd name="connsiteY7" fmla="*/ 15807 h 35126"/>
                  <a:gd name="connsiteX8" fmla="*/ 14469 w 28435"/>
                  <a:gd name="connsiteY8" fmla="*/ 17981 h 35126"/>
                  <a:gd name="connsiteX9" fmla="*/ 4433 w 28435"/>
                  <a:gd name="connsiteY9" fmla="*/ 22330 h 35126"/>
                  <a:gd name="connsiteX10" fmla="*/ 1255 w 28435"/>
                  <a:gd name="connsiteY10" fmla="*/ 35043 h 35126"/>
                  <a:gd name="connsiteX11" fmla="*/ 16476 w 28435"/>
                  <a:gd name="connsiteY11" fmla="*/ 35043 h 35126"/>
                  <a:gd name="connsiteX12" fmla="*/ 20323 w 28435"/>
                  <a:gd name="connsiteY12" fmla="*/ 25508 h 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5" h="35126">
                    <a:moveTo>
                      <a:pt x="20323" y="25508"/>
                    </a:moveTo>
                    <a:cubicBezTo>
                      <a:pt x="22330" y="23668"/>
                      <a:pt x="25007" y="22330"/>
                      <a:pt x="27348" y="21327"/>
                    </a:cubicBezTo>
                    <a:cubicBezTo>
                      <a:pt x="27014" y="20825"/>
                      <a:pt x="26847" y="20156"/>
                      <a:pt x="26345" y="19989"/>
                    </a:cubicBezTo>
                    <a:cubicBezTo>
                      <a:pt x="24170" y="18985"/>
                      <a:pt x="21494" y="18316"/>
                      <a:pt x="19319" y="18149"/>
                    </a:cubicBezTo>
                    <a:cubicBezTo>
                      <a:pt x="20658" y="17814"/>
                      <a:pt x="21828" y="16810"/>
                      <a:pt x="22832" y="15807"/>
                    </a:cubicBezTo>
                    <a:cubicBezTo>
                      <a:pt x="26178" y="12462"/>
                      <a:pt x="26178" y="7109"/>
                      <a:pt x="22832" y="3764"/>
                    </a:cubicBezTo>
                    <a:cubicBezTo>
                      <a:pt x="19487" y="418"/>
                      <a:pt x="14134" y="418"/>
                      <a:pt x="10789" y="3764"/>
                    </a:cubicBezTo>
                    <a:cubicBezTo>
                      <a:pt x="7443" y="7109"/>
                      <a:pt x="7443" y="12462"/>
                      <a:pt x="10789" y="15807"/>
                    </a:cubicBezTo>
                    <a:cubicBezTo>
                      <a:pt x="11792" y="16810"/>
                      <a:pt x="13131" y="17647"/>
                      <a:pt x="14469" y="17981"/>
                    </a:cubicBezTo>
                    <a:cubicBezTo>
                      <a:pt x="10956" y="18316"/>
                      <a:pt x="6942" y="19989"/>
                      <a:pt x="4433" y="22330"/>
                    </a:cubicBezTo>
                    <a:cubicBezTo>
                      <a:pt x="3262" y="23334"/>
                      <a:pt x="1255" y="30025"/>
                      <a:pt x="1255" y="35043"/>
                    </a:cubicBezTo>
                    <a:lnTo>
                      <a:pt x="16476" y="35043"/>
                    </a:lnTo>
                    <a:cubicBezTo>
                      <a:pt x="18316" y="27348"/>
                      <a:pt x="19487" y="26177"/>
                      <a:pt x="20323" y="25508"/>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grpSp>
        <p:sp>
          <p:nvSpPr>
            <p:cNvPr id="58" name="Rectangle 57">
              <a:extLst>
                <a:ext uri="{FF2B5EF4-FFF2-40B4-BE49-F238E27FC236}">
                  <a16:creationId xmlns:a16="http://schemas.microsoft.com/office/drawing/2014/main" id="{0AEB3ACC-D726-BE4F-A7E6-C795DC8BAB9C}"/>
                </a:ext>
              </a:extLst>
            </p:cNvPr>
            <p:cNvSpPr/>
            <p:nvPr/>
          </p:nvSpPr>
          <p:spPr>
            <a:xfrm>
              <a:off x="9429350" y="5169577"/>
              <a:ext cx="828747" cy="246221"/>
            </a:xfrm>
            <a:prstGeom prst="rect">
              <a:avLst/>
            </a:prstGeom>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ea typeface="+mn-ea"/>
                  <a:cs typeface="+mn-cs"/>
                </a:rPr>
                <a:t>Clients</a:t>
              </a:r>
            </a:p>
          </p:txBody>
        </p:sp>
      </p:grpSp>
      <p:grpSp>
        <p:nvGrpSpPr>
          <p:cNvPr id="6" name="Group 5">
            <a:extLst>
              <a:ext uri="{FF2B5EF4-FFF2-40B4-BE49-F238E27FC236}">
                <a16:creationId xmlns:a16="http://schemas.microsoft.com/office/drawing/2014/main" id="{05B9683E-CD3B-8C46-B84D-C7B0937096A3}"/>
              </a:ext>
            </a:extLst>
          </p:cNvPr>
          <p:cNvGrpSpPr/>
          <p:nvPr/>
        </p:nvGrpSpPr>
        <p:grpSpPr>
          <a:xfrm>
            <a:off x="3071016" y="4875887"/>
            <a:ext cx="1188002" cy="1184870"/>
            <a:chOff x="10989698" y="4424855"/>
            <a:chExt cx="1188002" cy="1184870"/>
          </a:xfrm>
        </p:grpSpPr>
        <p:sp>
          <p:nvSpPr>
            <p:cNvPr id="60" name="Oval 59">
              <a:extLst>
                <a:ext uri="{FF2B5EF4-FFF2-40B4-BE49-F238E27FC236}">
                  <a16:creationId xmlns:a16="http://schemas.microsoft.com/office/drawing/2014/main" id="{F4C5DC1C-4561-B34A-82B0-4625F8C1886C}"/>
                </a:ext>
              </a:extLst>
            </p:cNvPr>
            <p:cNvSpPr/>
            <p:nvPr/>
          </p:nvSpPr>
          <p:spPr>
            <a:xfrm>
              <a:off x="10989698" y="4424855"/>
              <a:ext cx="1188002" cy="1184870"/>
            </a:xfrm>
            <a:prstGeom prst="ellipse">
              <a:avLst/>
            </a:prstGeom>
            <a:solidFill>
              <a:srgbClr val="F99C1B"/>
            </a:solidFill>
            <a:ln>
              <a:noFill/>
            </a:ln>
            <a:effectLst>
              <a:outerShdw blurRad="381000" dist="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prstClr val="white"/>
                </a:solidFill>
                <a:effectLst/>
                <a:uLnTx/>
                <a:uFillTx/>
                <a:latin typeface="Arial"/>
                <a:ea typeface="+mn-ea"/>
                <a:cs typeface="+mn-cs"/>
              </a:endParaRPr>
            </a:p>
          </p:txBody>
        </p:sp>
        <p:sp>
          <p:nvSpPr>
            <p:cNvPr id="62" name="Rectangle 61">
              <a:extLst>
                <a:ext uri="{FF2B5EF4-FFF2-40B4-BE49-F238E27FC236}">
                  <a16:creationId xmlns:a16="http://schemas.microsoft.com/office/drawing/2014/main" id="{02DF60BD-1592-094C-AFB5-6DC98D125CF6}"/>
                </a:ext>
              </a:extLst>
            </p:cNvPr>
            <p:cNvSpPr/>
            <p:nvPr/>
          </p:nvSpPr>
          <p:spPr>
            <a:xfrm>
              <a:off x="11174068" y="5169577"/>
              <a:ext cx="828747" cy="246221"/>
            </a:xfrm>
            <a:prstGeom prst="rect">
              <a:avLst/>
            </a:prstGeom>
          </p:spPr>
          <p:txBody>
            <a:bodyPr wrap="square" lIns="0" tIns="0" rIns="0" bIns="0">
              <a:spAutoFit/>
            </a:bodyPr>
            <a:lstStyle/>
            <a:p>
              <a:pPr lvl="0" algn="ctr">
                <a:defRPr/>
              </a:pPr>
              <a:r>
                <a:rPr lang="en-US" sz="1600" b="1" dirty="0">
                  <a:solidFill>
                    <a:prstClr val="white"/>
                  </a:solidFill>
                </a:rPr>
                <a:t>Firm</a:t>
              </a:r>
            </a:p>
          </p:txBody>
        </p:sp>
        <p:pic>
          <p:nvPicPr>
            <p:cNvPr id="66" name="Picture 65">
              <a:extLst>
                <a:ext uri="{FF2B5EF4-FFF2-40B4-BE49-F238E27FC236}">
                  <a16:creationId xmlns:a16="http://schemas.microsoft.com/office/drawing/2014/main" id="{A435568F-6DCD-594A-AA29-25CADC433162}"/>
                </a:ext>
              </a:extLst>
            </p:cNvPr>
            <p:cNvPicPr>
              <a:picLocks noChangeAspect="1"/>
            </p:cNvPicPr>
            <p:nvPr/>
          </p:nvPicPr>
          <p:blipFill>
            <a:blip r:embed="rId4">
              <a:biLevel thresh="25000"/>
            </a:blip>
            <a:stretch>
              <a:fillRect/>
            </a:stretch>
          </p:blipFill>
          <p:spPr>
            <a:xfrm>
              <a:off x="11352466" y="4666780"/>
              <a:ext cx="503202" cy="408850"/>
            </a:xfrm>
            <a:prstGeom prst="rect">
              <a:avLst/>
            </a:prstGeom>
          </p:spPr>
        </p:pic>
      </p:grpSp>
    </p:spTree>
    <p:extLst>
      <p:ext uri="{BB962C8B-B14F-4D97-AF65-F5344CB8AC3E}">
        <p14:creationId xmlns:p14="http://schemas.microsoft.com/office/powerpoint/2010/main" val="279000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wipe(down)">
                                      <p:cBhvr>
                                        <p:cTn id="24" dur="500"/>
                                        <p:tgtEl>
                                          <p:spTgt spid="50"/>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500"/>
                                        <p:tgtEl>
                                          <p:spTgt spid="25"/>
                                        </p:tgtEl>
                                      </p:cBhvr>
                                    </p:animEffect>
                                  </p:childTnLst>
                                </p:cTn>
                              </p:par>
                            </p:childTnLst>
                          </p:cTn>
                        </p:par>
                        <p:par>
                          <p:cTn id="29" fill="hold">
                            <p:stCondLst>
                              <p:cond delay="1000"/>
                            </p:stCondLst>
                            <p:childTnLst>
                              <p:par>
                                <p:cTn id="30" presetID="47" presetClass="entr" presetSubtype="0" fill="hold" grpId="0" nodeType="after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anim calcmode="lin" valueType="num">
                                      <p:cBhvr>
                                        <p:cTn id="33" dur="500" fill="hold"/>
                                        <p:tgtEl>
                                          <p:spTgt spid="40"/>
                                        </p:tgtEl>
                                        <p:attrNameLst>
                                          <p:attrName>ppt_x</p:attrName>
                                        </p:attrNameLst>
                                      </p:cBhvr>
                                      <p:tavLst>
                                        <p:tav tm="0">
                                          <p:val>
                                            <p:strVal val="#ppt_x"/>
                                          </p:val>
                                        </p:tav>
                                        <p:tav tm="100000">
                                          <p:val>
                                            <p:strVal val="#ppt_x"/>
                                          </p:val>
                                        </p:tav>
                                      </p:tavLst>
                                    </p:anim>
                                    <p:anim calcmode="lin" valueType="num">
                                      <p:cBhvr>
                                        <p:cTn id="34" dur="500" fill="hold"/>
                                        <p:tgtEl>
                                          <p:spTgt spid="40"/>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47"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anim calcmode="lin" valueType="num">
                                      <p:cBhvr>
                                        <p:cTn id="39" dur="500" fill="hold"/>
                                        <p:tgtEl>
                                          <p:spTgt spid="27"/>
                                        </p:tgtEl>
                                        <p:attrNameLst>
                                          <p:attrName>ppt_x</p:attrName>
                                        </p:attrNameLst>
                                      </p:cBhvr>
                                      <p:tavLst>
                                        <p:tav tm="0">
                                          <p:val>
                                            <p:strVal val="#ppt_x"/>
                                          </p:val>
                                        </p:tav>
                                        <p:tav tm="100000">
                                          <p:val>
                                            <p:strVal val="#ppt_x"/>
                                          </p:val>
                                        </p:tav>
                                      </p:tavLst>
                                    </p:anim>
                                    <p:anim calcmode="lin" valueType="num">
                                      <p:cBhvr>
                                        <p:cTn id="40" dur="500" fill="hold"/>
                                        <p:tgtEl>
                                          <p:spTgt spid="27"/>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47" presetClass="entr" presetSubtype="0" fill="hold" grpId="0" nodeType="after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anim calcmode="lin" valueType="num">
                                      <p:cBhvr>
                                        <p:cTn id="45" dur="500" fill="hold"/>
                                        <p:tgtEl>
                                          <p:spTgt spid="28"/>
                                        </p:tgtEl>
                                        <p:attrNameLst>
                                          <p:attrName>ppt_x</p:attrName>
                                        </p:attrNameLst>
                                      </p:cBhvr>
                                      <p:tavLst>
                                        <p:tav tm="0">
                                          <p:val>
                                            <p:strVal val="#ppt_x"/>
                                          </p:val>
                                        </p:tav>
                                        <p:tav tm="100000">
                                          <p:val>
                                            <p:strVal val="#ppt_x"/>
                                          </p:val>
                                        </p:tav>
                                      </p:tavLst>
                                    </p:anim>
                                    <p:anim calcmode="lin" valueType="num">
                                      <p:cBhvr>
                                        <p:cTn id="46" dur="500" fill="hold"/>
                                        <p:tgtEl>
                                          <p:spTgt spid="28"/>
                                        </p:tgtEl>
                                        <p:attrNameLst>
                                          <p:attrName>ppt_y</p:attrName>
                                        </p:attrNameLst>
                                      </p:cBhvr>
                                      <p:tavLst>
                                        <p:tav tm="0">
                                          <p:val>
                                            <p:strVal val="#ppt_y-.1"/>
                                          </p:val>
                                        </p:tav>
                                        <p:tav tm="100000">
                                          <p:val>
                                            <p:strVal val="#ppt_y"/>
                                          </p:val>
                                        </p:tav>
                                      </p:tavLst>
                                    </p:anim>
                                  </p:childTnLst>
                                </p:cTn>
                              </p:par>
                            </p:childTnLst>
                          </p:cTn>
                        </p:par>
                        <p:par>
                          <p:cTn id="47" fill="hold">
                            <p:stCondLst>
                              <p:cond delay="2500"/>
                            </p:stCondLst>
                            <p:childTnLst>
                              <p:par>
                                <p:cTn id="48" presetID="47" presetClass="entr" presetSubtype="0" fill="hold" grpId="0" nodeType="after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500"/>
                                        <p:tgtEl>
                                          <p:spTgt spid="38"/>
                                        </p:tgtEl>
                                      </p:cBhvr>
                                    </p:animEffect>
                                    <p:anim calcmode="lin" valueType="num">
                                      <p:cBhvr>
                                        <p:cTn id="51" dur="500" fill="hold"/>
                                        <p:tgtEl>
                                          <p:spTgt spid="38"/>
                                        </p:tgtEl>
                                        <p:attrNameLst>
                                          <p:attrName>ppt_x</p:attrName>
                                        </p:attrNameLst>
                                      </p:cBhvr>
                                      <p:tavLst>
                                        <p:tav tm="0">
                                          <p:val>
                                            <p:strVal val="#ppt_x"/>
                                          </p:val>
                                        </p:tav>
                                        <p:tav tm="100000">
                                          <p:val>
                                            <p:strVal val="#ppt_x"/>
                                          </p:val>
                                        </p:tav>
                                      </p:tavLst>
                                    </p:anim>
                                    <p:anim calcmode="lin" valueType="num">
                                      <p:cBhvr>
                                        <p:cTn id="52"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50" grpId="0" animBg="1"/>
      <p:bldP spid="25" grpId="0" animBg="1"/>
      <p:bldP spid="27" grpId="0"/>
      <p:bldP spid="28" grpId="0"/>
      <p:bldP spid="38"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reeform 51">
            <a:extLst>
              <a:ext uri="{FF2B5EF4-FFF2-40B4-BE49-F238E27FC236}">
                <a16:creationId xmlns:a16="http://schemas.microsoft.com/office/drawing/2014/main" id="{33AB7218-26D1-6F4E-A057-EB67AD04A044}"/>
              </a:ext>
            </a:extLst>
          </p:cNvPr>
          <p:cNvSpPr/>
          <p:nvPr/>
        </p:nvSpPr>
        <p:spPr>
          <a:xfrm>
            <a:off x="0" y="-5035"/>
            <a:ext cx="11085911" cy="2213976"/>
          </a:xfrm>
          <a:custGeom>
            <a:avLst/>
            <a:gdLst>
              <a:gd name="connsiteX0" fmla="*/ 0 w 11085911"/>
              <a:gd name="connsiteY0" fmla="*/ 0 h 2213976"/>
              <a:gd name="connsiteX1" fmla="*/ 1733797 w 11085911"/>
              <a:gd name="connsiteY1" fmla="*/ 0 h 2213976"/>
              <a:gd name="connsiteX2" fmla="*/ 2842882 w 11085911"/>
              <a:gd name="connsiteY2" fmla="*/ 0 h 2213976"/>
              <a:gd name="connsiteX3" fmla="*/ 2851796 w 11085911"/>
              <a:gd name="connsiteY3" fmla="*/ 0 h 2213976"/>
              <a:gd name="connsiteX4" fmla="*/ 4576679 w 11085911"/>
              <a:gd name="connsiteY4" fmla="*/ 0 h 2213976"/>
              <a:gd name="connsiteX5" fmla="*/ 4585592 w 11085911"/>
              <a:gd name="connsiteY5" fmla="*/ 0 h 2213976"/>
              <a:gd name="connsiteX6" fmla="*/ 8236211 w 11085911"/>
              <a:gd name="connsiteY6" fmla="*/ 0 h 2213976"/>
              <a:gd name="connsiteX7" fmla="*/ 8245125 w 11085911"/>
              <a:gd name="connsiteY7" fmla="*/ 0 h 2213976"/>
              <a:gd name="connsiteX8" fmla="*/ 9970008 w 11085911"/>
              <a:gd name="connsiteY8" fmla="*/ 0 h 2213976"/>
              <a:gd name="connsiteX9" fmla="*/ 9970008 w 11085911"/>
              <a:gd name="connsiteY9" fmla="*/ 898 h 2213976"/>
              <a:gd name="connsiteX10" fmla="*/ 9978922 w 11085911"/>
              <a:gd name="connsiteY10" fmla="*/ 0 h 2213976"/>
              <a:gd name="connsiteX11" fmla="*/ 11085911 w 11085911"/>
              <a:gd name="connsiteY11" fmla="*/ 1106992 h 2213976"/>
              <a:gd name="connsiteX12" fmla="*/ 9978922 w 11085911"/>
              <a:gd name="connsiteY12" fmla="*/ 2213976 h 2213976"/>
              <a:gd name="connsiteX13" fmla="*/ 9970008 w 11085911"/>
              <a:gd name="connsiteY13" fmla="*/ 2213078 h 2213976"/>
              <a:gd name="connsiteX14" fmla="*/ 9970008 w 11085911"/>
              <a:gd name="connsiteY14" fmla="*/ 2213976 h 2213976"/>
              <a:gd name="connsiteX15" fmla="*/ 8245125 w 11085911"/>
              <a:gd name="connsiteY15" fmla="*/ 2213976 h 2213976"/>
              <a:gd name="connsiteX16" fmla="*/ 8236211 w 11085911"/>
              <a:gd name="connsiteY16" fmla="*/ 2213976 h 2213976"/>
              <a:gd name="connsiteX17" fmla="*/ 4585610 w 11085911"/>
              <a:gd name="connsiteY17" fmla="*/ 2213976 h 2213976"/>
              <a:gd name="connsiteX18" fmla="*/ 4585592 w 11085911"/>
              <a:gd name="connsiteY18" fmla="*/ 2213976 h 2213976"/>
              <a:gd name="connsiteX19" fmla="*/ 4585574 w 11085911"/>
              <a:gd name="connsiteY19" fmla="*/ 2213976 h 2213976"/>
              <a:gd name="connsiteX20" fmla="*/ 4576679 w 11085911"/>
              <a:gd name="connsiteY20" fmla="*/ 2213976 h 2213976"/>
              <a:gd name="connsiteX21" fmla="*/ 2851813 w 11085911"/>
              <a:gd name="connsiteY21" fmla="*/ 2213976 h 2213976"/>
              <a:gd name="connsiteX22" fmla="*/ 2851796 w 11085911"/>
              <a:gd name="connsiteY22" fmla="*/ 2213976 h 2213976"/>
              <a:gd name="connsiteX23" fmla="*/ 2851777 w 11085911"/>
              <a:gd name="connsiteY23" fmla="*/ 2213976 h 2213976"/>
              <a:gd name="connsiteX24" fmla="*/ 2842882 w 11085911"/>
              <a:gd name="connsiteY24" fmla="*/ 2213976 h 2213976"/>
              <a:gd name="connsiteX25" fmla="*/ 1733797 w 11085911"/>
              <a:gd name="connsiteY25" fmla="*/ 2213976 h 2213976"/>
              <a:gd name="connsiteX26" fmla="*/ 0 w 11085911"/>
              <a:gd name="connsiteY26" fmla="*/ 2213976 h 2213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85911" h="2213976">
                <a:moveTo>
                  <a:pt x="0" y="0"/>
                </a:moveTo>
                <a:lnTo>
                  <a:pt x="1733797" y="0"/>
                </a:lnTo>
                <a:lnTo>
                  <a:pt x="2842882" y="0"/>
                </a:lnTo>
                <a:lnTo>
                  <a:pt x="2851796" y="0"/>
                </a:lnTo>
                <a:lnTo>
                  <a:pt x="4576679" y="0"/>
                </a:lnTo>
                <a:lnTo>
                  <a:pt x="4585592" y="0"/>
                </a:lnTo>
                <a:lnTo>
                  <a:pt x="8236211" y="0"/>
                </a:lnTo>
                <a:lnTo>
                  <a:pt x="8245125" y="0"/>
                </a:lnTo>
                <a:lnTo>
                  <a:pt x="9970008" y="0"/>
                </a:lnTo>
                <a:lnTo>
                  <a:pt x="9970008" y="898"/>
                </a:lnTo>
                <a:lnTo>
                  <a:pt x="9978922" y="0"/>
                </a:lnTo>
                <a:cubicBezTo>
                  <a:pt x="10590298" y="0"/>
                  <a:pt x="11085911" y="495614"/>
                  <a:pt x="11085911" y="1106992"/>
                </a:cubicBezTo>
                <a:cubicBezTo>
                  <a:pt x="11085911" y="1718362"/>
                  <a:pt x="10590298" y="2213976"/>
                  <a:pt x="9978922" y="2213976"/>
                </a:cubicBezTo>
                <a:lnTo>
                  <a:pt x="9970008" y="2213078"/>
                </a:lnTo>
                <a:lnTo>
                  <a:pt x="9970008" y="2213976"/>
                </a:lnTo>
                <a:lnTo>
                  <a:pt x="8245125" y="2213976"/>
                </a:lnTo>
                <a:lnTo>
                  <a:pt x="8236211" y="2213976"/>
                </a:lnTo>
                <a:lnTo>
                  <a:pt x="4585610" y="2213976"/>
                </a:lnTo>
                <a:lnTo>
                  <a:pt x="4585592" y="2213976"/>
                </a:lnTo>
                <a:lnTo>
                  <a:pt x="4585574" y="2213976"/>
                </a:lnTo>
                <a:lnTo>
                  <a:pt x="4576679" y="2213976"/>
                </a:lnTo>
                <a:lnTo>
                  <a:pt x="2851813" y="2213976"/>
                </a:lnTo>
                <a:lnTo>
                  <a:pt x="2851796" y="2213976"/>
                </a:lnTo>
                <a:lnTo>
                  <a:pt x="2851777" y="2213976"/>
                </a:lnTo>
                <a:lnTo>
                  <a:pt x="2842882" y="2213976"/>
                </a:lnTo>
                <a:lnTo>
                  <a:pt x="1733797" y="2213976"/>
                </a:lnTo>
                <a:lnTo>
                  <a:pt x="0" y="2213976"/>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0499DDD-07FD-5446-B951-FD7F992EE0AB}"/>
              </a:ext>
            </a:extLst>
          </p:cNvPr>
          <p:cNvSpPr/>
          <p:nvPr/>
        </p:nvSpPr>
        <p:spPr>
          <a:xfrm>
            <a:off x="697506" y="458430"/>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54" name="Rectangle 53">
            <a:extLst>
              <a:ext uri="{FF2B5EF4-FFF2-40B4-BE49-F238E27FC236}">
                <a16:creationId xmlns:a16="http://schemas.microsoft.com/office/drawing/2014/main" id="{2E378C6D-0234-EC46-842C-012B8218F5D2}"/>
              </a:ext>
            </a:extLst>
          </p:cNvPr>
          <p:cNvSpPr/>
          <p:nvPr/>
        </p:nvSpPr>
        <p:spPr>
          <a:xfrm>
            <a:off x="650292" y="823543"/>
            <a:ext cx="11394563" cy="1077218"/>
          </a:xfrm>
          <a:prstGeom prst="rect">
            <a:avLst/>
          </a:prstGeom>
        </p:spPr>
        <p:txBody>
          <a:bodyPr wrap="square" lIns="0" tIns="0" rIns="0" bIns="0">
            <a:spAutoFit/>
          </a:bodyPr>
          <a:lstStyle/>
          <a:p>
            <a:pPr defTabSz="914126">
              <a:spcBef>
                <a:spcPts val="400"/>
              </a:spcBef>
              <a:defRPr/>
            </a:pPr>
            <a:r>
              <a:rPr lang="en-US" sz="7000" dirty="0">
                <a:solidFill>
                  <a:schemeClr val="bg1">
                    <a:alpha val="60000"/>
                  </a:schemeClr>
                </a:solidFill>
                <a:latin typeface="+mj-lt"/>
              </a:rPr>
              <a:t>CLIENT VALUE</a:t>
            </a:r>
          </a:p>
        </p:txBody>
      </p:sp>
      <p:sp>
        <p:nvSpPr>
          <p:cNvPr id="43" name="Oval 42">
            <a:extLst>
              <a:ext uri="{FF2B5EF4-FFF2-40B4-BE49-F238E27FC236}">
                <a16:creationId xmlns:a16="http://schemas.microsoft.com/office/drawing/2014/main" id="{EE33C961-99F7-5949-B703-7641C7C089B9}"/>
              </a:ext>
            </a:extLst>
          </p:cNvPr>
          <p:cNvSpPr/>
          <p:nvPr/>
        </p:nvSpPr>
        <p:spPr>
          <a:xfrm>
            <a:off x="3665017" y="1789646"/>
            <a:ext cx="4822930" cy="482293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t"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Knowledge2017 Medium" panose="020B0506000000020004" pitchFamily="34" charset="0"/>
                <a:ea typeface="+mn-ea"/>
                <a:cs typeface="+mn-cs"/>
              </a:rPr>
              <a:t>HighQ</a:t>
            </a:r>
            <a:endParaRPr kumimoji="0" lang="en-US" sz="1800" b="0" i="0" u="none" strike="noStrike" kern="1200" cap="none" spc="0" normalizeH="0" baseline="0" noProof="0">
              <a:ln>
                <a:noFill/>
              </a:ln>
              <a:solidFill>
                <a:prstClr val="white"/>
              </a:solidFill>
              <a:effectLst/>
              <a:uLnTx/>
              <a:uFillTx/>
              <a:latin typeface="Knowledge2017 Medium" panose="020B0506000000020004" pitchFamily="34" charset="0"/>
              <a:ea typeface="+mn-ea"/>
              <a:cs typeface="+mn-cs"/>
            </a:endParaRPr>
          </a:p>
        </p:txBody>
      </p:sp>
      <p:grpSp>
        <p:nvGrpSpPr>
          <p:cNvPr id="44" name="Group 43">
            <a:extLst>
              <a:ext uri="{FF2B5EF4-FFF2-40B4-BE49-F238E27FC236}">
                <a16:creationId xmlns:a16="http://schemas.microsoft.com/office/drawing/2014/main" id="{7BE26047-A4C4-AE44-BE0C-FCAFCB11E20A}"/>
              </a:ext>
            </a:extLst>
          </p:cNvPr>
          <p:cNvGrpSpPr/>
          <p:nvPr/>
        </p:nvGrpSpPr>
        <p:grpSpPr>
          <a:xfrm>
            <a:off x="7848305" y="4875887"/>
            <a:ext cx="1188002" cy="1184870"/>
            <a:chOff x="9223960" y="4424855"/>
            <a:chExt cx="1188002" cy="1184870"/>
          </a:xfrm>
        </p:grpSpPr>
        <p:sp>
          <p:nvSpPr>
            <p:cNvPr id="45" name="Oval 44">
              <a:extLst>
                <a:ext uri="{FF2B5EF4-FFF2-40B4-BE49-F238E27FC236}">
                  <a16:creationId xmlns:a16="http://schemas.microsoft.com/office/drawing/2014/main" id="{43B5CBCE-E9B9-F24B-BC94-FAB0D960CAA9}"/>
                </a:ext>
              </a:extLst>
            </p:cNvPr>
            <p:cNvSpPr/>
            <p:nvPr/>
          </p:nvSpPr>
          <p:spPr>
            <a:xfrm>
              <a:off x="9223960" y="4424855"/>
              <a:ext cx="1188002" cy="1184870"/>
            </a:xfrm>
            <a:prstGeom prst="ellipse">
              <a:avLst/>
            </a:prstGeom>
            <a:solidFill>
              <a:srgbClr val="F99C1B"/>
            </a:solidFill>
            <a:ln>
              <a:noFill/>
            </a:ln>
            <a:effectLst>
              <a:outerShdw blurRad="381000" dist="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prstClr val="white"/>
                </a:solidFill>
                <a:effectLst/>
                <a:uLnTx/>
                <a:uFillTx/>
                <a:latin typeface="Arial"/>
                <a:ea typeface="+mn-ea"/>
                <a:cs typeface="+mn-cs"/>
              </a:endParaRPr>
            </a:p>
          </p:txBody>
        </p:sp>
        <p:grpSp>
          <p:nvGrpSpPr>
            <p:cNvPr id="46" name="Group 45">
              <a:extLst>
                <a:ext uri="{FF2B5EF4-FFF2-40B4-BE49-F238E27FC236}">
                  <a16:creationId xmlns:a16="http://schemas.microsoft.com/office/drawing/2014/main" id="{B13C04FA-3F27-D145-A463-10725A5F980B}"/>
                </a:ext>
              </a:extLst>
            </p:cNvPr>
            <p:cNvGrpSpPr/>
            <p:nvPr/>
          </p:nvGrpSpPr>
          <p:grpSpPr>
            <a:xfrm>
              <a:off x="9494351" y="4702827"/>
              <a:ext cx="659264" cy="427920"/>
              <a:chOff x="9328708" y="4812281"/>
              <a:chExt cx="916441" cy="594850"/>
            </a:xfrm>
          </p:grpSpPr>
          <p:sp>
            <p:nvSpPr>
              <p:cNvPr id="48" name="Freeform: Shape 251">
                <a:extLst>
                  <a:ext uri="{FF2B5EF4-FFF2-40B4-BE49-F238E27FC236}">
                    <a16:creationId xmlns:a16="http://schemas.microsoft.com/office/drawing/2014/main" id="{5074A1F5-7088-DD44-A858-CC4FD0B3420B}"/>
                  </a:ext>
                </a:extLst>
              </p:cNvPr>
              <p:cNvSpPr/>
              <p:nvPr/>
            </p:nvSpPr>
            <p:spPr>
              <a:xfrm>
                <a:off x="9929133" y="4826684"/>
                <a:ext cx="316016" cy="390365"/>
              </a:xfrm>
              <a:custGeom>
                <a:avLst/>
                <a:gdLst>
                  <a:gd name="connsiteX0" fmla="*/ 9116 w 28435"/>
                  <a:gd name="connsiteY0" fmla="*/ 17814 h 35126"/>
                  <a:gd name="connsiteX1" fmla="*/ 2425 w 28435"/>
                  <a:gd name="connsiteY1" fmla="*/ 19821 h 35126"/>
                  <a:gd name="connsiteX2" fmla="*/ 1255 w 28435"/>
                  <a:gd name="connsiteY2" fmla="*/ 20992 h 35126"/>
                  <a:gd name="connsiteX3" fmla="*/ 8614 w 28435"/>
                  <a:gd name="connsiteY3" fmla="*/ 25341 h 35126"/>
                  <a:gd name="connsiteX4" fmla="*/ 12462 w 28435"/>
                  <a:gd name="connsiteY4" fmla="*/ 34541 h 35126"/>
                  <a:gd name="connsiteX5" fmla="*/ 27181 w 28435"/>
                  <a:gd name="connsiteY5" fmla="*/ 34541 h 35126"/>
                  <a:gd name="connsiteX6" fmla="*/ 24003 w 28435"/>
                  <a:gd name="connsiteY6" fmla="*/ 21996 h 35126"/>
                  <a:gd name="connsiteX7" fmla="*/ 13632 w 28435"/>
                  <a:gd name="connsiteY7" fmla="*/ 18149 h 35126"/>
                  <a:gd name="connsiteX8" fmla="*/ 17145 w 28435"/>
                  <a:gd name="connsiteY8" fmla="*/ 15807 h 35126"/>
                  <a:gd name="connsiteX9" fmla="*/ 17145 w 28435"/>
                  <a:gd name="connsiteY9" fmla="*/ 3764 h 35126"/>
                  <a:gd name="connsiteX10" fmla="*/ 5102 w 28435"/>
                  <a:gd name="connsiteY10" fmla="*/ 3764 h 35126"/>
                  <a:gd name="connsiteX11" fmla="*/ 5102 w 28435"/>
                  <a:gd name="connsiteY11" fmla="*/ 15807 h 35126"/>
                  <a:gd name="connsiteX12" fmla="*/ 9116 w 28435"/>
                  <a:gd name="connsiteY12" fmla="*/ 17814 h 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5" h="35126">
                    <a:moveTo>
                      <a:pt x="9116" y="17814"/>
                    </a:moveTo>
                    <a:cubicBezTo>
                      <a:pt x="6942" y="17981"/>
                      <a:pt x="4433" y="18818"/>
                      <a:pt x="2425" y="19821"/>
                    </a:cubicBezTo>
                    <a:cubicBezTo>
                      <a:pt x="1924" y="20156"/>
                      <a:pt x="1589" y="20490"/>
                      <a:pt x="1255" y="20992"/>
                    </a:cubicBezTo>
                    <a:cubicBezTo>
                      <a:pt x="3764" y="21996"/>
                      <a:pt x="6607" y="23501"/>
                      <a:pt x="8614" y="25341"/>
                    </a:cubicBezTo>
                    <a:cubicBezTo>
                      <a:pt x="9451" y="26010"/>
                      <a:pt x="10622" y="27348"/>
                      <a:pt x="12462" y="34541"/>
                    </a:cubicBezTo>
                    <a:lnTo>
                      <a:pt x="27181" y="34541"/>
                    </a:lnTo>
                    <a:cubicBezTo>
                      <a:pt x="27181" y="29690"/>
                      <a:pt x="25174" y="22832"/>
                      <a:pt x="24003" y="21996"/>
                    </a:cubicBezTo>
                    <a:cubicBezTo>
                      <a:pt x="21494" y="19654"/>
                      <a:pt x="17145" y="18316"/>
                      <a:pt x="13632" y="18149"/>
                    </a:cubicBezTo>
                    <a:cubicBezTo>
                      <a:pt x="14971" y="17814"/>
                      <a:pt x="16141" y="16810"/>
                      <a:pt x="17145" y="15807"/>
                    </a:cubicBezTo>
                    <a:cubicBezTo>
                      <a:pt x="20490" y="12462"/>
                      <a:pt x="20490" y="7109"/>
                      <a:pt x="17145" y="3764"/>
                    </a:cubicBezTo>
                    <a:cubicBezTo>
                      <a:pt x="13800" y="418"/>
                      <a:pt x="8447" y="418"/>
                      <a:pt x="5102" y="3764"/>
                    </a:cubicBezTo>
                    <a:cubicBezTo>
                      <a:pt x="1756" y="7109"/>
                      <a:pt x="1756" y="12462"/>
                      <a:pt x="5102" y="15807"/>
                    </a:cubicBezTo>
                    <a:cubicBezTo>
                      <a:pt x="6607" y="16810"/>
                      <a:pt x="7778" y="17480"/>
                      <a:pt x="9116" y="178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49" name="Freeform: Shape 252">
                <a:extLst>
                  <a:ext uri="{FF2B5EF4-FFF2-40B4-BE49-F238E27FC236}">
                    <a16:creationId xmlns:a16="http://schemas.microsoft.com/office/drawing/2014/main" id="{CB28BD19-1960-4E46-85BE-E97A90575802}"/>
                  </a:ext>
                </a:extLst>
              </p:cNvPr>
              <p:cNvSpPr/>
              <p:nvPr/>
            </p:nvSpPr>
            <p:spPr>
              <a:xfrm>
                <a:off x="9527613" y="4812281"/>
                <a:ext cx="520488" cy="594850"/>
              </a:xfrm>
              <a:custGeom>
                <a:avLst/>
                <a:gdLst>
                  <a:gd name="connsiteX0" fmla="*/ 41733 w 46835"/>
                  <a:gd name="connsiteY0" fmla="*/ 30819 h 53525"/>
                  <a:gd name="connsiteX1" fmla="*/ 26847 w 46835"/>
                  <a:gd name="connsiteY1" fmla="*/ 25467 h 53525"/>
                  <a:gd name="connsiteX2" fmla="*/ 32032 w 46835"/>
                  <a:gd name="connsiteY2" fmla="*/ 22289 h 53525"/>
                  <a:gd name="connsiteX3" fmla="*/ 32032 w 46835"/>
                  <a:gd name="connsiteY3" fmla="*/ 4893 h 53525"/>
                  <a:gd name="connsiteX4" fmla="*/ 14803 w 46835"/>
                  <a:gd name="connsiteY4" fmla="*/ 4893 h 53525"/>
                  <a:gd name="connsiteX5" fmla="*/ 14803 w 46835"/>
                  <a:gd name="connsiteY5" fmla="*/ 22121 h 53525"/>
                  <a:gd name="connsiteX6" fmla="*/ 20156 w 46835"/>
                  <a:gd name="connsiteY6" fmla="*/ 25299 h 53525"/>
                  <a:gd name="connsiteX7" fmla="*/ 5771 w 46835"/>
                  <a:gd name="connsiteY7" fmla="*/ 30986 h 53525"/>
                  <a:gd name="connsiteX8" fmla="*/ 1255 w 46835"/>
                  <a:gd name="connsiteY8" fmla="*/ 52899 h 53525"/>
                  <a:gd name="connsiteX9" fmla="*/ 23836 w 46835"/>
                  <a:gd name="connsiteY9" fmla="*/ 52899 h 53525"/>
                  <a:gd name="connsiteX10" fmla="*/ 46250 w 46835"/>
                  <a:gd name="connsiteY10" fmla="*/ 52899 h 53525"/>
                  <a:gd name="connsiteX11" fmla="*/ 41733 w 46835"/>
                  <a:gd name="connsiteY11" fmla="*/ 30819 h 5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835" h="53525">
                    <a:moveTo>
                      <a:pt x="41733" y="30819"/>
                    </a:moveTo>
                    <a:cubicBezTo>
                      <a:pt x="38054" y="27474"/>
                      <a:pt x="31865" y="25801"/>
                      <a:pt x="26847" y="25467"/>
                    </a:cubicBezTo>
                    <a:cubicBezTo>
                      <a:pt x="28687" y="24965"/>
                      <a:pt x="30526" y="23794"/>
                      <a:pt x="32032" y="22289"/>
                    </a:cubicBezTo>
                    <a:cubicBezTo>
                      <a:pt x="36883" y="17438"/>
                      <a:pt x="36883" y="9743"/>
                      <a:pt x="32032" y="4893"/>
                    </a:cubicBezTo>
                    <a:cubicBezTo>
                      <a:pt x="27181" y="42"/>
                      <a:pt x="19487" y="42"/>
                      <a:pt x="14803" y="4893"/>
                    </a:cubicBezTo>
                    <a:cubicBezTo>
                      <a:pt x="9952" y="9743"/>
                      <a:pt x="9952" y="17438"/>
                      <a:pt x="14803" y="22121"/>
                    </a:cubicBezTo>
                    <a:cubicBezTo>
                      <a:pt x="16309" y="23627"/>
                      <a:pt x="18149" y="24630"/>
                      <a:pt x="20156" y="25299"/>
                    </a:cubicBezTo>
                    <a:cubicBezTo>
                      <a:pt x="14971" y="25801"/>
                      <a:pt x="9283" y="27808"/>
                      <a:pt x="5771" y="30986"/>
                    </a:cubicBezTo>
                    <a:cubicBezTo>
                      <a:pt x="4265" y="32325"/>
                      <a:pt x="1255" y="46208"/>
                      <a:pt x="1255" y="52899"/>
                    </a:cubicBezTo>
                    <a:lnTo>
                      <a:pt x="23836" y="52899"/>
                    </a:lnTo>
                    <a:lnTo>
                      <a:pt x="46250" y="52899"/>
                    </a:lnTo>
                    <a:cubicBezTo>
                      <a:pt x="46250" y="46208"/>
                      <a:pt x="43406" y="32157"/>
                      <a:pt x="41733" y="3081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50" name="Freeform: Shape 253">
                <a:extLst>
                  <a:ext uri="{FF2B5EF4-FFF2-40B4-BE49-F238E27FC236}">
                    <a16:creationId xmlns:a16="http://schemas.microsoft.com/office/drawing/2014/main" id="{C7606423-9CEF-FF40-8FC2-5FF3A97F897F}"/>
                  </a:ext>
                </a:extLst>
              </p:cNvPr>
              <p:cNvSpPr/>
              <p:nvPr/>
            </p:nvSpPr>
            <p:spPr>
              <a:xfrm>
                <a:off x="9328708" y="4826684"/>
                <a:ext cx="316016" cy="390365"/>
              </a:xfrm>
              <a:custGeom>
                <a:avLst/>
                <a:gdLst>
                  <a:gd name="connsiteX0" fmla="*/ 20323 w 28435"/>
                  <a:gd name="connsiteY0" fmla="*/ 25508 h 35126"/>
                  <a:gd name="connsiteX1" fmla="*/ 27348 w 28435"/>
                  <a:gd name="connsiteY1" fmla="*/ 21327 h 35126"/>
                  <a:gd name="connsiteX2" fmla="*/ 26345 w 28435"/>
                  <a:gd name="connsiteY2" fmla="*/ 19989 h 35126"/>
                  <a:gd name="connsiteX3" fmla="*/ 19319 w 28435"/>
                  <a:gd name="connsiteY3" fmla="*/ 18149 h 35126"/>
                  <a:gd name="connsiteX4" fmla="*/ 22832 w 28435"/>
                  <a:gd name="connsiteY4" fmla="*/ 15807 h 35126"/>
                  <a:gd name="connsiteX5" fmla="*/ 22832 w 28435"/>
                  <a:gd name="connsiteY5" fmla="*/ 3764 h 35126"/>
                  <a:gd name="connsiteX6" fmla="*/ 10789 w 28435"/>
                  <a:gd name="connsiteY6" fmla="*/ 3764 h 35126"/>
                  <a:gd name="connsiteX7" fmla="*/ 10789 w 28435"/>
                  <a:gd name="connsiteY7" fmla="*/ 15807 h 35126"/>
                  <a:gd name="connsiteX8" fmla="*/ 14469 w 28435"/>
                  <a:gd name="connsiteY8" fmla="*/ 17981 h 35126"/>
                  <a:gd name="connsiteX9" fmla="*/ 4433 w 28435"/>
                  <a:gd name="connsiteY9" fmla="*/ 22330 h 35126"/>
                  <a:gd name="connsiteX10" fmla="*/ 1255 w 28435"/>
                  <a:gd name="connsiteY10" fmla="*/ 35043 h 35126"/>
                  <a:gd name="connsiteX11" fmla="*/ 16476 w 28435"/>
                  <a:gd name="connsiteY11" fmla="*/ 35043 h 35126"/>
                  <a:gd name="connsiteX12" fmla="*/ 20323 w 28435"/>
                  <a:gd name="connsiteY12" fmla="*/ 25508 h 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35" h="35126">
                    <a:moveTo>
                      <a:pt x="20323" y="25508"/>
                    </a:moveTo>
                    <a:cubicBezTo>
                      <a:pt x="22330" y="23668"/>
                      <a:pt x="25007" y="22330"/>
                      <a:pt x="27348" y="21327"/>
                    </a:cubicBezTo>
                    <a:cubicBezTo>
                      <a:pt x="27014" y="20825"/>
                      <a:pt x="26847" y="20156"/>
                      <a:pt x="26345" y="19989"/>
                    </a:cubicBezTo>
                    <a:cubicBezTo>
                      <a:pt x="24170" y="18985"/>
                      <a:pt x="21494" y="18316"/>
                      <a:pt x="19319" y="18149"/>
                    </a:cubicBezTo>
                    <a:cubicBezTo>
                      <a:pt x="20658" y="17814"/>
                      <a:pt x="21828" y="16810"/>
                      <a:pt x="22832" y="15807"/>
                    </a:cubicBezTo>
                    <a:cubicBezTo>
                      <a:pt x="26178" y="12462"/>
                      <a:pt x="26178" y="7109"/>
                      <a:pt x="22832" y="3764"/>
                    </a:cubicBezTo>
                    <a:cubicBezTo>
                      <a:pt x="19487" y="418"/>
                      <a:pt x="14134" y="418"/>
                      <a:pt x="10789" y="3764"/>
                    </a:cubicBezTo>
                    <a:cubicBezTo>
                      <a:pt x="7443" y="7109"/>
                      <a:pt x="7443" y="12462"/>
                      <a:pt x="10789" y="15807"/>
                    </a:cubicBezTo>
                    <a:cubicBezTo>
                      <a:pt x="11792" y="16810"/>
                      <a:pt x="13131" y="17647"/>
                      <a:pt x="14469" y="17981"/>
                    </a:cubicBezTo>
                    <a:cubicBezTo>
                      <a:pt x="10956" y="18316"/>
                      <a:pt x="6942" y="19989"/>
                      <a:pt x="4433" y="22330"/>
                    </a:cubicBezTo>
                    <a:cubicBezTo>
                      <a:pt x="3262" y="23334"/>
                      <a:pt x="1255" y="30025"/>
                      <a:pt x="1255" y="35043"/>
                    </a:cubicBezTo>
                    <a:lnTo>
                      <a:pt x="16476" y="35043"/>
                    </a:lnTo>
                    <a:cubicBezTo>
                      <a:pt x="18316" y="27348"/>
                      <a:pt x="19487" y="26177"/>
                      <a:pt x="20323" y="25508"/>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grpSp>
        <p:sp>
          <p:nvSpPr>
            <p:cNvPr id="47" name="Rectangle 46">
              <a:extLst>
                <a:ext uri="{FF2B5EF4-FFF2-40B4-BE49-F238E27FC236}">
                  <a16:creationId xmlns:a16="http://schemas.microsoft.com/office/drawing/2014/main" id="{8A52E493-BA77-DF4D-BE50-9391E4C507FC}"/>
                </a:ext>
              </a:extLst>
            </p:cNvPr>
            <p:cNvSpPr/>
            <p:nvPr/>
          </p:nvSpPr>
          <p:spPr>
            <a:xfrm>
              <a:off x="9429350" y="5169577"/>
              <a:ext cx="828747" cy="246221"/>
            </a:xfrm>
            <a:prstGeom prst="rect">
              <a:avLst/>
            </a:prstGeom>
          </p:spPr>
          <p:txBody>
            <a:bodyPr wrap="squar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ea typeface="+mn-ea"/>
                  <a:cs typeface="+mn-cs"/>
                </a:rPr>
                <a:t>Clients</a:t>
              </a:r>
            </a:p>
          </p:txBody>
        </p:sp>
      </p:grpSp>
      <p:pic>
        <p:nvPicPr>
          <p:cNvPr id="33" name="Picture 32">
            <a:extLst>
              <a:ext uri="{FF2B5EF4-FFF2-40B4-BE49-F238E27FC236}">
                <a16:creationId xmlns:a16="http://schemas.microsoft.com/office/drawing/2014/main" id="{E9647056-FD28-5B41-883E-93DCD8140A3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227957" y="6265941"/>
            <a:ext cx="1966923" cy="594435"/>
          </a:xfrm>
          <a:prstGeom prst="rect">
            <a:avLst/>
          </a:prstGeom>
        </p:spPr>
      </p:pic>
      <p:sp>
        <p:nvSpPr>
          <p:cNvPr id="2" name="Slide Number Placeholder 1">
            <a:extLst>
              <a:ext uri="{FF2B5EF4-FFF2-40B4-BE49-F238E27FC236}">
                <a16:creationId xmlns:a16="http://schemas.microsoft.com/office/drawing/2014/main" id="{C558F546-3BF7-5B4A-91B9-005A33F8C48B}"/>
              </a:ext>
            </a:extLst>
          </p:cNvPr>
          <p:cNvSpPr>
            <a:spLocks noGrp="1"/>
          </p:cNvSpPr>
          <p:nvPr>
            <p:ph type="sldNum"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655226-6E4F-8847-85CD-AF95F3D3F39A}" type="slidenum">
              <a:rPr kumimoji="0" lang="en-US" sz="1000" b="0" i="0" u="none" strike="noStrike" kern="1200" cap="none" spc="0" normalizeH="0" baseline="0" noProof="0" smtClean="0">
                <a:ln>
                  <a:noFill/>
                </a:ln>
                <a:solidFill>
                  <a:srgbClr val="666666"/>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666666"/>
              </a:solidFill>
              <a:effectLst/>
              <a:uLnTx/>
              <a:uFillTx/>
              <a:latin typeface="Arial"/>
              <a:ea typeface="+mn-ea"/>
              <a:cs typeface="+mn-cs"/>
            </a:endParaRPr>
          </a:p>
        </p:txBody>
      </p:sp>
      <p:sp>
        <p:nvSpPr>
          <p:cNvPr id="13" name="Text Placeholder 23">
            <a:extLst>
              <a:ext uri="{FF2B5EF4-FFF2-40B4-BE49-F238E27FC236}">
                <a16:creationId xmlns:a16="http://schemas.microsoft.com/office/drawing/2014/main" id="{B5CBE596-9DFD-D140-AAA5-FF7AF4E776D1}"/>
              </a:ext>
            </a:extLst>
          </p:cNvPr>
          <p:cNvSpPr txBox="1">
            <a:spLocks/>
          </p:cNvSpPr>
          <p:nvPr/>
        </p:nvSpPr>
        <p:spPr>
          <a:xfrm>
            <a:off x="523876" y="876300"/>
            <a:ext cx="10293350" cy="266700"/>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0"/>
              </a:spcAft>
              <a:buFontTx/>
              <a:buNone/>
              <a:defRPr sz="1600" b="0" i="0" kern="1200" baseline="0">
                <a:solidFill>
                  <a:schemeClr val="accent6"/>
                </a:solidFill>
                <a:latin typeface="Knowledge2017" panose="020B0506000000020004" pitchFamily="34" charset="0"/>
                <a:ea typeface="+mn-ea"/>
                <a:cs typeface="+mn-cs"/>
              </a:defRPr>
            </a:lvl1pPr>
            <a:lvl2pPr marL="0" indent="0" algn="l" defTabSz="457200" rtl="0" eaLnBrk="1" latinLnBrk="0" hangingPunct="1">
              <a:lnSpc>
                <a:spcPct val="100000"/>
              </a:lnSpc>
              <a:spcBef>
                <a:spcPts val="0"/>
              </a:spcBef>
              <a:spcAft>
                <a:spcPts val="0"/>
              </a:spcAft>
              <a:buClr>
                <a:schemeClr val="tx2"/>
              </a:buClr>
              <a:buFontTx/>
              <a:buNone/>
              <a:defRPr sz="1600" b="0" i="0" kern="1200">
                <a:solidFill>
                  <a:schemeClr val="accent6"/>
                </a:solidFill>
                <a:latin typeface="Knowledge2017" panose="020B0506000000020004" pitchFamily="34" charset="0"/>
                <a:ea typeface="+mn-ea"/>
                <a:cs typeface="+mn-cs"/>
              </a:defRPr>
            </a:lvl2pPr>
            <a:lvl3pPr marL="0" indent="0" algn="l" defTabSz="457200" rtl="0" eaLnBrk="1" latinLnBrk="0" hangingPunct="1">
              <a:lnSpc>
                <a:spcPct val="100000"/>
              </a:lnSpc>
              <a:spcBef>
                <a:spcPts val="0"/>
              </a:spcBef>
              <a:spcAft>
                <a:spcPts val="0"/>
              </a:spcAft>
              <a:buClr>
                <a:schemeClr val="tx2"/>
              </a:buClr>
              <a:buFontTx/>
              <a:buNone/>
              <a:defRPr sz="1600" b="0" i="0" kern="1200">
                <a:solidFill>
                  <a:schemeClr val="accent6"/>
                </a:solidFill>
                <a:latin typeface="Knowledge2017" panose="020B0506000000020004" pitchFamily="34" charset="0"/>
                <a:ea typeface="+mn-ea"/>
                <a:cs typeface="+mn-cs"/>
              </a:defRPr>
            </a:lvl3pPr>
            <a:lvl4pPr marL="0" indent="0" algn="l" defTabSz="457200" rtl="0" eaLnBrk="1" latinLnBrk="0" hangingPunct="1">
              <a:lnSpc>
                <a:spcPct val="100000"/>
              </a:lnSpc>
              <a:spcBef>
                <a:spcPts val="0"/>
              </a:spcBef>
              <a:spcAft>
                <a:spcPts val="0"/>
              </a:spcAft>
              <a:buClr>
                <a:schemeClr val="tx2"/>
              </a:buClr>
              <a:buFontTx/>
              <a:buNone/>
              <a:defRPr sz="1600" b="0" i="0" kern="1200">
                <a:solidFill>
                  <a:schemeClr val="accent6"/>
                </a:solidFill>
                <a:latin typeface="Knowledge2017" panose="020B0506000000020004" pitchFamily="34" charset="0"/>
                <a:ea typeface="+mn-ea"/>
                <a:cs typeface="+mn-cs"/>
              </a:defRPr>
            </a:lvl4pPr>
            <a:lvl5pPr marL="0" indent="0" algn="l" defTabSz="457200" rtl="0" eaLnBrk="1" latinLnBrk="0" hangingPunct="1">
              <a:lnSpc>
                <a:spcPct val="100000"/>
              </a:lnSpc>
              <a:spcBef>
                <a:spcPts val="0"/>
              </a:spcBef>
              <a:spcAft>
                <a:spcPts val="0"/>
              </a:spcAft>
              <a:buClr>
                <a:schemeClr val="tx2"/>
              </a:buClr>
              <a:buFontTx/>
              <a:buNone/>
              <a:defRPr sz="1600" b="0" i="0" kern="1200">
                <a:solidFill>
                  <a:schemeClr val="accent6"/>
                </a:solidFill>
                <a:latin typeface="Knowledge2017" panose="020B0506000000020004" pitchFamily="34" charset="0"/>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b="0" i="0" kern="1200">
                <a:solidFill>
                  <a:schemeClr val="tx1"/>
                </a:solidFill>
                <a:latin typeface="Knowledge2017" panose="020B0506000000020004" pitchFamily="34" charset="0"/>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b="0" i="0" kern="1200">
                <a:solidFill>
                  <a:schemeClr val="tx1"/>
                </a:solidFill>
                <a:latin typeface="Knowledge2017" panose="020B0506000000020004" pitchFamily="34" charset="0"/>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Knowledge2017 Medium" panose="020B0506000000020004" pitchFamily="34" charset="0"/>
              <a:ea typeface="+mn-ea"/>
              <a:cs typeface="+mn-cs"/>
            </a:endParaRPr>
          </a:p>
        </p:txBody>
      </p:sp>
      <p:sp>
        <p:nvSpPr>
          <p:cNvPr id="27" name="Rectangle 26">
            <a:extLst>
              <a:ext uri="{FF2B5EF4-FFF2-40B4-BE49-F238E27FC236}">
                <a16:creationId xmlns:a16="http://schemas.microsoft.com/office/drawing/2014/main" id="{4264B54C-8390-AC4F-9796-C7B0B4DBA6B6}"/>
              </a:ext>
            </a:extLst>
          </p:cNvPr>
          <p:cNvSpPr/>
          <p:nvPr/>
        </p:nvSpPr>
        <p:spPr>
          <a:xfrm>
            <a:off x="5223039" y="3405114"/>
            <a:ext cx="1132041" cy="215444"/>
          </a:xfrm>
          <a:prstGeom prst="rect">
            <a:avLst/>
          </a:prstGeom>
        </p:spPr>
        <p:txBody>
          <a:bodyPr wrap="none" lIns="0" tIns="0" rIns="0" bIns="0">
            <a:spAutoFit/>
          </a:bodyPr>
          <a:lstStyle/>
          <a:p>
            <a:pPr marL="176213" marR="0" lvl="0" indent="-176213" algn="l" defTabSz="457200" rtl="0" eaLnBrk="1" fontAlgn="auto" latinLnBrk="0" hangingPunct="1">
              <a:lnSpc>
                <a:spcPct val="100000"/>
              </a:lnSpc>
              <a:spcBef>
                <a:spcPts val="0"/>
              </a:spcBef>
              <a:spcAft>
                <a:spcPts val="0"/>
              </a:spcAft>
              <a:buClr>
                <a:schemeClr val="tx2"/>
              </a:buClr>
              <a:buSzPct val="100000"/>
              <a:buFont typeface="System Font Regular"/>
              <a:buChar char="•"/>
              <a:defRPr/>
            </a:pPr>
            <a:r>
              <a:rPr kumimoji="0" lang="en-US" sz="1400" b="1" i="0" u="none" strike="noStrike" kern="1200" cap="none" spc="0" normalizeH="0" baseline="0" noProof="0" dirty="0">
                <a:ln>
                  <a:noFill/>
                </a:ln>
                <a:solidFill>
                  <a:prstClr val="white"/>
                </a:solidFill>
                <a:effectLst/>
                <a:uLnTx/>
                <a:uFillTx/>
                <a:latin typeface="+mj-lt"/>
                <a:ea typeface="+mn-ea"/>
                <a:cs typeface="+mn-cs"/>
              </a:rPr>
              <a:t>Client sites</a:t>
            </a:r>
          </a:p>
        </p:txBody>
      </p:sp>
      <p:sp>
        <p:nvSpPr>
          <p:cNvPr id="28" name="Rectangle 27">
            <a:extLst>
              <a:ext uri="{FF2B5EF4-FFF2-40B4-BE49-F238E27FC236}">
                <a16:creationId xmlns:a16="http://schemas.microsoft.com/office/drawing/2014/main" id="{77ACD59A-3829-034A-9AEC-DBA129048218}"/>
              </a:ext>
            </a:extLst>
          </p:cNvPr>
          <p:cNvSpPr/>
          <p:nvPr/>
        </p:nvSpPr>
        <p:spPr>
          <a:xfrm>
            <a:off x="5410350" y="3718218"/>
            <a:ext cx="2532682" cy="215444"/>
          </a:xfrm>
          <a:prstGeom prst="rect">
            <a:avLst/>
          </a:prstGeom>
        </p:spPr>
        <p:txBody>
          <a:bodyPr wrap="square" lIns="0" tIns="0" rIns="0" bIns="0">
            <a:spAutoFit/>
          </a:bodyPr>
          <a:lstStyle/>
          <a:p>
            <a:pPr marL="176213" marR="0" lvl="0" indent="-176213" algn="l" defTabSz="457200" rtl="0" eaLnBrk="1" fontAlgn="auto" latinLnBrk="0" hangingPunct="1">
              <a:lnSpc>
                <a:spcPct val="100000"/>
              </a:lnSpc>
              <a:spcBef>
                <a:spcPts val="0"/>
              </a:spcBef>
              <a:spcAft>
                <a:spcPts val="0"/>
              </a:spcAft>
              <a:buClr>
                <a:schemeClr val="tx2"/>
              </a:buClr>
              <a:buSzPct val="120000"/>
              <a:buFont typeface="System Font Regular"/>
              <a:buChar char="-"/>
              <a:defRPr/>
            </a:pPr>
            <a:r>
              <a:rPr kumimoji="0" lang="en-US" sz="1400" b="1" i="0" u="none" strike="noStrike" kern="1200" cap="none" spc="0" normalizeH="0" baseline="0" noProof="0" dirty="0">
                <a:ln>
                  <a:noFill/>
                </a:ln>
                <a:solidFill>
                  <a:prstClr val="white"/>
                </a:solidFill>
                <a:effectLst/>
                <a:uLnTx/>
                <a:uFillTx/>
                <a:latin typeface="+mj-lt"/>
                <a:ea typeface="+mn-ea"/>
                <a:cs typeface="+mn-cs"/>
              </a:rPr>
              <a:t>Easy team permissions</a:t>
            </a:r>
          </a:p>
        </p:txBody>
      </p:sp>
      <p:sp>
        <p:nvSpPr>
          <p:cNvPr id="29" name="Rectangle 28">
            <a:extLst>
              <a:ext uri="{FF2B5EF4-FFF2-40B4-BE49-F238E27FC236}">
                <a16:creationId xmlns:a16="http://schemas.microsoft.com/office/drawing/2014/main" id="{5874650B-0B21-8D43-93DC-9CFC0C90D2C1}"/>
              </a:ext>
            </a:extLst>
          </p:cNvPr>
          <p:cNvSpPr/>
          <p:nvPr/>
        </p:nvSpPr>
        <p:spPr>
          <a:xfrm>
            <a:off x="5223039" y="4132102"/>
            <a:ext cx="2433263" cy="215444"/>
          </a:xfrm>
          <a:prstGeom prst="rect">
            <a:avLst/>
          </a:prstGeom>
        </p:spPr>
        <p:txBody>
          <a:bodyPr wrap="square" lIns="0" tIns="0" rIns="0" bIns="0">
            <a:spAutoFit/>
          </a:bodyPr>
          <a:lstStyle/>
          <a:p>
            <a:pPr marL="176213" marR="0" lvl="0" indent="-176213" algn="l" defTabSz="457200" rtl="0" eaLnBrk="1" fontAlgn="auto" latinLnBrk="0" hangingPunct="1">
              <a:lnSpc>
                <a:spcPct val="100000"/>
              </a:lnSpc>
              <a:spcBef>
                <a:spcPts val="0"/>
              </a:spcBef>
              <a:spcAft>
                <a:spcPts val="0"/>
              </a:spcAft>
              <a:buClr>
                <a:schemeClr val="tx2"/>
              </a:buClr>
              <a:buSzPct val="100000"/>
              <a:buFont typeface="System Font Regular"/>
              <a:buChar char="•"/>
              <a:defRPr/>
            </a:pPr>
            <a:r>
              <a:rPr kumimoji="0" lang="en-US" sz="1400" b="1" i="0" u="none" strike="noStrike" kern="1200" cap="none" spc="0" normalizeH="0" baseline="0" noProof="0" dirty="0">
                <a:ln>
                  <a:noFill/>
                </a:ln>
                <a:solidFill>
                  <a:prstClr val="white"/>
                </a:solidFill>
                <a:effectLst/>
                <a:uLnTx/>
                <a:uFillTx/>
                <a:latin typeface="+mj-lt"/>
                <a:ea typeface="+mn-ea"/>
                <a:cs typeface="+mn-cs"/>
              </a:rPr>
              <a:t>Automated workflows</a:t>
            </a:r>
          </a:p>
        </p:txBody>
      </p:sp>
      <p:sp>
        <p:nvSpPr>
          <p:cNvPr id="30" name="Rectangle 29">
            <a:extLst>
              <a:ext uri="{FF2B5EF4-FFF2-40B4-BE49-F238E27FC236}">
                <a16:creationId xmlns:a16="http://schemas.microsoft.com/office/drawing/2014/main" id="{67DE5818-AC04-C940-B77D-3CB955EEB309}"/>
              </a:ext>
            </a:extLst>
          </p:cNvPr>
          <p:cNvSpPr/>
          <p:nvPr/>
        </p:nvSpPr>
        <p:spPr>
          <a:xfrm>
            <a:off x="5223039" y="4609735"/>
            <a:ext cx="2719993" cy="215444"/>
          </a:xfrm>
          <a:prstGeom prst="rect">
            <a:avLst/>
          </a:prstGeom>
        </p:spPr>
        <p:txBody>
          <a:bodyPr wrap="square" lIns="0" tIns="0" rIns="0" bIns="0">
            <a:spAutoFit/>
          </a:bodyPr>
          <a:lstStyle/>
          <a:p>
            <a:pPr marL="176213" marR="0" lvl="0" indent="-176213" algn="l" defTabSz="457200" rtl="0" eaLnBrk="1" fontAlgn="auto" latinLnBrk="0" hangingPunct="1">
              <a:lnSpc>
                <a:spcPct val="100000"/>
              </a:lnSpc>
              <a:spcBef>
                <a:spcPts val="0"/>
              </a:spcBef>
              <a:spcAft>
                <a:spcPts val="0"/>
              </a:spcAft>
              <a:buClr>
                <a:schemeClr val="tx2"/>
              </a:buClr>
              <a:buSzPct val="100000"/>
              <a:buFont typeface="System Font Regular"/>
              <a:buChar char="•"/>
              <a:defRPr/>
            </a:pPr>
            <a:r>
              <a:rPr kumimoji="0" lang="en-US" sz="1400" b="1" i="0" u="none" strike="noStrike" kern="1200" cap="none" spc="0" normalizeH="0" baseline="0" noProof="0" dirty="0">
                <a:ln>
                  <a:noFill/>
                </a:ln>
                <a:solidFill>
                  <a:prstClr val="white"/>
                </a:solidFill>
                <a:effectLst/>
                <a:uLnTx/>
                <a:uFillTx/>
                <a:latin typeface="+mj-lt"/>
                <a:ea typeface="+mn-ea"/>
                <a:cs typeface="+mn-cs"/>
              </a:rPr>
              <a:t>Legal project management </a:t>
            </a:r>
          </a:p>
        </p:txBody>
      </p:sp>
      <p:sp>
        <p:nvSpPr>
          <p:cNvPr id="31" name="Rectangle 30">
            <a:extLst>
              <a:ext uri="{FF2B5EF4-FFF2-40B4-BE49-F238E27FC236}">
                <a16:creationId xmlns:a16="http://schemas.microsoft.com/office/drawing/2014/main" id="{CFD225D1-9C2C-C54D-8856-BF82F28209DB}"/>
              </a:ext>
            </a:extLst>
          </p:cNvPr>
          <p:cNvSpPr/>
          <p:nvPr/>
        </p:nvSpPr>
        <p:spPr>
          <a:xfrm>
            <a:off x="5223039" y="5087366"/>
            <a:ext cx="2107063" cy="215444"/>
          </a:xfrm>
          <a:prstGeom prst="rect">
            <a:avLst/>
          </a:prstGeom>
        </p:spPr>
        <p:txBody>
          <a:bodyPr wrap="square" lIns="0" tIns="0" rIns="0" bIns="0">
            <a:spAutoFit/>
          </a:bodyPr>
          <a:lstStyle/>
          <a:p>
            <a:pPr marL="176213" marR="0" lvl="0" indent="-176213" algn="l" defTabSz="457200" rtl="0" eaLnBrk="1" fontAlgn="auto" latinLnBrk="0" hangingPunct="1">
              <a:lnSpc>
                <a:spcPct val="100000"/>
              </a:lnSpc>
              <a:spcBef>
                <a:spcPts val="0"/>
              </a:spcBef>
              <a:spcAft>
                <a:spcPts val="0"/>
              </a:spcAft>
              <a:buClr>
                <a:schemeClr val="tx2"/>
              </a:buClr>
              <a:buSzPct val="100000"/>
              <a:buFont typeface="System Font Regular"/>
              <a:buChar char="•"/>
              <a:defRPr/>
            </a:pPr>
            <a:r>
              <a:rPr kumimoji="0" lang="en-US" sz="1400" b="1" i="0" u="none" strike="noStrike" kern="1200" cap="none" spc="0" normalizeH="0" baseline="0" noProof="0" dirty="0">
                <a:ln>
                  <a:noFill/>
                </a:ln>
                <a:solidFill>
                  <a:prstClr val="white"/>
                </a:solidFill>
                <a:effectLst/>
                <a:uLnTx/>
                <a:uFillTx/>
                <a:latin typeface="+mj-lt"/>
                <a:ea typeface="+mn-ea"/>
                <a:cs typeface="+mn-cs"/>
              </a:rPr>
              <a:t>Client transparency</a:t>
            </a:r>
          </a:p>
        </p:txBody>
      </p:sp>
      <p:grpSp>
        <p:nvGrpSpPr>
          <p:cNvPr id="3" name="Group 2">
            <a:extLst>
              <a:ext uri="{FF2B5EF4-FFF2-40B4-BE49-F238E27FC236}">
                <a16:creationId xmlns:a16="http://schemas.microsoft.com/office/drawing/2014/main" id="{7F7B9737-44B8-4F4E-97EC-9B93A743A819}"/>
              </a:ext>
            </a:extLst>
          </p:cNvPr>
          <p:cNvGrpSpPr/>
          <p:nvPr/>
        </p:nvGrpSpPr>
        <p:grpSpPr>
          <a:xfrm>
            <a:off x="2430457" y="3910077"/>
            <a:ext cx="2489147" cy="2482584"/>
            <a:chOff x="685389" y="3910077"/>
            <a:chExt cx="2489147" cy="2482584"/>
          </a:xfrm>
        </p:grpSpPr>
        <p:sp>
          <p:nvSpPr>
            <p:cNvPr id="51" name="Oval 50">
              <a:extLst>
                <a:ext uri="{FF2B5EF4-FFF2-40B4-BE49-F238E27FC236}">
                  <a16:creationId xmlns:a16="http://schemas.microsoft.com/office/drawing/2014/main" id="{06CB1B5D-0314-4F4A-8BD0-9F7A71195171}"/>
                </a:ext>
              </a:extLst>
            </p:cNvPr>
            <p:cNvSpPr/>
            <p:nvPr/>
          </p:nvSpPr>
          <p:spPr>
            <a:xfrm>
              <a:off x="685389" y="3910077"/>
              <a:ext cx="2489147" cy="2482584"/>
            </a:xfrm>
            <a:prstGeom prst="ellipse">
              <a:avLst/>
            </a:prstGeom>
            <a:solidFill>
              <a:srgbClr val="F99C1B"/>
            </a:solidFill>
            <a:ln>
              <a:noFill/>
            </a:ln>
            <a:effectLst>
              <a:outerShdw blurRad="381000" dist="635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dirty="0">
                <a:ln>
                  <a:noFill/>
                </a:ln>
                <a:solidFill>
                  <a:prstClr val="white"/>
                </a:solidFill>
                <a:effectLst/>
                <a:uLnTx/>
                <a:uFillTx/>
                <a:latin typeface="Arial"/>
                <a:ea typeface="+mn-ea"/>
                <a:cs typeface="+mn-cs"/>
              </a:endParaRPr>
            </a:p>
          </p:txBody>
        </p:sp>
        <p:pic>
          <p:nvPicPr>
            <p:cNvPr id="21" name="Picture 20">
              <a:extLst>
                <a:ext uri="{FF2B5EF4-FFF2-40B4-BE49-F238E27FC236}">
                  <a16:creationId xmlns:a16="http://schemas.microsoft.com/office/drawing/2014/main" id="{B9464C79-282A-B242-B11B-5AB2F7EB9120}"/>
                </a:ext>
              </a:extLst>
            </p:cNvPr>
            <p:cNvPicPr>
              <a:picLocks noChangeAspect="1"/>
            </p:cNvPicPr>
            <p:nvPr/>
          </p:nvPicPr>
          <p:blipFill>
            <a:blip r:embed="rId4">
              <a:biLevel thresh="25000"/>
            </a:blip>
            <a:stretch>
              <a:fillRect/>
            </a:stretch>
          </p:blipFill>
          <p:spPr>
            <a:xfrm>
              <a:off x="1244278" y="5186528"/>
              <a:ext cx="501130" cy="407167"/>
            </a:xfrm>
            <a:prstGeom prst="rect">
              <a:avLst/>
            </a:prstGeom>
          </p:spPr>
        </p:pic>
        <p:sp>
          <p:nvSpPr>
            <p:cNvPr id="19" name="Rectangle 18">
              <a:extLst>
                <a:ext uri="{FF2B5EF4-FFF2-40B4-BE49-F238E27FC236}">
                  <a16:creationId xmlns:a16="http://schemas.microsoft.com/office/drawing/2014/main" id="{455B3DC5-DCCC-9E48-956C-D2D86E97A71C}"/>
                </a:ext>
              </a:extLst>
            </p:cNvPr>
            <p:cNvSpPr/>
            <p:nvPr/>
          </p:nvSpPr>
          <p:spPr>
            <a:xfrm>
              <a:off x="1147740" y="5600311"/>
              <a:ext cx="68480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mj-lt"/>
                  <a:ea typeface="+mn-ea"/>
                  <a:cs typeface="+mn-cs"/>
                </a:rPr>
                <a:t>Firm</a:t>
              </a:r>
            </a:p>
          </p:txBody>
        </p:sp>
        <p:grpSp>
          <p:nvGrpSpPr>
            <p:cNvPr id="35" name="Grupo 3127">
              <a:extLst>
                <a:ext uri="{FF2B5EF4-FFF2-40B4-BE49-F238E27FC236}">
                  <a16:creationId xmlns:a16="http://schemas.microsoft.com/office/drawing/2014/main" id="{D97833DD-BA9E-D64C-9DF3-60FF3B7C4D99}"/>
                </a:ext>
              </a:extLst>
            </p:cNvPr>
            <p:cNvGrpSpPr/>
            <p:nvPr/>
          </p:nvGrpSpPr>
          <p:grpSpPr>
            <a:xfrm>
              <a:off x="1672965" y="4224403"/>
              <a:ext cx="1067862" cy="840931"/>
              <a:chOff x="4322872" y="559889"/>
              <a:chExt cx="80289" cy="63227"/>
            </a:xfrm>
          </p:grpSpPr>
          <p:sp>
            <p:nvSpPr>
              <p:cNvPr id="41" name="Freeform: Shape 299">
                <a:extLst>
                  <a:ext uri="{FF2B5EF4-FFF2-40B4-BE49-F238E27FC236}">
                    <a16:creationId xmlns:a16="http://schemas.microsoft.com/office/drawing/2014/main" id="{7CA744F6-8C36-4340-ACCB-5CA28DF436D2}"/>
                  </a:ext>
                </a:extLst>
              </p:cNvPr>
              <p:cNvSpPr/>
              <p:nvPr/>
            </p:nvSpPr>
            <p:spPr>
              <a:xfrm rot="1800000">
                <a:off x="4359517" y="606700"/>
                <a:ext cx="26261" cy="8842"/>
              </a:xfrm>
              <a:custGeom>
                <a:avLst/>
                <a:gdLst>
                  <a:gd name="connsiteX0" fmla="*/ 1255 w 43489"/>
                  <a:gd name="connsiteY0" fmla="*/ 1255 h 8363"/>
                  <a:gd name="connsiteX1" fmla="*/ 43072 w 43489"/>
                  <a:gd name="connsiteY1" fmla="*/ 1255 h 8363"/>
                  <a:gd name="connsiteX2" fmla="*/ 43072 w 43489"/>
                  <a:gd name="connsiteY2" fmla="*/ 7945 h 8363"/>
                  <a:gd name="connsiteX3" fmla="*/ 1255 w 43489"/>
                  <a:gd name="connsiteY3" fmla="*/ 7945 h 8363"/>
                </a:gdLst>
                <a:ahLst/>
                <a:cxnLst>
                  <a:cxn ang="0">
                    <a:pos x="connsiteX0" y="connsiteY0"/>
                  </a:cxn>
                  <a:cxn ang="0">
                    <a:pos x="connsiteX1" y="connsiteY1"/>
                  </a:cxn>
                  <a:cxn ang="0">
                    <a:pos x="connsiteX2" y="connsiteY2"/>
                  </a:cxn>
                  <a:cxn ang="0">
                    <a:pos x="connsiteX3" y="connsiteY3"/>
                  </a:cxn>
                </a:cxnLst>
                <a:rect l="l" t="t" r="r" b="b"/>
                <a:pathLst>
                  <a:path w="43489" h="8363">
                    <a:moveTo>
                      <a:pt x="1255" y="1255"/>
                    </a:moveTo>
                    <a:lnTo>
                      <a:pt x="43072" y="1255"/>
                    </a:lnTo>
                    <a:lnTo>
                      <a:pt x="43072" y="7945"/>
                    </a:lnTo>
                    <a:lnTo>
                      <a:pt x="1255" y="794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36" name="Freeform: Shape 299">
                <a:extLst>
                  <a:ext uri="{FF2B5EF4-FFF2-40B4-BE49-F238E27FC236}">
                    <a16:creationId xmlns:a16="http://schemas.microsoft.com/office/drawing/2014/main" id="{6D8224D6-5850-9E4C-BB29-F328F4998517}"/>
                  </a:ext>
                </a:extLst>
              </p:cNvPr>
              <p:cNvSpPr/>
              <p:nvPr/>
            </p:nvSpPr>
            <p:spPr>
              <a:xfrm rot="19800000">
                <a:off x="4338731" y="608153"/>
                <a:ext cx="26261" cy="8842"/>
              </a:xfrm>
              <a:custGeom>
                <a:avLst/>
                <a:gdLst>
                  <a:gd name="connsiteX0" fmla="*/ 1255 w 43489"/>
                  <a:gd name="connsiteY0" fmla="*/ 1255 h 8363"/>
                  <a:gd name="connsiteX1" fmla="*/ 43072 w 43489"/>
                  <a:gd name="connsiteY1" fmla="*/ 1255 h 8363"/>
                  <a:gd name="connsiteX2" fmla="*/ 43072 w 43489"/>
                  <a:gd name="connsiteY2" fmla="*/ 7945 h 8363"/>
                  <a:gd name="connsiteX3" fmla="*/ 1255 w 43489"/>
                  <a:gd name="connsiteY3" fmla="*/ 7945 h 8363"/>
                </a:gdLst>
                <a:ahLst/>
                <a:cxnLst>
                  <a:cxn ang="0">
                    <a:pos x="connsiteX0" y="connsiteY0"/>
                  </a:cxn>
                  <a:cxn ang="0">
                    <a:pos x="connsiteX1" y="connsiteY1"/>
                  </a:cxn>
                  <a:cxn ang="0">
                    <a:pos x="connsiteX2" y="connsiteY2"/>
                  </a:cxn>
                  <a:cxn ang="0">
                    <a:pos x="connsiteX3" y="connsiteY3"/>
                  </a:cxn>
                </a:cxnLst>
                <a:rect l="l" t="t" r="r" b="b"/>
                <a:pathLst>
                  <a:path w="43489" h="8363">
                    <a:moveTo>
                      <a:pt x="1255" y="1255"/>
                    </a:moveTo>
                    <a:lnTo>
                      <a:pt x="43072" y="1255"/>
                    </a:lnTo>
                    <a:lnTo>
                      <a:pt x="43072" y="7945"/>
                    </a:lnTo>
                    <a:lnTo>
                      <a:pt x="1255" y="794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37" name="Freeform: Shape 300">
                <a:extLst>
                  <a:ext uri="{FF2B5EF4-FFF2-40B4-BE49-F238E27FC236}">
                    <a16:creationId xmlns:a16="http://schemas.microsoft.com/office/drawing/2014/main" id="{28D33F1B-B137-134E-B2D5-67FD069B31C6}"/>
                  </a:ext>
                </a:extLst>
              </p:cNvPr>
              <p:cNvSpPr/>
              <p:nvPr/>
            </p:nvSpPr>
            <p:spPr>
              <a:xfrm>
                <a:off x="4322872" y="591335"/>
                <a:ext cx="31781" cy="31781"/>
              </a:xfrm>
              <a:custGeom>
                <a:avLst/>
                <a:gdLst>
                  <a:gd name="connsiteX0" fmla="*/ 28017 w 31780"/>
                  <a:gd name="connsiteY0" fmla="*/ 20532 h 31780"/>
                  <a:gd name="connsiteX1" fmla="*/ 18316 w 31780"/>
                  <a:gd name="connsiteY1" fmla="*/ 17020 h 31780"/>
                  <a:gd name="connsiteX2" fmla="*/ 21661 w 31780"/>
                  <a:gd name="connsiteY2" fmla="*/ 15012 h 31780"/>
                  <a:gd name="connsiteX3" fmla="*/ 21661 w 31780"/>
                  <a:gd name="connsiteY3" fmla="*/ 3638 h 31780"/>
                  <a:gd name="connsiteX4" fmla="*/ 10287 w 31780"/>
                  <a:gd name="connsiteY4" fmla="*/ 3638 h 31780"/>
                  <a:gd name="connsiteX5" fmla="*/ 10287 w 31780"/>
                  <a:gd name="connsiteY5" fmla="*/ 15012 h 31780"/>
                  <a:gd name="connsiteX6" fmla="*/ 13800 w 31780"/>
                  <a:gd name="connsiteY6" fmla="*/ 17020 h 31780"/>
                  <a:gd name="connsiteX7" fmla="*/ 4265 w 31780"/>
                  <a:gd name="connsiteY7" fmla="*/ 20532 h 31780"/>
                  <a:gd name="connsiteX8" fmla="*/ 1255 w 31780"/>
                  <a:gd name="connsiteY8" fmla="*/ 31906 h 31780"/>
                  <a:gd name="connsiteX9" fmla="*/ 16141 w 31780"/>
                  <a:gd name="connsiteY9" fmla="*/ 31906 h 31780"/>
                  <a:gd name="connsiteX10" fmla="*/ 30861 w 31780"/>
                  <a:gd name="connsiteY10" fmla="*/ 31906 h 31780"/>
                  <a:gd name="connsiteX11" fmla="*/ 28017 w 31780"/>
                  <a:gd name="connsiteY11" fmla="*/ 20532 h 3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780" h="31780">
                    <a:moveTo>
                      <a:pt x="28017" y="20532"/>
                    </a:moveTo>
                    <a:cubicBezTo>
                      <a:pt x="25508" y="18358"/>
                      <a:pt x="21494" y="17354"/>
                      <a:pt x="18316" y="17020"/>
                    </a:cubicBezTo>
                    <a:cubicBezTo>
                      <a:pt x="19487" y="16685"/>
                      <a:pt x="20658" y="16016"/>
                      <a:pt x="21661" y="15012"/>
                    </a:cubicBezTo>
                    <a:cubicBezTo>
                      <a:pt x="24840" y="11834"/>
                      <a:pt x="24840" y="6816"/>
                      <a:pt x="21661" y="3638"/>
                    </a:cubicBezTo>
                    <a:cubicBezTo>
                      <a:pt x="18483" y="460"/>
                      <a:pt x="13465" y="460"/>
                      <a:pt x="10287" y="3638"/>
                    </a:cubicBezTo>
                    <a:cubicBezTo>
                      <a:pt x="7109" y="6816"/>
                      <a:pt x="7109" y="11834"/>
                      <a:pt x="10287" y="15012"/>
                    </a:cubicBezTo>
                    <a:cubicBezTo>
                      <a:pt x="11291" y="16016"/>
                      <a:pt x="12462" y="16685"/>
                      <a:pt x="13800" y="17020"/>
                    </a:cubicBezTo>
                    <a:cubicBezTo>
                      <a:pt x="10454" y="17354"/>
                      <a:pt x="6607" y="18358"/>
                      <a:pt x="4265" y="20532"/>
                    </a:cubicBezTo>
                    <a:cubicBezTo>
                      <a:pt x="3262" y="21369"/>
                      <a:pt x="1255" y="26888"/>
                      <a:pt x="1255" y="31906"/>
                    </a:cubicBezTo>
                    <a:lnTo>
                      <a:pt x="16141" y="31906"/>
                    </a:lnTo>
                    <a:lnTo>
                      <a:pt x="30861" y="31906"/>
                    </a:lnTo>
                    <a:cubicBezTo>
                      <a:pt x="30861" y="27056"/>
                      <a:pt x="29021" y="21536"/>
                      <a:pt x="28017" y="20532"/>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38" name="Freeform: Shape 301">
                <a:extLst>
                  <a:ext uri="{FF2B5EF4-FFF2-40B4-BE49-F238E27FC236}">
                    <a16:creationId xmlns:a16="http://schemas.microsoft.com/office/drawing/2014/main" id="{2E10CB8E-C3CC-3C48-B89B-06C4E5D99F6C}"/>
                  </a:ext>
                </a:extLst>
              </p:cNvPr>
              <p:cNvSpPr/>
              <p:nvPr/>
            </p:nvSpPr>
            <p:spPr>
              <a:xfrm>
                <a:off x="4371380" y="591335"/>
                <a:ext cx="31781" cy="31781"/>
              </a:xfrm>
              <a:custGeom>
                <a:avLst/>
                <a:gdLst>
                  <a:gd name="connsiteX0" fmla="*/ 28017 w 31780"/>
                  <a:gd name="connsiteY0" fmla="*/ 20532 h 31780"/>
                  <a:gd name="connsiteX1" fmla="*/ 18316 w 31780"/>
                  <a:gd name="connsiteY1" fmla="*/ 17020 h 31780"/>
                  <a:gd name="connsiteX2" fmla="*/ 21661 w 31780"/>
                  <a:gd name="connsiteY2" fmla="*/ 15012 h 31780"/>
                  <a:gd name="connsiteX3" fmla="*/ 21661 w 31780"/>
                  <a:gd name="connsiteY3" fmla="*/ 3638 h 31780"/>
                  <a:gd name="connsiteX4" fmla="*/ 10287 w 31780"/>
                  <a:gd name="connsiteY4" fmla="*/ 3638 h 31780"/>
                  <a:gd name="connsiteX5" fmla="*/ 10287 w 31780"/>
                  <a:gd name="connsiteY5" fmla="*/ 15012 h 31780"/>
                  <a:gd name="connsiteX6" fmla="*/ 13800 w 31780"/>
                  <a:gd name="connsiteY6" fmla="*/ 17020 h 31780"/>
                  <a:gd name="connsiteX7" fmla="*/ 4265 w 31780"/>
                  <a:gd name="connsiteY7" fmla="*/ 20532 h 31780"/>
                  <a:gd name="connsiteX8" fmla="*/ 1255 w 31780"/>
                  <a:gd name="connsiteY8" fmla="*/ 31906 h 31780"/>
                  <a:gd name="connsiteX9" fmla="*/ 16141 w 31780"/>
                  <a:gd name="connsiteY9" fmla="*/ 31906 h 31780"/>
                  <a:gd name="connsiteX10" fmla="*/ 30861 w 31780"/>
                  <a:gd name="connsiteY10" fmla="*/ 31906 h 31780"/>
                  <a:gd name="connsiteX11" fmla="*/ 28017 w 31780"/>
                  <a:gd name="connsiteY11" fmla="*/ 20532 h 3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780" h="31780">
                    <a:moveTo>
                      <a:pt x="28017" y="20532"/>
                    </a:moveTo>
                    <a:cubicBezTo>
                      <a:pt x="25508" y="18358"/>
                      <a:pt x="21494" y="17354"/>
                      <a:pt x="18316" y="17020"/>
                    </a:cubicBezTo>
                    <a:cubicBezTo>
                      <a:pt x="19487" y="16685"/>
                      <a:pt x="20658" y="16016"/>
                      <a:pt x="21661" y="15012"/>
                    </a:cubicBezTo>
                    <a:cubicBezTo>
                      <a:pt x="24840" y="11834"/>
                      <a:pt x="24840" y="6816"/>
                      <a:pt x="21661" y="3638"/>
                    </a:cubicBezTo>
                    <a:cubicBezTo>
                      <a:pt x="18483" y="460"/>
                      <a:pt x="13465" y="460"/>
                      <a:pt x="10287" y="3638"/>
                    </a:cubicBezTo>
                    <a:cubicBezTo>
                      <a:pt x="7109" y="6816"/>
                      <a:pt x="7109" y="11834"/>
                      <a:pt x="10287" y="15012"/>
                    </a:cubicBezTo>
                    <a:cubicBezTo>
                      <a:pt x="11291" y="16016"/>
                      <a:pt x="12462" y="16685"/>
                      <a:pt x="13800" y="17020"/>
                    </a:cubicBezTo>
                    <a:cubicBezTo>
                      <a:pt x="10454" y="17354"/>
                      <a:pt x="6607" y="18358"/>
                      <a:pt x="4265" y="20532"/>
                    </a:cubicBezTo>
                    <a:cubicBezTo>
                      <a:pt x="3262" y="21369"/>
                      <a:pt x="1255" y="26888"/>
                      <a:pt x="1255" y="31906"/>
                    </a:cubicBezTo>
                    <a:lnTo>
                      <a:pt x="16141" y="31906"/>
                    </a:lnTo>
                    <a:lnTo>
                      <a:pt x="30861" y="31906"/>
                    </a:lnTo>
                    <a:cubicBezTo>
                      <a:pt x="30861" y="27056"/>
                      <a:pt x="29021" y="21536"/>
                      <a:pt x="28017" y="20532"/>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39" name="Freeform: Shape 302">
                <a:extLst>
                  <a:ext uri="{FF2B5EF4-FFF2-40B4-BE49-F238E27FC236}">
                    <a16:creationId xmlns:a16="http://schemas.microsoft.com/office/drawing/2014/main" id="{60E0D092-72E0-A64C-A964-88DF2861E83F}"/>
                  </a:ext>
                </a:extLst>
              </p:cNvPr>
              <p:cNvSpPr/>
              <p:nvPr/>
            </p:nvSpPr>
            <p:spPr>
              <a:xfrm>
                <a:off x="4359002" y="579942"/>
                <a:ext cx="8363" cy="30108"/>
              </a:xfrm>
              <a:custGeom>
                <a:avLst/>
                <a:gdLst>
                  <a:gd name="connsiteX0" fmla="*/ 1255 w 8363"/>
                  <a:gd name="connsiteY0" fmla="*/ 1255 h 30108"/>
                  <a:gd name="connsiteX1" fmla="*/ 7945 w 8363"/>
                  <a:gd name="connsiteY1" fmla="*/ 1255 h 30108"/>
                  <a:gd name="connsiteX2" fmla="*/ 7945 w 8363"/>
                  <a:gd name="connsiteY2" fmla="*/ 29690 h 30108"/>
                  <a:gd name="connsiteX3" fmla="*/ 1255 w 8363"/>
                  <a:gd name="connsiteY3" fmla="*/ 29690 h 30108"/>
                </a:gdLst>
                <a:ahLst/>
                <a:cxnLst>
                  <a:cxn ang="0">
                    <a:pos x="connsiteX0" y="connsiteY0"/>
                  </a:cxn>
                  <a:cxn ang="0">
                    <a:pos x="connsiteX1" y="connsiteY1"/>
                  </a:cxn>
                  <a:cxn ang="0">
                    <a:pos x="connsiteX2" y="connsiteY2"/>
                  </a:cxn>
                  <a:cxn ang="0">
                    <a:pos x="connsiteX3" y="connsiteY3"/>
                  </a:cxn>
                </a:cxnLst>
                <a:rect l="l" t="t" r="r" b="b"/>
                <a:pathLst>
                  <a:path w="8363" h="30108">
                    <a:moveTo>
                      <a:pt x="1255" y="1255"/>
                    </a:moveTo>
                    <a:lnTo>
                      <a:pt x="7945" y="1255"/>
                    </a:lnTo>
                    <a:lnTo>
                      <a:pt x="7945" y="29690"/>
                    </a:lnTo>
                    <a:lnTo>
                      <a:pt x="1255" y="29690"/>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a:ln>
                    <a:noFill/>
                  </a:ln>
                  <a:solidFill>
                    <a:srgbClr val="000000"/>
                  </a:solidFill>
                  <a:effectLst/>
                  <a:uLnTx/>
                  <a:uFillTx/>
                  <a:latin typeface="Calibri"/>
                  <a:ea typeface="+mn-ea"/>
                  <a:cs typeface="+mn-cs"/>
                </a:endParaRPr>
              </a:p>
            </p:txBody>
          </p:sp>
          <p:sp>
            <p:nvSpPr>
              <p:cNvPr id="40" name="Freeform: Shape 303">
                <a:extLst>
                  <a:ext uri="{FF2B5EF4-FFF2-40B4-BE49-F238E27FC236}">
                    <a16:creationId xmlns:a16="http://schemas.microsoft.com/office/drawing/2014/main" id="{0BA5FE8E-F7F6-DA40-87D2-8BB8A81AFB96}"/>
                  </a:ext>
                </a:extLst>
              </p:cNvPr>
              <p:cNvSpPr/>
              <p:nvPr/>
            </p:nvSpPr>
            <p:spPr>
              <a:xfrm>
                <a:off x="4347767" y="559889"/>
                <a:ext cx="31781" cy="31781"/>
              </a:xfrm>
              <a:custGeom>
                <a:avLst/>
                <a:gdLst>
                  <a:gd name="connsiteX0" fmla="*/ 28017 w 31780"/>
                  <a:gd name="connsiteY0" fmla="*/ 20365 h 31780"/>
                  <a:gd name="connsiteX1" fmla="*/ 18316 w 31780"/>
                  <a:gd name="connsiteY1" fmla="*/ 17020 h 31780"/>
                  <a:gd name="connsiteX2" fmla="*/ 21661 w 31780"/>
                  <a:gd name="connsiteY2" fmla="*/ 15012 h 31780"/>
                  <a:gd name="connsiteX3" fmla="*/ 21661 w 31780"/>
                  <a:gd name="connsiteY3" fmla="*/ 3638 h 31780"/>
                  <a:gd name="connsiteX4" fmla="*/ 10287 w 31780"/>
                  <a:gd name="connsiteY4" fmla="*/ 3638 h 31780"/>
                  <a:gd name="connsiteX5" fmla="*/ 10287 w 31780"/>
                  <a:gd name="connsiteY5" fmla="*/ 15012 h 31780"/>
                  <a:gd name="connsiteX6" fmla="*/ 13800 w 31780"/>
                  <a:gd name="connsiteY6" fmla="*/ 17020 h 31780"/>
                  <a:gd name="connsiteX7" fmla="*/ 4265 w 31780"/>
                  <a:gd name="connsiteY7" fmla="*/ 20365 h 31780"/>
                  <a:gd name="connsiteX8" fmla="*/ 1255 w 31780"/>
                  <a:gd name="connsiteY8" fmla="*/ 31572 h 31780"/>
                  <a:gd name="connsiteX9" fmla="*/ 16141 w 31780"/>
                  <a:gd name="connsiteY9" fmla="*/ 31572 h 31780"/>
                  <a:gd name="connsiteX10" fmla="*/ 30861 w 31780"/>
                  <a:gd name="connsiteY10" fmla="*/ 31572 h 31780"/>
                  <a:gd name="connsiteX11" fmla="*/ 28017 w 31780"/>
                  <a:gd name="connsiteY11" fmla="*/ 20365 h 3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780" h="31780">
                    <a:moveTo>
                      <a:pt x="28017" y="20365"/>
                    </a:moveTo>
                    <a:cubicBezTo>
                      <a:pt x="25508" y="18190"/>
                      <a:pt x="21494" y="17354"/>
                      <a:pt x="18316" y="17020"/>
                    </a:cubicBezTo>
                    <a:cubicBezTo>
                      <a:pt x="19487" y="16685"/>
                      <a:pt x="20658" y="16016"/>
                      <a:pt x="21661" y="15012"/>
                    </a:cubicBezTo>
                    <a:cubicBezTo>
                      <a:pt x="24839" y="11834"/>
                      <a:pt x="24839" y="6816"/>
                      <a:pt x="21661" y="3638"/>
                    </a:cubicBezTo>
                    <a:cubicBezTo>
                      <a:pt x="18483" y="460"/>
                      <a:pt x="13465" y="460"/>
                      <a:pt x="10287" y="3638"/>
                    </a:cubicBezTo>
                    <a:cubicBezTo>
                      <a:pt x="7109" y="6816"/>
                      <a:pt x="7109" y="11834"/>
                      <a:pt x="10287" y="15012"/>
                    </a:cubicBezTo>
                    <a:cubicBezTo>
                      <a:pt x="11291" y="16016"/>
                      <a:pt x="12461" y="16685"/>
                      <a:pt x="13800" y="17020"/>
                    </a:cubicBezTo>
                    <a:cubicBezTo>
                      <a:pt x="10454" y="17354"/>
                      <a:pt x="6607" y="18190"/>
                      <a:pt x="4265" y="20365"/>
                    </a:cubicBezTo>
                    <a:cubicBezTo>
                      <a:pt x="3262" y="21201"/>
                      <a:pt x="1255" y="26554"/>
                      <a:pt x="1255" y="31572"/>
                    </a:cubicBezTo>
                    <a:lnTo>
                      <a:pt x="16141" y="31572"/>
                    </a:lnTo>
                    <a:lnTo>
                      <a:pt x="30861" y="31572"/>
                    </a:lnTo>
                    <a:cubicBezTo>
                      <a:pt x="30861" y="26721"/>
                      <a:pt x="29021" y="21369"/>
                      <a:pt x="28017" y="2036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PA" sz="1800" b="0" i="0" u="none" strike="noStrike" kern="1200" cap="none" spc="0" normalizeH="0" baseline="0" noProof="0" dirty="0">
                  <a:ln>
                    <a:noFill/>
                  </a:ln>
                  <a:solidFill>
                    <a:srgbClr val="000000"/>
                  </a:solidFill>
                  <a:effectLst/>
                  <a:uLnTx/>
                  <a:uFillTx/>
                  <a:latin typeface="Calibri"/>
                  <a:ea typeface="+mn-ea"/>
                  <a:cs typeface="+mn-cs"/>
                </a:endParaRPr>
              </a:p>
            </p:txBody>
          </p:sp>
        </p:grpSp>
      </p:grpSp>
    </p:spTree>
    <p:extLst>
      <p:ext uri="{BB962C8B-B14F-4D97-AF65-F5344CB8AC3E}">
        <p14:creationId xmlns:p14="http://schemas.microsoft.com/office/powerpoint/2010/main" val="3641247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anim calcmode="lin" valueType="num">
                                      <p:cBhvr>
                                        <p:cTn id="21" dur="500" fill="hold"/>
                                        <p:tgtEl>
                                          <p:spTgt spid="27"/>
                                        </p:tgtEl>
                                        <p:attrNameLst>
                                          <p:attrName>ppt_x</p:attrName>
                                        </p:attrNameLst>
                                      </p:cBhvr>
                                      <p:tavLst>
                                        <p:tav tm="0">
                                          <p:val>
                                            <p:strVal val="#ppt_x"/>
                                          </p:val>
                                        </p:tav>
                                        <p:tav tm="100000">
                                          <p:val>
                                            <p:strVal val="#ppt_x"/>
                                          </p:val>
                                        </p:tav>
                                      </p:tavLst>
                                    </p:anim>
                                    <p:anim calcmode="lin" valueType="num">
                                      <p:cBhvr>
                                        <p:cTn id="22" dur="500" fill="hold"/>
                                        <p:tgtEl>
                                          <p:spTgt spid="27"/>
                                        </p:tgtEl>
                                        <p:attrNameLst>
                                          <p:attrName>ppt_y</p:attrName>
                                        </p:attrNameLst>
                                      </p:cBhvr>
                                      <p:tavLst>
                                        <p:tav tm="0">
                                          <p:val>
                                            <p:strVal val="#ppt_y-.1"/>
                                          </p:val>
                                        </p:tav>
                                        <p:tav tm="100000">
                                          <p:val>
                                            <p:strVal val="#ppt_y"/>
                                          </p:val>
                                        </p:tav>
                                      </p:tavLst>
                                    </p:anim>
                                  </p:childTnLst>
                                </p:cTn>
                              </p:par>
                            </p:childTnLst>
                          </p:cTn>
                        </p:par>
                        <p:par>
                          <p:cTn id="23" fill="hold">
                            <p:stCondLst>
                              <p:cond delay="500"/>
                            </p:stCondLst>
                            <p:childTnLst>
                              <p:par>
                                <p:cTn id="24" presetID="47" presetClass="entr" presetSubtype="0" fill="hold" grpId="0" nodeType="after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anim calcmode="lin" valueType="num">
                                      <p:cBhvr>
                                        <p:cTn id="27" dur="500" fill="hold"/>
                                        <p:tgtEl>
                                          <p:spTgt spid="28"/>
                                        </p:tgtEl>
                                        <p:attrNameLst>
                                          <p:attrName>ppt_x</p:attrName>
                                        </p:attrNameLst>
                                      </p:cBhvr>
                                      <p:tavLst>
                                        <p:tav tm="0">
                                          <p:val>
                                            <p:strVal val="#ppt_x"/>
                                          </p:val>
                                        </p:tav>
                                        <p:tav tm="100000">
                                          <p:val>
                                            <p:strVal val="#ppt_x"/>
                                          </p:val>
                                        </p:tav>
                                      </p:tavLst>
                                    </p:anim>
                                    <p:anim calcmode="lin" valueType="num">
                                      <p:cBhvr>
                                        <p:cTn id="28" dur="500" fill="hold"/>
                                        <p:tgtEl>
                                          <p:spTgt spid="28"/>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47" presetClass="entr" presetSubtype="0" fill="hold" grpId="0"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anim calcmode="lin" valueType="num">
                                      <p:cBhvr>
                                        <p:cTn id="33" dur="500" fill="hold"/>
                                        <p:tgtEl>
                                          <p:spTgt spid="29"/>
                                        </p:tgtEl>
                                        <p:attrNameLst>
                                          <p:attrName>ppt_x</p:attrName>
                                        </p:attrNameLst>
                                      </p:cBhvr>
                                      <p:tavLst>
                                        <p:tav tm="0">
                                          <p:val>
                                            <p:strVal val="#ppt_x"/>
                                          </p:val>
                                        </p:tav>
                                        <p:tav tm="100000">
                                          <p:val>
                                            <p:strVal val="#ppt_x"/>
                                          </p:val>
                                        </p:tav>
                                      </p:tavLst>
                                    </p:anim>
                                    <p:anim calcmode="lin" valueType="num">
                                      <p:cBhvr>
                                        <p:cTn id="34" dur="500" fill="hold"/>
                                        <p:tgtEl>
                                          <p:spTgt spid="29"/>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47" presetClass="entr" presetSubtype="0" fill="hold" grpId="0" nodeType="after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500"/>
                                        <p:tgtEl>
                                          <p:spTgt spid="30"/>
                                        </p:tgtEl>
                                      </p:cBhvr>
                                    </p:animEffect>
                                    <p:anim calcmode="lin" valueType="num">
                                      <p:cBhvr>
                                        <p:cTn id="39" dur="500" fill="hold"/>
                                        <p:tgtEl>
                                          <p:spTgt spid="30"/>
                                        </p:tgtEl>
                                        <p:attrNameLst>
                                          <p:attrName>ppt_x</p:attrName>
                                        </p:attrNameLst>
                                      </p:cBhvr>
                                      <p:tavLst>
                                        <p:tav tm="0">
                                          <p:val>
                                            <p:strVal val="#ppt_x"/>
                                          </p:val>
                                        </p:tav>
                                        <p:tav tm="100000">
                                          <p:val>
                                            <p:strVal val="#ppt_x"/>
                                          </p:val>
                                        </p:tav>
                                      </p:tavLst>
                                    </p:anim>
                                    <p:anim calcmode="lin" valueType="num">
                                      <p:cBhvr>
                                        <p:cTn id="40" dur="500" fill="hold"/>
                                        <p:tgtEl>
                                          <p:spTgt spid="30"/>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47"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anim calcmode="lin" valueType="num">
                                      <p:cBhvr>
                                        <p:cTn id="45" dur="500" fill="hold"/>
                                        <p:tgtEl>
                                          <p:spTgt spid="31"/>
                                        </p:tgtEl>
                                        <p:attrNameLst>
                                          <p:attrName>ppt_x</p:attrName>
                                        </p:attrNameLst>
                                      </p:cBhvr>
                                      <p:tavLst>
                                        <p:tav tm="0">
                                          <p:val>
                                            <p:strVal val="#ppt_x"/>
                                          </p:val>
                                        </p:tav>
                                        <p:tav tm="100000">
                                          <p:val>
                                            <p:strVal val="#ppt_x"/>
                                          </p:val>
                                        </p:tav>
                                      </p:tavLst>
                                    </p:anim>
                                    <p:anim calcmode="lin" valueType="num">
                                      <p:cBhvr>
                                        <p:cTn id="4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27" grpId="0"/>
      <p:bldP spid="28" grpId="0"/>
      <p:bldP spid="29" grpId="0"/>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ounded Rectangle 24" hidden="1">
            <a:extLst>
              <a:ext uri="{FF2B5EF4-FFF2-40B4-BE49-F238E27FC236}">
                <a16:creationId xmlns:a16="http://schemas.microsoft.com/office/drawing/2014/main" id="{0C2FDC15-262A-2242-960E-979096E9C3BE}"/>
              </a:ext>
            </a:extLst>
          </p:cNvPr>
          <p:cNvSpPr/>
          <p:nvPr/>
        </p:nvSpPr>
        <p:spPr>
          <a:xfrm rot="16200000">
            <a:off x="777826" y="5460878"/>
            <a:ext cx="6409711" cy="1000817"/>
          </a:xfrm>
          <a:prstGeom prst="roundRect">
            <a:avLst>
              <a:gd name="adj" fmla="val 50000"/>
            </a:avLst>
          </a:prstGeom>
          <a:solidFill>
            <a:schemeClr val="bg1">
              <a:lumMod val="9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C558F546-3BF7-5B4A-91B9-005A33F8C48B}"/>
              </a:ext>
            </a:extLst>
          </p:cNvPr>
          <p:cNvSpPr>
            <a:spLocks noGrp="1"/>
          </p:cNvSpPr>
          <p:nvPr>
            <p:ph type="sldNum" sz="quarter" idx="11"/>
          </p:nvPr>
        </p:nvSpPr>
        <p:spPr/>
        <p:txBody>
          <a:bodyPr/>
          <a:lstStyle/>
          <a:p>
            <a:fld id="{0A655226-6E4F-8847-85CD-AF95F3D3F39A}" type="slidenum">
              <a:rPr lang="en-US" smtClean="0"/>
              <a:pPr/>
              <a:t>9</a:t>
            </a:fld>
            <a:endParaRPr lang="en-US"/>
          </a:p>
        </p:txBody>
      </p:sp>
      <p:grpSp>
        <p:nvGrpSpPr>
          <p:cNvPr id="52" name="Collaborative">
            <a:extLst>
              <a:ext uri="{FF2B5EF4-FFF2-40B4-BE49-F238E27FC236}">
                <a16:creationId xmlns:a16="http://schemas.microsoft.com/office/drawing/2014/main" id="{4F5965F6-104E-814C-A245-EE8F3DCCD8B3}"/>
              </a:ext>
            </a:extLst>
          </p:cNvPr>
          <p:cNvGrpSpPr/>
          <p:nvPr/>
        </p:nvGrpSpPr>
        <p:grpSpPr>
          <a:xfrm>
            <a:off x="6717209" y="2956267"/>
            <a:ext cx="1674045" cy="1674044"/>
            <a:chOff x="10200906" y="2974700"/>
            <a:chExt cx="734498" cy="734499"/>
          </a:xfrm>
        </p:grpSpPr>
        <p:grpSp>
          <p:nvGrpSpPr>
            <p:cNvPr id="53" name="Group 52">
              <a:extLst>
                <a:ext uri="{FF2B5EF4-FFF2-40B4-BE49-F238E27FC236}">
                  <a16:creationId xmlns:a16="http://schemas.microsoft.com/office/drawing/2014/main" id="{9C574A88-4AEA-4942-B35B-946D6C24532A}"/>
                </a:ext>
              </a:extLst>
            </p:cNvPr>
            <p:cNvGrpSpPr/>
            <p:nvPr/>
          </p:nvGrpSpPr>
          <p:grpSpPr>
            <a:xfrm>
              <a:off x="10200906" y="2974700"/>
              <a:ext cx="734498" cy="734499"/>
              <a:chOff x="10200906" y="2974700"/>
              <a:chExt cx="734498" cy="734499"/>
            </a:xfrm>
          </p:grpSpPr>
          <p:sp>
            <p:nvSpPr>
              <p:cNvPr id="55" name="Oval 54">
                <a:extLst>
                  <a:ext uri="{FF2B5EF4-FFF2-40B4-BE49-F238E27FC236}">
                    <a16:creationId xmlns:a16="http://schemas.microsoft.com/office/drawing/2014/main" id="{4640EBBA-7CBB-AD46-B0F9-0BBD6E9C0392}"/>
                  </a:ext>
                </a:extLst>
              </p:cNvPr>
              <p:cNvSpPr/>
              <p:nvPr/>
            </p:nvSpPr>
            <p:spPr>
              <a:xfrm>
                <a:off x="10200906" y="2974700"/>
                <a:ext cx="734498" cy="734499"/>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56" name="Picture 55">
                <a:extLst>
                  <a:ext uri="{FF2B5EF4-FFF2-40B4-BE49-F238E27FC236}">
                    <a16:creationId xmlns:a16="http://schemas.microsoft.com/office/drawing/2014/main" id="{8F6AC3FE-CACA-F243-A50E-08C57E95F222}"/>
                  </a:ext>
                </a:extLst>
              </p:cNvPr>
              <p:cNvPicPr>
                <a:picLocks noChangeAspect="1"/>
              </p:cNvPicPr>
              <p:nvPr/>
            </p:nvPicPr>
            <p:blipFill>
              <a:blip r:embed="rId3">
                <a:biLevel thresh="25000"/>
              </a:blip>
              <a:stretch>
                <a:fillRect/>
              </a:stretch>
            </p:blipFill>
            <p:spPr>
              <a:xfrm>
                <a:off x="10444740" y="3120397"/>
                <a:ext cx="250009" cy="250009"/>
              </a:xfrm>
              <a:prstGeom prst="rect">
                <a:avLst/>
              </a:prstGeom>
            </p:spPr>
          </p:pic>
        </p:grpSp>
        <p:sp>
          <p:nvSpPr>
            <p:cNvPr id="54" name="Rectangle 53">
              <a:extLst>
                <a:ext uri="{FF2B5EF4-FFF2-40B4-BE49-F238E27FC236}">
                  <a16:creationId xmlns:a16="http://schemas.microsoft.com/office/drawing/2014/main" id="{071D7823-7345-7747-AEC8-A3D7A691C1EB}"/>
                </a:ext>
              </a:extLst>
            </p:cNvPr>
            <p:cNvSpPr/>
            <p:nvPr/>
          </p:nvSpPr>
          <p:spPr>
            <a:xfrm>
              <a:off x="10260379" y="3414654"/>
              <a:ext cx="615552" cy="141791"/>
            </a:xfrm>
            <a:prstGeom prst="rect">
              <a:avLst/>
            </a:prstGeom>
          </p:spPr>
          <p:txBody>
            <a:bodyPr wrap="none">
              <a:spAutoFit/>
            </a:bodyPr>
            <a:lstStyle/>
            <a:p>
              <a:pPr algn="ctr"/>
              <a:r>
                <a:rPr lang="en-US" sz="1500" b="1" dirty="0">
                  <a:solidFill>
                    <a:schemeClr val="bg1"/>
                  </a:solidFill>
                  <a:latin typeface="+mj-lt"/>
                </a:rPr>
                <a:t>Collaborative</a:t>
              </a:r>
            </a:p>
          </p:txBody>
        </p:sp>
      </p:grpSp>
      <p:grpSp>
        <p:nvGrpSpPr>
          <p:cNvPr id="12" name="Group 11">
            <a:extLst>
              <a:ext uri="{FF2B5EF4-FFF2-40B4-BE49-F238E27FC236}">
                <a16:creationId xmlns:a16="http://schemas.microsoft.com/office/drawing/2014/main" id="{82C40273-CB78-3740-9F5A-FE5DD6FFF96B}"/>
              </a:ext>
            </a:extLst>
          </p:cNvPr>
          <p:cNvGrpSpPr/>
          <p:nvPr/>
        </p:nvGrpSpPr>
        <p:grpSpPr>
          <a:xfrm>
            <a:off x="650292" y="2956267"/>
            <a:ext cx="1666118" cy="1666118"/>
            <a:chOff x="650292" y="3006706"/>
            <a:chExt cx="1666118" cy="1666118"/>
          </a:xfrm>
        </p:grpSpPr>
        <p:grpSp>
          <p:nvGrpSpPr>
            <p:cNvPr id="47" name="Innovation">
              <a:extLst>
                <a:ext uri="{FF2B5EF4-FFF2-40B4-BE49-F238E27FC236}">
                  <a16:creationId xmlns:a16="http://schemas.microsoft.com/office/drawing/2014/main" id="{FE0F197A-5DBE-8E4F-89BC-14C66A259E3F}"/>
                </a:ext>
              </a:extLst>
            </p:cNvPr>
            <p:cNvGrpSpPr/>
            <p:nvPr/>
          </p:nvGrpSpPr>
          <p:grpSpPr>
            <a:xfrm>
              <a:off x="650292" y="3006706"/>
              <a:ext cx="1666118" cy="1666118"/>
              <a:chOff x="5433864" y="3619001"/>
              <a:chExt cx="1666118" cy="1666118"/>
            </a:xfrm>
          </p:grpSpPr>
          <p:sp>
            <p:nvSpPr>
              <p:cNvPr id="50" name="Oval 49">
                <a:extLst>
                  <a:ext uri="{FF2B5EF4-FFF2-40B4-BE49-F238E27FC236}">
                    <a16:creationId xmlns:a16="http://schemas.microsoft.com/office/drawing/2014/main" id="{B8EB497E-F4EE-7147-87B6-5681A918DF06}"/>
                  </a:ext>
                </a:extLst>
              </p:cNvPr>
              <p:cNvSpPr/>
              <p:nvPr/>
            </p:nvSpPr>
            <p:spPr>
              <a:xfrm>
                <a:off x="5433864" y="3619001"/>
                <a:ext cx="1666118" cy="166611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9" name="Rectangle 48">
                <a:extLst>
                  <a:ext uri="{FF2B5EF4-FFF2-40B4-BE49-F238E27FC236}">
                    <a16:creationId xmlns:a16="http://schemas.microsoft.com/office/drawing/2014/main" id="{C3041112-BD05-AB4C-BE6A-B079349EB1E0}"/>
                  </a:ext>
                </a:extLst>
              </p:cNvPr>
              <p:cNvSpPr/>
              <p:nvPr/>
            </p:nvSpPr>
            <p:spPr>
              <a:xfrm>
                <a:off x="5665680" y="4618976"/>
                <a:ext cx="1202485" cy="323165"/>
              </a:xfrm>
              <a:prstGeom prst="rect">
                <a:avLst/>
              </a:prstGeom>
            </p:spPr>
            <p:txBody>
              <a:bodyPr wrap="square">
                <a:spAutoFit/>
              </a:bodyPr>
              <a:lstStyle/>
              <a:p>
                <a:r>
                  <a:rPr lang="en-US" sz="1500" b="1" dirty="0">
                    <a:solidFill>
                      <a:schemeClr val="bg1"/>
                    </a:solidFill>
                    <a:latin typeface="+mj-lt"/>
                  </a:rPr>
                  <a:t>Innovative</a:t>
                </a:r>
              </a:p>
            </p:txBody>
          </p:sp>
        </p:grpSp>
        <p:pic>
          <p:nvPicPr>
            <p:cNvPr id="5" name="Picture 4">
              <a:extLst>
                <a:ext uri="{FF2B5EF4-FFF2-40B4-BE49-F238E27FC236}">
                  <a16:creationId xmlns:a16="http://schemas.microsoft.com/office/drawing/2014/main" id="{612D2716-121C-2447-A6F5-37B12E157FEE}"/>
                </a:ext>
              </a:extLst>
            </p:cNvPr>
            <p:cNvPicPr>
              <a:picLocks noChangeAspect="1"/>
            </p:cNvPicPr>
            <p:nvPr/>
          </p:nvPicPr>
          <p:blipFill>
            <a:blip r:embed="rId4"/>
            <a:stretch>
              <a:fillRect/>
            </a:stretch>
          </p:blipFill>
          <p:spPr>
            <a:xfrm>
              <a:off x="1312769" y="3366591"/>
              <a:ext cx="356804" cy="586809"/>
            </a:xfrm>
            <a:prstGeom prst="rect">
              <a:avLst/>
            </a:prstGeom>
          </p:spPr>
        </p:pic>
      </p:grpSp>
      <p:sp>
        <p:nvSpPr>
          <p:cNvPr id="32" name="Rectangle 31">
            <a:extLst>
              <a:ext uri="{FF2B5EF4-FFF2-40B4-BE49-F238E27FC236}">
                <a16:creationId xmlns:a16="http://schemas.microsoft.com/office/drawing/2014/main" id="{66958A75-29AE-8941-AC05-0CB1A80EC8FC}"/>
              </a:ext>
            </a:extLst>
          </p:cNvPr>
          <p:cNvSpPr/>
          <p:nvPr/>
        </p:nvSpPr>
        <p:spPr>
          <a:xfrm>
            <a:off x="2750404" y="3091709"/>
            <a:ext cx="2558673" cy="246221"/>
          </a:xfrm>
          <a:prstGeom prst="rect">
            <a:avLst/>
          </a:prstGeom>
        </p:spPr>
        <p:txBody>
          <a:bodyPr wrap="square" lIns="0" tIns="0" rIns="0" bIns="0">
            <a:spAutoFit/>
          </a:bodyPr>
          <a:lstStyle/>
          <a:p>
            <a:r>
              <a:rPr lang="en-US" sz="1600" b="1" dirty="0">
                <a:latin typeface="Arial Black" panose="020B0604020202020204" pitchFamily="34" charset="0"/>
                <a:cs typeface="Arial Black" panose="020B0604020202020204" pitchFamily="34" charset="0"/>
              </a:rPr>
              <a:t>Process Management</a:t>
            </a:r>
          </a:p>
        </p:txBody>
      </p:sp>
      <p:sp>
        <p:nvSpPr>
          <p:cNvPr id="33" name="Rectangle 32">
            <a:extLst>
              <a:ext uri="{FF2B5EF4-FFF2-40B4-BE49-F238E27FC236}">
                <a16:creationId xmlns:a16="http://schemas.microsoft.com/office/drawing/2014/main" id="{3BF15A81-A3F8-A044-BED7-45ED6463FB1A}"/>
              </a:ext>
            </a:extLst>
          </p:cNvPr>
          <p:cNvSpPr/>
          <p:nvPr/>
        </p:nvSpPr>
        <p:spPr>
          <a:xfrm>
            <a:off x="2750403" y="3715100"/>
            <a:ext cx="2558673" cy="1923604"/>
          </a:xfrm>
          <a:prstGeom prst="rect">
            <a:avLst/>
          </a:prstGeom>
        </p:spPr>
        <p:txBody>
          <a:bodyPr wrap="square" lIns="0" tIns="0" rIns="0" bIns="0">
            <a:spAutoFit/>
          </a:bodyPr>
          <a:lstStyle/>
          <a:p>
            <a:pPr>
              <a:spcAft>
                <a:spcPts val="1500"/>
              </a:spcAft>
            </a:pPr>
            <a:r>
              <a:rPr lang="en-US" sz="1500" dirty="0">
                <a:solidFill>
                  <a:schemeClr val="bg2">
                    <a:lumMod val="50000"/>
                  </a:schemeClr>
                </a:solidFill>
                <a:latin typeface="+mj-lt"/>
              </a:rPr>
              <a:t>Litigation management</a:t>
            </a:r>
          </a:p>
          <a:p>
            <a:pPr>
              <a:spcAft>
                <a:spcPts val="1500"/>
              </a:spcAft>
            </a:pPr>
            <a:r>
              <a:rPr lang="en-US" sz="1500" dirty="0">
                <a:solidFill>
                  <a:schemeClr val="bg2">
                    <a:lumMod val="50000"/>
                  </a:schemeClr>
                </a:solidFill>
                <a:latin typeface="+mj-lt"/>
              </a:rPr>
              <a:t>Transaction management</a:t>
            </a:r>
          </a:p>
          <a:p>
            <a:pPr>
              <a:spcAft>
                <a:spcPts val="1500"/>
              </a:spcAft>
            </a:pPr>
            <a:r>
              <a:rPr lang="en-US" sz="1500" dirty="0">
                <a:solidFill>
                  <a:schemeClr val="bg2">
                    <a:lumMod val="50000"/>
                  </a:schemeClr>
                </a:solidFill>
                <a:latin typeface="+mj-lt"/>
              </a:rPr>
              <a:t>Document collaboration</a:t>
            </a:r>
          </a:p>
          <a:p>
            <a:pPr>
              <a:spcAft>
                <a:spcPts val="1500"/>
              </a:spcAft>
            </a:pPr>
            <a:r>
              <a:rPr lang="en-US" sz="1500" dirty="0">
                <a:solidFill>
                  <a:schemeClr val="bg2">
                    <a:lumMod val="50000"/>
                  </a:schemeClr>
                </a:solidFill>
                <a:latin typeface="+mj-lt"/>
              </a:rPr>
              <a:t>Workflow management</a:t>
            </a:r>
          </a:p>
          <a:p>
            <a:pPr>
              <a:spcAft>
                <a:spcPts val="1500"/>
              </a:spcAft>
            </a:pPr>
            <a:endParaRPr lang="en-US" sz="1500" dirty="0">
              <a:solidFill>
                <a:schemeClr val="bg2">
                  <a:lumMod val="50000"/>
                </a:schemeClr>
              </a:solidFill>
              <a:latin typeface="+mj-lt"/>
            </a:endParaRPr>
          </a:p>
        </p:txBody>
      </p:sp>
      <p:cxnSp>
        <p:nvCxnSpPr>
          <p:cNvPr id="10" name="Straight Connector 9">
            <a:extLst>
              <a:ext uri="{FF2B5EF4-FFF2-40B4-BE49-F238E27FC236}">
                <a16:creationId xmlns:a16="http://schemas.microsoft.com/office/drawing/2014/main" id="{93964CD9-5219-E744-B607-F26833E7B7AD}"/>
              </a:ext>
            </a:extLst>
          </p:cNvPr>
          <p:cNvCxnSpPr>
            <a:cxnSpLocks/>
          </p:cNvCxnSpPr>
          <p:nvPr/>
        </p:nvCxnSpPr>
        <p:spPr>
          <a:xfrm>
            <a:off x="2750404" y="3556975"/>
            <a:ext cx="1279336" cy="0"/>
          </a:xfrm>
          <a:prstGeom prst="line">
            <a:avLst/>
          </a:prstGeom>
          <a:ln w="73025" cmpd="sng">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3" name="Picture 22">
            <a:extLst>
              <a:ext uri="{FF2B5EF4-FFF2-40B4-BE49-F238E27FC236}">
                <a16:creationId xmlns:a16="http://schemas.microsoft.com/office/drawing/2014/main" id="{2E2EE99D-88F8-A34E-A5AE-3D3CDF42579B}"/>
              </a:ext>
            </a:extLst>
          </p:cNvPr>
          <p:cNvPicPr>
            <a:picLocks noChangeAspect="1"/>
          </p:cNvPicPr>
          <p:nvPr/>
        </p:nvPicPr>
        <p:blipFill rotWithShape="1">
          <a:blip r:embed="rId5">
            <a:extLst>
              <a:ext uri="{28A0092B-C50C-407E-A947-70E740481C1C}">
                <a14:useLocalDpi xmlns:a14="http://schemas.microsoft.com/office/drawing/2010/main"/>
              </a:ext>
            </a:extLst>
          </a:blip>
          <a:srcRect t="8161" b="16347"/>
          <a:stretch/>
        </p:blipFill>
        <p:spPr>
          <a:xfrm flipH="1">
            <a:off x="-3176" y="0"/>
            <a:ext cx="12191999" cy="2065640"/>
          </a:xfrm>
          <a:prstGeom prst="rect">
            <a:avLst/>
          </a:prstGeom>
        </p:spPr>
      </p:pic>
      <p:sp>
        <p:nvSpPr>
          <p:cNvPr id="24" name="Rectangle 23">
            <a:extLst>
              <a:ext uri="{FF2B5EF4-FFF2-40B4-BE49-F238E27FC236}">
                <a16:creationId xmlns:a16="http://schemas.microsoft.com/office/drawing/2014/main" id="{B2F49960-F8DC-2A40-A868-C3FAD71806CC}"/>
              </a:ext>
            </a:extLst>
          </p:cNvPr>
          <p:cNvSpPr/>
          <p:nvPr/>
        </p:nvSpPr>
        <p:spPr>
          <a:xfrm>
            <a:off x="-3179" y="0"/>
            <a:ext cx="12192003" cy="2072196"/>
          </a:xfrm>
          <a:prstGeom prst="rect">
            <a:avLst/>
          </a:prstGeom>
          <a:gradFill>
            <a:gsLst>
              <a:gs pos="47000">
                <a:schemeClr val="tx1">
                  <a:lumMod val="50000"/>
                  <a:alpha val="58000"/>
                </a:schemeClr>
              </a:gs>
              <a:gs pos="0">
                <a:schemeClr val="tx1">
                  <a:lumMod val="50000"/>
                  <a:alpha val="64000"/>
                </a:schemeClr>
              </a:gs>
              <a:gs pos="99000">
                <a:schemeClr val="tx1">
                  <a:lumMod val="50000"/>
                  <a:alpha val="8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26" name="Rectangle 25">
            <a:extLst>
              <a:ext uri="{FF2B5EF4-FFF2-40B4-BE49-F238E27FC236}">
                <a16:creationId xmlns:a16="http://schemas.microsoft.com/office/drawing/2014/main" id="{4F87A051-B754-F449-9A0B-9137DB700A17}"/>
              </a:ext>
            </a:extLst>
          </p:cNvPr>
          <p:cNvSpPr/>
          <p:nvPr/>
        </p:nvSpPr>
        <p:spPr>
          <a:xfrm>
            <a:off x="697506" y="733340"/>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27" name="Rectangle 26">
            <a:extLst>
              <a:ext uri="{FF2B5EF4-FFF2-40B4-BE49-F238E27FC236}">
                <a16:creationId xmlns:a16="http://schemas.microsoft.com/office/drawing/2014/main" id="{6B1BDC81-4A25-B14F-9129-587BABD30ED9}"/>
              </a:ext>
            </a:extLst>
          </p:cNvPr>
          <p:cNvSpPr/>
          <p:nvPr/>
        </p:nvSpPr>
        <p:spPr>
          <a:xfrm>
            <a:off x="650292" y="1098453"/>
            <a:ext cx="11394563" cy="1231106"/>
          </a:xfrm>
          <a:prstGeom prst="rect">
            <a:avLst/>
          </a:prstGeom>
        </p:spPr>
        <p:txBody>
          <a:bodyPr wrap="square" lIns="0" tIns="0" rIns="0" bIns="0">
            <a:spAutoFit/>
          </a:bodyPr>
          <a:lstStyle/>
          <a:p>
            <a:pPr defTabSz="914126">
              <a:spcBef>
                <a:spcPts val="400"/>
              </a:spcBef>
              <a:defRPr/>
            </a:pPr>
            <a:r>
              <a:rPr lang="en-US" sz="7900" dirty="0">
                <a:solidFill>
                  <a:schemeClr val="bg1">
                    <a:alpha val="60000"/>
                  </a:schemeClr>
                </a:solidFill>
                <a:latin typeface="+mj-lt"/>
              </a:rPr>
              <a:t>SHARE OF WALLET</a:t>
            </a:r>
          </a:p>
        </p:txBody>
      </p:sp>
      <p:sp>
        <p:nvSpPr>
          <p:cNvPr id="28" name="Freeform 27">
            <a:extLst>
              <a:ext uri="{FF2B5EF4-FFF2-40B4-BE49-F238E27FC236}">
                <a16:creationId xmlns:a16="http://schemas.microsoft.com/office/drawing/2014/main" id="{FF6FDC68-3833-AB44-B805-C2E2066F1CEC}"/>
              </a:ext>
            </a:extLst>
          </p:cNvPr>
          <p:cNvSpPr/>
          <p:nvPr/>
        </p:nvSpPr>
        <p:spPr>
          <a:xfrm rot="10800000">
            <a:off x="7368765" y="-9780"/>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3D62FF6D-4A28-104B-A2AB-12AEDA4AB4FF}"/>
              </a:ext>
            </a:extLst>
          </p:cNvPr>
          <p:cNvSpPr/>
          <p:nvPr/>
        </p:nvSpPr>
        <p:spPr>
          <a:xfrm rot="10800000">
            <a:off x="10054538" y="-9779"/>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03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out)">
                                      <p:cBhvr>
                                        <p:cTn id="7" dur="200"/>
                                        <p:tgtEl>
                                          <p:spTgt spid="12"/>
                                        </p:tgtEl>
                                      </p:cBhvr>
                                    </p:animEffect>
                                  </p:childTnLst>
                                </p:cTn>
                              </p:par>
                              <p:par>
                                <p:cTn id="8" presetID="6" presetClass="entr" presetSubtype="32" fill="hold" nodeType="withEffect">
                                  <p:stCondLst>
                                    <p:cond delay="500"/>
                                  </p:stCondLst>
                                  <p:childTnLst>
                                    <p:set>
                                      <p:cBhvr>
                                        <p:cTn id="9" dur="1" fill="hold">
                                          <p:stCondLst>
                                            <p:cond delay="0"/>
                                          </p:stCondLst>
                                        </p:cTn>
                                        <p:tgtEl>
                                          <p:spTgt spid="52"/>
                                        </p:tgtEl>
                                        <p:attrNameLst>
                                          <p:attrName>style.visibility</p:attrName>
                                        </p:attrNameLst>
                                      </p:cBhvr>
                                      <p:to>
                                        <p:strVal val="visible"/>
                                      </p:to>
                                    </p:set>
                                    <p:animEffect transition="in" filter="circle(out)">
                                      <p:cBhvr>
                                        <p:cTn id="10" dur="200"/>
                                        <p:tgtEl>
                                          <p:spTgt spid="52"/>
                                        </p:tgtEl>
                                      </p:cBhvr>
                                    </p:animEffect>
                                  </p:childTnLst>
                                </p:cTn>
                              </p:par>
                            </p:childTnLst>
                          </p:cTn>
                        </p:par>
                        <p:par>
                          <p:cTn id="11" fill="hold">
                            <p:stCondLst>
                              <p:cond delay="700"/>
                            </p:stCondLst>
                            <p:childTnLst>
                              <p:par>
                                <p:cTn id="12" presetID="47" presetClass="entr" presetSubtype="0" fill="hold" grpId="0" nodeType="after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500"/>
                                        <p:tgtEl>
                                          <p:spTgt spid="32"/>
                                        </p:tgtEl>
                                      </p:cBhvr>
                                    </p:animEffect>
                                    <p:anim calcmode="lin" valueType="num">
                                      <p:cBhvr>
                                        <p:cTn id="15" dur="500" fill="hold"/>
                                        <p:tgtEl>
                                          <p:spTgt spid="32"/>
                                        </p:tgtEl>
                                        <p:attrNameLst>
                                          <p:attrName>ppt_x</p:attrName>
                                        </p:attrNameLst>
                                      </p:cBhvr>
                                      <p:tavLst>
                                        <p:tav tm="0">
                                          <p:val>
                                            <p:strVal val="#ppt_x"/>
                                          </p:val>
                                        </p:tav>
                                        <p:tav tm="100000">
                                          <p:val>
                                            <p:strVal val="#ppt_x"/>
                                          </p:val>
                                        </p:tav>
                                      </p:tavLst>
                                    </p:anim>
                                    <p:anim calcmode="lin" valueType="num">
                                      <p:cBhvr>
                                        <p:cTn id="16" dur="500" fill="hold"/>
                                        <p:tgtEl>
                                          <p:spTgt spid="32"/>
                                        </p:tgtEl>
                                        <p:attrNameLst>
                                          <p:attrName>ppt_y</p:attrName>
                                        </p:attrNameLst>
                                      </p:cBhvr>
                                      <p:tavLst>
                                        <p:tav tm="0">
                                          <p:val>
                                            <p:strVal val="#ppt_y-.1"/>
                                          </p:val>
                                        </p:tav>
                                        <p:tav tm="100000">
                                          <p:val>
                                            <p:strVal val="#ppt_y"/>
                                          </p:val>
                                        </p:tav>
                                      </p:tavLst>
                                    </p:anim>
                                  </p:childTnLst>
                                </p:cTn>
                              </p:par>
                            </p:childTnLst>
                          </p:cTn>
                        </p:par>
                        <p:par>
                          <p:cTn id="17" fill="hold">
                            <p:stCondLst>
                              <p:cond delay="1200"/>
                            </p:stCondLst>
                            <p:childTnLst>
                              <p:par>
                                <p:cTn id="18" presetID="22" presetClass="entr" presetSubtype="8"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1700"/>
                            </p:stCondLst>
                            <p:childTnLst>
                              <p:par>
                                <p:cTn id="22" presetID="47" presetClass="entr" presetSubtype="0" fill="hold" grpId="0" nodeType="afterEffect">
                                  <p:stCondLst>
                                    <p:cond delay="0"/>
                                  </p:stCondLst>
                                  <p:childTnLst>
                                    <p:set>
                                      <p:cBhvr>
                                        <p:cTn id="23" dur="1" fill="hold">
                                          <p:stCondLst>
                                            <p:cond delay="0"/>
                                          </p:stCondLst>
                                        </p:cTn>
                                        <p:tgtEl>
                                          <p:spTgt spid="33">
                                            <p:txEl>
                                              <p:pRg st="0" end="0"/>
                                            </p:txEl>
                                          </p:spTgt>
                                        </p:tgtEl>
                                        <p:attrNameLst>
                                          <p:attrName>style.visibility</p:attrName>
                                        </p:attrNameLst>
                                      </p:cBhvr>
                                      <p:to>
                                        <p:strVal val="visible"/>
                                      </p:to>
                                    </p:set>
                                    <p:animEffect transition="in" filter="fade">
                                      <p:cBhvr>
                                        <p:cTn id="24" dur="500"/>
                                        <p:tgtEl>
                                          <p:spTgt spid="33">
                                            <p:txEl>
                                              <p:pRg st="0" end="0"/>
                                            </p:txEl>
                                          </p:spTgt>
                                        </p:tgtEl>
                                      </p:cBhvr>
                                    </p:animEffect>
                                    <p:anim calcmode="lin" valueType="num">
                                      <p:cBhvr>
                                        <p:cTn id="25"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26" dur="500" fill="hold"/>
                                        <p:tgtEl>
                                          <p:spTgt spid="33">
                                            <p:txEl>
                                              <p:pRg st="0" end="0"/>
                                            </p:txEl>
                                          </p:spTgt>
                                        </p:tgtEl>
                                        <p:attrNameLst>
                                          <p:attrName>ppt_y</p:attrName>
                                        </p:attrNameLst>
                                      </p:cBhvr>
                                      <p:tavLst>
                                        <p:tav tm="0">
                                          <p:val>
                                            <p:strVal val="#ppt_y-.1"/>
                                          </p:val>
                                        </p:tav>
                                        <p:tav tm="100000">
                                          <p:val>
                                            <p:strVal val="#ppt_y"/>
                                          </p:val>
                                        </p:tav>
                                      </p:tavLst>
                                    </p:anim>
                                  </p:childTnLst>
                                </p:cTn>
                              </p:par>
                            </p:childTnLst>
                          </p:cTn>
                        </p:par>
                        <p:par>
                          <p:cTn id="27" fill="hold">
                            <p:stCondLst>
                              <p:cond delay="2200"/>
                            </p:stCondLst>
                            <p:childTnLst>
                              <p:par>
                                <p:cTn id="28" presetID="47" presetClass="entr" presetSubtype="0" fill="hold" grpId="0" nodeType="afterEffect">
                                  <p:stCondLst>
                                    <p:cond delay="0"/>
                                  </p:stCondLst>
                                  <p:childTnLst>
                                    <p:set>
                                      <p:cBhvr>
                                        <p:cTn id="29" dur="1" fill="hold">
                                          <p:stCondLst>
                                            <p:cond delay="0"/>
                                          </p:stCondLst>
                                        </p:cTn>
                                        <p:tgtEl>
                                          <p:spTgt spid="33">
                                            <p:txEl>
                                              <p:pRg st="1" end="1"/>
                                            </p:txEl>
                                          </p:spTgt>
                                        </p:tgtEl>
                                        <p:attrNameLst>
                                          <p:attrName>style.visibility</p:attrName>
                                        </p:attrNameLst>
                                      </p:cBhvr>
                                      <p:to>
                                        <p:strVal val="visible"/>
                                      </p:to>
                                    </p:set>
                                    <p:animEffect transition="in" filter="fade">
                                      <p:cBhvr>
                                        <p:cTn id="30" dur="500"/>
                                        <p:tgtEl>
                                          <p:spTgt spid="33">
                                            <p:txEl>
                                              <p:pRg st="1" end="1"/>
                                            </p:txEl>
                                          </p:spTgt>
                                        </p:tgtEl>
                                      </p:cBhvr>
                                    </p:animEffect>
                                    <p:anim calcmode="lin" valueType="num">
                                      <p:cBhvr>
                                        <p:cTn id="31" dur="500" fill="hold"/>
                                        <p:tgtEl>
                                          <p:spTgt spid="33">
                                            <p:txEl>
                                              <p:pRg st="1" end="1"/>
                                            </p:txEl>
                                          </p:spTgt>
                                        </p:tgtEl>
                                        <p:attrNameLst>
                                          <p:attrName>ppt_x</p:attrName>
                                        </p:attrNameLst>
                                      </p:cBhvr>
                                      <p:tavLst>
                                        <p:tav tm="0">
                                          <p:val>
                                            <p:strVal val="#ppt_x"/>
                                          </p:val>
                                        </p:tav>
                                        <p:tav tm="100000">
                                          <p:val>
                                            <p:strVal val="#ppt_x"/>
                                          </p:val>
                                        </p:tav>
                                      </p:tavLst>
                                    </p:anim>
                                    <p:anim calcmode="lin" valueType="num">
                                      <p:cBhvr>
                                        <p:cTn id="32" dur="500" fill="hold"/>
                                        <p:tgtEl>
                                          <p:spTgt spid="33">
                                            <p:txEl>
                                              <p:pRg st="1" end="1"/>
                                            </p:txEl>
                                          </p:spTgt>
                                        </p:tgtEl>
                                        <p:attrNameLst>
                                          <p:attrName>ppt_y</p:attrName>
                                        </p:attrNameLst>
                                      </p:cBhvr>
                                      <p:tavLst>
                                        <p:tav tm="0">
                                          <p:val>
                                            <p:strVal val="#ppt_y-.1"/>
                                          </p:val>
                                        </p:tav>
                                        <p:tav tm="100000">
                                          <p:val>
                                            <p:strVal val="#ppt_y"/>
                                          </p:val>
                                        </p:tav>
                                      </p:tavLst>
                                    </p:anim>
                                  </p:childTnLst>
                                </p:cTn>
                              </p:par>
                            </p:childTnLst>
                          </p:cTn>
                        </p:par>
                        <p:par>
                          <p:cTn id="33" fill="hold">
                            <p:stCondLst>
                              <p:cond delay="2700"/>
                            </p:stCondLst>
                            <p:childTnLst>
                              <p:par>
                                <p:cTn id="34" presetID="47" presetClass="entr" presetSubtype="0" fill="hold" grpId="0" nodeType="afterEffect">
                                  <p:stCondLst>
                                    <p:cond delay="0"/>
                                  </p:stCondLst>
                                  <p:childTnLst>
                                    <p:set>
                                      <p:cBhvr>
                                        <p:cTn id="35" dur="1" fill="hold">
                                          <p:stCondLst>
                                            <p:cond delay="0"/>
                                          </p:stCondLst>
                                        </p:cTn>
                                        <p:tgtEl>
                                          <p:spTgt spid="33">
                                            <p:txEl>
                                              <p:pRg st="2" end="2"/>
                                            </p:txEl>
                                          </p:spTgt>
                                        </p:tgtEl>
                                        <p:attrNameLst>
                                          <p:attrName>style.visibility</p:attrName>
                                        </p:attrNameLst>
                                      </p:cBhvr>
                                      <p:to>
                                        <p:strVal val="visible"/>
                                      </p:to>
                                    </p:set>
                                    <p:animEffect transition="in" filter="fade">
                                      <p:cBhvr>
                                        <p:cTn id="36" dur="500"/>
                                        <p:tgtEl>
                                          <p:spTgt spid="33">
                                            <p:txEl>
                                              <p:pRg st="2" end="2"/>
                                            </p:txEl>
                                          </p:spTgt>
                                        </p:tgtEl>
                                      </p:cBhvr>
                                    </p:animEffect>
                                    <p:anim calcmode="lin" valueType="num">
                                      <p:cBhvr>
                                        <p:cTn id="37" dur="500" fill="hold"/>
                                        <p:tgtEl>
                                          <p:spTgt spid="33">
                                            <p:txEl>
                                              <p:pRg st="2" end="2"/>
                                            </p:txEl>
                                          </p:spTgt>
                                        </p:tgtEl>
                                        <p:attrNameLst>
                                          <p:attrName>ppt_x</p:attrName>
                                        </p:attrNameLst>
                                      </p:cBhvr>
                                      <p:tavLst>
                                        <p:tav tm="0">
                                          <p:val>
                                            <p:strVal val="#ppt_x"/>
                                          </p:val>
                                        </p:tav>
                                        <p:tav tm="100000">
                                          <p:val>
                                            <p:strVal val="#ppt_x"/>
                                          </p:val>
                                        </p:tav>
                                      </p:tavLst>
                                    </p:anim>
                                    <p:anim calcmode="lin" valueType="num">
                                      <p:cBhvr>
                                        <p:cTn id="38" dur="500" fill="hold"/>
                                        <p:tgtEl>
                                          <p:spTgt spid="33">
                                            <p:txEl>
                                              <p:pRg st="2" end="2"/>
                                            </p:txEl>
                                          </p:spTgt>
                                        </p:tgtEl>
                                        <p:attrNameLst>
                                          <p:attrName>ppt_y</p:attrName>
                                        </p:attrNameLst>
                                      </p:cBhvr>
                                      <p:tavLst>
                                        <p:tav tm="0">
                                          <p:val>
                                            <p:strVal val="#ppt_y-.1"/>
                                          </p:val>
                                        </p:tav>
                                        <p:tav tm="100000">
                                          <p:val>
                                            <p:strVal val="#ppt_y"/>
                                          </p:val>
                                        </p:tav>
                                      </p:tavLst>
                                    </p:anim>
                                  </p:childTnLst>
                                </p:cTn>
                              </p:par>
                            </p:childTnLst>
                          </p:cTn>
                        </p:par>
                        <p:par>
                          <p:cTn id="39" fill="hold">
                            <p:stCondLst>
                              <p:cond delay="3200"/>
                            </p:stCondLst>
                            <p:childTnLst>
                              <p:par>
                                <p:cTn id="40" presetID="47" presetClass="entr" presetSubtype="0" fill="hold" grpId="0" nodeType="afterEffect">
                                  <p:stCondLst>
                                    <p:cond delay="0"/>
                                  </p:stCondLst>
                                  <p:childTnLst>
                                    <p:set>
                                      <p:cBhvr>
                                        <p:cTn id="41" dur="1" fill="hold">
                                          <p:stCondLst>
                                            <p:cond delay="0"/>
                                          </p:stCondLst>
                                        </p:cTn>
                                        <p:tgtEl>
                                          <p:spTgt spid="33">
                                            <p:txEl>
                                              <p:pRg st="3" end="3"/>
                                            </p:txEl>
                                          </p:spTgt>
                                        </p:tgtEl>
                                        <p:attrNameLst>
                                          <p:attrName>style.visibility</p:attrName>
                                        </p:attrNameLst>
                                      </p:cBhvr>
                                      <p:to>
                                        <p:strVal val="visible"/>
                                      </p:to>
                                    </p:set>
                                    <p:animEffect transition="in" filter="fade">
                                      <p:cBhvr>
                                        <p:cTn id="42" dur="500"/>
                                        <p:tgtEl>
                                          <p:spTgt spid="33">
                                            <p:txEl>
                                              <p:pRg st="3" end="3"/>
                                            </p:txEl>
                                          </p:spTgt>
                                        </p:tgtEl>
                                      </p:cBhvr>
                                    </p:animEffect>
                                    <p:anim calcmode="lin" valueType="num">
                                      <p:cBhvr>
                                        <p:cTn id="43" dur="500" fill="hold"/>
                                        <p:tgtEl>
                                          <p:spTgt spid="33">
                                            <p:txEl>
                                              <p:pRg st="3" end="3"/>
                                            </p:txEl>
                                          </p:spTgt>
                                        </p:tgtEl>
                                        <p:attrNameLst>
                                          <p:attrName>ppt_x</p:attrName>
                                        </p:attrNameLst>
                                      </p:cBhvr>
                                      <p:tavLst>
                                        <p:tav tm="0">
                                          <p:val>
                                            <p:strVal val="#ppt_x"/>
                                          </p:val>
                                        </p:tav>
                                        <p:tav tm="100000">
                                          <p:val>
                                            <p:strVal val="#ppt_x"/>
                                          </p:val>
                                        </p:tav>
                                      </p:tavLst>
                                    </p:anim>
                                    <p:anim calcmode="lin" valueType="num">
                                      <p:cBhvr>
                                        <p:cTn id="44" dur="500" fill="hold"/>
                                        <p:tgtEl>
                                          <p:spTgt spid="3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ounded Rectangle 24" hidden="1">
            <a:extLst>
              <a:ext uri="{FF2B5EF4-FFF2-40B4-BE49-F238E27FC236}">
                <a16:creationId xmlns:a16="http://schemas.microsoft.com/office/drawing/2014/main" id="{0C2FDC15-262A-2242-960E-979096E9C3BE}"/>
              </a:ext>
            </a:extLst>
          </p:cNvPr>
          <p:cNvSpPr/>
          <p:nvPr/>
        </p:nvSpPr>
        <p:spPr>
          <a:xfrm rot="16200000">
            <a:off x="777826" y="5460878"/>
            <a:ext cx="6409711" cy="1000817"/>
          </a:xfrm>
          <a:prstGeom prst="roundRect">
            <a:avLst>
              <a:gd name="adj" fmla="val 50000"/>
            </a:avLst>
          </a:prstGeom>
          <a:solidFill>
            <a:schemeClr val="bg1">
              <a:lumMod val="95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C558F546-3BF7-5B4A-91B9-005A33F8C48B}"/>
              </a:ext>
            </a:extLst>
          </p:cNvPr>
          <p:cNvSpPr>
            <a:spLocks noGrp="1"/>
          </p:cNvSpPr>
          <p:nvPr>
            <p:ph type="sldNum" sz="quarter" idx="11"/>
          </p:nvPr>
        </p:nvSpPr>
        <p:spPr/>
        <p:txBody>
          <a:bodyPr/>
          <a:lstStyle/>
          <a:p>
            <a:fld id="{0A655226-6E4F-8847-85CD-AF95F3D3F39A}" type="slidenum">
              <a:rPr lang="en-US" smtClean="0"/>
              <a:pPr/>
              <a:t>10</a:t>
            </a:fld>
            <a:endParaRPr lang="en-US"/>
          </a:p>
        </p:txBody>
      </p:sp>
      <p:grpSp>
        <p:nvGrpSpPr>
          <p:cNvPr id="30" name="Collaborative">
            <a:extLst>
              <a:ext uri="{FF2B5EF4-FFF2-40B4-BE49-F238E27FC236}">
                <a16:creationId xmlns:a16="http://schemas.microsoft.com/office/drawing/2014/main" id="{1CFF81D3-4654-F542-9854-AB573377CE4B}"/>
              </a:ext>
            </a:extLst>
          </p:cNvPr>
          <p:cNvGrpSpPr/>
          <p:nvPr/>
        </p:nvGrpSpPr>
        <p:grpSpPr>
          <a:xfrm>
            <a:off x="6717209" y="2956267"/>
            <a:ext cx="1674045" cy="1674044"/>
            <a:chOff x="10200906" y="2974700"/>
            <a:chExt cx="734498" cy="734499"/>
          </a:xfrm>
        </p:grpSpPr>
        <p:grpSp>
          <p:nvGrpSpPr>
            <p:cNvPr id="31" name="Group 30">
              <a:extLst>
                <a:ext uri="{FF2B5EF4-FFF2-40B4-BE49-F238E27FC236}">
                  <a16:creationId xmlns:a16="http://schemas.microsoft.com/office/drawing/2014/main" id="{46A11ADF-EFA8-BC4C-9203-C8E70D3BBEFE}"/>
                </a:ext>
              </a:extLst>
            </p:cNvPr>
            <p:cNvGrpSpPr/>
            <p:nvPr/>
          </p:nvGrpSpPr>
          <p:grpSpPr>
            <a:xfrm>
              <a:off x="10200906" y="2974700"/>
              <a:ext cx="734498" cy="734499"/>
              <a:chOff x="10200906" y="2974700"/>
              <a:chExt cx="734498" cy="734499"/>
            </a:xfrm>
          </p:grpSpPr>
          <p:sp>
            <p:nvSpPr>
              <p:cNvPr id="33" name="Oval 32">
                <a:extLst>
                  <a:ext uri="{FF2B5EF4-FFF2-40B4-BE49-F238E27FC236}">
                    <a16:creationId xmlns:a16="http://schemas.microsoft.com/office/drawing/2014/main" id="{91981F16-2AC0-A845-B9D7-20D494BD5B37}"/>
                  </a:ext>
                </a:extLst>
              </p:cNvPr>
              <p:cNvSpPr/>
              <p:nvPr/>
            </p:nvSpPr>
            <p:spPr>
              <a:xfrm>
                <a:off x="10200906" y="2974700"/>
                <a:ext cx="734498" cy="734499"/>
              </a:xfrm>
              <a:prstGeom prst="ellipse">
                <a:avLst/>
              </a:prstGeom>
              <a:solidFill>
                <a:srgbClr val="F158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pic>
            <p:nvPicPr>
              <p:cNvPr id="34" name="Picture 33">
                <a:extLst>
                  <a:ext uri="{FF2B5EF4-FFF2-40B4-BE49-F238E27FC236}">
                    <a16:creationId xmlns:a16="http://schemas.microsoft.com/office/drawing/2014/main" id="{284018B0-0BCD-E342-8569-22E6F3937A0D}"/>
                  </a:ext>
                </a:extLst>
              </p:cNvPr>
              <p:cNvPicPr>
                <a:picLocks noChangeAspect="1"/>
              </p:cNvPicPr>
              <p:nvPr/>
            </p:nvPicPr>
            <p:blipFill>
              <a:blip r:embed="rId3">
                <a:biLevel thresh="25000"/>
              </a:blip>
              <a:stretch>
                <a:fillRect/>
              </a:stretch>
            </p:blipFill>
            <p:spPr>
              <a:xfrm>
                <a:off x="10444740" y="3120397"/>
                <a:ext cx="250009" cy="250009"/>
              </a:xfrm>
              <a:prstGeom prst="rect">
                <a:avLst/>
              </a:prstGeom>
            </p:spPr>
          </p:pic>
        </p:grpSp>
        <p:sp>
          <p:nvSpPr>
            <p:cNvPr id="32" name="Rectangle 31">
              <a:extLst>
                <a:ext uri="{FF2B5EF4-FFF2-40B4-BE49-F238E27FC236}">
                  <a16:creationId xmlns:a16="http://schemas.microsoft.com/office/drawing/2014/main" id="{DC2582BF-0A1C-FD41-AD96-FDB3951B3702}"/>
                </a:ext>
              </a:extLst>
            </p:cNvPr>
            <p:cNvSpPr/>
            <p:nvPr/>
          </p:nvSpPr>
          <p:spPr>
            <a:xfrm>
              <a:off x="10260379" y="3414654"/>
              <a:ext cx="615552" cy="141791"/>
            </a:xfrm>
            <a:prstGeom prst="rect">
              <a:avLst/>
            </a:prstGeom>
          </p:spPr>
          <p:txBody>
            <a:bodyPr wrap="none">
              <a:spAutoFit/>
            </a:bodyPr>
            <a:lstStyle/>
            <a:p>
              <a:pPr algn="ctr"/>
              <a:r>
                <a:rPr lang="en-US" sz="1500" b="1" dirty="0">
                  <a:solidFill>
                    <a:schemeClr val="bg1"/>
                  </a:solidFill>
                  <a:latin typeface="+mj-lt"/>
                </a:rPr>
                <a:t>Collaborative</a:t>
              </a:r>
            </a:p>
          </p:txBody>
        </p:sp>
      </p:grpSp>
      <p:grpSp>
        <p:nvGrpSpPr>
          <p:cNvPr id="35" name="Group 34">
            <a:extLst>
              <a:ext uri="{FF2B5EF4-FFF2-40B4-BE49-F238E27FC236}">
                <a16:creationId xmlns:a16="http://schemas.microsoft.com/office/drawing/2014/main" id="{C60979DD-593B-5342-8FAD-D6611EB7FB4B}"/>
              </a:ext>
            </a:extLst>
          </p:cNvPr>
          <p:cNvGrpSpPr/>
          <p:nvPr/>
        </p:nvGrpSpPr>
        <p:grpSpPr>
          <a:xfrm>
            <a:off x="650292" y="2956267"/>
            <a:ext cx="1666118" cy="1666118"/>
            <a:chOff x="650292" y="3006706"/>
            <a:chExt cx="1666118" cy="1666118"/>
          </a:xfrm>
        </p:grpSpPr>
        <p:grpSp>
          <p:nvGrpSpPr>
            <p:cNvPr id="36" name="Innovation">
              <a:extLst>
                <a:ext uri="{FF2B5EF4-FFF2-40B4-BE49-F238E27FC236}">
                  <a16:creationId xmlns:a16="http://schemas.microsoft.com/office/drawing/2014/main" id="{CCBB1737-F74D-5B40-BEC5-808A61AF1538}"/>
                </a:ext>
              </a:extLst>
            </p:cNvPr>
            <p:cNvGrpSpPr/>
            <p:nvPr/>
          </p:nvGrpSpPr>
          <p:grpSpPr>
            <a:xfrm>
              <a:off x="650292" y="3006706"/>
              <a:ext cx="1666118" cy="1666118"/>
              <a:chOff x="5433864" y="3619001"/>
              <a:chExt cx="1666118" cy="1666118"/>
            </a:xfrm>
          </p:grpSpPr>
          <p:sp>
            <p:nvSpPr>
              <p:cNvPr id="38" name="Oval 37">
                <a:extLst>
                  <a:ext uri="{FF2B5EF4-FFF2-40B4-BE49-F238E27FC236}">
                    <a16:creationId xmlns:a16="http://schemas.microsoft.com/office/drawing/2014/main" id="{480B8004-EA59-3E49-8DBA-64CB5EA1F27F}"/>
                  </a:ext>
                </a:extLst>
              </p:cNvPr>
              <p:cNvSpPr/>
              <p:nvPr/>
            </p:nvSpPr>
            <p:spPr>
              <a:xfrm>
                <a:off x="5433864" y="3619001"/>
                <a:ext cx="1666118" cy="166611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Rectangle 38">
                <a:extLst>
                  <a:ext uri="{FF2B5EF4-FFF2-40B4-BE49-F238E27FC236}">
                    <a16:creationId xmlns:a16="http://schemas.microsoft.com/office/drawing/2014/main" id="{638EC14A-DA5B-1B4E-8744-0C46EDA6A57D}"/>
                  </a:ext>
                </a:extLst>
              </p:cNvPr>
              <p:cNvSpPr/>
              <p:nvPr/>
            </p:nvSpPr>
            <p:spPr>
              <a:xfrm>
                <a:off x="5665680" y="4618976"/>
                <a:ext cx="1202485" cy="323165"/>
              </a:xfrm>
              <a:prstGeom prst="rect">
                <a:avLst/>
              </a:prstGeom>
            </p:spPr>
            <p:txBody>
              <a:bodyPr wrap="square">
                <a:spAutoFit/>
              </a:bodyPr>
              <a:lstStyle/>
              <a:p>
                <a:r>
                  <a:rPr lang="en-US" sz="1500" b="1" dirty="0">
                    <a:solidFill>
                      <a:schemeClr val="bg1"/>
                    </a:solidFill>
                    <a:latin typeface="+mj-lt"/>
                  </a:rPr>
                  <a:t>Innovative</a:t>
                </a:r>
              </a:p>
            </p:txBody>
          </p:sp>
        </p:grpSp>
        <p:pic>
          <p:nvPicPr>
            <p:cNvPr id="37" name="Picture 36">
              <a:extLst>
                <a:ext uri="{FF2B5EF4-FFF2-40B4-BE49-F238E27FC236}">
                  <a16:creationId xmlns:a16="http://schemas.microsoft.com/office/drawing/2014/main" id="{34BEC911-C1CE-5946-86A0-375EFB3E1620}"/>
                </a:ext>
              </a:extLst>
            </p:cNvPr>
            <p:cNvPicPr>
              <a:picLocks noChangeAspect="1"/>
            </p:cNvPicPr>
            <p:nvPr/>
          </p:nvPicPr>
          <p:blipFill>
            <a:blip r:embed="rId4"/>
            <a:stretch>
              <a:fillRect/>
            </a:stretch>
          </p:blipFill>
          <p:spPr>
            <a:xfrm>
              <a:off x="1312769" y="3366591"/>
              <a:ext cx="356804" cy="586809"/>
            </a:xfrm>
            <a:prstGeom prst="rect">
              <a:avLst/>
            </a:prstGeom>
          </p:spPr>
        </p:pic>
      </p:grpSp>
      <p:sp>
        <p:nvSpPr>
          <p:cNvPr id="46" name="Rectangle 45">
            <a:extLst>
              <a:ext uri="{FF2B5EF4-FFF2-40B4-BE49-F238E27FC236}">
                <a16:creationId xmlns:a16="http://schemas.microsoft.com/office/drawing/2014/main" id="{A7B93767-E175-504D-97C3-D32797E3EFB6}"/>
              </a:ext>
            </a:extLst>
          </p:cNvPr>
          <p:cNvSpPr/>
          <p:nvPr/>
        </p:nvSpPr>
        <p:spPr>
          <a:xfrm>
            <a:off x="2750404" y="3091709"/>
            <a:ext cx="2558673" cy="246221"/>
          </a:xfrm>
          <a:prstGeom prst="rect">
            <a:avLst/>
          </a:prstGeom>
        </p:spPr>
        <p:txBody>
          <a:bodyPr wrap="square" lIns="0" tIns="0" rIns="0" bIns="0">
            <a:spAutoFit/>
          </a:bodyPr>
          <a:lstStyle/>
          <a:p>
            <a:r>
              <a:rPr lang="en-US" sz="1600" b="1" dirty="0">
                <a:latin typeface="Arial Black" panose="020B0604020202020204" pitchFamily="34" charset="0"/>
                <a:cs typeface="Arial Black" panose="020B0604020202020204" pitchFamily="34" charset="0"/>
              </a:rPr>
              <a:t>Process Management</a:t>
            </a:r>
          </a:p>
        </p:txBody>
      </p:sp>
      <p:sp>
        <p:nvSpPr>
          <p:cNvPr id="48" name="Rectangle 47">
            <a:extLst>
              <a:ext uri="{FF2B5EF4-FFF2-40B4-BE49-F238E27FC236}">
                <a16:creationId xmlns:a16="http://schemas.microsoft.com/office/drawing/2014/main" id="{63A8CE25-640D-8047-9A33-8F10F81ACCA2}"/>
              </a:ext>
            </a:extLst>
          </p:cNvPr>
          <p:cNvSpPr/>
          <p:nvPr/>
        </p:nvSpPr>
        <p:spPr>
          <a:xfrm>
            <a:off x="2750403" y="3715100"/>
            <a:ext cx="2558673" cy="1923604"/>
          </a:xfrm>
          <a:prstGeom prst="rect">
            <a:avLst/>
          </a:prstGeom>
        </p:spPr>
        <p:txBody>
          <a:bodyPr wrap="square" lIns="0" tIns="0" rIns="0" bIns="0">
            <a:spAutoFit/>
          </a:bodyPr>
          <a:lstStyle/>
          <a:p>
            <a:pPr>
              <a:spcAft>
                <a:spcPts val="1500"/>
              </a:spcAft>
            </a:pPr>
            <a:r>
              <a:rPr lang="en-US" sz="1500" dirty="0">
                <a:solidFill>
                  <a:schemeClr val="bg2">
                    <a:lumMod val="50000"/>
                  </a:schemeClr>
                </a:solidFill>
                <a:latin typeface="+mj-lt"/>
              </a:rPr>
              <a:t>Litigation management</a:t>
            </a:r>
          </a:p>
          <a:p>
            <a:pPr>
              <a:spcAft>
                <a:spcPts val="1500"/>
              </a:spcAft>
            </a:pPr>
            <a:r>
              <a:rPr lang="en-US" sz="1500" dirty="0">
                <a:solidFill>
                  <a:schemeClr val="bg2">
                    <a:lumMod val="50000"/>
                  </a:schemeClr>
                </a:solidFill>
                <a:latin typeface="+mj-lt"/>
              </a:rPr>
              <a:t>Transaction management</a:t>
            </a:r>
          </a:p>
          <a:p>
            <a:pPr>
              <a:spcAft>
                <a:spcPts val="1500"/>
              </a:spcAft>
            </a:pPr>
            <a:r>
              <a:rPr lang="en-US" sz="1500" dirty="0">
                <a:solidFill>
                  <a:schemeClr val="bg2">
                    <a:lumMod val="50000"/>
                  </a:schemeClr>
                </a:solidFill>
                <a:latin typeface="+mj-lt"/>
              </a:rPr>
              <a:t>Document collaboration</a:t>
            </a:r>
          </a:p>
          <a:p>
            <a:pPr>
              <a:spcAft>
                <a:spcPts val="1500"/>
              </a:spcAft>
            </a:pPr>
            <a:r>
              <a:rPr lang="en-US" sz="1500" dirty="0">
                <a:solidFill>
                  <a:schemeClr val="bg2">
                    <a:lumMod val="50000"/>
                  </a:schemeClr>
                </a:solidFill>
                <a:latin typeface="+mj-lt"/>
              </a:rPr>
              <a:t>Workflow management</a:t>
            </a:r>
          </a:p>
          <a:p>
            <a:pPr>
              <a:spcAft>
                <a:spcPts val="1500"/>
              </a:spcAft>
            </a:pPr>
            <a:endParaRPr lang="en-US" sz="1500" dirty="0">
              <a:solidFill>
                <a:schemeClr val="bg2">
                  <a:lumMod val="50000"/>
                </a:schemeClr>
              </a:solidFill>
              <a:latin typeface="+mj-lt"/>
            </a:endParaRPr>
          </a:p>
        </p:txBody>
      </p:sp>
      <p:cxnSp>
        <p:nvCxnSpPr>
          <p:cNvPr id="51" name="Straight Connector 50">
            <a:extLst>
              <a:ext uri="{FF2B5EF4-FFF2-40B4-BE49-F238E27FC236}">
                <a16:creationId xmlns:a16="http://schemas.microsoft.com/office/drawing/2014/main" id="{8D67B444-D528-5F4E-AB1B-EFE7BA7BD015}"/>
              </a:ext>
            </a:extLst>
          </p:cNvPr>
          <p:cNvCxnSpPr>
            <a:cxnSpLocks/>
          </p:cNvCxnSpPr>
          <p:nvPr/>
        </p:nvCxnSpPr>
        <p:spPr>
          <a:xfrm>
            <a:off x="2750404" y="3556975"/>
            <a:ext cx="1279336" cy="0"/>
          </a:xfrm>
          <a:prstGeom prst="line">
            <a:avLst/>
          </a:prstGeom>
          <a:ln w="7302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1" name="Rectangle 60">
            <a:extLst>
              <a:ext uri="{FF2B5EF4-FFF2-40B4-BE49-F238E27FC236}">
                <a16:creationId xmlns:a16="http://schemas.microsoft.com/office/drawing/2014/main" id="{E8BE8C56-3BA5-9940-91AD-8C4C69D136FC}"/>
              </a:ext>
            </a:extLst>
          </p:cNvPr>
          <p:cNvSpPr/>
          <p:nvPr/>
        </p:nvSpPr>
        <p:spPr>
          <a:xfrm>
            <a:off x="8811445" y="3091709"/>
            <a:ext cx="2558673" cy="246221"/>
          </a:xfrm>
          <a:prstGeom prst="rect">
            <a:avLst/>
          </a:prstGeom>
        </p:spPr>
        <p:txBody>
          <a:bodyPr wrap="square" lIns="0" tIns="0" rIns="0" bIns="0">
            <a:spAutoFit/>
          </a:bodyPr>
          <a:lstStyle/>
          <a:p>
            <a:r>
              <a:rPr lang="en-US" sz="1600" b="1" dirty="0">
                <a:latin typeface="Arial Black" panose="020B0604020202020204" pitchFamily="34" charset="0"/>
                <a:cs typeface="Arial Black" panose="020B0604020202020204" pitchFamily="34" charset="0"/>
              </a:rPr>
              <a:t>Single Solution</a:t>
            </a:r>
          </a:p>
        </p:txBody>
      </p:sp>
      <p:sp>
        <p:nvSpPr>
          <p:cNvPr id="62" name="Rectangle 61">
            <a:extLst>
              <a:ext uri="{FF2B5EF4-FFF2-40B4-BE49-F238E27FC236}">
                <a16:creationId xmlns:a16="http://schemas.microsoft.com/office/drawing/2014/main" id="{C05CE74C-9A43-3D4F-B700-8B3012AC1F58}"/>
              </a:ext>
            </a:extLst>
          </p:cNvPr>
          <p:cNvSpPr/>
          <p:nvPr/>
        </p:nvSpPr>
        <p:spPr>
          <a:xfrm>
            <a:off x="8811445" y="3715100"/>
            <a:ext cx="2558674" cy="1077218"/>
          </a:xfrm>
          <a:prstGeom prst="rect">
            <a:avLst/>
          </a:prstGeom>
        </p:spPr>
        <p:txBody>
          <a:bodyPr wrap="square" lIns="0" tIns="0" rIns="0" bIns="0">
            <a:spAutoFit/>
          </a:bodyPr>
          <a:lstStyle/>
          <a:p>
            <a:pPr>
              <a:spcAft>
                <a:spcPts val="1500"/>
              </a:spcAft>
            </a:pPr>
            <a:r>
              <a:rPr lang="en-US" sz="1500" dirty="0">
                <a:solidFill>
                  <a:schemeClr val="bg2">
                    <a:lumMod val="50000"/>
                  </a:schemeClr>
                </a:solidFill>
                <a:latin typeface="+mj-lt"/>
              </a:rPr>
              <a:t>Client sites</a:t>
            </a:r>
          </a:p>
          <a:p>
            <a:pPr>
              <a:spcAft>
                <a:spcPts val="1500"/>
              </a:spcAft>
            </a:pPr>
            <a:r>
              <a:rPr lang="en-US" sz="1500" dirty="0">
                <a:solidFill>
                  <a:schemeClr val="bg2">
                    <a:lumMod val="50000"/>
                  </a:schemeClr>
                </a:solidFill>
                <a:latin typeface="+mj-lt"/>
              </a:rPr>
              <a:t>Matter management</a:t>
            </a:r>
          </a:p>
          <a:p>
            <a:pPr>
              <a:spcAft>
                <a:spcPts val="1500"/>
              </a:spcAft>
            </a:pPr>
            <a:r>
              <a:rPr lang="en-US" sz="1500" dirty="0">
                <a:solidFill>
                  <a:schemeClr val="bg2">
                    <a:lumMod val="50000"/>
                  </a:schemeClr>
                </a:solidFill>
                <a:latin typeface="+mj-lt"/>
              </a:rPr>
              <a:t>Legal project management</a:t>
            </a:r>
          </a:p>
        </p:txBody>
      </p:sp>
      <p:cxnSp>
        <p:nvCxnSpPr>
          <p:cNvPr id="63" name="Straight Connector 62">
            <a:extLst>
              <a:ext uri="{FF2B5EF4-FFF2-40B4-BE49-F238E27FC236}">
                <a16:creationId xmlns:a16="http://schemas.microsoft.com/office/drawing/2014/main" id="{34AFC796-AA76-5E43-8470-D1AFA3C8E00E}"/>
              </a:ext>
            </a:extLst>
          </p:cNvPr>
          <p:cNvCxnSpPr>
            <a:cxnSpLocks/>
          </p:cNvCxnSpPr>
          <p:nvPr/>
        </p:nvCxnSpPr>
        <p:spPr>
          <a:xfrm>
            <a:off x="8811445" y="3556975"/>
            <a:ext cx="1279336" cy="0"/>
          </a:xfrm>
          <a:prstGeom prst="line">
            <a:avLst/>
          </a:prstGeom>
          <a:ln w="73025" cmpd="sng">
            <a:solidFill>
              <a:schemeClr val="tx2"/>
            </a:solidFill>
          </a:ln>
          <a:effectLst/>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420ACF8D-B905-F243-95A5-9C78F6FE2346}"/>
              </a:ext>
            </a:extLst>
          </p:cNvPr>
          <p:cNvPicPr>
            <a:picLocks noChangeAspect="1"/>
          </p:cNvPicPr>
          <p:nvPr/>
        </p:nvPicPr>
        <p:blipFill rotWithShape="1">
          <a:blip r:embed="rId5">
            <a:extLst>
              <a:ext uri="{28A0092B-C50C-407E-A947-70E740481C1C}">
                <a14:useLocalDpi xmlns:a14="http://schemas.microsoft.com/office/drawing/2010/main"/>
              </a:ext>
            </a:extLst>
          </a:blip>
          <a:srcRect t="8161" b="16347"/>
          <a:stretch/>
        </p:blipFill>
        <p:spPr>
          <a:xfrm flipH="1">
            <a:off x="-3176" y="0"/>
            <a:ext cx="12191999" cy="2065640"/>
          </a:xfrm>
          <a:prstGeom prst="rect">
            <a:avLst/>
          </a:prstGeom>
        </p:spPr>
      </p:pic>
      <p:sp>
        <p:nvSpPr>
          <p:cNvPr id="27" name="Rectangle 26">
            <a:extLst>
              <a:ext uri="{FF2B5EF4-FFF2-40B4-BE49-F238E27FC236}">
                <a16:creationId xmlns:a16="http://schemas.microsoft.com/office/drawing/2014/main" id="{D6BE1639-51F4-DD4B-99E7-BC8CD688FB3E}"/>
              </a:ext>
            </a:extLst>
          </p:cNvPr>
          <p:cNvSpPr/>
          <p:nvPr/>
        </p:nvSpPr>
        <p:spPr>
          <a:xfrm>
            <a:off x="-3179" y="0"/>
            <a:ext cx="12192003" cy="2072196"/>
          </a:xfrm>
          <a:prstGeom prst="rect">
            <a:avLst/>
          </a:prstGeom>
          <a:gradFill>
            <a:gsLst>
              <a:gs pos="47000">
                <a:schemeClr val="tx1">
                  <a:lumMod val="50000"/>
                  <a:alpha val="58000"/>
                </a:schemeClr>
              </a:gs>
              <a:gs pos="0">
                <a:schemeClr val="tx1">
                  <a:lumMod val="50000"/>
                  <a:alpha val="64000"/>
                </a:schemeClr>
              </a:gs>
              <a:gs pos="99000">
                <a:schemeClr val="tx1">
                  <a:lumMod val="50000"/>
                  <a:alpha val="8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28" name="Rectangle 27">
            <a:extLst>
              <a:ext uri="{FF2B5EF4-FFF2-40B4-BE49-F238E27FC236}">
                <a16:creationId xmlns:a16="http://schemas.microsoft.com/office/drawing/2014/main" id="{3272BFA9-1686-394D-ABFC-577F25ADF519}"/>
              </a:ext>
            </a:extLst>
          </p:cNvPr>
          <p:cNvSpPr/>
          <p:nvPr/>
        </p:nvSpPr>
        <p:spPr>
          <a:xfrm>
            <a:off x="697506" y="733340"/>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State of the Legal Market</a:t>
            </a:r>
          </a:p>
        </p:txBody>
      </p:sp>
      <p:sp>
        <p:nvSpPr>
          <p:cNvPr id="29" name="Rectangle 28">
            <a:extLst>
              <a:ext uri="{FF2B5EF4-FFF2-40B4-BE49-F238E27FC236}">
                <a16:creationId xmlns:a16="http://schemas.microsoft.com/office/drawing/2014/main" id="{203DF536-5540-2D43-99BB-C8226FDADF0F}"/>
              </a:ext>
            </a:extLst>
          </p:cNvPr>
          <p:cNvSpPr/>
          <p:nvPr/>
        </p:nvSpPr>
        <p:spPr>
          <a:xfrm>
            <a:off x="650292" y="1098453"/>
            <a:ext cx="11394563" cy="1231106"/>
          </a:xfrm>
          <a:prstGeom prst="rect">
            <a:avLst/>
          </a:prstGeom>
        </p:spPr>
        <p:txBody>
          <a:bodyPr wrap="square" lIns="0" tIns="0" rIns="0" bIns="0">
            <a:spAutoFit/>
          </a:bodyPr>
          <a:lstStyle/>
          <a:p>
            <a:pPr defTabSz="914126">
              <a:spcBef>
                <a:spcPts val="400"/>
              </a:spcBef>
              <a:defRPr/>
            </a:pPr>
            <a:r>
              <a:rPr lang="en-US" sz="7900" dirty="0">
                <a:solidFill>
                  <a:schemeClr val="bg1">
                    <a:alpha val="60000"/>
                  </a:schemeClr>
                </a:solidFill>
                <a:latin typeface="+mj-lt"/>
              </a:rPr>
              <a:t>SHARE OF WALLET</a:t>
            </a:r>
          </a:p>
        </p:txBody>
      </p:sp>
      <p:sp>
        <p:nvSpPr>
          <p:cNvPr id="40" name="Freeform 39">
            <a:extLst>
              <a:ext uri="{FF2B5EF4-FFF2-40B4-BE49-F238E27FC236}">
                <a16:creationId xmlns:a16="http://schemas.microsoft.com/office/drawing/2014/main" id="{67E9BCFA-0EC7-E242-B948-B59EAFDFDE61}"/>
              </a:ext>
            </a:extLst>
          </p:cNvPr>
          <p:cNvSpPr/>
          <p:nvPr/>
        </p:nvSpPr>
        <p:spPr>
          <a:xfrm rot="10800000">
            <a:off x="7368765" y="-9780"/>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Freeform 40">
            <a:extLst>
              <a:ext uri="{FF2B5EF4-FFF2-40B4-BE49-F238E27FC236}">
                <a16:creationId xmlns:a16="http://schemas.microsoft.com/office/drawing/2014/main" id="{4A14C36B-0AB6-B247-A50C-11308941F47B}"/>
              </a:ext>
            </a:extLst>
          </p:cNvPr>
          <p:cNvSpPr/>
          <p:nvPr/>
        </p:nvSpPr>
        <p:spPr>
          <a:xfrm rot="10800000">
            <a:off x="10054538" y="-9779"/>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98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500"/>
                                        <p:tgtEl>
                                          <p:spTgt spid="61"/>
                                        </p:tgtEl>
                                      </p:cBhvr>
                                    </p:animEffect>
                                    <p:anim calcmode="lin" valueType="num">
                                      <p:cBhvr>
                                        <p:cTn id="8" dur="500" fill="hold"/>
                                        <p:tgtEl>
                                          <p:spTgt spid="61"/>
                                        </p:tgtEl>
                                        <p:attrNameLst>
                                          <p:attrName>ppt_x</p:attrName>
                                        </p:attrNameLst>
                                      </p:cBhvr>
                                      <p:tavLst>
                                        <p:tav tm="0">
                                          <p:val>
                                            <p:strVal val="#ppt_x"/>
                                          </p:val>
                                        </p:tav>
                                        <p:tav tm="100000">
                                          <p:val>
                                            <p:strVal val="#ppt_x"/>
                                          </p:val>
                                        </p:tav>
                                      </p:tavLst>
                                    </p:anim>
                                    <p:anim calcmode="lin" valueType="num">
                                      <p:cBhvr>
                                        <p:cTn id="9" dur="500" fill="hold"/>
                                        <p:tgtEl>
                                          <p:spTgt spid="6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wipe(left)">
                                      <p:cBhvr>
                                        <p:cTn id="13" dur="500"/>
                                        <p:tgtEl>
                                          <p:spTgt spid="63"/>
                                        </p:tgtEl>
                                      </p:cBhvr>
                                    </p:animEffect>
                                  </p:childTnLst>
                                </p:cTn>
                              </p:par>
                            </p:childTnLst>
                          </p:cTn>
                        </p:par>
                        <p:par>
                          <p:cTn id="14" fill="hold">
                            <p:stCondLst>
                              <p:cond delay="1000"/>
                            </p:stCondLst>
                            <p:childTnLst>
                              <p:par>
                                <p:cTn id="15" presetID="47" presetClass="entr" presetSubtype="0" fill="hold" grpId="0" nodeType="afterEffect">
                                  <p:stCondLst>
                                    <p:cond delay="0"/>
                                  </p:stCondLst>
                                  <p:childTnLst>
                                    <p:set>
                                      <p:cBhvr>
                                        <p:cTn id="16" dur="1" fill="hold">
                                          <p:stCondLst>
                                            <p:cond delay="0"/>
                                          </p:stCondLst>
                                        </p:cTn>
                                        <p:tgtEl>
                                          <p:spTgt spid="62">
                                            <p:txEl>
                                              <p:pRg st="0" end="0"/>
                                            </p:txEl>
                                          </p:spTgt>
                                        </p:tgtEl>
                                        <p:attrNameLst>
                                          <p:attrName>style.visibility</p:attrName>
                                        </p:attrNameLst>
                                      </p:cBhvr>
                                      <p:to>
                                        <p:strVal val="visible"/>
                                      </p:to>
                                    </p:set>
                                    <p:animEffect transition="in" filter="fade">
                                      <p:cBhvr>
                                        <p:cTn id="17" dur="500"/>
                                        <p:tgtEl>
                                          <p:spTgt spid="62">
                                            <p:txEl>
                                              <p:pRg st="0" end="0"/>
                                            </p:txEl>
                                          </p:spTgt>
                                        </p:tgtEl>
                                      </p:cBhvr>
                                    </p:animEffect>
                                    <p:anim calcmode="lin" valueType="num">
                                      <p:cBhvr>
                                        <p:cTn id="18"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p:cTn id="19" dur="500" fill="hold"/>
                                        <p:tgtEl>
                                          <p:spTgt spid="62">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47" presetClass="entr" presetSubtype="0" fill="hold" grpId="0" nodeType="afterEffect">
                                  <p:stCondLst>
                                    <p:cond delay="0"/>
                                  </p:stCondLst>
                                  <p:childTnLst>
                                    <p:set>
                                      <p:cBhvr>
                                        <p:cTn id="22" dur="1" fill="hold">
                                          <p:stCondLst>
                                            <p:cond delay="0"/>
                                          </p:stCondLst>
                                        </p:cTn>
                                        <p:tgtEl>
                                          <p:spTgt spid="62">
                                            <p:txEl>
                                              <p:pRg st="1" end="1"/>
                                            </p:txEl>
                                          </p:spTgt>
                                        </p:tgtEl>
                                        <p:attrNameLst>
                                          <p:attrName>style.visibility</p:attrName>
                                        </p:attrNameLst>
                                      </p:cBhvr>
                                      <p:to>
                                        <p:strVal val="visible"/>
                                      </p:to>
                                    </p:set>
                                    <p:animEffect transition="in" filter="fade">
                                      <p:cBhvr>
                                        <p:cTn id="23" dur="500"/>
                                        <p:tgtEl>
                                          <p:spTgt spid="62">
                                            <p:txEl>
                                              <p:pRg st="1" end="1"/>
                                            </p:txEl>
                                          </p:spTgt>
                                        </p:tgtEl>
                                      </p:cBhvr>
                                    </p:animEffect>
                                    <p:anim calcmode="lin" valueType="num">
                                      <p:cBhvr>
                                        <p:cTn id="24"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p:cTn id="25" dur="500" fill="hold"/>
                                        <p:tgtEl>
                                          <p:spTgt spid="62">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7" presetClass="entr" presetSubtype="0" fill="hold" grpId="0" nodeType="afterEffect">
                                  <p:stCondLst>
                                    <p:cond delay="0"/>
                                  </p:stCondLst>
                                  <p:childTnLst>
                                    <p:set>
                                      <p:cBhvr>
                                        <p:cTn id="28" dur="1" fill="hold">
                                          <p:stCondLst>
                                            <p:cond delay="0"/>
                                          </p:stCondLst>
                                        </p:cTn>
                                        <p:tgtEl>
                                          <p:spTgt spid="62">
                                            <p:txEl>
                                              <p:pRg st="2" end="2"/>
                                            </p:txEl>
                                          </p:spTgt>
                                        </p:tgtEl>
                                        <p:attrNameLst>
                                          <p:attrName>style.visibility</p:attrName>
                                        </p:attrNameLst>
                                      </p:cBhvr>
                                      <p:to>
                                        <p:strVal val="visible"/>
                                      </p:to>
                                    </p:set>
                                    <p:animEffect transition="in" filter="fade">
                                      <p:cBhvr>
                                        <p:cTn id="29" dur="500"/>
                                        <p:tgtEl>
                                          <p:spTgt spid="62">
                                            <p:txEl>
                                              <p:pRg st="2" end="2"/>
                                            </p:txEl>
                                          </p:spTgt>
                                        </p:tgtEl>
                                      </p:cBhvr>
                                    </p:animEffect>
                                    <p:anim calcmode="lin" valueType="num">
                                      <p:cBhvr>
                                        <p:cTn id="30"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p:cTn id="31" dur="500" fill="hold"/>
                                        <p:tgtEl>
                                          <p:spTgt spid="6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55C5FF3-C273-A64C-9A70-D03B0F4291B9}"/>
              </a:ext>
            </a:extLst>
          </p:cNvPr>
          <p:cNvPicPr>
            <a:picLocks noChangeAspect="1"/>
          </p:cNvPicPr>
          <p:nvPr/>
        </p:nvPicPr>
        <p:blipFill rotWithShape="1">
          <a:blip r:embed="rId3"/>
          <a:srcRect t="19689" b="13692"/>
          <a:stretch/>
        </p:blipFill>
        <p:spPr>
          <a:xfrm>
            <a:off x="-36235" y="0"/>
            <a:ext cx="12225061" cy="2103931"/>
          </a:xfrm>
          <a:prstGeom prst="rect">
            <a:avLst/>
          </a:prstGeom>
        </p:spPr>
      </p:pic>
      <p:sp>
        <p:nvSpPr>
          <p:cNvPr id="111" name="Rectangle 110">
            <a:extLst>
              <a:ext uri="{FF2B5EF4-FFF2-40B4-BE49-F238E27FC236}">
                <a16:creationId xmlns:a16="http://schemas.microsoft.com/office/drawing/2014/main" id="{19F7BE0D-B5D4-2242-9BAD-FD1BB5079F4D}"/>
              </a:ext>
            </a:extLst>
          </p:cNvPr>
          <p:cNvSpPr/>
          <p:nvPr/>
        </p:nvSpPr>
        <p:spPr>
          <a:xfrm>
            <a:off x="-36235" y="-4"/>
            <a:ext cx="12225061" cy="2103934"/>
          </a:xfrm>
          <a:prstGeom prst="rect">
            <a:avLst/>
          </a:prstGeom>
          <a:gradFill>
            <a:gsLst>
              <a:gs pos="47000">
                <a:schemeClr val="tx1">
                  <a:lumMod val="50000"/>
                  <a:alpha val="58000"/>
                </a:schemeClr>
              </a:gs>
              <a:gs pos="0">
                <a:schemeClr val="tx1">
                  <a:lumMod val="50000"/>
                  <a:alpha val="64000"/>
                </a:schemeClr>
              </a:gs>
              <a:gs pos="99000">
                <a:schemeClr val="tx1">
                  <a:lumMod val="50000"/>
                  <a:alpha val="8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106" name="Rectangle 105">
            <a:extLst>
              <a:ext uri="{FF2B5EF4-FFF2-40B4-BE49-F238E27FC236}">
                <a16:creationId xmlns:a16="http://schemas.microsoft.com/office/drawing/2014/main" id="{726246E6-88E9-264F-A043-3DEB98E33072}"/>
              </a:ext>
            </a:extLst>
          </p:cNvPr>
          <p:cNvSpPr/>
          <p:nvPr/>
        </p:nvSpPr>
        <p:spPr>
          <a:xfrm>
            <a:off x="6111550" y="3485030"/>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20B786D8-105A-F246-8D91-8EB94787BFE6}"/>
              </a:ext>
            </a:extLst>
          </p:cNvPr>
          <p:cNvSpPr/>
          <p:nvPr/>
        </p:nvSpPr>
        <p:spPr>
          <a:xfrm>
            <a:off x="6111550" y="2639455"/>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19F5FD31-DD07-A54B-A55A-8F454513A82F}"/>
              </a:ext>
            </a:extLst>
          </p:cNvPr>
          <p:cNvSpPr/>
          <p:nvPr/>
        </p:nvSpPr>
        <p:spPr>
          <a:xfrm>
            <a:off x="8809824" y="3485030"/>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A732DDE3-412C-6446-89CB-3C1EEB25D889}"/>
              </a:ext>
            </a:extLst>
          </p:cNvPr>
          <p:cNvSpPr/>
          <p:nvPr/>
        </p:nvSpPr>
        <p:spPr>
          <a:xfrm>
            <a:off x="8809824" y="2639455"/>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5700332F-1A76-2B4E-BF58-D96A5B5F56D1}"/>
              </a:ext>
            </a:extLst>
          </p:cNvPr>
          <p:cNvSpPr/>
          <p:nvPr/>
        </p:nvSpPr>
        <p:spPr>
          <a:xfrm>
            <a:off x="3423523" y="3485030"/>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0DB6F416-C2AB-2247-8FC2-0C94087B983C}"/>
              </a:ext>
            </a:extLst>
          </p:cNvPr>
          <p:cNvSpPr/>
          <p:nvPr/>
        </p:nvSpPr>
        <p:spPr>
          <a:xfrm>
            <a:off x="3423523" y="2639455"/>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B037A5A8-6972-EC41-BBC4-02DA69A2155E}"/>
              </a:ext>
            </a:extLst>
          </p:cNvPr>
          <p:cNvSpPr/>
          <p:nvPr/>
        </p:nvSpPr>
        <p:spPr>
          <a:xfrm>
            <a:off x="725840" y="3485030"/>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83FBA87-D92C-BE44-A059-A732CB0939B5}"/>
              </a:ext>
            </a:extLst>
          </p:cNvPr>
          <p:cNvSpPr/>
          <p:nvPr/>
        </p:nvSpPr>
        <p:spPr>
          <a:xfrm>
            <a:off x="725840" y="2639455"/>
            <a:ext cx="2631814" cy="78137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9" name="Picture 38" hidden="1">
            <a:extLst>
              <a:ext uri="{FF2B5EF4-FFF2-40B4-BE49-F238E27FC236}">
                <a16:creationId xmlns:a16="http://schemas.microsoft.com/office/drawing/2014/main" id="{4B18CBFE-D637-F847-A384-AE2D99F1F0F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292747" y="648712"/>
            <a:ext cx="1355992" cy="1120653"/>
          </a:xfrm>
          <a:prstGeom prst="rect">
            <a:avLst/>
          </a:prstGeom>
        </p:spPr>
      </p:pic>
      <p:sp>
        <p:nvSpPr>
          <p:cNvPr id="40" name="Client  portals">
            <a:extLst>
              <a:ext uri="{FF2B5EF4-FFF2-40B4-BE49-F238E27FC236}">
                <a16:creationId xmlns:a16="http://schemas.microsoft.com/office/drawing/2014/main" id="{7BC19033-5545-AD4E-A7AA-4E2BC98149C8}"/>
              </a:ext>
            </a:extLst>
          </p:cNvPr>
          <p:cNvSpPr txBox="1"/>
          <p:nvPr/>
        </p:nvSpPr>
        <p:spPr>
          <a:xfrm>
            <a:off x="1098331" y="2770529"/>
            <a:ext cx="1896727" cy="58549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p>
            <a:pPr algn="ctr" defTabSz="914126" hangingPunct="0">
              <a:defRPr sz="1400">
                <a:latin typeface="FS Albert Light"/>
                <a:ea typeface="FS Albert Light"/>
                <a:cs typeface="FS Albert Light"/>
                <a:sym typeface="FS Albert Light"/>
              </a:defRPr>
            </a:pPr>
            <a:r>
              <a:rPr lang="en-GB" sz="1400" kern="0" cap="all" dirty="0">
                <a:latin typeface="+mj-lt"/>
                <a:cs typeface="Arial" panose="020B0604020202020204" pitchFamily="34" charset="0"/>
                <a:sym typeface="FS Albert Light"/>
              </a:rPr>
              <a:t>Client</a:t>
            </a:r>
            <a:br>
              <a:rPr lang="en-GB" sz="1400" kern="0" cap="all" dirty="0">
                <a:latin typeface="+mj-lt"/>
                <a:cs typeface="Arial" panose="020B0604020202020204" pitchFamily="34" charset="0"/>
                <a:sym typeface="FS Albert Light"/>
              </a:rPr>
            </a:br>
            <a:r>
              <a:rPr lang="en-GB" sz="1400" kern="0" cap="all" dirty="0">
                <a:latin typeface="+mj-lt"/>
                <a:cs typeface="Arial" panose="020B0604020202020204" pitchFamily="34" charset="0"/>
                <a:sym typeface="FS Albert Light"/>
              </a:rPr>
              <a:t>Engagement</a:t>
            </a:r>
            <a:endParaRPr sz="1400" kern="0" cap="all" dirty="0">
              <a:latin typeface="+mj-lt"/>
              <a:cs typeface="Arial" panose="020B0604020202020204" pitchFamily="34" charset="0"/>
              <a:sym typeface="FS Albert Light"/>
            </a:endParaRPr>
          </a:p>
        </p:txBody>
      </p:sp>
      <p:pic>
        <p:nvPicPr>
          <p:cNvPr id="42" name="Picture 41" hidden="1">
            <a:extLst>
              <a:ext uri="{FF2B5EF4-FFF2-40B4-BE49-F238E27FC236}">
                <a16:creationId xmlns:a16="http://schemas.microsoft.com/office/drawing/2014/main" id="{BCE750BC-62AB-D44C-9343-A3FD637977A2}"/>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3890336" y="705611"/>
            <a:ext cx="1227474" cy="1014440"/>
          </a:xfrm>
          <a:prstGeom prst="rect">
            <a:avLst/>
          </a:prstGeom>
        </p:spPr>
      </p:pic>
      <p:sp>
        <p:nvSpPr>
          <p:cNvPr id="43" name="Team collaboration">
            <a:extLst>
              <a:ext uri="{FF2B5EF4-FFF2-40B4-BE49-F238E27FC236}">
                <a16:creationId xmlns:a16="http://schemas.microsoft.com/office/drawing/2014/main" id="{C1ABAF09-9C2B-D34B-ADB6-90D439115ADA}"/>
              </a:ext>
            </a:extLst>
          </p:cNvPr>
          <p:cNvSpPr txBox="1"/>
          <p:nvPr/>
        </p:nvSpPr>
        <p:spPr>
          <a:xfrm>
            <a:off x="3806591" y="2781246"/>
            <a:ext cx="1896728" cy="5855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lvl1pPr algn="ctr" defTabSz="914400">
              <a:lnSpc>
                <a:spcPct val="100000"/>
              </a:lnSpc>
              <a:defRPr sz="1400">
                <a:latin typeface="FS Albert Light"/>
                <a:ea typeface="FS Albert Light"/>
                <a:cs typeface="FS Albert Light"/>
                <a:sym typeface="FS Albert Light"/>
              </a:defRPr>
            </a:lvl1pPr>
          </a:lstStyle>
          <a:p>
            <a:pPr hangingPunct="0">
              <a:defRPr sz="1400">
                <a:latin typeface="FS Albert Light"/>
                <a:ea typeface="FS Albert Light"/>
                <a:cs typeface="FS Albert Light"/>
                <a:sym typeface="FS Albert Light"/>
              </a:defRPr>
            </a:pPr>
            <a:r>
              <a:rPr lang="en-GB" kern="0" cap="all" dirty="0">
                <a:latin typeface="+mj-lt"/>
                <a:cs typeface="Arial" panose="020B0604020202020204" pitchFamily="34" charset="0"/>
              </a:rPr>
              <a:t>Document</a:t>
            </a:r>
            <a:br>
              <a:rPr lang="en-GB" kern="0" cap="all" dirty="0">
                <a:latin typeface="+mj-lt"/>
                <a:cs typeface="Arial" panose="020B0604020202020204" pitchFamily="34" charset="0"/>
              </a:rPr>
            </a:br>
            <a:r>
              <a:rPr lang="en-GB" kern="0" cap="all" dirty="0">
                <a:latin typeface="+mj-lt"/>
                <a:cs typeface="Arial" panose="020B0604020202020204" pitchFamily="34" charset="0"/>
              </a:rPr>
              <a:t>Collaboration</a:t>
            </a:r>
            <a:endParaRPr kern="0" cap="all" dirty="0">
              <a:latin typeface="+mj-lt"/>
              <a:cs typeface="Arial" panose="020B0604020202020204" pitchFamily="34" charset="0"/>
            </a:endParaRPr>
          </a:p>
        </p:txBody>
      </p:sp>
      <p:pic>
        <p:nvPicPr>
          <p:cNvPr id="45" name="Picture 44" hidden="1">
            <a:extLst>
              <a:ext uri="{FF2B5EF4-FFF2-40B4-BE49-F238E27FC236}">
                <a16:creationId xmlns:a16="http://schemas.microsoft.com/office/drawing/2014/main" id="{CA938219-D603-CC49-BCD5-220E6D5E7277}"/>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8869556" y="1887846"/>
            <a:ext cx="1397584" cy="1155030"/>
          </a:xfrm>
          <a:prstGeom prst="rect">
            <a:avLst/>
          </a:prstGeom>
        </p:spPr>
      </p:pic>
      <p:sp>
        <p:nvSpPr>
          <p:cNvPr id="46" name="Transaction management">
            <a:extLst>
              <a:ext uri="{FF2B5EF4-FFF2-40B4-BE49-F238E27FC236}">
                <a16:creationId xmlns:a16="http://schemas.microsoft.com/office/drawing/2014/main" id="{40C93E76-D436-884D-9B64-CEB3046E3A4E}"/>
              </a:ext>
            </a:extLst>
          </p:cNvPr>
          <p:cNvSpPr txBox="1"/>
          <p:nvPr/>
        </p:nvSpPr>
        <p:spPr>
          <a:xfrm>
            <a:off x="9160494" y="3579502"/>
            <a:ext cx="1896727" cy="5855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lvl1pPr algn="ctr" defTabSz="914400">
              <a:lnSpc>
                <a:spcPct val="100000"/>
              </a:lnSpc>
              <a:defRPr sz="1400">
                <a:latin typeface="FS Albert Light"/>
                <a:ea typeface="FS Albert Light"/>
                <a:cs typeface="FS Albert Light"/>
                <a:sym typeface="FS Albert Light"/>
              </a:defRPr>
            </a:lvl1pPr>
          </a:lstStyle>
          <a:p>
            <a:pPr hangingPunct="0">
              <a:lnSpc>
                <a:spcPct val="100000"/>
              </a:lnSpc>
              <a:defRPr sz="1400">
                <a:latin typeface="FS Albert Light"/>
                <a:ea typeface="FS Albert Light"/>
                <a:cs typeface="FS Albert Light"/>
                <a:sym typeface="FS Albert Light"/>
              </a:defRPr>
            </a:pPr>
            <a:r>
              <a:rPr kern="0" cap="all" dirty="0">
                <a:latin typeface="+mj-lt"/>
                <a:cs typeface="Arial" panose="020B0604020202020204" pitchFamily="34" charset="0"/>
              </a:rPr>
              <a:t>Transaction </a:t>
            </a:r>
            <a:r>
              <a:rPr lang="en-US" kern="0" cap="all" dirty="0">
                <a:latin typeface="+mj-lt"/>
                <a:cs typeface="Arial" panose="020B0604020202020204" pitchFamily="34" charset="0"/>
              </a:rPr>
              <a:t>MANAGEMENT</a:t>
            </a:r>
            <a:endParaRPr kern="0" cap="all" dirty="0">
              <a:latin typeface="+mj-lt"/>
              <a:cs typeface="Arial" panose="020B0604020202020204" pitchFamily="34" charset="0"/>
            </a:endParaRPr>
          </a:p>
        </p:txBody>
      </p:sp>
      <p:pic>
        <p:nvPicPr>
          <p:cNvPr id="48" name="Picture 47" hidden="1">
            <a:extLst>
              <a:ext uri="{FF2B5EF4-FFF2-40B4-BE49-F238E27FC236}">
                <a16:creationId xmlns:a16="http://schemas.microsoft.com/office/drawing/2014/main" id="{0A373DF3-6D5B-4340-9E5D-B6D7A1B9EE0D}"/>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6423260" y="669888"/>
            <a:ext cx="1227474" cy="1014440"/>
          </a:xfrm>
          <a:prstGeom prst="rect">
            <a:avLst/>
          </a:prstGeom>
        </p:spPr>
      </p:pic>
      <p:sp>
        <p:nvSpPr>
          <p:cNvPr id="49" name="Project management">
            <a:extLst>
              <a:ext uri="{FF2B5EF4-FFF2-40B4-BE49-F238E27FC236}">
                <a16:creationId xmlns:a16="http://schemas.microsoft.com/office/drawing/2014/main" id="{3B4DFD90-7521-A44B-A33E-948C2676B768}"/>
              </a:ext>
            </a:extLst>
          </p:cNvPr>
          <p:cNvSpPr txBox="1"/>
          <p:nvPr/>
        </p:nvSpPr>
        <p:spPr>
          <a:xfrm>
            <a:off x="6459571" y="2774518"/>
            <a:ext cx="1896728" cy="58549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lvl1pPr algn="ctr" defTabSz="914400">
              <a:lnSpc>
                <a:spcPct val="100000"/>
              </a:lnSpc>
              <a:defRPr sz="1400">
                <a:latin typeface="FS Albert Light"/>
                <a:ea typeface="FS Albert Light"/>
                <a:cs typeface="FS Albert Light"/>
                <a:sym typeface="FS Albert Light"/>
              </a:defRPr>
            </a:lvl1pPr>
          </a:lstStyle>
          <a:p>
            <a:pPr hangingPunct="0">
              <a:lnSpc>
                <a:spcPct val="100000"/>
              </a:lnSpc>
              <a:defRPr sz="1400">
                <a:latin typeface="FS Albert Light"/>
                <a:ea typeface="FS Albert Light"/>
                <a:cs typeface="FS Albert Light"/>
                <a:sym typeface="FS Albert Light"/>
              </a:defRPr>
            </a:pPr>
            <a:r>
              <a:rPr lang="en-GB" kern="0" cap="all" dirty="0">
                <a:latin typeface="+mj-lt"/>
                <a:cs typeface="Arial" panose="020B0604020202020204" pitchFamily="34" charset="0"/>
              </a:rPr>
              <a:t>Legal </a:t>
            </a:r>
            <a:r>
              <a:rPr kern="0" cap="all" dirty="0">
                <a:latin typeface="+mj-lt"/>
                <a:cs typeface="Arial" panose="020B0604020202020204" pitchFamily="34" charset="0"/>
              </a:rPr>
              <a:t>Project</a:t>
            </a:r>
            <a:br>
              <a:rPr lang="en-GB" kern="0" cap="all" dirty="0">
                <a:latin typeface="+mj-lt"/>
                <a:cs typeface="Arial" panose="020B0604020202020204" pitchFamily="34" charset="0"/>
              </a:rPr>
            </a:br>
            <a:r>
              <a:rPr lang="en-GB" kern="0" cap="all" dirty="0">
                <a:latin typeface="+mj-lt"/>
                <a:cs typeface="Arial" panose="020B0604020202020204" pitchFamily="34" charset="0"/>
              </a:rPr>
              <a:t>Management</a:t>
            </a:r>
            <a:endParaRPr kern="0" cap="all" dirty="0">
              <a:latin typeface="+mj-lt"/>
              <a:cs typeface="Arial" panose="020B0604020202020204" pitchFamily="34" charset="0"/>
            </a:endParaRPr>
          </a:p>
        </p:txBody>
      </p:sp>
      <p:pic>
        <p:nvPicPr>
          <p:cNvPr id="51" name="Picture 50" hidden="1">
            <a:extLst>
              <a:ext uri="{FF2B5EF4-FFF2-40B4-BE49-F238E27FC236}">
                <a16:creationId xmlns:a16="http://schemas.microsoft.com/office/drawing/2014/main" id="{1E2D678D-F979-7844-A952-30B1AC84762C}"/>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3816074" y="1917842"/>
            <a:ext cx="1376511" cy="1137612"/>
          </a:xfrm>
          <a:prstGeom prst="rect">
            <a:avLst/>
          </a:prstGeom>
        </p:spPr>
      </p:pic>
      <p:sp>
        <p:nvSpPr>
          <p:cNvPr id="52" name="Client  portals">
            <a:extLst>
              <a:ext uri="{FF2B5EF4-FFF2-40B4-BE49-F238E27FC236}">
                <a16:creationId xmlns:a16="http://schemas.microsoft.com/office/drawing/2014/main" id="{331124E6-6C13-1543-ACC4-CB46DF640D01}"/>
              </a:ext>
            </a:extLst>
          </p:cNvPr>
          <p:cNvSpPr txBox="1"/>
          <p:nvPr/>
        </p:nvSpPr>
        <p:spPr>
          <a:xfrm>
            <a:off x="3808095" y="3565212"/>
            <a:ext cx="1896726" cy="58549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p>
            <a:pPr algn="ctr" hangingPunct="0">
              <a:defRPr sz="1400">
                <a:latin typeface="FS Albert Light"/>
                <a:ea typeface="FS Albert Light"/>
                <a:cs typeface="FS Albert Light"/>
                <a:sym typeface="FS Albert Light"/>
              </a:defRPr>
            </a:pPr>
            <a:r>
              <a:rPr lang="en-GB" sz="1400" kern="0" cap="all" dirty="0">
                <a:latin typeface="+mj-lt"/>
                <a:cs typeface="Arial" panose="020B0604020202020204" pitchFamily="34" charset="0"/>
                <a:sym typeface="FS Albert Light"/>
              </a:rPr>
              <a:t>Litigation</a:t>
            </a:r>
            <a:br>
              <a:rPr lang="en-GB" sz="1400" kern="0" cap="all" dirty="0">
                <a:latin typeface="+mj-lt"/>
                <a:cs typeface="Arial" panose="020B0604020202020204" pitchFamily="34" charset="0"/>
                <a:sym typeface="FS Albert Light"/>
              </a:rPr>
            </a:br>
            <a:r>
              <a:rPr lang="en-GB" sz="1400" kern="0" cap="all" dirty="0">
                <a:latin typeface="+mj-lt"/>
                <a:cs typeface="Arial" panose="020B0604020202020204" pitchFamily="34" charset="0"/>
                <a:sym typeface="FS Albert Light"/>
              </a:rPr>
              <a:t>Management</a:t>
            </a:r>
            <a:endParaRPr sz="1400" kern="0" cap="all" dirty="0">
              <a:latin typeface="+mj-lt"/>
              <a:cs typeface="Arial" panose="020B0604020202020204" pitchFamily="34" charset="0"/>
              <a:sym typeface="FS Albert Light"/>
            </a:endParaRPr>
          </a:p>
        </p:txBody>
      </p:sp>
      <p:pic>
        <p:nvPicPr>
          <p:cNvPr id="54" name="Picture 53" hidden="1">
            <a:extLst>
              <a:ext uri="{FF2B5EF4-FFF2-40B4-BE49-F238E27FC236}">
                <a16:creationId xmlns:a16="http://schemas.microsoft.com/office/drawing/2014/main" id="{D0850BBC-75C9-6D4C-83D3-14615A6D8375}"/>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1355385" y="1993715"/>
            <a:ext cx="1227474" cy="1014440"/>
          </a:xfrm>
          <a:prstGeom prst="rect">
            <a:avLst/>
          </a:prstGeom>
        </p:spPr>
      </p:pic>
      <p:sp>
        <p:nvSpPr>
          <p:cNvPr id="55" name="Client  portals">
            <a:extLst>
              <a:ext uri="{FF2B5EF4-FFF2-40B4-BE49-F238E27FC236}">
                <a16:creationId xmlns:a16="http://schemas.microsoft.com/office/drawing/2014/main" id="{2826E9DB-CC71-0A40-AF17-350DB35E44D2}"/>
              </a:ext>
            </a:extLst>
          </p:cNvPr>
          <p:cNvSpPr txBox="1"/>
          <p:nvPr/>
        </p:nvSpPr>
        <p:spPr>
          <a:xfrm>
            <a:off x="1100542" y="3579499"/>
            <a:ext cx="1896728" cy="58549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p>
            <a:pPr algn="ctr" hangingPunct="0">
              <a:lnSpc>
                <a:spcPct val="100000"/>
              </a:lnSpc>
              <a:defRPr sz="1400">
                <a:latin typeface="FS Albert Light"/>
                <a:ea typeface="FS Albert Light"/>
                <a:cs typeface="FS Albert Light"/>
                <a:sym typeface="FS Albert Light"/>
              </a:defRPr>
            </a:pPr>
            <a:r>
              <a:rPr lang="en-GB" sz="1400" kern="0" cap="all" dirty="0">
                <a:latin typeface="+mj-lt"/>
                <a:cs typeface="Arial" panose="020B0604020202020204" pitchFamily="34" charset="0"/>
                <a:sym typeface="FS Albert Light"/>
              </a:rPr>
              <a:t>Portfolio</a:t>
            </a:r>
            <a:br>
              <a:rPr lang="en-GB" sz="1400" kern="0" cap="all" dirty="0">
                <a:latin typeface="+mj-lt"/>
                <a:cs typeface="Arial" panose="020B0604020202020204" pitchFamily="34" charset="0"/>
                <a:sym typeface="FS Albert Light"/>
              </a:rPr>
            </a:br>
            <a:r>
              <a:rPr lang="en-GB" sz="1400" kern="0" cap="all" dirty="0">
                <a:latin typeface="+mj-lt"/>
                <a:cs typeface="Arial" panose="020B0604020202020204" pitchFamily="34" charset="0"/>
                <a:sym typeface="FS Albert Light"/>
              </a:rPr>
              <a:t>Management</a:t>
            </a:r>
          </a:p>
        </p:txBody>
      </p:sp>
      <p:pic>
        <p:nvPicPr>
          <p:cNvPr id="57" name="Picture 56" hidden="1">
            <a:extLst>
              <a:ext uri="{FF2B5EF4-FFF2-40B4-BE49-F238E27FC236}">
                <a16:creationId xmlns:a16="http://schemas.microsoft.com/office/drawing/2014/main" id="{B0421AFB-08D7-A546-AE7F-5A2AA44D267F}"/>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6454891" y="1993718"/>
            <a:ext cx="1172314" cy="968854"/>
          </a:xfrm>
          <a:prstGeom prst="rect">
            <a:avLst/>
          </a:prstGeom>
        </p:spPr>
      </p:pic>
      <p:sp>
        <p:nvSpPr>
          <p:cNvPr id="58" name="Client  portals">
            <a:extLst>
              <a:ext uri="{FF2B5EF4-FFF2-40B4-BE49-F238E27FC236}">
                <a16:creationId xmlns:a16="http://schemas.microsoft.com/office/drawing/2014/main" id="{1B106074-677B-BD4A-A948-8D41620FBA5A}"/>
              </a:ext>
            </a:extLst>
          </p:cNvPr>
          <p:cNvSpPr txBox="1"/>
          <p:nvPr/>
        </p:nvSpPr>
        <p:spPr>
          <a:xfrm>
            <a:off x="6460375" y="3579502"/>
            <a:ext cx="1896727" cy="5855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p>
            <a:pPr algn="ctr" hangingPunct="0">
              <a:defRPr sz="1400">
                <a:latin typeface="FS Albert Light"/>
                <a:ea typeface="FS Albert Light"/>
                <a:cs typeface="FS Albert Light"/>
                <a:sym typeface="FS Albert Light"/>
              </a:defRPr>
            </a:pPr>
            <a:r>
              <a:rPr lang="en-GB" sz="1400" kern="0" cap="all">
                <a:latin typeface="+mj-lt"/>
                <a:cs typeface="Arial" panose="020B0604020202020204" pitchFamily="34" charset="0"/>
                <a:sym typeface="FS Albert Light"/>
              </a:rPr>
              <a:t>Compliance Management</a:t>
            </a:r>
            <a:endParaRPr sz="1400" kern="0" cap="all">
              <a:latin typeface="+mj-lt"/>
              <a:cs typeface="Arial" panose="020B0604020202020204" pitchFamily="34" charset="0"/>
              <a:sym typeface="FS Albert Light"/>
            </a:endParaRPr>
          </a:p>
        </p:txBody>
      </p:sp>
      <p:sp>
        <p:nvSpPr>
          <p:cNvPr id="60" name="Social intranets">
            <a:extLst>
              <a:ext uri="{FF2B5EF4-FFF2-40B4-BE49-F238E27FC236}">
                <a16:creationId xmlns:a16="http://schemas.microsoft.com/office/drawing/2014/main" id="{AB5B4515-DE5F-A240-B52B-DBB5C1E225EB}"/>
              </a:ext>
            </a:extLst>
          </p:cNvPr>
          <p:cNvSpPr txBox="1"/>
          <p:nvPr/>
        </p:nvSpPr>
        <p:spPr>
          <a:xfrm>
            <a:off x="9160599" y="2766540"/>
            <a:ext cx="1896727" cy="5855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45707" tIns="45707" rIns="45707" bIns="45707" numCol="1" anchor="ctr">
            <a:noAutofit/>
          </a:bodyPr>
          <a:lstStyle/>
          <a:p>
            <a:pPr algn="ctr" hangingPunct="0">
              <a:defRPr sz="1400">
                <a:latin typeface="FS Albert Light"/>
                <a:ea typeface="FS Albert Light"/>
                <a:cs typeface="FS Albert Light"/>
                <a:sym typeface="FS Albert Light"/>
              </a:defRPr>
            </a:pPr>
            <a:r>
              <a:rPr lang="en-GB" sz="1400" kern="0" cap="all" dirty="0">
                <a:latin typeface="+mj-lt"/>
                <a:cs typeface="Arial" panose="020B0604020202020204" pitchFamily="34" charset="0"/>
                <a:sym typeface="FS Albert Light"/>
              </a:rPr>
              <a:t>Team</a:t>
            </a:r>
            <a:br>
              <a:rPr lang="en-GB" sz="1400" kern="0" cap="all" dirty="0">
                <a:latin typeface="+mj-lt"/>
                <a:cs typeface="Arial" panose="020B0604020202020204" pitchFamily="34" charset="0"/>
                <a:sym typeface="FS Albert Light"/>
              </a:rPr>
            </a:br>
            <a:r>
              <a:rPr lang="en-GB" sz="1400" kern="0" cap="all" dirty="0">
                <a:latin typeface="+mj-lt"/>
                <a:cs typeface="Arial" panose="020B0604020202020204" pitchFamily="34" charset="0"/>
                <a:sym typeface="FS Albert Light"/>
              </a:rPr>
              <a:t>Collaboration</a:t>
            </a:r>
            <a:endParaRPr sz="1400" kern="0" cap="all" dirty="0">
              <a:latin typeface="+mj-lt"/>
              <a:cs typeface="Arial" panose="020B0604020202020204" pitchFamily="34" charset="0"/>
              <a:sym typeface="FS Albert Light"/>
            </a:endParaRPr>
          </a:p>
        </p:txBody>
      </p:sp>
      <p:pic>
        <p:nvPicPr>
          <p:cNvPr id="61" name="Picture 60" hidden="1">
            <a:extLst>
              <a:ext uri="{FF2B5EF4-FFF2-40B4-BE49-F238E27FC236}">
                <a16:creationId xmlns:a16="http://schemas.microsoft.com/office/drawing/2014/main" id="{87298F60-30F0-BD48-91F5-5B89F0503154}"/>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8954630" y="1940045"/>
            <a:ext cx="1227473" cy="1014440"/>
          </a:xfrm>
          <a:prstGeom prst="rect">
            <a:avLst/>
          </a:prstGeom>
        </p:spPr>
      </p:pic>
      <p:sp>
        <p:nvSpPr>
          <p:cNvPr id="68" name="Rectangle 67">
            <a:extLst>
              <a:ext uri="{FF2B5EF4-FFF2-40B4-BE49-F238E27FC236}">
                <a16:creationId xmlns:a16="http://schemas.microsoft.com/office/drawing/2014/main" id="{36F92A10-8764-1E4A-8B49-ABCF8C99BA3D}"/>
              </a:ext>
            </a:extLst>
          </p:cNvPr>
          <p:cNvSpPr/>
          <p:nvPr/>
        </p:nvSpPr>
        <p:spPr>
          <a:xfrm>
            <a:off x="697506" y="837838"/>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Law Firm Processes</a:t>
            </a:r>
          </a:p>
        </p:txBody>
      </p:sp>
      <p:sp>
        <p:nvSpPr>
          <p:cNvPr id="69" name="Freeform 68">
            <a:extLst>
              <a:ext uri="{FF2B5EF4-FFF2-40B4-BE49-F238E27FC236}">
                <a16:creationId xmlns:a16="http://schemas.microsoft.com/office/drawing/2014/main" id="{637CB82B-CD57-344D-B1FC-B1DF0F88B4CB}"/>
              </a:ext>
            </a:extLst>
          </p:cNvPr>
          <p:cNvSpPr/>
          <p:nvPr/>
        </p:nvSpPr>
        <p:spPr>
          <a:xfrm rot="10800000">
            <a:off x="7368765" y="-2"/>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Freeform 69">
            <a:extLst>
              <a:ext uri="{FF2B5EF4-FFF2-40B4-BE49-F238E27FC236}">
                <a16:creationId xmlns:a16="http://schemas.microsoft.com/office/drawing/2014/main" id="{7DF81DD5-3B28-104D-B6FF-F5938AB7FC68}"/>
              </a:ext>
            </a:extLst>
          </p:cNvPr>
          <p:cNvSpPr/>
          <p:nvPr/>
        </p:nvSpPr>
        <p:spPr>
          <a:xfrm rot="10800000">
            <a:off x="10054538" y="-1"/>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6FE6D10-0A26-6146-B0E9-76191D778A1F}"/>
              </a:ext>
            </a:extLst>
          </p:cNvPr>
          <p:cNvSpPr/>
          <p:nvPr/>
        </p:nvSpPr>
        <p:spPr>
          <a:xfrm>
            <a:off x="650292" y="1202951"/>
            <a:ext cx="11394563" cy="1107996"/>
          </a:xfrm>
          <a:prstGeom prst="rect">
            <a:avLst/>
          </a:prstGeom>
        </p:spPr>
        <p:txBody>
          <a:bodyPr wrap="square" lIns="0" tIns="0" rIns="0" bIns="0">
            <a:spAutoFit/>
          </a:bodyPr>
          <a:lstStyle/>
          <a:p>
            <a:pPr defTabSz="914126">
              <a:spcBef>
                <a:spcPts val="400"/>
              </a:spcBef>
              <a:defRPr/>
            </a:pPr>
            <a:r>
              <a:rPr lang="en-US" sz="7200" dirty="0">
                <a:solidFill>
                  <a:schemeClr val="bg1">
                    <a:alpha val="60000"/>
                  </a:schemeClr>
                </a:solidFill>
                <a:latin typeface="+mj-lt"/>
              </a:rPr>
              <a:t>IMPROVED WITH HIGHQ</a:t>
            </a:r>
          </a:p>
        </p:txBody>
      </p:sp>
      <p:grpSp>
        <p:nvGrpSpPr>
          <p:cNvPr id="9" name="Group 8">
            <a:extLst>
              <a:ext uri="{FF2B5EF4-FFF2-40B4-BE49-F238E27FC236}">
                <a16:creationId xmlns:a16="http://schemas.microsoft.com/office/drawing/2014/main" id="{E7026B24-2612-3543-9600-5396D3626323}"/>
              </a:ext>
            </a:extLst>
          </p:cNvPr>
          <p:cNvGrpSpPr/>
          <p:nvPr/>
        </p:nvGrpSpPr>
        <p:grpSpPr>
          <a:xfrm>
            <a:off x="4641294" y="4711526"/>
            <a:ext cx="2796188" cy="1394902"/>
            <a:chOff x="4493809" y="4711526"/>
            <a:chExt cx="2796188" cy="1394902"/>
          </a:xfrm>
        </p:grpSpPr>
        <p:grpSp>
          <p:nvGrpSpPr>
            <p:cNvPr id="84" name="Group 83">
              <a:extLst>
                <a:ext uri="{FF2B5EF4-FFF2-40B4-BE49-F238E27FC236}">
                  <a16:creationId xmlns:a16="http://schemas.microsoft.com/office/drawing/2014/main" id="{B4D9760B-B58B-3D4A-983B-303772E321C6}"/>
                </a:ext>
              </a:extLst>
            </p:cNvPr>
            <p:cNvGrpSpPr/>
            <p:nvPr/>
          </p:nvGrpSpPr>
          <p:grpSpPr>
            <a:xfrm>
              <a:off x="4493809" y="4711526"/>
              <a:ext cx="2796188" cy="1394902"/>
              <a:chOff x="847638" y="4139738"/>
              <a:chExt cx="3992417" cy="1991650"/>
            </a:xfrm>
            <a:solidFill>
              <a:schemeClr val="accent1"/>
            </a:solidFill>
          </p:grpSpPr>
          <p:sp>
            <p:nvSpPr>
              <p:cNvPr id="85" name="Rectangle 84">
                <a:extLst>
                  <a:ext uri="{FF2B5EF4-FFF2-40B4-BE49-F238E27FC236}">
                    <a16:creationId xmlns:a16="http://schemas.microsoft.com/office/drawing/2014/main" id="{57893D80-4C8E-B746-AB72-82CF68278670}"/>
                  </a:ext>
                </a:extLst>
              </p:cNvPr>
              <p:cNvSpPr/>
              <p:nvPr/>
            </p:nvSpPr>
            <p:spPr>
              <a:xfrm>
                <a:off x="1848505" y="4139738"/>
                <a:ext cx="1991650" cy="19916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32F3B961-9212-A746-9D1C-F4E5F55FE788}"/>
                  </a:ext>
                </a:extLst>
              </p:cNvPr>
              <p:cNvSpPr/>
              <p:nvPr/>
            </p:nvSpPr>
            <p:spPr>
              <a:xfrm>
                <a:off x="847638" y="4139738"/>
                <a:ext cx="1991650" cy="1991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D61455B6-AE2D-5744-BAA7-989B194B14AE}"/>
                  </a:ext>
                </a:extLst>
              </p:cNvPr>
              <p:cNvSpPr/>
              <p:nvPr/>
            </p:nvSpPr>
            <p:spPr>
              <a:xfrm>
                <a:off x="2848405" y="4139738"/>
                <a:ext cx="1991650" cy="1991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 name="Text Placeholder 1">
              <a:extLst>
                <a:ext uri="{FF2B5EF4-FFF2-40B4-BE49-F238E27FC236}">
                  <a16:creationId xmlns:a16="http://schemas.microsoft.com/office/drawing/2014/main" id="{C87AC777-DE08-2A49-A4FF-FCCAF514FF9D}"/>
                </a:ext>
              </a:extLst>
            </p:cNvPr>
            <p:cNvSpPr txBox="1">
              <a:spLocks/>
            </p:cNvSpPr>
            <p:nvPr/>
          </p:nvSpPr>
          <p:spPr>
            <a:xfrm>
              <a:off x="4966681" y="5519974"/>
              <a:ext cx="1881021" cy="431432"/>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spcAft>
                  <a:spcPts val="1200"/>
                </a:spcAft>
              </a:pPr>
              <a:r>
                <a:rPr lang="en-US" sz="1400" b="1" dirty="0">
                  <a:solidFill>
                    <a:schemeClr val="bg1"/>
                  </a:solidFill>
                </a:rPr>
                <a:t>Increase productivity</a:t>
              </a:r>
              <a:br>
                <a:rPr lang="en-US" sz="1400" b="1" dirty="0">
                  <a:solidFill>
                    <a:schemeClr val="bg1"/>
                  </a:solidFill>
                </a:rPr>
              </a:br>
              <a:r>
                <a:rPr lang="en-US" sz="1400" b="1" dirty="0">
                  <a:solidFill>
                    <a:schemeClr val="bg1"/>
                  </a:solidFill>
                </a:rPr>
                <a:t>and efficiency</a:t>
              </a:r>
            </a:p>
          </p:txBody>
        </p:sp>
        <p:pic>
          <p:nvPicPr>
            <p:cNvPr id="12" name="Picture 11">
              <a:extLst>
                <a:ext uri="{FF2B5EF4-FFF2-40B4-BE49-F238E27FC236}">
                  <a16:creationId xmlns:a16="http://schemas.microsoft.com/office/drawing/2014/main" id="{0F5DDF73-5676-407A-AE96-646DE3459FCC}"/>
                </a:ext>
              </a:extLst>
            </p:cNvPr>
            <p:cNvPicPr>
              <a:picLocks noChangeAspect="1"/>
            </p:cNvPicPr>
            <p:nvPr/>
          </p:nvPicPr>
          <p:blipFill>
            <a:blip r:embed="rId5" cstate="hqprint">
              <a:biLevel thresh="25000"/>
              <a:extLst>
                <a:ext uri="{28A0092B-C50C-407E-A947-70E740481C1C}">
                  <a14:useLocalDpi xmlns:a14="http://schemas.microsoft.com/office/drawing/2010/main"/>
                </a:ext>
              </a:extLst>
            </a:blip>
            <a:stretch>
              <a:fillRect/>
            </a:stretch>
          </p:blipFill>
          <p:spPr>
            <a:xfrm>
              <a:off x="5584769" y="4885707"/>
              <a:ext cx="584613" cy="584613"/>
            </a:xfrm>
            <a:prstGeom prst="rect">
              <a:avLst/>
            </a:prstGeom>
          </p:spPr>
        </p:pic>
      </p:grpSp>
      <p:grpSp>
        <p:nvGrpSpPr>
          <p:cNvPr id="7" name="Group 6">
            <a:extLst>
              <a:ext uri="{FF2B5EF4-FFF2-40B4-BE49-F238E27FC236}">
                <a16:creationId xmlns:a16="http://schemas.microsoft.com/office/drawing/2014/main" id="{B5F614C8-BC7C-EF43-9E7E-3894D470D507}"/>
              </a:ext>
            </a:extLst>
          </p:cNvPr>
          <p:cNvGrpSpPr/>
          <p:nvPr/>
        </p:nvGrpSpPr>
        <p:grpSpPr>
          <a:xfrm>
            <a:off x="8255170" y="4711526"/>
            <a:ext cx="2796188" cy="1394902"/>
            <a:chOff x="8196175" y="4711526"/>
            <a:chExt cx="2796188" cy="1394902"/>
          </a:xfrm>
        </p:grpSpPr>
        <p:grpSp>
          <p:nvGrpSpPr>
            <p:cNvPr id="95" name="Group 94">
              <a:extLst>
                <a:ext uri="{FF2B5EF4-FFF2-40B4-BE49-F238E27FC236}">
                  <a16:creationId xmlns:a16="http://schemas.microsoft.com/office/drawing/2014/main" id="{CAE5D1C7-BA54-264A-8369-D48AFDEA32B9}"/>
                </a:ext>
              </a:extLst>
            </p:cNvPr>
            <p:cNvGrpSpPr/>
            <p:nvPr/>
          </p:nvGrpSpPr>
          <p:grpSpPr>
            <a:xfrm>
              <a:off x="8196175" y="4711526"/>
              <a:ext cx="2796188" cy="1394902"/>
              <a:chOff x="847638" y="4139738"/>
              <a:chExt cx="3992417" cy="1991650"/>
            </a:xfrm>
            <a:solidFill>
              <a:schemeClr val="accent3"/>
            </a:solidFill>
          </p:grpSpPr>
          <p:sp>
            <p:nvSpPr>
              <p:cNvPr id="96" name="Rectangle 95">
                <a:extLst>
                  <a:ext uri="{FF2B5EF4-FFF2-40B4-BE49-F238E27FC236}">
                    <a16:creationId xmlns:a16="http://schemas.microsoft.com/office/drawing/2014/main" id="{641A94A4-6B32-FF48-8FFB-57EFDDC3E0AE}"/>
                  </a:ext>
                </a:extLst>
              </p:cNvPr>
              <p:cNvSpPr/>
              <p:nvPr/>
            </p:nvSpPr>
            <p:spPr>
              <a:xfrm>
                <a:off x="1848505" y="4139738"/>
                <a:ext cx="1991650" cy="19916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6290794D-FB8A-EA40-8C43-90FEAABABEFA}"/>
                  </a:ext>
                </a:extLst>
              </p:cNvPr>
              <p:cNvSpPr/>
              <p:nvPr/>
            </p:nvSpPr>
            <p:spPr>
              <a:xfrm>
                <a:off x="847638" y="4139738"/>
                <a:ext cx="1991650" cy="1991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D710F3D3-065E-BA4D-AC86-AF8AF874192E}"/>
                  </a:ext>
                </a:extLst>
              </p:cNvPr>
              <p:cNvSpPr/>
              <p:nvPr/>
            </p:nvSpPr>
            <p:spPr>
              <a:xfrm>
                <a:off x="2848405" y="4139738"/>
                <a:ext cx="1991650" cy="1991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9" name="Text Placeholder 1">
              <a:extLst>
                <a:ext uri="{FF2B5EF4-FFF2-40B4-BE49-F238E27FC236}">
                  <a16:creationId xmlns:a16="http://schemas.microsoft.com/office/drawing/2014/main" id="{893C4C5A-6E26-D144-A48A-D37D38398A5F}"/>
                </a:ext>
              </a:extLst>
            </p:cNvPr>
            <p:cNvSpPr txBox="1">
              <a:spLocks/>
            </p:cNvSpPr>
            <p:nvPr/>
          </p:nvSpPr>
          <p:spPr>
            <a:xfrm>
              <a:off x="8611962" y="5519974"/>
              <a:ext cx="1995189" cy="408121"/>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90000"/>
                </a:lnSpc>
                <a:spcAft>
                  <a:spcPts val="1200"/>
                </a:spcAft>
              </a:pPr>
              <a:r>
                <a:rPr lang="en-US" sz="1400" b="1" dirty="0">
                  <a:solidFill>
                    <a:schemeClr val="bg1"/>
                  </a:solidFill>
                </a:rPr>
                <a:t>Streamline project and matter management</a:t>
              </a:r>
            </a:p>
          </p:txBody>
        </p:sp>
        <p:pic>
          <p:nvPicPr>
            <p:cNvPr id="15" name="Picture 14">
              <a:extLst>
                <a:ext uri="{FF2B5EF4-FFF2-40B4-BE49-F238E27FC236}">
                  <a16:creationId xmlns:a16="http://schemas.microsoft.com/office/drawing/2014/main" id="{F7619807-FEFD-41C7-88D9-C716F1FBBF0B}"/>
                </a:ext>
              </a:extLst>
            </p:cNvPr>
            <p:cNvPicPr>
              <a:picLocks noChangeAspect="1"/>
            </p:cNvPicPr>
            <p:nvPr/>
          </p:nvPicPr>
          <p:blipFill>
            <a:blip r:embed="rId12" cstate="hqprint">
              <a:biLevel thresh="25000"/>
              <a:extLst>
                <a:ext uri="{28A0092B-C50C-407E-A947-70E740481C1C}">
                  <a14:useLocalDpi xmlns:a14="http://schemas.microsoft.com/office/drawing/2010/main"/>
                </a:ext>
              </a:extLst>
            </a:blip>
            <a:stretch>
              <a:fillRect/>
            </a:stretch>
          </p:blipFill>
          <p:spPr>
            <a:xfrm>
              <a:off x="9330186" y="4858121"/>
              <a:ext cx="558742" cy="558742"/>
            </a:xfrm>
            <a:prstGeom prst="rect">
              <a:avLst/>
            </a:prstGeom>
          </p:spPr>
        </p:pic>
      </p:grpSp>
      <p:sp>
        <p:nvSpPr>
          <p:cNvPr id="4" name="TextBox 3">
            <a:extLst>
              <a:ext uri="{FF2B5EF4-FFF2-40B4-BE49-F238E27FC236}">
                <a16:creationId xmlns:a16="http://schemas.microsoft.com/office/drawing/2014/main" id="{440761A9-BF54-8042-B99C-30A4D5ABC2AE}"/>
              </a:ext>
            </a:extLst>
          </p:cNvPr>
          <p:cNvSpPr txBox="1"/>
          <p:nvPr/>
        </p:nvSpPr>
        <p:spPr>
          <a:xfrm>
            <a:off x="10117394" y="8308258"/>
            <a:ext cx="0" cy="0"/>
          </a:xfrm>
          <a:prstGeom prst="rect">
            <a:avLst/>
          </a:prstGeom>
          <a:noFill/>
        </p:spPr>
        <p:txBody>
          <a:bodyPr wrap="none" lIns="0" tIns="0" rIns="0" bIns="0" rtlCol="0" anchor="t">
            <a:noAutofit/>
          </a:bodyPr>
          <a:lstStyle/>
          <a:p>
            <a:endParaRPr lang="en-US" sz="1400" dirty="0" err="1"/>
          </a:p>
        </p:txBody>
      </p:sp>
      <p:sp>
        <p:nvSpPr>
          <p:cNvPr id="10" name="TextBox 9">
            <a:extLst>
              <a:ext uri="{FF2B5EF4-FFF2-40B4-BE49-F238E27FC236}">
                <a16:creationId xmlns:a16="http://schemas.microsoft.com/office/drawing/2014/main" id="{09BB2796-BC15-5947-9AE9-E8C4D4B12C5C}"/>
              </a:ext>
            </a:extLst>
          </p:cNvPr>
          <p:cNvSpPr txBox="1"/>
          <p:nvPr/>
        </p:nvSpPr>
        <p:spPr>
          <a:xfrm>
            <a:off x="1759974" y="6499123"/>
            <a:ext cx="0" cy="0"/>
          </a:xfrm>
          <a:prstGeom prst="rect">
            <a:avLst/>
          </a:prstGeom>
          <a:noFill/>
        </p:spPr>
        <p:txBody>
          <a:bodyPr wrap="none" lIns="0" tIns="0" rIns="0" bIns="0" rtlCol="0" anchor="t">
            <a:noAutofit/>
          </a:bodyPr>
          <a:lstStyle/>
          <a:p>
            <a:endParaRPr lang="en-US" sz="1400" dirty="0" err="1"/>
          </a:p>
        </p:txBody>
      </p:sp>
      <p:grpSp>
        <p:nvGrpSpPr>
          <p:cNvPr id="13" name="Group 12">
            <a:extLst>
              <a:ext uri="{FF2B5EF4-FFF2-40B4-BE49-F238E27FC236}">
                <a16:creationId xmlns:a16="http://schemas.microsoft.com/office/drawing/2014/main" id="{D5EF7159-8EC5-8242-B127-2D209B44F7C7}"/>
              </a:ext>
            </a:extLst>
          </p:cNvPr>
          <p:cNvGrpSpPr/>
          <p:nvPr/>
        </p:nvGrpSpPr>
        <p:grpSpPr>
          <a:xfrm>
            <a:off x="1051545" y="4711526"/>
            <a:ext cx="2796188" cy="1394902"/>
            <a:chOff x="904060" y="4711526"/>
            <a:chExt cx="2796188" cy="1394902"/>
          </a:xfrm>
        </p:grpSpPr>
        <p:grpSp>
          <p:nvGrpSpPr>
            <p:cNvPr id="3" name="Group 2">
              <a:extLst>
                <a:ext uri="{FF2B5EF4-FFF2-40B4-BE49-F238E27FC236}">
                  <a16:creationId xmlns:a16="http://schemas.microsoft.com/office/drawing/2014/main" id="{DAD95553-C6CE-8048-B2B6-4EB7FD964013}"/>
                </a:ext>
              </a:extLst>
            </p:cNvPr>
            <p:cNvGrpSpPr/>
            <p:nvPr/>
          </p:nvGrpSpPr>
          <p:grpSpPr>
            <a:xfrm>
              <a:off x="904060" y="4711526"/>
              <a:ext cx="2796188" cy="1394902"/>
              <a:chOff x="847638" y="4139738"/>
              <a:chExt cx="3992417" cy="1991650"/>
            </a:xfrm>
            <a:solidFill>
              <a:schemeClr val="accent5"/>
            </a:solidFill>
          </p:grpSpPr>
          <p:sp>
            <p:nvSpPr>
              <p:cNvPr id="64" name="Rectangle 63">
                <a:extLst>
                  <a:ext uri="{FF2B5EF4-FFF2-40B4-BE49-F238E27FC236}">
                    <a16:creationId xmlns:a16="http://schemas.microsoft.com/office/drawing/2014/main" id="{07516099-6CA0-814A-BC81-BB16D11FFA27}"/>
                  </a:ext>
                </a:extLst>
              </p:cNvPr>
              <p:cNvSpPr/>
              <p:nvPr/>
            </p:nvSpPr>
            <p:spPr>
              <a:xfrm>
                <a:off x="1848505" y="4139738"/>
                <a:ext cx="1991650" cy="19916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63789B75-DA31-5441-BC58-97B1B4810FE5}"/>
                  </a:ext>
                </a:extLst>
              </p:cNvPr>
              <p:cNvSpPr/>
              <p:nvPr/>
            </p:nvSpPr>
            <p:spPr>
              <a:xfrm>
                <a:off x="847638" y="4139738"/>
                <a:ext cx="1991650" cy="1991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E7B2FAB6-D678-354B-854E-C32BF21B1924}"/>
                  </a:ext>
                </a:extLst>
              </p:cNvPr>
              <p:cNvSpPr/>
              <p:nvPr/>
            </p:nvSpPr>
            <p:spPr>
              <a:xfrm>
                <a:off x="2848405" y="4139738"/>
                <a:ext cx="1991650" cy="19916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BA49565B-8378-4D95-944B-E4D5F78CB7A9}"/>
                </a:ext>
              </a:extLst>
            </p:cNvPr>
            <p:cNvPicPr>
              <a:picLocks noChangeAspect="1"/>
            </p:cNvPicPr>
            <p:nvPr/>
          </p:nvPicPr>
          <p:blipFill>
            <a:blip r:embed="rId13" cstate="hqprint">
              <a:biLevel thresh="25000"/>
              <a:extLst>
                <a:ext uri="{28A0092B-C50C-407E-A947-70E740481C1C}">
                  <a14:useLocalDpi xmlns:a14="http://schemas.microsoft.com/office/drawing/2010/main"/>
                </a:ext>
              </a:extLst>
            </a:blip>
            <a:stretch>
              <a:fillRect/>
            </a:stretch>
          </p:blipFill>
          <p:spPr>
            <a:xfrm>
              <a:off x="1938338" y="4844661"/>
              <a:ext cx="721246" cy="721246"/>
            </a:xfrm>
            <a:prstGeom prst="rect">
              <a:avLst/>
            </a:prstGeom>
          </p:spPr>
        </p:pic>
        <p:sp>
          <p:nvSpPr>
            <p:cNvPr id="110" name="Text Placeholder 1">
              <a:extLst>
                <a:ext uri="{FF2B5EF4-FFF2-40B4-BE49-F238E27FC236}">
                  <a16:creationId xmlns:a16="http://schemas.microsoft.com/office/drawing/2014/main" id="{29804658-8BB4-3C44-B5ED-DB3458ED44BA}"/>
                </a:ext>
              </a:extLst>
            </p:cNvPr>
            <p:cNvSpPr txBox="1">
              <a:spLocks/>
            </p:cNvSpPr>
            <p:nvPr/>
          </p:nvSpPr>
          <p:spPr>
            <a:xfrm>
              <a:off x="1355364" y="5507280"/>
              <a:ext cx="1881021" cy="431432"/>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0" algn="ctr">
                <a:lnSpc>
                  <a:spcPct val="90000"/>
                </a:lnSpc>
                <a:spcAft>
                  <a:spcPts val="1200"/>
                </a:spcAft>
              </a:pPr>
              <a:r>
                <a:rPr lang="en-US" sz="1400" b="1" dirty="0">
                  <a:solidFill>
                    <a:srgbClr val="FFFFFF"/>
                  </a:solidFill>
                </a:rPr>
                <a:t>Improve collaboration </a:t>
              </a:r>
              <a:br>
                <a:rPr lang="en-US" sz="1400" b="1" dirty="0">
                  <a:solidFill>
                    <a:srgbClr val="FFFFFF"/>
                  </a:solidFill>
                </a:rPr>
              </a:br>
              <a:r>
                <a:rPr lang="en-US" sz="1400" b="1" dirty="0">
                  <a:solidFill>
                    <a:srgbClr val="FFFFFF"/>
                  </a:solidFill>
                </a:rPr>
                <a:t>and engagement</a:t>
              </a:r>
            </a:p>
          </p:txBody>
        </p:sp>
      </p:grpSp>
    </p:spTree>
    <p:extLst>
      <p:ext uri="{BB962C8B-B14F-4D97-AF65-F5344CB8AC3E}">
        <p14:creationId xmlns:p14="http://schemas.microsoft.com/office/powerpoint/2010/main" val="329780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B574D4-B0F4-AB45-9950-42942CC1F846}"/>
              </a:ext>
            </a:extLst>
          </p:cNvPr>
          <p:cNvPicPr>
            <a:picLocks noChangeAspect="1"/>
          </p:cNvPicPr>
          <p:nvPr/>
        </p:nvPicPr>
        <p:blipFill rotWithShape="1">
          <a:blip r:embed="rId2"/>
          <a:srcRect l="10280" r="23805"/>
          <a:stretch/>
        </p:blipFill>
        <p:spPr>
          <a:xfrm flipH="1">
            <a:off x="-1470994" y="-479346"/>
            <a:ext cx="7832036" cy="7921396"/>
          </a:xfrm>
          <a:prstGeom prst="ellipse">
            <a:avLst/>
          </a:prstGeom>
        </p:spPr>
      </p:pic>
      <p:pic>
        <p:nvPicPr>
          <p:cNvPr id="22" name="Graphic 21">
            <a:extLst>
              <a:ext uri="{FF2B5EF4-FFF2-40B4-BE49-F238E27FC236}">
                <a16:creationId xmlns:a16="http://schemas.microsoft.com/office/drawing/2014/main" id="{1151844E-C4E4-0F43-A723-94A11857D7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04052" y="-1499094"/>
            <a:ext cx="9989489" cy="9989489"/>
          </a:xfrm>
          <a:prstGeom prst="rect">
            <a:avLst/>
          </a:prstGeom>
        </p:spPr>
      </p:pic>
      <p:grpSp>
        <p:nvGrpSpPr>
          <p:cNvPr id="25" name="Group 24">
            <a:extLst>
              <a:ext uri="{FF2B5EF4-FFF2-40B4-BE49-F238E27FC236}">
                <a16:creationId xmlns:a16="http://schemas.microsoft.com/office/drawing/2014/main" id="{722C7EEF-A697-234F-8061-77CD67014012}"/>
              </a:ext>
            </a:extLst>
          </p:cNvPr>
          <p:cNvGrpSpPr/>
          <p:nvPr/>
        </p:nvGrpSpPr>
        <p:grpSpPr>
          <a:xfrm>
            <a:off x="7190680" y="3025405"/>
            <a:ext cx="4343099" cy="1210165"/>
            <a:chOff x="7156174" y="2904635"/>
            <a:chExt cx="4343099" cy="1210165"/>
          </a:xfrm>
        </p:grpSpPr>
        <p:sp>
          <p:nvSpPr>
            <p:cNvPr id="23" name="TextBox 22">
              <a:extLst>
                <a:ext uri="{FF2B5EF4-FFF2-40B4-BE49-F238E27FC236}">
                  <a16:creationId xmlns:a16="http://schemas.microsoft.com/office/drawing/2014/main" id="{08960204-DEE8-6844-B3BF-9A4F5F319CB5}"/>
                </a:ext>
              </a:extLst>
            </p:cNvPr>
            <p:cNvSpPr txBox="1"/>
            <p:nvPr/>
          </p:nvSpPr>
          <p:spPr>
            <a:xfrm>
              <a:off x="7156174" y="2904635"/>
              <a:ext cx="4343099" cy="1210165"/>
            </a:xfrm>
            <a:prstGeom prst="rect">
              <a:avLst/>
            </a:prstGeom>
            <a:noFill/>
          </p:spPr>
          <p:txBody>
            <a:bodyPr wrap="square" lIns="0" tIns="0" rIns="0" bIns="0" rtlCol="0" anchor="t">
              <a:noAutofit/>
            </a:bodyPr>
            <a:lstStyle/>
            <a:p>
              <a:r>
                <a:rPr lang="en-US" sz="6000" dirty="0"/>
                <a:t>Thank You</a:t>
              </a:r>
              <a:endParaRPr lang="en-US" sz="6000" dirty="0">
                <a:solidFill>
                  <a:schemeClr val="accent1"/>
                </a:solidFill>
                <a:latin typeface="Times" pitchFamily="2" charset="0"/>
              </a:endParaRPr>
            </a:p>
          </p:txBody>
        </p:sp>
        <p:sp>
          <p:nvSpPr>
            <p:cNvPr id="24" name="Oval 23">
              <a:extLst>
                <a:ext uri="{FF2B5EF4-FFF2-40B4-BE49-F238E27FC236}">
                  <a16:creationId xmlns:a16="http://schemas.microsoft.com/office/drawing/2014/main" id="{F7DFB798-5E07-FE47-B219-6B38D3018F1D}"/>
                </a:ext>
              </a:extLst>
            </p:cNvPr>
            <p:cNvSpPr/>
            <p:nvPr/>
          </p:nvSpPr>
          <p:spPr>
            <a:xfrm>
              <a:off x="10885714" y="3461657"/>
              <a:ext cx="152400" cy="1524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89359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EA2B4326-6FC3-B64B-B765-2C33AD7A22A7}"/>
              </a:ext>
            </a:extLst>
          </p:cNvPr>
          <p:cNvSpPr/>
          <p:nvPr/>
        </p:nvSpPr>
        <p:spPr>
          <a:xfrm>
            <a:off x="-14514" y="-5035"/>
            <a:ext cx="11577487" cy="2037035"/>
          </a:xfrm>
          <a:custGeom>
            <a:avLst/>
            <a:gdLst>
              <a:gd name="connsiteX0" fmla="*/ 0 w 11100425"/>
              <a:gd name="connsiteY0" fmla="*/ 0 h 1953097"/>
              <a:gd name="connsiteX1" fmla="*/ 1320800 w 11100425"/>
              <a:gd name="connsiteY1" fmla="*/ 0 h 1953097"/>
              <a:gd name="connsiteX2" fmla="*/ 1529499 w 11100425"/>
              <a:gd name="connsiteY2" fmla="*/ 0 h 1953097"/>
              <a:gd name="connsiteX3" fmla="*/ 2507897 w 11100425"/>
              <a:gd name="connsiteY3" fmla="*/ 0 h 1953097"/>
              <a:gd name="connsiteX4" fmla="*/ 2515761 w 11100425"/>
              <a:gd name="connsiteY4" fmla="*/ 0 h 1953097"/>
              <a:gd name="connsiteX5" fmla="*/ 2850299 w 11100425"/>
              <a:gd name="connsiteY5" fmla="*/ 0 h 1953097"/>
              <a:gd name="connsiteX6" fmla="*/ 3828697 w 11100425"/>
              <a:gd name="connsiteY6" fmla="*/ 0 h 1953097"/>
              <a:gd name="connsiteX7" fmla="*/ 3836561 w 11100425"/>
              <a:gd name="connsiteY7" fmla="*/ 0 h 1953097"/>
              <a:gd name="connsiteX8" fmla="*/ 4037396 w 11100425"/>
              <a:gd name="connsiteY8" fmla="*/ 0 h 1953097"/>
              <a:gd name="connsiteX9" fmla="*/ 4045258 w 11100425"/>
              <a:gd name="connsiteY9" fmla="*/ 0 h 1953097"/>
              <a:gd name="connsiteX10" fmla="*/ 5358195 w 11100425"/>
              <a:gd name="connsiteY10" fmla="*/ 0 h 1953097"/>
              <a:gd name="connsiteX11" fmla="*/ 5366058 w 11100425"/>
              <a:gd name="connsiteY11" fmla="*/ 0 h 1953097"/>
              <a:gd name="connsiteX12" fmla="*/ 7265714 w 11100425"/>
              <a:gd name="connsiteY12" fmla="*/ 0 h 1953097"/>
              <a:gd name="connsiteX13" fmla="*/ 7273578 w 11100425"/>
              <a:gd name="connsiteY13" fmla="*/ 0 h 1953097"/>
              <a:gd name="connsiteX14" fmla="*/ 8586514 w 11100425"/>
              <a:gd name="connsiteY14" fmla="*/ 0 h 1953097"/>
              <a:gd name="connsiteX15" fmla="*/ 8594378 w 11100425"/>
              <a:gd name="connsiteY15" fmla="*/ 0 h 1953097"/>
              <a:gd name="connsiteX16" fmla="*/ 8795212 w 11100425"/>
              <a:gd name="connsiteY16" fmla="*/ 0 h 1953097"/>
              <a:gd name="connsiteX17" fmla="*/ 8803076 w 11100425"/>
              <a:gd name="connsiteY17" fmla="*/ 0 h 1953097"/>
              <a:gd name="connsiteX18" fmla="*/ 10116012 w 11100425"/>
              <a:gd name="connsiteY18" fmla="*/ 0 h 1953097"/>
              <a:gd name="connsiteX19" fmla="*/ 10116012 w 11100425"/>
              <a:gd name="connsiteY19" fmla="*/ 792 h 1953097"/>
              <a:gd name="connsiteX20" fmla="*/ 10123876 w 11100425"/>
              <a:gd name="connsiteY20" fmla="*/ 0 h 1953097"/>
              <a:gd name="connsiteX21" fmla="*/ 11100425 w 11100425"/>
              <a:gd name="connsiteY21" fmla="*/ 976552 h 1953097"/>
              <a:gd name="connsiteX22" fmla="*/ 10123876 w 11100425"/>
              <a:gd name="connsiteY22" fmla="*/ 1953097 h 1953097"/>
              <a:gd name="connsiteX23" fmla="*/ 10116012 w 11100425"/>
              <a:gd name="connsiteY23" fmla="*/ 1952305 h 1953097"/>
              <a:gd name="connsiteX24" fmla="*/ 10116012 w 11100425"/>
              <a:gd name="connsiteY24" fmla="*/ 1953097 h 1953097"/>
              <a:gd name="connsiteX25" fmla="*/ 8803076 w 11100425"/>
              <a:gd name="connsiteY25" fmla="*/ 1953097 h 1953097"/>
              <a:gd name="connsiteX26" fmla="*/ 8795212 w 11100425"/>
              <a:gd name="connsiteY26" fmla="*/ 1953097 h 1953097"/>
              <a:gd name="connsiteX27" fmla="*/ 8594378 w 11100425"/>
              <a:gd name="connsiteY27" fmla="*/ 1953097 h 1953097"/>
              <a:gd name="connsiteX28" fmla="*/ 8586514 w 11100425"/>
              <a:gd name="connsiteY28" fmla="*/ 1953097 h 1953097"/>
              <a:gd name="connsiteX29" fmla="*/ 7273578 w 11100425"/>
              <a:gd name="connsiteY29" fmla="*/ 1953097 h 1953097"/>
              <a:gd name="connsiteX30" fmla="*/ 7265714 w 11100425"/>
              <a:gd name="connsiteY30" fmla="*/ 1953097 h 1953097"/>
              <a:gd name="connsiteX31" fmla="*/ 5366074 w 11100425"/>
              <a:gd name="connsiteY31" fmla="*/ 1953097 h 1953097"/>
              <a:gd name="connsiteX32" fmla="*/ 5366058 w 11100425"/>
              <a:gd name="connsiteY32" fmla="*/ 1953097 h 1953097"/>
              <a:gd name="connsiteX33" fmla="*/ 5366042 w 11100425"/>
              <a:gd name="connsiteY33" fmla="*/ 1953097 h 1953097"/>
              <a:gd name="connsiteX34" fmla="*/ 5358195 w 11100425"/>
              <a:gd name="connsiteY34" fmla="*/ 1953097 h 1953097"/>
              <a:gd name="connsiteX35" fmla="*/ 4045274 w 11100425"/>
              <a:gd name="connsiteY35" fmla="*/ 1953097 h 1953097"/>
              <a:gd name="connsiteX36" fmla="*/ 4045258 w 11100425"/>
              <a:gd name="connsiteY36" fmla="*/ 1953097 h 1953097"/>
              <a:gd name="connsiteX37" fmla="*/ 4045242 w 11100425"/>
              <a:gd name="connsiteY37" fmla="*/ 1953097 h 1953097"/>
              <a:gd name="connsiteX38" fmla="*/ 4037396 w 11100425"/>
              <a:gd name="connsiteY38" fmla="*/ 1953097 h 1953097"/>
              <a:gd name="connsiteX39" fmla="*/ 3836576 w 11100425"/>
              <a:gd name="connsiteY39" fmla="*/ 1953097 h 1953097"/>
              <a:gd name="connsiteX40" fmla="*/ 3836561 w 11100425"/>
              <a:gd name="connsiteY40" fmla="*/ 1953097 h 1953097"/>
              <a:gd name="connsiteX41" fmla="*/ 3836544 w 11100425"/>
              <a:gd name="connsiteY41" fmla="*/ 1953097 h 1953097"/>
              <a:gd name="connsiteX42" fmla="*/ 3828697 w 11100425"/>
              <a:gd name="connsiteY42" fmla="*/ 1953097 h 1953097"/>
              <a:gd name="connsiteX43" fmla="*/ 2850299 w 11100425"/>
              <a:gd name="connsiteY43" fmla="*/ 1953097 h 1953097"/>
              <a:gd name="connsiteX44" fmla="*/ 2515775 w 11100425"/>
              <a:gd name="connsiteY44" fmla="*/ 1953097 h 1953097"/>
              <a:gd name="connsiteX45" fmla="*/ 2515761 w 11100425"/>
              <a:gd name="connsiteY45" fmla="*/ 1953097 h 1953097"/>
              <a:gd name="connsiteX46" fmla="*/ 2515744 w 11100425"/>
              <a:gd name="connsiteY46" fmla="*/ 1953097 h 1953097"/>
              <a:gd name="connsiteX47" fmla="*/ 2507897 w 11100425"/>
              <a:gd name="connsiteY47" fmla="*/ 1953097 h 1953097"/>
              <a:gd name="connsiteX48" fmla="*/ 1529499 w 11100425"/>
              <a:gd name="connsiteY48" fmla="*/ 1953097 h 1953097"/>
              <a:gd name="connsiteX49" fmla="*/ 1320800 w 11100425"/>
              <a:gd name="connsiteY49" fmla="*/ 1953097 h 1953097"/>
              <a:gd name="connsiteX50" fmla="*/ 0 w 11100425"/>
              <a:gd name="connsiteY50" fmla="*/ 1953097 h 1953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00425" h="1953097">
                <a:moveTo>
                  <a:pt x="0" y="0"/>
                </a:moveTo>
                <a:lnTo>
                  <a:pt x="1320800" y="0"/>
                </a:lnTo>
                <a:lnTo>
                  <a:pt x="1529499" y="0"/>
                </a:lnTo>
                <a:lnTo>
                  <a:pt x="2507897" y="0"/>
                </a:lnTo>
                <a:lnTo>
                  <a:pt x="2515761" y="0"/>
                </a:lnTo>
                <a:lnTo>
                  <a:pt x="2850299" y="0"/>
                </a:lnTo>
                <a:lnTo>
                  <a:pt x="3828697" y="0"/>
                </a:lnTo>
                <a:lnTo>
                  <a:pt x="3836561" y="0"/>
                </a:lnTo>
                <a:lnTo>
                  <a:pt x="4037396" y="0"/>
                </a:lnTo>
                <a:lnTo>
                  <a:pt x="4045258" y="0"/>
                </a:lnTo>
                <a:lnTo>
                  <a:pt x="5358195" y="0"/>
                </a:lnTo>
                <a:lnTo>
                  <a:pt x="5366058" y="0"/>
                </a:lnTo>
                <a:lnTo>
                  <a:pt x="7265714" y="0"/>
                </a:lnTo>
                <a:lnTo>
                  <a:pt x="7273578" y="0"/>
                </a:lnTo>
                <a:lnTo>
                  <a:pt x="8586514" y="0"/>
                </a:lnTo>
                <a:lnTo>
                  <a:pt x="8594378" y="0"/>
                </a:lnTo>
                <a:lnTo>
                  <a:pt x="8795212" y="0"/>
                </a:lnTo>
                <a:lnTo>
                  <a:pt x="8803076" y="0"/>
                </a:lnTo>
                <a:lnTo>
                  <a:pt x="10116012" y="0"/>
                </a:lnTo>
                <a:lnTo>
                  <a:pt x="10116012" y="792"/>
                </a:lnTo>
                <a:lnTo>
                  <a:pt x="10123876" y="0"/>
                </a:lnTo>
                <a:cubicBezTo>
                  <a:pt x="10663212" y="0"/>
                  <a:pt x="11100425" y="437214"/>
                  <a:pt x="11100425" y="976552"/>
                </a:cubicBezTo>
                <a:cubicBezTo>
                  <a:pt x="11100425" y="1515883"/>
                  <a:pt x="10663212" y="1953097"/>
                  <a:pt x="10123876" y="1953097"/>
                </a:cubicBezTo>
                <a:lnTo>
                  <a:pt x="10116012" y="1952305"/>
                </a:lnTo>
                <a:lnTo>
                  <a:pt x="10116012" y="1953097"/>
                </a:lnTo>
                <a:lnTo>
                  <a:pt x="8803076" y="1953097"/>
                </a:lnTo>
                <a:lnTo>
                  <a:pt x="8795212" y="1953097"/>
                </a:lnTo>
                <a:lnTo>
                  <a:pt x="8594378" y="1953097"/>
                </a:lnTo>
                <a:lnTo>
                  <a:pt x="8586514" y="1953097"/>
                </a:lnTo>
                <a:lnTo>
                  <a:pt x="7273578" y="1953097"/>
                </a:lnTo>
                <a:lnTo>
                  <a:pt x="7265714" y="1953097"/>
                </a:lnTo>
                <a:lnTo>
                  <a:pt x="5366074" y="1953097"/>
                </a:lnTo>
                <a:lnTo>
                  <a:pt x="5366058" y="1953097"/>
                </a:lnTo>
                <a:lnTo>
                  <a:pt x="5366042" y="1953097"/>
                </a:lnTo>
                <a:lnTo>
                  <a:pt x="5358195" y="1953097"/>
                </a:lnTo>
                <a:lnTo>
                  <a:pt x="4045274" y="1953097"/>
                </a:lnTo>
                <a:lnTo>
                  <a:pt x="4045258" y="1953097"/>
                </a:lnTo>
                <a:lnTo>
                  <a:pt x="4045242" y="1953097"/>
                </a:lnTo>
                <a:lnTo>
                  <a:pt x="4037396" y="1953097"/>
                </a:lnTo>
                <a:lnTo>
                  <a:pt x="3836576" y="1953097"/>
                </a:lnTo>
                <a:lnTo>
                  <a:pt x="3836561" y="1953097"/>
                </a:lnTo>
                <a:lnTo>
                  <a:pt x="3836544" y="1953097"/>
                </a:lnTo>
                <a:lnTo>
                  <a:pt x="3828697" y="1953097"/>
                </a:lnTo>
                <a:lnTo>
                  <a:pt x="2850299" y="1953097"/>
                </a:lnTo>
                <a:lnTo>
                  <a:pt x="2515775" y="1953097"/>
                </a:lnTo>
                <a:lnTo>
                  <a:pt x="2515761" y="1953097"/>
                </a:lnTo>
                <a:lnTo>
                  <a:pt x="2515744" y="1953097"/>
                </a:lnTo>
                <a:lnTo>
                  <a:pt x="2507897" y="1953097"/>
                </a:lnTo>
                <a:lnTo>
                  <a:pt x="1529499" y="1953097"/>
                </a:lnTo>
                <a:lnTo>
                  <a:pt x="1320800" y="1953097"/>
                </a:lnTo>
                <a:lnTo>
                  <a:pt x="0" y="1953097"/>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Slide Number Placeholder 1">
            <a:extLst>
              <a:ext uri="{FF2B5EF4-FFF2-40B4-BE49-F238E27FC236}">
                <a16:creationId xmlns:a16="http://schemas.microsoft.com/office/drawing/2014/main" id="{AC4BAD87-C312-493A-8710-CD68F5F71630}"/>
              </a:ext>
            </a:extLst>
          </p:cNvPr>
          <p:cNvSpPr>
            <a:spLocks noGrp="1"/>
          </p:cNvSpPr>
          <p:nvPr>
            <p:ph type="sldNum"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655226-6E4F-8847-85CD-AF95F3D3F39A}" type="slidenum">
              <a:rPr kumimoji="0" lang="en-US" sz="1000" b="0" i="0" u="none" strike="noStrike" kern="1200" cap="none" spc="0" normalizeH="0" baseline="0" noProof="0" smtClean="0">
                <a:ln>
                  <a:noFill/>
                </a:ln>
                <a:solidFill>
                  <a:srgbClr val="666666"/>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srgbClr val="666666"/>
              </a:solidFill>
              <a:effectLst/>
              <a:uLnTx/>
              <a:uFillTx/>
              <a:latin typeface="Arial"/>
              <a:ea typeface="+mn-ea"/>
              <a:cs typeface="+mn-cs"/>
            </a:endParaRPr>
          </a:p>
        </p:txBody>
      </p:sp>
      <p:sp>
        <p:nvSpPr>
          <p:cNvPr id="5" name="Content Placeholder 4">
            <a:extLst>
              <a:ext uri="{FF2B5EF4-FFF2-40B4-BE49-F238E27FC236}">
                <a16:creationId xmlns:a16="http://schemas.microsoft.com/office/drawing/2014/main" id="{A38227E3-5FD4-4004-B9C2-1CC568E373CA}"/>
              </a:ext>
            </a:extLst>
          </p:cNvPr>
          <p:cNvSpPr>
            <a:spLocks noGrp="1"/>
          </p:cNvSpPr>
          <p:nvPr>
            <p:ph idx="4294967295"/>
          </p:nvPr>
        </p:nvSpPr>
        <p:spPr>
          <a:xfrm>
            <a:off x="759758" y="2642296"/>
            <a:ext cx="10291763" cy="3171908"/>
          </a:xfrm>
        </p:spPr>
        <p:txBody>
          <a:bodyPr/>
          <a:lstStyle/>
          <a:p>
            <a:pPr marL="342900" indent="-342900">
              <a:lnSpc>
                <a:spcPct val="110000"/>
              </a:lnSpc>
              <a:buClr>
                <a:schemeClr val="tx2"/>
              </a:buClr>
              <a:buFont typeface="Arial" panose="020B0604020202020204" pitchFamily="34" charset="0"/>
              <a:buChar char="•"/>
            </a:pPr>
            <a:r>
              <a:rPr lang="en-US" dirty="0"/>
              <a:t>Use the following slides to articulate how HighQ can address the firm processes your audience has identified as ones they need to improve</a:t>
            </a:r>
          </a:p>
          <a:p>
            <a:pPr marL="342900" indent="-342900">
              <a:lnSpc>
                <a:spcPct val="110000"/>
              </a:lnSpc>
              <a:buClr>
                <a:schemeClr val="tx2"/>
              </a:buClr>
              <a:buFont typeface="Arial" panose="020B0604020202020204" pitchFamily="34" charset="0"/>
              <a:buChar char="•"/>
            </a:pPr>
            <a:r>
              <a:rPr lang="en-US" dirty="0"/>
              <a:t>Note –</a:t>
            </a:r>
            <a:r>
              <a:rPr lang="en-US" b="1" dirty="0"/>
              <a:t> </a:t>
            </a:r>
            <a:r>
              <a:rPr lang="en-US" b="1" u="sng" dirty="0"/>
              <a:t>only</a:t>
            </a:r>
            <a:r>
              <a:rPr lang="en-US" b="1" dirty="0"/>
              <a:t> </a:t>
            </a:r>
            <a:r>
              <a:rPr lang="en-US" dirty="0"/>
              <a:t>discuss the processes/issues the customer has identified they need to address/improve</a:t>
            </a:r>
          </a:p>
          <a:p>
            <a:pPr marL="342900" indent="-342900">
              <a:lnSpc>
                <a:spcPct val="110000"/>
              </a:lnSpc>
              <a:buClr>
                <a:schemeClr val="tx2"/>
              </a:buClr>
              <a:buFont typeface="Arial" panose="020B0604020202020204" pitchFamily="34" charset="0"/>
              <a:buChar char="•"/>
            </a:pPr>
            <a:r>
              <a:rPr lang="en-US" dirty="0"/>
              <a:t>Showing how HighQ can address </a:t>
            </a:r>
            <a:r>
              <a:rPr lang="en-US" b="1" u="sng" dirty="0"/>
              <a:t>more</a:t>
            </a:r>
            <a:r>
              <a:rPr lang="en-US" dirty="0"/>
              <a:t> than the issues the customer has identified will risk confusing and overwhelming the customer, potentially stalling or losing a deal  </a:t>
            </a:r>
          </a:p>
        </p:txBody>
      </p:sp>
      <p:sp>
        <p:nvSpPr>
          <p:cNvPr id="7" name="Rectangle 6">
            <a:extLst>
              <a:ext uri="{FF2B5EF4-FFF2-40B4-BE49-F238E27FC236}">
                <a16:creationId xmlns:a16="http://schemas.microsoft.com/office/drawing/2014/main" id="{7159EB3D-E78E-EF49-B99F-9C2A625CDAF0}"/>
              </a:ext>
            </a:extLst>
          </p:cNvPr>
          <p:cNvSpPr/>
          <p:nvPr/>
        </p:nvSpPr>
        <p:spPr>
          <a:xfrm>
            <a:off x="697506" y="449079"/>
            <a:ext cx="5487215" cy="430887"/>
          </a:xfrm>
          <a:prstGeom prst="rect">
            <a:avLst/>
          </a:prstGeom>
        </p:spPr>
        <p:txBody>
          <a:bodyPr wrap="square" lIns="0" tIns="0" rIns="0" bIns="0">
            <a:spAutoFit/>
          </a:bodyPr>
          <a:lstStyle/>
          <a:p>
            <a:pPr defTabSz="914126">
              <a:spcBef>
                <a:spcPts val="400"/>
              </a:spcBef>
              <a:defRPr/>
            </a:pPr>
            <a:r>
              <a:rPr lang="en-US" sz="2800" dirty="0">
                <a:solidFill>
                  <a:prstClr val="white">
                    <a:alpha val="60000"/>
                  </a:prstClr>
                </a:solidFill>
                <a:latin typeface="Arial" panose="020B0604020202020204" pitchFamily="34" charset="0"/>
                <a:cs typeface="Arial" panose="020B0604020202020204" pitchFamily="34" charset="0"/>
              </a:rPr>
              <a:t>How HighQ Improves</a:t>
            </a:r>
          </a:p>
        </p:txBody>
      </p:sp>
      <p:sp>
        <p:nvSpPr>
          <p:cNvPr id="8" name="Rectangle 7">
            <a:extLst>
              <a:ext uri="{FF2B5EF4-FFF2-40B4-BE49-F238E27FC236}">
                <a16:creationId xmlns:a16="http://schemas.microsoft.com/office/drawing/2014/main" id="{3616A069-EA6C-E74E-A238-875626D17218}"/>
              </a:ext>
            </a:extLst>
          </p:cNvPr>
          <p:cNvSpPr/>
          <p:nvPr/>
        </p:nvSpPr>
        <p:spPr>
          <a:xfrm>
            <a:off x="650292" y="796048"/>
            <a:ext cx="11394563" cy="1077218"/>
          </a:xfrm>
          <a:prstGeom prst="rect">
            <a:avLst/>
          </a:prstGeom>
        </p:spPr>
        <p:txBody>
          <a:bodyPr wrap="square" lIns="0" tIns="0" rIns="0" bIns="0">
            <a:spAutoFit/>
          </a:bodyPr>
          <a:lstStyle/>
          <a:p>
            <a:pPr defTabSz="914126">
              <a:spcBef>
                <a:spcPts val="400"/>
              </a:spcBef>
              <a:defRPr/>
            </a:pPr>
            <a:r>
              <a:rPr lang="en-US" sz="7000" dirty="0">
                <a:solidFill>
                  <a:schemeClr val="bg1">
                    <a:alpha val="60000"/>
                  </a:schemeClr>
                </a:solidFill>
                <a:latin typeface="+mj-lt"/>
              </a:rPr>
              <a:t>Law Firm Processes</a:t>
            </a:r>
          </a:p>
        </p:txBody>
      </p:sp>
    </p:spTree>
    <p:extLst>
      <p:ext uri="{BB962C8B-B14F-4D97-AF65-F5344CB8AC3E}">
        <p14:creationId xmlns:p14="http://schemas.microsoft.com/office/powerpoint/2010/main" val="3426250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779567-2B07-E24B-92DE-D76340F21890}"/>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655226-6E4F-8847-85CD-AF95F3D3F39A}" type="slidenum">
              <a:rPr kumimoji="0" lang="en-US" sz="10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sp>
        <p:nvSpPr>
          <p:cNvPr id="8" name="Title 7">
            <a:extLst>
              <a:ext uri="{FF2B5EF4-FFF2-40B4-BE49-F238E27FC236}">
                <a16:creationId xmlns:a16="http://schemas.microsoft.com/office/drawing/2014/main" id="{BF7470C5-46D3-844A-8822-1B08EE851494}"/>
              </a:ext>
            </a:extLst>
          </p:cNvPr>
          <p:cNvSpPr>
            <a:spLocks noGrp="1"/>
          </p:cNvSpPr>
          <p:nvPr>
            <p:ph type="title"/>
          </p:nvPr>
        </p:nvSpPr>
        <p:spPr>
          <a:xfrm>
            <a:off x="895350" y="2929838"/>
            <a:ext cx="4418330" cy="901933"/>
          </a:xfrm>
        </p:spPr>
        <p:txBody>
          <a:bodyPr/>
          <a:lstStyle/>
          <a:p>
            <a:r>
              <a:rPr lang="en-US" dirty="0"/>
              <a:t>Appendix</a:t>
            </a:r>
          </a:p>
        </p:txBody>
      </p:sp>
    </p:spTree>
    <p:extLst>
      <p:ext uri="{BB962C8B-B14F-4D97-AF65-F5344CB8AC3E}">
        <p14:creationId xmlns:p14="http://schemas.microsoft.com/office/powerpoint/2010/main" val="4278880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7">
            <a:extLst>
              <a:ext uri="{FF2B5EF4-FFF2-40B4-BE49-F238E27FC236}">
                <a16:creationId xmlns:a16="http://schemas.microsoft.com/office/drawing/2014/main" id="{134F2BCE-C58E-8A49-96BA-0F64AFAAD07F}"/>
              </a:ext>
            </a:extLst>
          </p:cNvPr>
          <p:cNvSpPr/>
          <p:nvPr/>
        </p:nvSpPr>
        <p:spPr>
          <a:xfrm>
            <a:off x="0" y="-7340"/>
            <a:ext cx="9888631" cy="1965019"/>
          </a:xfrm>
          <a:custGeom>
            <a:avLst/>
            <a:gdLst>
              <a:gd name="connsiteX0" fmla="*/ 0 w 9888631"/>
              <a:gd name="connsiteY0" fmla="*/ 0 h 1965019"/>
              <a:gd name="connsiteX1" fmla="*/ 406690 w 9888631"/>
              <a:gd name="connsiteY1" fmla="*/ 0 h 1965019"/>
              <a:gd name="connsiteX2" fmla="*/ 413226 w 9888631"/>
              <a:gd name="connsiteY2" fmla="*/ 0 h 1965019"/>
              <a:gd name="connsiteX3" fmla="*/ 414600 w 9888631"/>
              <a:gd name="connsiteY3" fmla="*/ 0 h 1965019"/>
              <a:gd name="connsiteX4" fmla="*/ 486578 w 9888631"/>
              <a:gd name="connsiteY4" fmla="*/ 0 h 1965019"/>
              <a:gd name="connsiteX5" fmla="*/ 489232 w 9888631"/>
              <a:gd name="connsiteY5" fmla="*/ 0 h 1965019"/>
              <a:gd name="connsiteX6" fmla="*/ 578003 w 9888631"/>
              <a:gd name="connsiteY6" fmla="*/ 0 h 1965019"/>
              <a:gd name="connsiteX7" fmla="*/ 1067572 w 9888631"/>
              <a:gd name="connsiteY7" fmla="*/ 0 h 1965019"/>
              <a:gd name="connsiteX8" fmla="*/ 1075482 w 9888631"/>
              <a:gd name="connsiteY8" fmla="*/ 0 h 1965019"/>
              <a:gd name="connsiteX9" fmla="*/ 1140924 w 9888631"/>
              <a:gd name="connsiteY9" fmla="*/ 0 h 1965019"/>
              <a:gd name="connsiteX10" fmla="*/ 1147460 w 9888631"/>
              <a:gd name="connsiteY10" fmla="*/ 0 h 1965019"/>
              <a:gd name="connsiteX11" fmla="*/ 1148834 w 9888631"/>
              <a:gd name="connsiteY11" fmla="*/ 0 h 1965019"/>
              <a:gd name="connsiteX12" fmla="*/ 1232349 w 9888631"/>
              <a:gd name="connsiteY12" fmla="*/ 0 h 1965019"/>
              <a:gd name="connsiteX13" fmla="*/ 1238885 w 9888631"/>
              <a:gd name="connsiteY13" fmla="*/ 0 h 1965019"/>
              <a:gd name="connsiteX14" fmla="*/ 1240259 w 9888631"/>
              <a:gd name="connsiteY14" fmla="*/ 0 h 1965019"/>
              <a:gd name="connsiteX15" fmla="*/ 1312237 w 9888631"/>
              <a:gd name="connsiteY15" fmla="*/ 0 h 1965019"/>
              <a:gd name="connsiteX16" fmla="*/ 1801806 w 9888631"/>
              <a:gd name="connsiteY16" fmla="*/ 0 h 1965019"/>
              <a:gd name="connsiteX17" fmla="*/ 1809718 w 9888631"/>
              <a:gd name="connsiteY17" fmla="*/ 0 h 1965019"/>
              <a:gd name="connsiteX18" fmla="*/ 1890577 w 9888631"/>
              <a:gd name="connsiteY18" fmla="*/ 0 h 1965019"/>
              <a:gd name="connsiteX19" fmla="*/ 1893231 w 9888631"/>
              <a:gd name="connsiteY19" fmla="*/ 0 h 1965019"/>
              <a:gd name="connsiteX20" fmla="*/ 1898487 w 9888631"/>
              <a:gd name="connsiteY20" fmla="*/ 0 h 1965019"/>
              <a:gd name="connsiteX21" fmla="*/ 1901143 w 9888631"/>
              <a:gd name="connsiteY21" fmla="*/ 0 h 1965019"/>
              <a:gd name="connsiteX22" fmla="*/ 1966582 w 9888631"/>
              <a:gd name="connsiteY22" fmla="*/ 0 h 1965019"/>
              <a:gd name="connsiteX23" fmla="*/ 1973119 w 9888631"/>
              <a:gd name="connsiteY23" fmla="*/ 0 h 1965019"/>
              <a:gd name="connsiteX24" fmla="*/ 1974492 w 9888631"/>
              <a:gd name="connsiteY24" fmla="*/ 0 h 1965019"/>
              <a:gd name="connsiteX25" fmla="*/ 2551460 w 9888631"/>
              <a:gd name="connsiteY25" fmla="*/ 0 h 1965019"/>
              <a:gd name="connsiteX26" fmla="*/ 2559371 w 9888631"/>
              <a:gd name="connsiteY26" fmla="*/ 0 h 1965019"/>
              <a:gd name="connsiteX27" fmla="*/ 2624812 w 9888631"/>
              <a:gd name="connsiteY27" fmla="*/ 0 h 1965019"/>
              <a:gd name="connsiteX28" fmla="*/ 2627465 w 9888631"/>
              <a:gd name="connsiteY28" fmla="*/ 0 h 1965019"/>
              <a:gd name="connsiteX29" fmla="*/ 2632722 w 9888631"/>
              <a:gd name="connsiteY29" fmla="*/ 0 h 1965019"/>
              <a:gd name="connsiteX30" fmla="*/ 2635376 w 9888631"/>
              <a:gd name="connsiteY30" fmla="*/ 0 h 1965019"/>
              <a:gd name="connsiteX31" fmla="*/ 2716236 w 9888631"/>
              <a:gd name="connsiteY31" fmla="*/ 0 h 1965019"/>
              <a:gd name="connsiteX32" fmla="*/ 2724146 w 9888631"/>
              <a:gd name="connsiteY32" fmla="*/ 0 h 1965019"/>
              <a:gd name="connsiteX33" fmla="*/ 3285693 w 9888631"/>
              <a:gd name="connsiteY33" fmla="*/ 0 h 1965019"/>
              <a:gd name="connsiteX34" fmla="*/ 3293604 w 9888631"/>
              <a:gd name="connsiteY34" fmla="*/ 0 h 1965019"/>
              <a:gd name="connsiteX35" fmla="*/ 3377119 w 9888631"/>
              <a:gd name="connsiteY35" fmla="*/ 0 h 1965019"/>
              <a:gd name="connsiteX36" fmla="*/ 3385029 w 9888631"/>
              <a:gd name="connsiteY36" fmla="*/ 0 h 1965019"/>
              <a:gd name="connsiteX37" fmla="*/ 3450469 w 9888631"/>
              <a:gd name="connsiteY37" fmla="*/ 0 h 1965019"/>
              <a:gd name="connsiteX38" fmla="*/ 3458379 w 9888631"/>
              <a:gd name="connsiteY38" fmla="*/ 0 h 1965019"/>
              <a:gd name="connsiteX39" fmla="*/ 4111352 w 9888631"/>
              <a:gd name="connsiteY39" fmla="*/ 0 h 1965019"/>
              <a:gd name="connsiteX40" fmla="*/ 4119263 w 9888631"/>
              <a:gd name="connsiteY40" fmla="*/ 0 h 1965019"/>
              <a:gd name="connsiteX41" fmla="*/ 5193547 w 9888631"/>
              <a:gd name="connsiteY41" fmla="*/ 0 h 1965019"/>
              <a:gd name="connsiteX42" fmla="*/ 5201458 w 9888631"/>
              <a:gd name="connsiteY42" fmla="*/ 0 h 1965019"/>
              <a:gd name="connsiteX43" fmla="*/ 5854431 w 9888631"/>
              <a:gd name="connsiteY43" fmla="*/ 0 h 1965019"/>
              <a:gd name="connsiteX44" fmla="*/ 5862341 w 9888631"/>
              <a:gd name="connsiteY44" fmla="*/ 0 h 1965019"/>
              <a:gd name="connsiteX45" fmla="*/ 5927781 w 9888631"/>
              <a:gd name="connsiteY45" fmla="*/ 0 h 1965019"/>
              <a:gd name="connsiteX46" fmla="*/ 5935692 w 9888631"/>
              <a:gd name="connsiteY46" fmla="*/ 0 h 1965019"/>
              <a:gd name="connsiteX47" fmla="*/ 6019206 w 9888631"/>
              <a:gd name="connsiteY47" fmla="*/ 0 h 1965019"/>
              <a:gd name="connsiteX48" fmla="*/ 6027117 w 9888631"/>
              <a:gd name="connsiteY48" fmla="*/ 0 h 1965019"/>
              <a:gd name="connsiteX49" fmla="*/ 6588665 w 9888631"/>
              <a:gd name="connsiteY49" fmla="*/ 0 h 1965019"/>
              <a:gd name="connsiteX50" fmla="*/ 6596575 w 9888631"/>
              <a:gd name="connsiteY50" fmla="*/ 0 h 1965019"/>
              <a:gd name="connsiteX51" fmla="*/ 6677434 w 9888631"/>
              <a:gd name="connsiteY51" fmla="*/ 0 h 1965019"/>
              <a:gd name="connsiteX52" fmla="*/ 6680089 w 9888631"/>
              <a:gd name="connsiteY52" fmla="*/ 0 h 1965019"/>
              <a:gd name="connsiteX53" fmla="*/ 6685345 w 9888631"/>
              <a:gd name="connsiteY53" fmla="*/ 0 h 1965019"/>
              <a:gd name="connsiteX54" fmla="*/ 6687999 w 9888631"/>
              <a:gd name="connsiteY54" fmla="*/ 0 h 1965019"/>
              <a:gd name="connsiteX55" fmla="*/ 6753439 w 9888631"/>
              <a:gd name="connsiteY55" fmla="*/ 0 h 1965019"/>
              <a:gd name="connsiteX56" fmla="*/ 6761351 w 9888631"/>
              <a:gd name="connsiteY56" fmla="*/ 0 h 1965019"/>
              <a:gd name="connsiteX57" fmla="*/ 7338318 w 9888631"/>
              <a:gd name="connsiteY57" fmla="*/ 0 h 1965019"/>
              <a:gd name="connsiteX58" fmla="*/ 7346228 w 9888631"/>
              <a:gd name="connsiteY58" fmla="*/ 0 h 1965019"/>
              <a:gd name="connsiteX59" fmla="*/ 7411668 w 9888631"/>
              <a:gd name="connsiteY59" fmla="*/ 0 h 1965019"/>
              <a:gd name="connsiteX60" fmla="*/ 7414322 w 9888631"/>
              <a:gd name="connsiteY60" fmla="*/ 0 h 1965019"/>
              <a:gd name="connsiteX61" fmla="*/ 7419579 w 9888631"/>
              <a:gd name="connsiteY61" fmla="*/ 0 h 1965019"/>
              <a:gd name="connsiteX62" fmla="*/ 7422234 w 9888631"/>
              <a:gd name="connsiteY62" fmla="*/ 0 h 1965019"/>
              <a:gd name="connsiteX63" fmla="*/ 7503093 w 9888631"/>
              <a:gd name="connsiteY63" fmla="*/ 0 h 1965019"/>
              <a:gd name="connsiteX64" fmla="*/ 7511004 w 9888631"/>
              <a:gd name="connsiteY64" fmla="*/ 0 h 1965019"/>
              <a:gd name="connsiteX65" fmla="*/ 8072552 w 9888631"/>
              <a:gd name="connsiteY65" fmla="*/ 0 h 1965019"/>
              <a:gd name="connsiteX66" fmla="*/ 8080462 w 9888631"/>
              <a:gd name="connsiteY66" fmla="*/ 0 h 1965019"/>
              <a:gd name="connsiteX67" fmla="*/ 8163975 w 9888631"/>
              <a:gd name="connsiteY67" fmla="*/ 0 h 1965019"/>
              <a:gd name="connsiteX68" fmla="*/ 8171887 w 9888631"/>
              <a:gd name="connsiteY68" fmla="*/ 0 h 1965019"/>
              <a:gd name="connsiteX69" fmla="*/ 8237326 w 9888631"/>
              <a:gd name="connsiteY69" fmla="*/ 0 h 1965019"/>
              <a:gd name="connsiteX70" fmla="*/ 8245238 w 9888631"/>
              <a:gd name="connsiteY70" fmla="*/ 0 h 1965019"/>
              <a:gd name="connsiteX71" fmla="*/ 8898210 w 9888631"/>
              <a:gd name="connsiteY71" fmla="*/ 0 h 1965019"/>
              <a:gd name="connsiteX72" fmla="*/ 8898210 w 9888631"/>
              <a:gd name="connsiteY72" fmla="*/ 797 h 1965019"/>
              <a:gd name="connsiteX73" fmla="*/ 8906120 w 9888631"/>
              <a:gd name="connsiteY73" fmla="*/ 0 h 1965019"/>
              <a:gd name="connsiteX74" fmla="*/ 9888631 w 9888631"/>
              <a:gd name="connsiteY74" fmla="*/ 982514 h 1965019"/>
              <a:gd name="connsiteX75" fmla="*/ 8906120 w 9888631"/>
              <a:gd name="connsiteY75" fmla="*/ 1965019 h 1965019"/>
              <a:gd name="connsiteX76" fmla="*/ 8898210 w 9888631"/>
              <a:gd name="connsiteY76" fmla="*/ 1964224 h 1965019"/>
              <a:gd name="connsiteX77" fmla="*/ 8898210 w 9888631"/>
              <a:gd name="connsiteY77" fmla="*/ 1965019 h 1965019"/>
              <a:gd name="connsiteX78" fmla="*/ 8245238 w 9888631"/>
              <a:gd name="connsiteY78" fmla="*/ 1965019 h 1965019"/>
              <a:gd name="connsiteX79" fmla="*/ 8237326 w 9888631"/>
              <a:gd name="connsiteY79" fmla="*/ 1965019 h 1965019"/>
              <a:gd name="connsiteX80" fmla="*/ 8171887 w 9888631"/>
              <a:gd name="connsiteY80" fmla="*/ 1965019 h 1965019"/>
              <a:gd name="connsiteX81" fmla="*/ 8163975 w 9888631"/>
              <a:gd name="connsiteY81" fmla="*/ 1965019 h 1965019"/>
              <a:gd name="connsiteX82" fmla="*/ 8080462 w 9888631"/>
              <a:gd name="connsiteY82" fmla="*/ 1965019 h 1965019"/>
              <a:gd name="connsiteX83" fmla="*/ 8072552 w 9888631"/>
              <a:gd name="connsiteY83" fmla="*/ 1965019 h 1965019"/>
              <a:gd name="connsiteX84" fmla="*/ 7511004 w 9888631"/>
              <a:gd name="connsiteY84" fmla="*/ 1965019 h 1965019"/>
              <a:gd name="connsiteX85" fmla="*/ 7503093 w 9888631"/>
              <a:gd name="connsiteY85" fmla="*/ 1965019 h 1965019"/>
              <a:gd name="connsiteX86" fmla="*/ 7422234 w 9888631"/>
              <a:gd name="connsiteY86" fmla="*/ 1965019 h 1965019"/>
              <a:gd name="connsiteX87" fmla="*/ 7419579 w 9888631"/>
              <a:gd name="connsiteY87" fmla="*/ 1965019 h 1965019"/>
              <a:gd name="connsiteX88" fmla="*/ 7414322 w 9888631"/>
              <a:gd name="connsiteY88" fmla="*/ 1965019 h 1965019"/>
              <a:gd name="connsiteX89" fmla="*/ 7411668 w 9888631"/>
              <a:gd name="connsiteY89" fmla="*/ 1965019 h 1965019"/>
              <a:gd name="connsiteX90" fmla="*/ 7346228 w 9888631"/>
              <a:gd name="connsiteY90" fmla="*/ 1965019 h 1965019"/>
              <a:gd name="connsiteX91" fmla="*/ 7338318 w 9888631"/>
              <a:gd name="connsiteY91" fmla="*/ 1965019 h 1965019"/>
              <a:gd name="connsiteX92" fmla="*/ 6761351 w 9888631"/>
              <a:gd name="connsiteY92" fmla="*/ 1965019 h 1965019"/>
              <a:gd name="connsiteX93" fmla="*/ 6753439 w 9888631"/>
              <a:gd name="connsiteY93" fmla="*/ 1965019 h 1965019"/>
              <a:gd name="connsiteX94" fmla="*/ 6687999 w 9888631"/>
              <a:gd name="connsiteY94" fmla="*/ 1965019 h 1965019"/>
              <a:gd name="connsiteX95" fmla="*/ 6685345 w 9888631"/>
              <a:gd name="connsiteY95" fmla="*/ 1965019 h 1965019"/>
              <a:gd name="connsiteX96" fmla="*/ 6680089 w 9888631"/>
              <a:gd name="connsiteY96" fmla="*/ 1965019 h 1965019"/>
              <a:gd name="connsiteX97" fmla="*/ 6677434 w 9888631"/>
              <a:gd name="connsiteY97" fmla="*/ 1965019 h 1965019"/>
              <a:gd name="connsiteX98" fmla="*/ 6596575 w 9888631"/>
              <a:gd name="connsiteY98" fmla="*/ 1965019 h 1965019"/>
              <a:gd name="connsiteX99" fmla="*/ 6588665 w 9888631"/>
              <a:gd name="connsiteY99" fmla="*/ 1965019 h 1965019"/>
              <a:gd name="connsiteX100" fmla="*/ 6027117 w 9888631"/>
              <a:gd name="connsiteY100" fmla="*/ 1965019 h 1965019"/>
              <a:gd name="connsiteX101" fmla="*/ 6019206 w 9888631"/>
              <a:gd name="connsiteY101" fmla="*/ 1965019 h 1965019"/>
              <a:gd name="connsiteX102" fmla="*/ 5935692 w 9888631"/>
              <a:gd name="connsiteY102" fmla="*/ 1965019 h 1965019"/>
              <a:gd name="connsiteX103" fmla="*/ 5927781 w 9888631"/>
              <a:gd name="connsiteY103" fmla="*/ 1965019 h 1965019"/>
              <a:gd name="connsiteX104" fmla="*/ 5862341 w 9888631"/>
              <a:gd name="connsiteY104" fmla="*/ 1965019 h 1965019"/>
              <a:gd name="connsiteX105" fmla="*/ 5854431 w 9888631"/>
              <a:gd name="connsiteY105" fmla="*/ 1965019 h 1965019"/>
              <a:gd name="connsiteX106" fmla="*/ 5201458 w 9888631"/>
              <a:gd name="connsiteY106" fmla="*/ 1965019 h 1965019"/>
              <a:gd name="connsiteX107" fmla="*/ 5193547 w 9888631"/>
              <a:gd name="connsiteY107" fmla="*/ 1965019 h 1965019"/>
              <a:gd name="connsiteX108" fmla="*/ 4119278 w 9888631"/>
              <a:gd name="connsiteY108" fmla="*/ 1965019 h 1965019"/>
              <a:gd name="connsiteX109" fmla="*/ 4119263 w 9888631"/>
              <a:gd name="connsiteY109" fmla="*/ 1965019 h 1965019"/>
              <a:gd name="connsiteX110" fmla="*/ 4119247 w 9888631"/>
              <a:gd name="connsiteY110" fmla="*/ 1965019 h 1965019"/>
              <a:gd name="connsiteX111" fmla="*/ 4111352 w 9888631"/>
              <a:gd name="connsiteY111" fmla="*/ 1965019 h 1965019"/>
              <a:gd name="connsiteX112" fmla="*/ 3458396 w 9888631"/>
              <a:gd name="connsiteY112" fmla="*/ 1965019 h 1965019"/>
              <a:gd name="connsiteX113" fmla="*/ 3458379 w 9888631"/>
              <a:gd name="connsiteY113" fmla="*/ 1965019 h 1965019"/>
              <a:gd name="connsiteX114" fmla="*/ 3458363 w 9888631"/>
              <a:gd name="connsiteY114" fmla="*/ 1965019 h 1965019"/>
              <a:gd name="connsiteX115" fmla="*/ 3450469 w 9888631"/>
              <a:gd name="connsiteY115" fmla="*/ 1965019 h 1965019"/>
              <a:gd name="connsiteX116" fmla="*/ 3385044 w 9888631"/>
              <a:gd name="connsiteY116" fmla="*/ 1965019 h 1965019"/>
              <a:gd name="connsiteX117" fmla="*/ 3385029 w 9888631"/>
              <a:gd name="connsiteY117" fmla="*/ 1965019 h 1965019"/>
              <a:gd name="connsiteX118" fmla="*/ 3385012 w 9888631"/>
              <a:gd name="connsiteY118" fmla="*/ 1965019 h 1965019"/>
              <a:gd name="connsiteX119" fmla="*/ 3377119 w 9888631"/>
              <a:gd name="connsiteY119" fmla="*/ 1965019 h 1965019"/>
              <a:gd name="connsiteX120" fmla="*/ 3293621 w 9888631"/>
              <a:gd name="connsiteY120" fmla="*/ 1965019 h 1965019"/>
              <a:gd name="connsiteX121" fmla="*/ 3293604 w 9888631"/>
              <a:gd name="connsiteY121" fmla="*/ 1965019 h 1965019"/>
              <a:gd name="connsiteX122" fmla="*/ 3293588 w 9888631"/>
              <a:gd name="connsiteY122" fmla="*/ 1965019 h 1965019"/>
              <a:gd name="connsiteX123" fmla="*/ 3285693 w 9888631"/>
              <a:gd name="connsiteY123" fmla="*/ 1965019 h 1965019"/>
              <a:gd name="connsiteX124" fmla="*/ 2724161 w 9888631"/>
              <a:gd name="connsiteY124" fmla="*/ 1965019 h 1965019"/>
              <a:gd name="connsiteX125" fmla="*/ 2724146 w 9888631"/>
              <a:gd name="connsiteY125" fmla="*/ 1965019 h 1965019"/>
              <a:gd name="connsiteX126" fmla="*/ 2724129 w 9888631"/>
              <a:gd name="connsiteY126" fmla="*/ 1965019 h 1965019"/>
              <a:gd name="connsiteX127" fmla="*/ 2716236 w 9888631"/>
              <a:gd name="connsiteY127" fmla="*/ 1965019 h 1965019"/>
              <a:gd name="connsiteX128" fmla="*/ 2635392 w 9888631"/>
              <a:gd name="connsiteY128" fmla="*/ 1965019 h 1965019"/>
              <a:gd name="connsiteX129" fmla="*/ 2635376 w 9888631"/>
              <a:gd name="connsiteY129" fmla="*/ 1965019 h 1965019"/>
              <a:gd name="connsiteX130" fmla="*/ 2635360 w 9888631"/>
              <a:gd name="connsiteY130" fmla="*/ 1965019 h 1965019"/>
              <a:gd name="connsiteX131" fmla="*/ 2632737 w 9888631"/>
              <a:gd name="connsiteY131" fmla="*/ 1965019 h 1965019"/>
              <a:gd name="connsiteX132" fmla="*/ 2632722 w 9888631"/>
              <a:gd name="connsiteY132" fmla="*/ 1965019 h 1965019"/>
              <a:gd name="connsiteX133" fmla="*/ 2632705 w 9888631"/>
              <a:gd name="connsiteY133" fmla="*/ 1965019 h 1965019"/>
              <a:gd name="connsiteX134" fmla="*/ 2627465 w 9888631"/>
              <a:gd name="connsiteY134" fmla="*/ 1965019 h 1965019"/>
              <a:gd name="connsiteX135" fmla="*/ 2624812 w 9888631"/>
              <a:gd name="connsiteY135" fmla="*/ 1965019 h 1965019"/>
              <a:gd name="connsiteX136" fmla="*/ 2559386 w 9888631"/>
              <a:gd name="connsiteY136" fmla="*/ 1965019 h 1965019"/>
              <a:gd name="connsiteX137" fmla="*/ 2559371 w 9888631"/>
              <a:gd name="connsiteY137" fmla="*/ 1965019 h 1965019"/>
              <a:gd name="connsiteX138" fmla="*/ 2559353 w 9888631"/>
              <a:gd name="connsiteY138" fmla="*/ 1965019 h 1965019"/>
              <a:gd name="connsiteX139" fmla="*/ 2551460 w 9888631"/>
              <a:gd name="connsiteY139" fmla="*/ 1965019 h 1965019"/>
              <a:gd name="connsiteX140" fmla="*/ 1974509 w 9888631"/>
              <a:gd name="connsiteY140" fmla="*/ 1965019 h 1965019"/>
              <a:gd name="connsiteX141" fmla="*/ 1974492 w 9888631"/>
              <a:gd name="connsiteY141" fmla="*/ 1965019 h 1965019"/>
              <a:gd name="connsiteX142" fmla="*/ 1974477 w 9888631"/>
              <a:gd name="connsiteY142" fmla="*/ 1965019 h 1965019"/>
              <a:gd name="connsiteX143" fmla="*/ 1973119 w 9888631"/>
              <a:gd name="connsiteY143" fmla="*/ 1965019 h 1965019"/>
              <a:gd name="connsiteX144" fmla="*/ 1966582 w 9888631"/>
              <a:gd name="connsiteY144" fmla="*/ 1965019 h 1965019"/>
              <a:gd name="connsiteX145" fmla="*/ 1901158 w 9888631"/>
              <a:gd name="connsiteY145" fmla="*/ 1965019 h 1965019"/>
              <a:gd name="connsiteX146" fmla="*/ 1901143 w 9888631"/>
              <a:gd name="connsiteY146" fmla="*/ 1965019 h 1965019"/>
              <a:gd name="connsiteX147" fmla="*/ 1901125 w 9888631"/>
              <a:gd name="connsiteY147" fmla="*/ 1965019 h 1965019"/>
              <a:gd name="connsiteX148" fmla="*/ 1898504 w 9888631"/>
              <a:gd name="connsiteY148" fmla="*/ 1965019 h 1965019"/>
              <a:gd name="connsiteX149" fmla="*/ 1898487 w 9888631"/>
              <a:gd name="connsiteY149" fmla="*/ 1965019 h 1965019"/>
              <a:gd name="connsiteX150" fmla="*/ 1898471 w 9888631"/>
              <a:gd name="connsiteY150" fmla="*/ 1965019 h 1965019"/>
              <a:gd name="connsiteX151" fmla="*/ 1893231 w 9888631"/>
              <a:gd name="connsiteY151" fmla="*/ 1965019 h 1965019"/>
              <a:gd name="connsiteX152" fmla="*/ 1890577 w 9888631"/>
              <a:gd name="connsiteY152" fmla="*/ 1965019 h 1965019"/>
              <a:gd name="connsiteX153" fmla="*/ 1809734 w 9888631"/>
              <a:gd name="connsiteY153" fmla="*/ 1965019 h 1965019"/>
              <a:gd name="connsiteX154" fmla="*/ 1809718 w 9888631"/>
              <a:gd name="connsiteY154" fmla="*/ 1965019 h 1965019"/>
              <a:gd name="connsiteX155" fmla="*/ 1809700 w 9888631"/>
              <a:gd name="connsiteY155" fmla="*/ 1965019 h 1965019"/>
              <a:gd name="connsiteX156" fmla="*/ 1801806 w 9888631"/>
              <a:gd name="connsiteY156" fmla="*/ 1965019 h 1965019"/>
              <a:gd name="connsiteX157" fmla="*/ 1312237 w 9888631"/>
              <a:gd name="connsiteY157" fmla="*/ 1965019 h 1965019"/>
              <a:gd name="connsiteX158" fmla="*/ 1240274 w 9888631"/>
              <a:gd name="connsiteY158" fmla="*/ 1965019 h 1965019"/>
              <a:gd name="connsiteX159" fmla="*/ 1240259 w 9888631"/>
              <a:gd name="connsiteY159" fmla="*/ 1965019 h 1965019"/>
              <a:gd name="connsiteX160" fmla="*/ 1240243 w 9888631"/>
              <a:gd name="connsiteY160" fmla="*/ 1965019 h 1965019"/>
              <a:gd name="connsiteX161" fmla="*/ 1238885 w 9888631"/>
              <a:gd name="connsiteY161" fmla="*/ 1965019 h 1965019"/>
              <a:gd name="connsiteX162" fmla="*/ 1232349 w 9888631"/>
              <a:gd name="connsiteY162" fmla="*/ 1965019 h 1965019"/>
              <a:gd name="connsiteX163" fmla="*/ 1148850 w 9888631"/>
              <a:gd name="connsiteY163" fmla="*/ 1965019 h 1965019"/>
              <a:gd name="connsiteX164" fmla="*/ 1148834 w 9888631"/>
              <a:gd name="connsiteY164" fmla="*/ 1965019 h 1965019"/>
              <a:gd name="connsiteX165" fmla="*/ 1148818 w 9888631"/>
              <a:gd name="connsiteY165" fmla="*/ 1965019 h 1965019"/>
              <a:gd name="connsiteX166" fmla="*/ 1147460 w 9888631"/>
              <a:gd name="connsiteY166" fmla="*/ 1965019 h 1965019"/>
              <a:gd name="connsiteX167" fmla="*/ 1140924 w 9888631"/>
              <a:gd name="connsiteY167" fmla="*/ 1965019 h 1965019"/>
              <a:gd name="connsiteX168" fmla="*/ 1075499 w 9888631"/>
              <a:gd name="connsiteY168" fmla="*/ 1965019 h 1965019"/>
              <a:gd name="connsiteX169" fmla="*/ 1075482 w 9888631"/>
              <a:gd name="connsiteY169" fmla="*/ 1965019 h 1965019"/>
              <a:gd name="connsiteX170" fmla="*/ 1075466 w 9888631"/>
              <a:gd name="connsiteY170" fmla="*/ 1965019 h 1965019"/>
              <a:gd name="connsiteX171" fmla="*/ 1067572 w 9888631"/>
              <a:gd name="connsiteY171" fmla="*/ 1965019 h 1965019"/>
              <a:gd name="connsiteX172" fmla="*/ 578003 w 9888631"/>
              <a:gd name="connsiteY172" fmla="*/ 1965019 h 1965019"/>
              <a:gd name="connsiteX173" fmla="*/ 489232 w 9888631"/>
              <a:gd name="connsiteY173" fmla="*/ 1965019 h 1965019"/>
              <a:gd name="connsiteX174" fmla="*/ 486578 w 9888631"/>
              <a:gd name="connsiteY174" fmla="*/ 1965019 h 1965019"/>
              <a:gd name="connsiteX175" fmla="*/ 414615 w 9888631"/>
              <a:gd name="connsiteY175" fmla="*/ 1965019 h 1965019"/>
              <a:gd name="connsiteX176" fmla="*/ 414600 w 9888631"/>
              <a:gd name="connsiteY176" fmla="*/ 1965019 h 1965019"/>
              <a:gd name="connsiteX177" fmla="*/ 414583 w 9888631"/>
              <a:gd name="connsiteY177" fmla="*/ 1965019 h 1965019"/>
              <a:gd name="connsiteX178" fmla="*/ 413226 w 9888631"/>
              <a:gd name="connsiteY178" fmla="*/ 1965019 h 1965019"/>
              <a:gd name="connsiteX179" fmla="*/ 406690 w 9888631"/>
              <a:gd name="connsiteY179" fmla="*/ 1965019 h 1965019"/>
              <a:gd name="connsiteX180" fmla="*/ 0 w 9888631"/>
              <a:gd name="connsiteY180" fmla="*/ 1965019 h 196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9888631" h="1965019">
                <a:moveTo>
                  <a:pt x="0" y="0"/>
                </a:moveTo>
                <a:lnTo>
                  <a:pt x="406690" y="0"/>
                </a:lnTo>
                <a:lnTo>
                  <a:pt x="413226" y="0"/>
                </a:lnTo>
                <a:lnTo>
                  <a:pt x="414600" y="0"/>
                </a:lnTo>
                <a:lnTo>
                  <a:pt x="486578" y="0"/>
                </a:lnTo>
                <a:lnTo>
                  <a:pt x="489232" y="0"/>
                </a:lnTo>
                <a:lnTo>
                  <a:pt x="578003" y="0"/>
                </a:lnTo>
                <a:lnTo>
                  <a:pt x="1067572" y="0"/>
                </a:lnTo>
                <a:lnTo>
                  <a:pt x="1075482" y="0"/>
                </a:lnTo>
                <a:lnTo>
                  <a:pt x="1140924" y="0"/>
                </a:lnTo>
                <a:lnTo>
                  <a:pt x="1147460" y="0"/>
                </a:lnTo>
                <a:lnTo>
                  <a:pt x="1148834" y="0"/>
                </a:lnTo>
                <a:lnTo>
                  <a:pt x="1232349" y="0"/>
                </a:lnTo>
                <a:lnTo>
                  <a:pt x="1238885" y="0"/>
                </a:lnTo>
                <a:lnTo>
                  <a:pt x="1240259" y="0"/>
                </a:lnTo>
                <a:lnTo>
                  <a:pt x="1312237" y="0"/>
                </a:lnTo>
                <a:lnTo>
                  <a:pt x="1801806" y="0"/>
                </a:lnTo>
                <a:lnTo>
                  <a:pt x="1809718" y="0"/>
                </a:lnTo>
                <a:lnTo>
                  <a:pt x="1890577" y="0"/>
                </a:lnTo>
                <a:lnTo>
                  <a:pt x="1893231" y="0"/>
                </a:lnTo>
                <a:lnTo>
                  <a:pt x="1898487" y="0"/>
                </a:lnTo>
                <a:lnTo>
                  <a:pt x="1901143" y="0"/>
                </a:lnTo>
                <a:lnTo>
                  <a:pt x="1966582" y="0"/>
                </a:lnTo>
                <a:lnTo>
                  <a:pt x="1973119" y="0"/>
                </a:lnTo>
                <a:lnTo>
                  <a:pt x="1974492" y="0"/>
                </a:lnTo>
                <a:lnTo>
                  <a:pt x="2551460" y="0"/>
                </a:lnTo>
                <a:lnTo>
                  <a:pt x="2559371" y="0"/>
                </a:lnTo>
                <a:lnTo>
                  <a:pt x="2624812" y="0"/>
                </a:lnTo>
                <a:lnTo>
                  <a:pt x="2627465" y="0"/>
                </a:lnTo>
                <a:lnTo>
                  <a:pt x="2632722" y="0"/>
                </a:lnTo>
                <a:lnTo>
                  <a:pt x="2635376" y="0"/>
                </a:lnTo>
                <a:lnTo>
                  <a:pt x="2716236" y="0"/>
                </a:lnTo>
                <a:lnTo>
                  <a:pt x="2724146" y="0"/>
                </a:lnTo>
                <a:lnTo>
                  <a:pt x="3285693" y="0"/>
                </a:lnTo>
                <a:lnTo>
                  <a:pt x="3293604" y="0"/>
                </a:lnTo>
                <a:lnTo>
                  <a:pt x="3377119" y="0"/>
                </a:lnTo>
                <a:lnTo>
                  <a:pt x="3385029" y="0"/>
                </a:lnTo>
                <a:lnTo>
                  <a:pt x="3450469" y="0"/>
                </a:lnTo>
                <a:lnTo>
                  <a:pt x="3458379" y="0"/>
                </a:lnTo>
                <a:lnTo>
                  <a:pt x="4111352" y="0"/>
                </a:lnTo>
                <a:lnTo>
                  <a:pt x="4119263" y="0"/>
                </a:lnTo>
                <a:lnTo>
                  <a:pt x="5193547" y="0"/>
                </a:lnTo>
                <a:lnTo>
                  <a:pt x="5201458" y="0"/>
                </a:lnTo>
                <a:lnTo>
                  <a:pt x="5854431" y="0"/>
                </a:lnTo>
                <a:lnTo>
                  <a:pt x="5862341" y="0"/>
                </a:lnTo>
                <a:lnTo>
                  <a:pt x="5927781" y="0"/>
                </a:lnTo>
                <a:lnTo>
                  <a:pt x="5935692" y="0"/>
                </a:lnTo>
                <a:lnTo>
                  <a:pt x="6019206" y="0"/>
                </a:lnTo>
                <a:lnTo>
                  <a:pt x="6027117" y="0"/>
                </a:lnTo>
                <a:lnTo>
                  <a:pt x="6588665" y="0"/>
                </a:lnTo>
                <a:lnTo>
                  <a:pt x="6596575" y="0"/>
                </a:lnTo>
                <a:lnTo>
                  <a:pt x="6677434" y="0"/>
                </a:lnTo>
                <a:lnTo>
                  <a:pt x="6680089" y="0"/>
                </a:lnTo>
                <a:lnTo>
                  <a:pt x="6685345" y="0"/>
                </a:lnTo>
                <a:lnTo>
                  <a:pt x="6687999" y="0"/>
                </a:lnTo>
                <a:lnTo>
                  <a:pt x="6753439" y="0"/>
                </a:lnTo>
                <a:lnTo>
                  <a:pt x="6761351" y="0"/>
                </a:lnTo>
                <a:lnTo>
                  <a:pt x="7338318" y="0"/>
                </a:lnTo>
                <a:lnTo>
                  <a:pt x="7346228" y="0"/>
                </a:lnTo>
                <a:lnTo>
                  <a:pt x="7411668" y="0"/>
                </a:lnTo>
                <a:lnTo>
                  <a:pt x="7414322" y="0"/>
                </a:lnTo>
                <a:lnTo>
                  <a:pt x="7419579" y="0"/>
                </a:lnTo>
                <a:lnTo>
                  <a:pt x="7422234" y="0"/>
                </a:lnTo>
                <a:lnTo>
                  <a:pt x="7503093" y="0"/>
                </a:lnTo>
                <a:lnTo>
                  <a:pt x="7511004" y="0"/>
                </a:lnTo>
                <a:lnTo>
                  <a:pt x="8072552" y="0"/>
                </a:lnTo>
                <a:lnTo>
                  <a:pt x="8080462" y="0"/>
                </a:lnTo>
                <a:lnTo>
                  <a:pt x="8163975" y="0"/>
                </a:lnTo>
                <a:lnTo>
                  <a:pt x="8171887" y="0"/>
                </a:lnTo>
                <a:lnTo>
                  <a:pt x="8237326" y="0"/>
                </a:lnTo>
                <a:lnTo>
                  <a:pt x="8245238" y="0"/>
                </a:lnTo>
                <a:lnTo>
                  <a:pt x="8898210" y="0"/>
                </a:lnTo>
                <a:lnTo>
                  <a:pt x="8898210" y="797"/>
                </a:lnTo>
                <a:lnTo>
                  <a:pt x="8906120" y="0"/>
                </a:lnTo>
                <a:cubicBezTo>
                  <a:pt x="9448749" y="0"/>
                  <a:pt x="9888631" y="439884"/>
                  <a:pt x="9888631" y="982514"/>
                </a:cubicBezTo>
                <a:cubicBezTo>
                  <a:pt x="9888631" y="1525136"/>
                  <a:pt x="9448749" y="1965019"/>
                  <a:pt x="8906120" y="1965019"/>
                </a:cubicBezTo>
                <a:lnTo>
                  <a:pt x="8898210" y="1964224"/>
                </a:lnTo>
                <a:lnTo>
                  <a:pt x="8898210" y="1965019"/>
                </a:lnTo>
                <a:lnTo>
                  <a:pt x="8245238" y="1965019"/>
                </a:lnTo>
                <a:lnTo>
                  <a:pt x="8237326" y="1965019"/>
                </a:lnTo>
                <a:lnTo>
                  <a:pt x="8171887" y="1965019"/>
                </a:lnTo>
                <a:lnTo>
                  <a:pt x="8163975" y="1965019"/>
                </a:lnTo>
                <a:lnTo>
                  <a:pt x="8080462" y="1965019"/>
                </a:lnTo>
                <a:lnTo>
                  <a:pt x="8072552" y="1965019"/>
                </a:lnTo>
                <a:lnTo>
                  <a:pt x="7511004" y="1965019"/>
                </a:lnTo>
                <a:lnTo>
                  <a:pt x="7503093" y="1965019"/>
                </a:lnTo>
                <a:lnTo>
                  <a:pt x="7422234" y="1965019"/>
                </a:lnTo>
                <a:lnTo>
                  <a:pt x="7419579" y="1965019"/>
                </a:lnTo>
                <a:lnTo>
                  <a:pt x="7414322" y="1965019"/>
                </a:lnTo>
                <a:lnTo>
                  <a:pt x="7411668" y="1965019"/>
                </a:lnTo>
                <a:lnTo>
                  <a:pt x="7346228" y="1965019"/>
                </a:lnTo>
                <a:lnTo>
                  <a:pt x="7338318" y="1965019"/>
                </a:lnTo>
                <a:lnTo>
                  <a:pt x="6761351" y="1965019"/>
                </a:lnTo>
                <a:lnTo>
                  <a:pt x="6753439" y="1965019"/>
                </a:lnTo>
                <a:lnTo>
                  <a:pt x="6687999" y="1965019"/>
                </a:lnTo>
                <a:lnTo>
                  <a:pt x="6685345" y="1965019"/>
                </a:lnTo>
                <a:lnTo>
                  <a:pt x="6680089" y="1965019"/>
                </a:lnTo>
                <a:lnTo>
                  <a:pt x="6677434" y="1965019"/>
                </a:lnTo>
                <a:lnTo>
                  <a:pt x="6596575" y="1965019"/>
                </a:lnTo>
                <a:lnTo>
                  <a:pt x="6588665" y="1965019"/>
                </a:lnTo>
                <a:lnTo>
                  <a:pt x="6027117" y="1965019"/>
                </a:lnTo>
                <a:lnTo>
                  <a:pt x="6019206" y="1965019"/>
                </a:lnTo>
                <a:lnTo>
                  <a:pt x="5935692" y="1965019"/>
                </a:lnTo>
                <a:lnTo>
                  <a:pt x="5927781" y="1965019"/>
                </a:lnTo>
                <a:lnTo>
                  <a:pt x="5862341" y="1965019"/>
                </a:lnTo>
                <a:lnTo>
                  <a:pt x="5854431" y="1965019"/>
                </a:lnTo>
                <a:lnTo>
                  <a:pt x="5201458" y="1965019"/>
                </a:lnTo>
                <a:lnTo>
                  <a:pt x="5193547" y="1965019"/>
                </a:lnTo>
                <a:lnTo>
                  <a:pt x="4119278" y="1965019"/>
                </a:lnTo>
                <a:lnTo>
                  <a:pt x="4119263" y="1965019"/>
                </a:lnTo>
                <a:lnTo>
                  <a:pt x="4119247" y="1965019"/>
                </a:lnTo>
                <a:lnTo>
                  <a:pt x="4111352" y="1965019"/>
                </a:lnTo>
                <a:lnTo>
                  <a:pt x="3458396" y="1965019"/>
                </a:lnTo>
                <a:lnTo>
                  <a:pt x="3458379" y="1965019"/>
                </a:lnTo>
                <a:lnTo>
                  <a:pt x="3458363" y="1965019"/>
                </a:lnTo>
                <a:lnTo>
                  <a:pt x="3450469" y="1965019"/>
                </a:lnTo>
                <a:lnTo>
                  <a:pt x="3385044" y="1965019"/>
                </a:lnTo>
                <a:lnTo>
                  <a:pt x="3385029" y="1965019"/>
                </a:lnTo>
                <a:lnTo>
                  <a:pt x="3385012" y="1965019"/>
                </a:lnTo>
                <a:lnTo>
                  <a:pt x="3377119" y="1965019"/>
                </a:lnTo>
                <a:lnTo>
                  <a:pt x="3293621" y="1965019"/>
                </a:lnTo>
                <a:lnTo>
                  <a:pt x="3293604" y="1965019"/>
                </a:lnTo>
                <a:lnTo>
                  <a:pt x="3293588" y="1965019"/>
                </a:lnTo>
                <a:lnTo>
                  <a:pt x="3285693" y="1965019"/>
                </a:lnTo>
                <a:lnTo>
                  <a:pt x="2724161" y="1965019"/>
                </a:lnTo>
                <a:lnTo>
                  <a:pt x="2724146" y="1965019"/>
                </a:lnTo>
                <a:lnTo>
                  <a:pt x="2724129" y="1965019"/>
                </a:lnTo>
                <a:lnTo>
                  <a:pt x="2716236" y="1965019"/>
                </a:lnTo>
                <a:lnTo>
                  <a:pt x="2635392" y="1965019"/>
                </a:lnTo>
                <a:lnTo>
                  <a:pt x="2635376" y="1965019"/>
                </a:lnTo>
                <a:lnTo>
                  <a:pt x="2635360" y="1965019"/>
                </a:lnTo>
                <a:lnTo>
                  <a:pt x="2632737" y="1965019"/>
                </a:lnTo>
                <a:lnTo>
                  <a:pt x="2632722" y="1965019"/>
                </a:lnTo>
                <a:lnTo>
                  <a:pt x="2632705" y="1965019"/>
                </a:lnTo>
                <a:lnTo>
                  <a:pt x="2627465" y="1965019"/>
                </a:lnTo>
                <a:lnTo>
                  <a:pt x="2624812" y="1965019"/>
                </a:lnTo>
                <a:lnTo>
                  <a:pt x="2559386" y="1965019"/>
                </a:lnTo>
                <a:lnTo>
                  <a:pt x="2559371" y="1965019"/>
                </a:lnTo>
                <a:lnTo>
                  <a:pt x="2559353" y="1965019"/>
                </a:lnTo>
                <a:lnTo>
                  <a:pt x="2551460" y="1965019"/>
                </a:lnTo>
                <a:lnTo>
                  <a:pt x="1974509" y="1965019"/>
                </a:lnTo>
                <a:lnTo>
                  <a:pt x="1974492" y="1965019"/>
                </a:lnTo>
                <a:lnTo>
                  <a:pt x="1974477" y="1965019"/>
                </a:lnTo>
                <a:lnTo>
                  <a:pt x="1973119" y="1965019"/>
                </a:lnTo>
                <a:lnTo>
                  <a:pt x="1966582" y="1965019"/>
                </a:lnTo>
                <a:lnTo>
                  <a:pt x="1901158" y="1965019"/>
                </a:lnTo>
                <a:lnTo>
                  <a:pt x="1901143" y="1965019"/>
                </a:lnTo>
                <a:lnTo>
                  <a:pt x="1901125" y="1965019"/>
                </a:lnTo>
                <a:lnTo>
                  <a:pt x="1898504" y="1965019"/>
                </a:lnTo>
                <a:lnTo>
                  <a:pt x="1898487" y="1965019"/>
                </a:lnTo>
                <a:lnTo>
                  <a:pt x="1898471" y="1965019"/>
                </a:lnTo>
                <a:lnTo>
                  <a:pt x="1893231" y="1965019"/>
                </a:lnTo>
                <a:lnTo>
                  <a:pt x="1890577" y="1965019"/>
                </a:lnTo>
                <a:lnTo>
                  <a:pt x="1809734" y="1965019"/>
                </a:lnTo>
                <a:lnTo>
                  <a:pt x="1809718" y="1965019"/>
                </a:lnTo>
                <a:lnTo>
                  <a:pt x="1809700" y="1965019"/>
                </a:lnTo>
                <a:lnTo>
                  <a:pt x="1801806" y="1965019"/>
                </a:lnTo>
                <a:lnTo>
                  <a:pt x="1312237" y="1965019"/>
                </a:lnTo>
                <a:lnTo>
                  <a:pt x="1240274" y="1965019"/>
                </a:lnTo>
                <a:lnTo>
                  <a:pt x="1240259" y="1965019"/>
                </a:lnTo>
                <a:lnTo>
                  <a:pt x="1240243" y="1965019"/>
                </a:lnTo>
                <a:lnTo>
                  <a:pt x="1238885" y="1965019"/>
                </a:lnTo>
                <a:lnTo>
                  <a:pt x="1232349" y="1965019"/>
                </a:lnTo>
                <a:lnTo>
                  <a:pt x="1148850" y="1965019"/>
                </a:lnTo>
                <a:lnTo>
                  <a:pt x="1148834" y="1965019"/>
                </a:lnTo>
                <a:lnTo>
                  <a:pt x="1148818" y="1965019"/>
                </a:lnTo>
                <a:lnTo>
                  <a:pt x="1147460" y="1965019"/>
                </a:lnTo>
                <a:lnTo>
                  <a:pt x="1140924" y="1965019"/>
                </a:lnTo>
                <a:lnTo>
                  <a:pt x="1075499" y="1965019"/>
                </a:lnTo>
                <a:lnTo>
                  <a:pt x="1075482" y="1965019"/>
                </a:lnTo>
                <a:lnTo>
                  <a:pt x="1075466" y="1965019"/>
                </a:lnTo>
                <a:lnTo>
                  <a:pt x="1067572" y="1965019"/>
                </a:lnTo>
                <a:lnTo>
                  <a:pt x="578003" y="1965019"/>
                </a:lnTo>
                <a:lnTo>
                  <a:pt x="489232" y="1965019"/>
                </a:lnTo>
                <a:lnTo>
                  <a:pt x="486578" y="1965019"/>
                </a:lnTo>
                <a:lnTo>
                  <a:pt x="414615" y="1965019"/>
                </a:lnTo>
                <a:lnTo>
                  <a:pt x="414600" y="1965019"/>
                </a:lnTo>
                <a:lnTo>
                  <a:pt x="414583" y="1965019"/>
                </a:lnTo>
                <a:lnTo>
                  <a:pt x="413226" y="1965019"/>
                </a:lnTo>
                <a:lnTo>
                  <a:pt x="406690" y="1965019"/>
                </a:lnTo>
                <a:lnTo>
                  <a:pt x="0" y="1965019"/>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9" name="Title 2">
            <a:extLst>
              <a:ext uri="{FF2B5EF4-FFF2-40B4-BE49-F238E27FC236}">
                <a16:creationId xmlns:a16="http://schemas.microsoft.com/office/drawing/2014/main" id="{313680A3-CAA4-6A41-ABAB-01779937487C}"/>
              </a:ext>
            </a:extLst>
          </p:cNvPr>
          <p:cNvSpPr txBox="1">
            <a:spLocks/>
          </p:cNvSpPr>
          <p:nvPr/>
        </p:nvSpPr>
        <p:spPr>
          <a:xfrm>
            <a:off x="683066" y="565410"/>
            <a:ext cx="9632008" cy="1253759"/>
          </a:xfrm>
          <a:prstGeom prst="rect">
            <a:avLst/>
          </a:prstGeom>
        </p:spPr>
        <p:txBody>
          <a:bodyPr/>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7000" dirty="0">
                <a:solidFill>
                  <a:schemeClr val="bg1">
                    <a:alpha val="68000"/>
                  </a:schemeClr>
                </a:solidFill>
              </a:rPr>
              <a:t>Improved </a:t>
            </a:r>
            <a:r>
              <a:rPr lang="en-US" sz="7000" spc="100" dirty="0">
                <a:solidFill>
                  <a:schemeClr val="bg1">
                    <a:alpha val="68000"/>
                  </a:schemeClr>
                </a:solidFill>
              </a:rPr>
              <a:t>by HighQ</a:t>
            </a:r>
          </a:p>
          <a:p>
            <a:endParaRPr lang="en-US" sz="8000" dirty="0">
              <a:solidFill>
                <a:schemeClr val="bg1">
                  <a:alpha val="68000"/>
                </a:schemeClr>
              </a:solidFill>
              <a:latin typeface="+mn-lt"/>
            </a:endParaRPr>
          </a:p>
        </p:txBody>
      </p:sp>
      <p:sp>
        <p:nvSpPr>
          <p:cNvPr id="30" name="Rectangle 29">
            <a:extLst>
              <a:ext uri="{FF2B5EF4-FFF2-40B4-BE49-F238E27FC236}">
                <a16:creationId xmlns:a16="http://schemas.microsoft.com/office/drawing/2014/main" id="{01498CBA-3F2F-084A-800A-F9FE74AFDCD5}"/>
              </a:ext>
            </a:extLst>
          </p:cNvPr>
          <p:cNvSpPr/>
          <p:nvPr/>
        </p:nvSpPr>
        <p:spPr>
          <a:xfrm>
            <a:off x="847334"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Law Firm Processes</a:t>
            </a:r>
          </a:p>
        </p:txBody>
      </p:sp>
      <p:pic>
        <p:nvPicPr>
          <p:cNvPr id="32" name="Picture 31">
            <a:extLst>
              <a:ext uri="{FF2B5EF4-FFF2-40B4-BE49-F238E27FC236}">
                <a16:creationId xmlns:a16="http://schemas.microsoft.com/office/drawing/2014/main" id="{6D4C72CA-CE1A-48B9-BA89-0E3DE2FA735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539144" y="2471300"/>
            <a:ext cx="952264" cy="952265"/>
          </a:xfrm>
          <a:prstGeom prst="rect">
            <a:avLst/>
          </a:prstGeom>
        </p:spPr>
      </p:pic>
      <p:sp>
        <p:nvSpPr>
          <p:cNvPr id="5" name="Client  portals">
            <a:extLst>
              <a:ext uri="{FF2B5EF4-FFF2-40B4-BE49-F238E27FC236}">
                <a16:creationId xmlns:a16="http://schemas.microsoft.com/office/drawing/2014/main" id="{22A0B644-A921-44FE-924F-CBE12DBF0C8D}"/>
              </a:ext>
            </a:extLst>
          </p:cNvPr>
          <p:cNvSpPr txBox="1"/>
          <p:nvPr/>
        </p:nvSpPr>
        <p:spPr>
          <a:xfrm>
            <a:off x="955835" y="3338251"/>
            <a:ext cx="2118883"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p>
            <a:pPr marL="0" marR="0" lvl="0" indent="0" algn="ctr" defTabSz="914126"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Client</a:t>
            </a:r>
            <a:b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br>
            <a: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Engagement</a:t>
            </a:r>
            <a:endParaRPr kumimoji="0"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endParaRPr>
          </a:p>
        </p:txBody>
      </p:sp>
      <p:pic>
        <p:nvPicPr>
          <p:cNvPr id="33" name="Picture 32">
            <a:extLst>
              <a:ext uri="{FF2B5EF4-FFF2-40B4-BE49-F238E27FC236}">
                <a16:creationId xmlns:a16="http://schemas.microsoft.com/office/drawing/2014/main" id="{71DCD66D-B15E-4F1D-9272-3C2442BF7C10}"/>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322351" y="2480410"/>
            <a:ext cx="862010" cy="862010"/>
          </a:xfrm>
          <a:prstGeom prst="rect">
            <a:avLst/>
          </a:prstGeom>
        </p:spPr>
      </p:pic>
      <p:sp>
        <p:nvSpPr>
          <p:cNvPr id="8" name="Team collaboration">
            <a:extLst>
              <a:ext uri="{FF2B5EF4-FFF2-40B4-BE49-F238E27FC236}">
                <a16:creationId xmlns:a16="http://schemas.microsoft.com/office/drawing/2014/main" id="{11CDFD43-C8A3-425A-902D-E547C9D2A2B9}"/>
              </a:ext>
            </a:extLst>
          </p:cNvPr>
          <p:cNvSpPr txBox="1"/>
          <p:nvPr/>
        </p:nvSpPr>
        <p:spPr>
          <a:xfrm>
            <a:off x="3693914" y="3338251"/>
            <a:ext cx="2118884"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lvl1pPr algn="ctr" defTabSz="914400">
              <a:lnSpc>
                <a:spcPct val="100000"/>
              </a:lnSpc>
              <a:defRPr sz="1400">
                <a:latin typeface="FS Albert Light"/>
                <a:ea typeface="FS Albert Light"/>
                <a:cs typeface="FS Albert Light"/>
                <a:sym typeface="FS Albert Light"/>
              </a:defRPr>
            </a:lvl1pPr>
          </a:lstStyle>
          <a:p>
            <a:pPr marL="0" marR="0" lvl="0" indent="0" algn="ctr" defTabSz="9144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Document</a:t>
            </a:r>
            <a:b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br>
            <a: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Collaboration</a:t>
            </a:r>
            <a:endParaRPr kumimoji="0"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endParaRPr>
          </a:p>
        </p:txBody>
      </p:sp>
      <p:pic>
        <p:nvPicPr>
          <p:cNvPr id="35" name="Picture 34">
            <a:extLst>
              <a:ext uri="{FF2B5EF4-FFF2-40B4-BE49-F238E27FC236}">
                <a16:creationId xmlns:a16="http://schemas.microsoft.com/office/drawing/2014/main" id="{358166EF-0F78-4853-A1DE-600288A8F61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9631605" y="2465325"/>
            <a:ext cx="981473" cy="981474"/>
          </a:xfrm>
          <a:prstGeom prst="rect">
            <a:avLst/>
          </a:prstGeom>
        </p:spPr>
      </p:pic>
      <p:sp>
        <p:nvSpPr>
          <p:cNvPr id="11" name="Transaction management">
            <a:extLst>
              <a:ext uri="{FF2B5EF4-FFF2-40B4-BE49-F238E27FC236}">
                <a16:creationId xmlns:a16="http://schemas.microsoft.com/office/drawing/2014/main" id="{0A8E4C04-A8B4-4885-AA42-BE24258D3373}"/>
              </a:ext>
            </a:extLst>
          </p:cNvPr>
          <p:cNvSpPr txBox="1"/>
          <p:nvPr/>
        </p:nvSpPr>
        <p:spPr>
          <a:xfrm>
            <a:off x="9062899" y="3338251"/>
            <a:ext cx="2118884" cy="79143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lvl1pPr algn="ctr" defTabSz="914400">
              <a:lnSpc>
                <a:spcPct val="100000"/>
              </a:lnSpc>
              <a:defRPr sz="1400">
                <a:latin typeface="FS Albert Light"/>
                <a:ea typeface="FS Albert Light"/>
                <a:cs typeface="FS Albert Light"/>
                <a:sym typeface="FS Albert Light"/>
              </a:defRPr>
            </a:lvl1pPr>
          </a:lstStyle>
          <a:p>
            <a:pPr marL="0" marR="0" lvl="0" indent="0" algn="ctr" defTabSz="9144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Transaction </a:t>
            </a: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M</a:t>
            </a:r>
            <a:r>
              <a:rPr kumimoji="0" sz="1500" u="none" strike="noStrike" kern="0" cap="none" spc="0" normalizeH="0" baseline="0" noProof="0" err="1">
                <a:ln>
                  <a:noFill/>
                </a:ln>
                <a:solidFill>
                  <a:srgbClr val="000000"/>
                </a:solidFill>
                <a:effectLst/>
                <a:uLnTx/>
                <a:uFillTx/>
                <a:latin typeface="+mj-lt"/>
                <a:cs typeface="Arial" panose="020B0604020202020204" pitchFamily="34" charset="0"/>
                <a:sym typeface="FS Albert Light"/>
              </a:rPr>
              <a:t>anagement</a:t>
            </a:r>
            <a:endParaRPr kumimoji="0"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endParaRPr>
          </a:p>
        </p:txBody>
      </p:sp>
      <p:pic>
        <p:nvPicPr>
          <p:cNvPr id="34" name="Picture 33">
            <a:extLst>
              <a:ext uri="{FF2B5EF4-FFF2-40B4-BE49-F238E27FC236}">
                <a16:creationId xmlns:a16="http://schemas.microsoft.com/office/drawing/2014/main" id="{527A134F-DB15-47E9-B6EF-82696C070F20}"/>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7035030" y="2441217"/>
            <a:ext cx="862010" cy="862010"/>
          </a:xfrm>
          <a:prstGeom prst="rect">
            <a:avLst/>
          </a:prstGeom>
        </p:spPr>
      </p:pic>
      <p:sp>
        <p:nvSpPr>
          <p:cNvPr id="14" name="Project management">
            <a:extLst>
              <a:ext uri="{FF2B5EF4-FFF2-40B4-BE49-F238E27FC236}">
                <a16:creationId xmlns:a16="http://schemas.microsoft.com/office/drawing/2014/main" id="{B6DD8AAF-C557-4723-A1F3-4157B5C87F4C}"/>
              </a:ext>
            </a:extLst>
          </p:cNvPr>
          <p:cNvSpPr txBox="1"/>
          <p:nvPr/>
        </p:nvSpPr>
        <p:spPr>
          <a:xfrm>
            <a:off x="6406593" y="3338251"/>
            <a:ext cx="2118884"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lvl1pPr algn="ctr" defTabSz="914400">
              <a:lnSpc>
                <a:spcPct val="100000"/>
              </a:lnSpc>
              <a:defRPr sz="1400">
                <a:latin typeface="FS Albert Light"/>
                <a:ea typeface="FS Albert Light"/>
                <a:cs typeface="FS Albert Light"/>
                <a:sym typeface="FS Albert Light"/>
              </a:defRPr>
            </a:lvl1pPr>
          </a:lstStyle>
          <a:p>
            <a:pPr marL="0" marR="0" lvl="0" indent="0" algn="ctr" defTabSz="9144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Legal </a:t>
            </a:r>
            <a:r>
              <a:rPr kumimoji="0"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Project</a:t>
            </a:r>
            <a:b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br>
            <a:r>
              <a:rPr kumimoji="0" lang="en-GB"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rPr>
              <a:t>Management</a:t>
            </a:r>
            <a:endParaRPr kumimoji="0" sz="1500" u="none" strike="noStrike" kern="0" cap="none" spc="0" normalizeH="0" baseline="0" noProof="0" dirty="0">
              <a:ln>
                <a:noFill/>
              </a:ln>
              <a:solidFill>
                <a:srgbClr val="000000"/>
              </a:solidFill>
              <a:effectLst/>
              <a:uLnTx/>
              <a:uFillTx/>
              <a:latin typeface="+mj-lt"/>
              <a:cs typeface="Arial" panose="020B0604020202020204" pitchFamily="34" charset="0"/>
              <a:sym typeface="FS Albert Light"/>
            </a:endParaRPr>
          </a:p>
        </p:txBody>
      </p:sp>
      <p:pic>
        <p:nvPicPr>
          <p:cNvPr id="42" name="Picture 41">
            <a:extLst>
              <a:ext uri="{FF2B5EF4-FFF2-40B4-BE49-F238E27FC236}">
                <a16:creationId xmlns:a16="http://schemas.microsoft.com/office/drawing/2014/main" id="{392B1CCC-05E3-4B21-A821-B70B1E35896F}"/>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4270019" y="4529518"/>
            <a:ext cx="966674" cy="966674"/>
          </a:xfrm>
          <a:prstGeom prst="rect">
            <a:avLst/>
          </a:prstGeom>
        </p:spPr>
      </p:pic>
      <p:sp>
        <p:nvSpPr>
          <p:cNvPr id="17" name="Client  portals">
            <a:extLst>
              <a:ext uri="{FF2B5EF4-FFF2-40B4-BE49-F238E27FC236}">
                <a16:creationId xmlns:a16="http://schemas.microsoft.com/office/drawing/2014/main" id="{FF055E25-CF97-4CA8-A8FA-A70870F2AA70}"/>
              </a:ext>
            </a:extLst>
          </p:cNvPr>
          <p:cNvSpPr txBox="1"/>
          <p:nvPr/>
        </p:nvSpPr>
        <p:spPr>
          <a:xfrm>
            <a:off x="3693915" y="5316302"/>
            <a:ext cx="2118883"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Litigation</a:t>
            </a:r>
            <a:b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b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Management</a:t>
            </a:r>
            <a:endParaRPr kumimoji="0"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endParaRPr>
          </a:p>
        </p:txBody>
      </p:sp>
      <p:pic>
        <p:nvPicPr>
          <p:cNvPr id="39" name="Picture 38">
            <a:extLst>
              <a:ext uri="{FF2B5EF4-FFF2-40B4-BE49-F238E27FC236}">
                <a16:creationId xmlns:a16="http://schemas.microsoft.com/office/drawing/2014/main" id="{B7A7EBC4-8CA9-4E99-804B-2952B9BDA8E4}"/>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584271" y="4550934"/>
            <a:ext cx="862010" cy="862010"/>
          </a:xfrm>
          <a:prstGeom prst="rect">
            <a:avLst/>
          </a:prstGeom>
        </p:spPr>
      </p:pic>
      <p:sp>
        <p:nvSpPr>
          <p:cNvPr id="23" name="Client  portals">
            <a:extLst>
              <a:ext uri="{FF2B5EF4-FFF2-40B4-BE49-F238E27FC236}">
                <a16:creationId xmlns:a16="http://schemas.microsoft.com/office/drawing/2014/main" id="{0C1372BC-C025-4430-BD66-0DC28DAE29B6}"/>
              </a:ext>
            </a:extLst>
          </p:cNvPr>
          <p:cNvSpPr txBox="1"/>
          <p:nvPr/>
        </p:nvSpPr>
        <p:spPr>
          <a:xfrm>
            <a:off x="955834" y="5316301"/>
            <a:ext cx="2118884"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Portfolio</a:t>
            </a:r>
            <a:b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b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Management</a:t>
            </a:r>
          </a:p>
        </p:txBody>
      </p:sp>
      <p:pic>
        <p:nvPicPr>
          <p:cNvPr id="40" name="Picture 39">
            <a:extLst>
              <a:ext uri="{FF2B5EF4-FFF2-40B4-BE49-F238E27FC236}">
                <a16:creationId xmlns:a16="http://schemas.microsoft.com/office/drawing/2014/main" id="{BACAF17C-82C5-4163-8C03-D47E2940A24D}"/>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7054398" y="4528050"/>
            <a:ext cx="823274" cy="823274"/>
          </a:xfrm>
          <a:prstGeom prst="rect">
            <a:avLst/>
          </a:prstGeom>
        </p:spPr>
      </p:pic>
      <p:sp>
        <p:nvSpPr>
          <p:cNvPr id="26" name="Client  portals">
            <a:extLst>
              <a:ext uri="{FF2B5EF4-FFF2-40B4-BE49-F238E27FC236}">
                <a16:creationId xmlns:a16="http://schemas.microsoft.com/office/drawing/2014/main" id="{CF390DD0-D62D-4AF9-B890-362A37E93FE0}"/>
              </a:ext>
            </a:extLst>
          </p:cNvPr>
          <p:cNvSpPr txBox="1"/>
          <p:nvPr/>
        </p:nvSpPr>
        <p:spPr>
          <a:xfrm>
            <a:off x="6406593" y="5351324"/>
            <a:ext cx="2118884"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Compliance Management</a:t>
            </a:r>
            <a:endParaRPr kumimoji="0"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endParaRPr>
          </a:p>
        </p:txBody>
      </p:sp>
      <p:sp>
        <p:nvSpPr>
          <p:cNvPr id="20" name="Social intranets">
            <a:extLst>
              <a:ext uri="{FF2B5EF4-FFF2-40B4-BE49-F238E27FC236}">
                <a16:creationId xmlns:a16="http://schemas.microsoft.com/office/drawing/2014/main" id="{D7B4594B-D63E-4AE4-82B7-128847D2A6A8}"/>
              </a:ext>
            </a:extLst>
          </p:cNvPr>
          <p:cNvSpPr txBox="1"/>
          <p:nvPr/>
        </p:nvSpPr>
        <p:spPr>
          <a:xfrm>
            <a:off x="9062899" y="5351327"/>
            <a:ext cx="2118884" cy="79143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45707" tIns="45707" rIns="45707" bIns="45707" numCol="1" anchor="ctr">
            <a:noAutofit/>
          </a:bodyPr>
          <a:lstStyle/>
          <a:p>
            <a:pPr marL="0" marR="0" lvl="0" indent="0" algn="ctr" defTabSz="457200" rtl="0" eaLnBrk="1" fontAlgn="auto" latinLnBrk="0" hangingPunct="0">
              <a:lnSpc>
                <a:spcPct val="100000"/>
              </a:lnSpc>
              <a:spcBef>
                <a:spcPts val="0"/>
              </a:spcBef>
              <a:spcAft>
                <a:spcPts val="0"/>
              </a:spcAft>
              <a:buClrTx/>
              <a:buSzTx/>
              <a:buFontTx/>
              <a:buNone/>
              <a:tabLst/>
              <a:defRPr sz="1400">
                <a:latin typeface="FS Albert Light"/>
                <a:ea typeface="FS Albert Light"/>
                <a:cs typeface="FS Albert Light"/>
                <a:sym typeface="FS Albert Light"/>
              </a:defRPr>
            </a:pP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Team</a:t>
            </a:r>
            <a:b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br>
            <a:r>
              <a:rPr kumimoji="0" lang="en-GB"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rPr>
              <a:t>Collaboration</a:t>
            </a:r>
            <a:endParaRPr kumimoji="0" sz="1500" u="none" strike="noStrike" kern="0" cap="none" spc="0" normalizeH="0" baseline="0" noProof="0">
              <a:ln>
                <a:noFill/>
              </a:ln>
              <a:solidFill>
                <a:srgbClr val="000000"/>
              </a:solidFill>
              <a:effectLst/>
              <a:uLnTx/>
              <a:uFillTx/>
              <a:latin typeface="+mj-lt"/>
              <a:cs typeface="Arial" panose="020B0604020202020204" pitchFamily="34" charset="0"/>
              <a:sym typeface="FS Albert Light"/>
            </a:endParaRPr>
          </a:p>
        </p:txBody>
      </p:sp>
      <p:pic>
        <p:nvPicPr>
          <p:cNvPr id="31" name="Picture 30">
            <a:extLst>
              <a:ext uri="{FF2B5EF4-FFF2-40B4-BE49-F238E27FC236}">
                <a16:creationId xmlns:a16="http://schemas.microsoft.com/office/drawing/2014/main" id="{36E05600-57A6-4745-A1BD-52CD90576763}"/>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9691336" y="4492052"/>
            <a:ext cx="862010" cy="862010"/>
          </a:xfrm>
          <a:prstGeom prst="rect">
            <a:avLst/>
          </a:prstGeom>
        </p:spPr>
      </p:pic>
      <p:cxnSp>
        <p:nvCxnSpPr>
          <p:cNvPr id="4" name="Straight Connector 3">
            <a:extLst>
              <a:ext uri="{FF2B5EF4-FFF2-40B4-BE49-F238E27FC236}">
                <a16:creationId xmlns:a16="http://schemas.microsoft.com/office/drawing/2014/main" id="{52303ADE-2AD8-3D44-BB1E-B3E6D801B2E0}"/>
              </a:ext>
            </a:extLst>
          </p:cNvPr>
          <p:cNvCxnSpPr>
            <a:cxnSpLocks/>
          </p:cNvCxnSpPr>
          <p:nvPr/>
        </p:nvCxnSpPr>
        <p:spPr>
          <a:xfrm>
            <a:off x="753927" y="4278618"/>
            <a:ext cx="2560320" cy="0"/>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BA1BF93-F7B5-5449-AC07-45555557244D}"/>
              </a:ext>
            </a:extLst>
          </p:cNvPr>
          <p:cNvCxnSpPr>
            <a:cxnSpLocks/>
          </p:cNvCxnSpPr>
          <p:nvPr/>
        </p:nvCxnSpPr>
        <p:spPr>
          <a:xfrm>
            <a:off x="3456598" y="4278618"/>
            <a:ext cx="2560320" cy="0"/>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67661618-C806-D044-A6A8-37B6010E847F}"/>
              </a:ext>
            </a:extLst>
          </p:cNvPr>
          <p:cNvCxnSpPr>
            <a:cxnSpLocks/>
          </p:cNvCxnSpPr>
          <p:nvPr/>
        </p:nvCxnSpPr>
        <p:spPr>
          <a:xfrm>
            <a:off x="6159269" y="4278618"/>
            <a:ext cx="2560320" cy="0"/>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F8673E60-27D7-C844-9338-D9E41E87B301}"/>
              </a:ext>
            </a:extLst>
          </p:cNvPr>
          <p:cNvCxnSpPr>
            <a:cxnSpLocks/>
          </p:cNvCxnSpPr>
          <p:nvPr/>
        </p:nvCxnSpPr>
        <p:spPr>
          <a:xfrm>
            <a:off x="8861940" y="4278618"/>
            <a:ext cx="2560320" cy="0"/>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58D164F3-1E63-7049-BF12-BE9CBAB9452E}"/>
              </a:ext>
            </a:extLst>
          </p:cNvPr>
          <p:cNvCxnSpPr>
            <a:cxnSpLocks/>
          </p:cNvCxnSpPr>
          <p:nvPr/>
        </p:nvCxnSpPr>
        <p:spPr>
          <a:xfrm>
            <a:off x="3388271" y="2569223"/>
            <a:ext cx="0" cy="1658983"/>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266868C0-A70B-314C-9939-8C1F47C70D6A}"/>
              </a:ext>
            </a:extLst>
          </p:cNvPr>
          <p:cNvCxnSpPr>
            <a:cxnSpLocks/>
          </p:cNvCxnSpPr>
          <p:nvPr/>
        </p:nvCxnSpPr>
        <p:spPr>
          <a:xfrm>
            <a:off x="3388271" y="4355992"/>
            <a:ext cx="0" cy="1658983"/>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D28B3E9B-6E38-7649-A8B9-F2F8C2161AE8}"/>
              </a:ext>
            </a:extLst>
          </p:cNvPr>
          <p:cNvCxnSpPr>
            <a:cxnSpLocks/>
          </p:cNvCxnSpPr>
          <p:nvPr/>
        </p:nvCxnSpPr>
        <p:spPr>
          <a:xfrm>
            <a:off x="6096301" y="2569223"/>
            <a:ext cx="0" cy="1658983"/>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D7AB3BF-5600-2542-AB15-84F1B260D926}"/>
              </a:ext>
            </a:extLst>
          </p:cNvPr>
          <p:cNvCxnSpPr>
            <a:cxnSpLocks/>
          </p:cNvCxnSpPr>
          <p:nvPr/>
        </p:nvCxnSpPr>
        <p:spPr>
          <a:xfrm>
            <a:off x="6096301" y="4355992"/>
            <a:ext cx="0" cy="1658983"/>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8DB85E44-14EE-084B-9B1D-4DB427704BB3}"/>
              </a:ext>
            </a:extLst>
          </p:cNvPr>
          <p:cNvCxnSpPr>
            <a:cxnSpLocks/>
          </p:cNvCxnSpPr>
          <p:nvPr/>
        </p:nvCxnSpPr>
        <p:spPr>
          <a:xfrm>
            <a:off x="8783231" y="2569223"/>
            <a:ext cx="0" cy="1658983"/>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40EF851D-C089-2B4B-B157-127987124946}"/>
              </a:ext>
            </a:extLst>
          </p:cNvPr>
          <p:cNvCxnSpPr>
            <a:cxnSpLocks/>
          </p:cNvCxnSpPr>
          <p:nvPr/>
        </p:nvCxnSpPr>
        <p:spPr>
          <a:xfrm>
            <a:off x="8783231" y="4355992"/>
            <a:ext cx="0" cy="1658983"/>
          </a:xfrm>
          <a:prstGeom prst="line">
            <a:avLst/>
          </a:prstGeom>
          <a:ln w="6350" cmpd="sng">
            <a:solidFill>
              <a:schemeClr val="accent6">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8407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1A52BA5-9254-0949-85E8-175077949813}"/>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20" name="TextBox 19">
            <a:extLst>
              <a:ext uri="{FF2B5EF4-FFF2-40B4-BE49-F238E27FC236}">
                <a16:creationId xmlns:a16="http://schemas.microsoft.com/office/drawing/2014/main" id="{8A90EF09-79EB-8542-978C-9A9C9A46D08F}"/>
              </a:ext>
            </a:extLst>
          </p:cNvPr>
          <p:cNvSpPr txBox="1"/>
          <p:nvPr/>
        </p:nvSpPr>
        <p:spPr>
          <a:xfrm>
            <a:off x="-1" y="1739900"/>
            <a:ext cx="3781307" cy="45355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25" name="Freeform 24">
            <a:extLst>
              <a:ext uri="{FF2B5EF4-FFF2-40B4-BE49-F238E27FC236}">
                <a16:creationId xmlns:a16="http://schemas.microsoft.com/office/drawing/2014/main" id="{82D8AC87-FE76-A24B-A39E-9E1DD34BBCC3}"/>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9FFA24DA-FA5D-2949-9DA8-2EE5DB4356DB}"/>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8" name="Text Placeholder 7">
            <a:extLst>
              <a:ext uri="{FF2B5EF4-FFF2-40B4-BE49-F238E27FC236}">
                <a16:creationId xmlns:a16="http://schemas.microsoft.com/office/drawing/2014/main" id="{F165AD8F-8893-A148-921E-AAF9194A63C8}"/>
              </a:ext>
            </a:extLst>
          </p:cNvPr>
          <p:cNvSpPr>
            <a:spLocks noGrp="1"/>
          </p:cNvSpPr>
          <p:nvPr>
            <p:ph type="body" sz="quarter" idx="4294967295"/>
          </p:nvPr>
        </p:nvSpPr>
        <p:spPr>
          <a:xfrm>
            <a:off x="742950" y="4301697"/>
            <a:ext cx="2875768" cy="1154391"/>
          </a:xfrm>
        </p:spPr>
        <p:txBody>
          <a:bodyPr>
            <a:noAutofit/>
          </a:bodyPr>
          <a:lstStyle/>
          <a:p>
            <a:r>
              <a:rPr lang="en-US" sz="2000" dirty="0">
                <a:latin typeface="+mj-lt"/>
              </a:rPr>
              <a:t>Deliver an ideal client experience that improves communication and provides value</a:t>
            </a:r>
          </a:p>
        </p:txBody>
      </p:sp>
      <p:sp>
        <p:nvSpPr>
          <p:cNvPr id="11" name="TextBox 10">
            <a:extLst>
              <a:ext uri="{FF2B5EF4-FFF2-40B4-BE49-F238E27FC236}">
                <a16:creationId xmlns:a16="http://schemas.microsoft.com/office/drawing/2014/main" id="{08F30D7D-FDB5-5143-892E-3DF76C2B953B}"/>
              </a:ext>
            </a:extLst>
          </p:cNvPr>
          <p:cNvSpPr txBox="1"/>
          <p:nvPr/>
        </p:nvSpPr>
        <p:spPr>
          <a:xfrm>
            <a:off x="4306970" y="4065449"/>
            <a:ext cx="3231617"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mj-lt"/>
                <a:ea typeface="FSAlbert" charset="0"/>
                <a:cs typeface="FSAlbert" charset="0"/>
              </a:rPr>
              <a:t>Provide clarity and visibility</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mj-lt"/>
                <a:ea typeface="+mn-ea"/>
                <a:cs typeface="+mn-cs"/>
              </a:rPr>
              <a:t>Share a digital interface between you and each client, giving them a transparent, unified picture of exactly where things stand.</a:t>
            </a:r>
          </a:p>
        </p:txBody>
      </p:sp>
      <p:sp>
        <p:nvSpPr>
          <p:cNvPr id="12" name="TextBox 11">
            <a:extLst>
              <a:ext uri="{FF2B5EF4-FFF2-40B4-BE49-F238E27FC236}">
                <a16:creationId xmlns:a16="http://schemas.microsoft.com/office/drawing/2014/main" id="{A050BD55-F741-F244-9E9A-DC31C9B6843A}"/>
              </a:ext>
            </a:extLst>
          </p:cNvPr>
          <p:cNvSpPr txBox="1"/>
          <p:nvPr/>
        </p:nvSpPr>
        <p:spPr>
          <a:xfrm>
            <a:off x="8262178" y="2809870"/>
            <a:ext cx="3404734" cy="75405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mj-lt"/>
                <a:ea typeface="FSAlbert" charset="0"/>
                <a:cs typeface="FSAlbert" charset="0"/>
              </a:rPr>
              <a:t>Enhance client value</a:t>
            </a:r>
            <a:endParaRPr kumimoji="0" lang="en-US" sz="1400" b="0" i="0" u="none" strike="noStrike" kern="1200" cap="none" spc="0" normalizeH="0" baseline="0" noProof="0" dirty="0">
              <a:ln>
                <a:noFill/>
              </a:ln>
              <a:solidFill>
                <a:srgbClr val="4D4D4D"/>
              </a:solidFill>
              <a:effectLst/>
              <a:uLnTx/>
              <a:uFillTx/>
              <a:latin typeface="+mj-lt"/>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mj-lt"/>
                <a:ea typeface="+mn-ea"/>
                <a:cs typeface="+mn-cs"/>
              </a:rPr>
              <a:t>Offer clients 24-7, self-service access to expert content, systems, and tools.</a:t>
            </a:r>
            <a:endParaRPr kumimoji="0" lang="en-GB" sz="1400" b="0" i="0" u="none" strike="noStrike" kern="1200" cap="none" spc="0" normalizeH="0" baseline="0" noProof="0" dirty="0">
              <a:ln>
                <a:noFill/>
              </a:ln>
              <a:solidFill>
                <a:srgbClr val="4D4D4D"/>
              </a:solidFill>
              <a:effectLst/>
              <a:uLnTx/>
              <a:uFillTx/>
              <a:latin typeface="+mj-lt"/>
              <a:ea typeface="FSAlbert" charset="0"/>
              <a:cs typeface="FSAlbert" charset="0"/>
            </a:endParaRPr>
          </a:p>
        </p:txBody>
      </p:sp>
      <p:sp>
        <p:nvSpPr>
          <p:cNvPr id="13" name="TextBox 12">
            <a:extLst>
              <a:ext uri="{FF2B5EF4-FFF2-40B4-BE49-F238E27FC236}">
                <a16:creationId xmlns:a16="http://schemas.microsoft.com/office/drawing/2014/main" id="{1E1F4C1A-EAA3-824F-A3DA-1D0FB31ABA9B}"/>
              </a:ext>
            </a:extLst>
          </p:cNvPr>
          <p:cNvSpPr txBox="1"/>
          <p:nvPr/>
        </p:nvSpPr>
        <p:spPr>
          <a:xfrm>
            <a:off x="8262178" y="4065449"/>
            <a:ext cx="3404734" cy="9694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mj-lt"/>
                <a:ea typeface="FSAlbert" charset="0"/>
                <a:cs typeface="FSAlbert" charset="0"/>
              </a:rPr>
              <a:t>Simplify the intake process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mj-lt"/>
                <a:ea typeface="FSAlbert" charset="0"/>
                <a:cs typeface="FSAlbert" charset="0"/>
              </a:rPr>
              <a:t>Streamline instruction and intake directly through your extranets using online forms, workflow, and process automation. </a:t>
            </a: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306970" y="2844378"/>
            <a:ext cx="3404734" cy="100429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mj-lt"/>
                <a:ea typeface="FSAlbert" charset="0"/>
                <a:cs typeface="FSAlbert" charset="0"/>
              </a:rPr>
              <a:t>Differentiate your firm</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mj-lt"/>
                <a:ea typeface="FSAlbert" charset="0"/>
                <a:cs typeface="FSAlbert" charset="0"/>
              </a:rPr>
              <a:t>Build the ultimate extranet for clients, delivering a personalized workspace.</a:t>
            </a:r>
            <a:endParaRPr kumimoji="0" lang="en-GB" sz="1400" b="0" i="0" u="none" strike="noStrike" kern="1200" cap="none" spc="0" normalizeH="0" baseline="0" noProof="0" dirty="0">
              <a:ln>
                <a:noFill/>
              </a:ln>
              <a:solidFill>
                <a:srgbClr val="4D4D4D"/>
              </a:solidFill>
              <a:effectLst/>
              <a:uLnTx/>
              <a:uFillTx/>
              <a:latin typeface="+mj-lt"/>
              <a:ea typeface="FSAlbert" charset="0"/>
              <a:cs typeface="FSAlbert" charset="0"/>
            </a:endParaRPr>
          </a:p>
        </p:txBody>
      </p:sp>
      <p:pic>
        <p:nvPicPr>
          <p:cNvPr id="10" name="Picture 9">
            <a:extLst>
              <a:ext uri="{FF2B5EF4-FFF2-40B4-BE49-F238E27FC236}">
                <a16:creationId xmlns:a16="http://schemas.microsoft.com/office/drawing/2014/main" id="{4E0854F9-402D-44DA-904F-93E943666F2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30567" y="2392879"/>
            <a:ext cx="1672570" cy="1672570"/>
          </a:xfrm>
          <a:prstGeom prst="rect">
            <a:avLst/>
          </a:prstGeom>
        </p:spPr>
      </p:pic>
      <p:sp>
        <p:nvSpPr>
          <p:cNvPr id="15" name="Title 2">
            <a:extLst>
              <a:ext uri="{FF2B5EF4-FFF2-40B4-BE49-F238E27FC236}">
                <a16:creationId xmlns:a16="http://schemas.microsoft.com/office/drawing/2014/main" id="{B99584AB-90A9-CB46-B2DA-9798883139DB}"/>
              </a:ext>
            </a:extLst>
          </p:cNvPr>
          <p:cNvSpPr txBox="1">
            <a:spLocks/>
          </p:cNvSpPr>
          <p:nvPr/>
        </p:nvSpPr>
        <p:spPr>
          <a:xfrm>
            <a:off x="742950" y="697717"/>
            <a:ext cx="9433391"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7000" dirty="0">
                <a:solidFill>
                  <a:schemeClr val="bg1">
                    <a:alpha val="68000"/>
                  </a:schemeClr>
                </a:solidFill>
                <a:latin typeface="+mn-lt"/>
              </a:rPr>
              <a:t>Client Engagement</a:t>
            </a:r>
          </a:p>
        </p:txBody>
      </p:sp>
      <p:cxnSp>
        <p:nvCxnSpPr>
          <p:cNvPr id="21" name="Straight Connector 20">
            <a:extLst>
              <a:ext uri="{FF2B5EF4-FFF2-40B4-BE49-F238E27FC236}">
                <a16:creationId xmlns:a16="http://schemas.microsoft.com/office/drawing/2014/main" id="{0A869FC9-30DC-9E4F-9A9F-3568BE89D592}"/>
              </a:ext>
            </a:extLst>
          </p:cNvPr>
          <p:cNvCxnSpPr>
            <a:cxnSpLocks/>
          </p:cNvCxnSpPr>
          <p:nvPr/>
        </p:nvCxnSpPr>
        <p:spPr>
          <a:xfrm>
            <a:off x="4306970" y="2658400"/>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243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DD6A77D-643A-F147-B257-CA25CBCD5A2E}"/>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7" name="TextBox 16">
            <a:extLst>
              <a:ext uri="{FF2B5EF4-FFF2-40B4-BE49-F238E27FC236}">
                <a16:creationId xmlns:a16="http://schemas.microsoft.com/office/drawing/2014/main" id="{2F87162A-A933-3740-8D6B-BE52CE39D51B}"/>
              </a:ext>
            </a:extLst>
          </p:cNvPr>
          <p:cNvSpPr txBox="1"/>
          <p:nvPr/>
        </p:nvSpPr>
        <p:spPr>
          <a:xfrm>
            <a:off x="-1" y="901700"/>
            <a:ext cx="3781307"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29" name="Freeform 28">
            <a:extLst>
              <a:ext uri="{FF2B5EF4-FFF2-40B4-BE49-F238E27FC236}">
                <a16:creationId xmlns:a16="http://schemas.microsoft.com/office/drawing/2014/main" id="{3674A6D4-6395-DD47-99F0-41433B502B98}"/>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9" name="Title 2">
            <a:extLst>
              <a:ext uri="{FF2B5EF4-FFF2-40B4-BE49-F238E27FC236}">
                <a16:creationId xmlns:a16="http://schemas.microsoft.com/office/drawing/2014/main" id="{ABA0AC91-0AF0-3B4C-8D81-8B103F9D794C}"/>
              </a:ext>
            </a:extLst>
          </p:cNvPr>
          <p:cNvSpPr txBox="1">
            <a:spLocks/>
          </p:cNvSpPr>
          <p:nvPr/>
        </p:nvSpPr>
        <p:spPr>
          <a:xfrm>
            <a:off x="742950" y="700425"/>
            <a:ext cx="10189509"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7000" dirty="0">
                <a:solidFill>
                  <a:schemeClr val="bg1">
                    <a:alpha val="68000"/>
                  </a:schemeClr>
                </a:solidFill>
                <a:latin typeface="+mn-lt"/>
              </a:rPr>
              <a:t>Document Collaboration</a:t>
            </a:r>
          </a:p>
        </p:txBody>
      </p:sp>
      <p:sp>
        <p:nvSpPr>
          <p:cNvPr id="21" name="Rectangle 20">
            <a:extLst>
              <a:ext uri="{FF2B5EF4-FFF2-40B4-BE49-F238E27FC236}">
                <a16:creationId xmlns:a16="http://schemas.microsoft.com/office/drawing/2014/main" id="{BF79AE63-470F-9046-904D-9579BD7F4225}"/>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10" name="TextBox 9">
            <a:extLst>
              <a:ext uri="{FF2B5EF4-FFF2-40B4-BE49-F238E27FC236}">
                <a16:creationId xmlns:a16="http://schemas.microsoft.com/office/drawing/2014/main" id="{76BB46CD-107D-B940-BD20-D96C07CD1F20}"/>
              </a:ext>
            </a:extLst>
          </p:cNvPr>
          <p:cNvSpPr txBox="1"/>
          <p:nvPr/>
        </p:nvSpPr>
        <p:spPr>
          <a:xfrm>
            <a:off x="4317499" y="3702698"/>
            <a:ext cx="3524304" cy="9694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Effective team collaboration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Allow teams to collaborate and communicate efficiently across offices and time zones by reducing the reliance on email.</a:t>
            </a:r>
          </a:p>
        </p:txBody>
      </p:sp>
      <p:sp>
        <p:nvSpPr>
          <p:cNvPr id="11" name="TextBox 10">
            <a:extLst>
              <a:ext uri="{FF2B5EF4-FFF2-40B4-BE49-F238E27FC236}">
                <a16:creationId xmlns:a16="http://schemas.microsoft.com/office/drawing/2014/main" id="{08F30D7D-FDB5-5143-892E-3DF76C2B953B}"/>
              </a:ext>
            </a:extLst>
          </p:cNvPr>
          <p:cNvSpPr txBox="1"/>
          <p:nvPr/>
        </p:nvSpPr>
        <p:spPr>
          <a:xfrm>
            <a:off x="4317499" y="4882780"/>
            <a:ext cx="3468350" cy="9694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Greater knowledge sharing</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Free information from knowledge silos such as email, network drives, and laptops and share it with others in shared workspaces.</a:t>
            </a:r>
          </a:p>
        </p:txBody>
      </p:sp>
      <p:sp>
        <p:nvSpPr>
          <p:cNvPr id="12" name="TextBox 11">
            <a:extLst>
              <a:ext uri="{FF2B5EF4-FFF2-40B4-BE49-F238E27FC236}">
                <a16:creationId xmlns:a16="http://schemas.microsoft.com/office/drawing/2014/main" id="{A050BD55-F741-F244-9E9A-DC31C9B6843A}"/>
              </a:ext>
            </a:extLst>
          </p:cNvPr>
          <p:cNvSpPr txBox="1"/>
          <p:nvPr/>
        </p:nvSpPr>
        <p:spPr>
          <a:xfrm>
            <a:off x="8292221" y="2517758"/>
            <a:ext cx="3270752"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Better project management</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Centralize project information and collaboration with agile task management and give your teams the tools to get their work done.</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3" name="TextBox 12">
            <a:extLst>
              <a:ext uri="{FF2B5EF4-FFF2-40B4-BE49-F238E27FC236}">
                <a16:creationId xmlns:a16="http://schemas.microsoft.com/office/drawing/2014/main" id="{1E1F4C1A-EAA3-824F-A3DA-1D0FB31ABA9B}"/>
              </a:ext>
            </a:extLst>
          </p:cNvPr>
          <p:cNvSpPr txBox="1"/>
          <p:nvPr/>
        </p:nvSpPr>
        <p:spPr>
          <a:xfrm>
            <a:off x="8292221" y="3964542"/>
            <a:ext cx="3164673"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Enhance external collaboration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Easily collaborate and communicate with users outside of your network by sharing files, work product, and project information.</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317501" y="2517758"/>
            <a:ext cx="3677430" cy="132044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Secure file sharing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Securely share large document sets in project workspaces or easily transfer large files using our web, desktop, and mobile apps.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15" name="Picture 14">
            <a:extLst>
              <a:ext uri="{FF2B5EF4-FFF2-40B4-BE49-F238E27FC236}">
                <a16:creationId xmlns:a16="http://schemas.microsoft.com/office/drawing/2014/main" id="{C22FF18A-D680-42BF-A660-250DE4E6516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013620" y="2522615"/>
            <a:ext cx="1575685" cy="1575685"/>
          </a:xfrm>
          <a:prstGeom prst="rect">
            <a:avLst/>
          </a:prstGeom>
        </p:spPr>
      </p:pic>
      <p:sp>
        <p:nvSpPr>
          <p:cNvPr id="22" name="Text Placeholder 7">
            <a:extLst>
              <a:ext uri="{FF2B5EF4-FFF2-40B4-BE49-F238E27FC236}">
                <a16:creationId xmlns:a16="http://schemas.microsoft.com/office/drawing/2014/main" id="{6333ABAF-66F1-3C48-8BD8-E1E970069078}"/>
              </a:ext>
            </a:extLst>
          </p:cNvPr>
          <p:cNvSpPr txBox="1">
            <a:spLocks/>
          </p:cNvSpPr>
          <p:nvPr/>
        </p:nvSpPr>
        <p:spPr>
          <a:xfrm>
            <a:off x="742950" y="4483413"/>
            <a:ext cx="2632262" cy="1154391"/>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Collaborate securely on documents and unlock their potential</a:t>
            </a:r>
          </a:p>
        </p:txBody>
      </p:sp>
      <p:cxnSp>
        <p:nvCxnSpPr>
          <p:cNvPr id="23" name="Straight Connector 22">
            <a:extLst>
              <a:ext uri="{FF2B5EF4-FFF2-40B4-BE49-F238E27FC236}">
                <a16:creationId xmlns:a16="http://schemas.microsoft.com/office/drawing/2014/main" id="{3A1CDFB8-C32C-084C-B379-9F743556A33F}"/>
              </a:ext>
            </a:extLst>
          </p:cNvPr>
          <p:cNvCxnSpPr>
            <a:cxnSpLocks/>
          </p:cNvCxnSpPr>
          <p:nvPr/>
        </p:nvCxnSpPr>
        <p:spPr>
          <a:xfrm>
            <a:off x="4317499" y="2315678"/>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0928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4A697E8-6423-F64A-A37B-7A4D48F8530C}"/>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8" name="TextBox 17">
            <a:extLst>
              <a:ext uri="{FF2B5EF4-FFF2-40B4-BE49-F238E27FC236}">
                <a16:creationId xmlns:a16="http://schemas.microsoft.com/office/drawing/2014/main" id="{78ED70C8-EC17-964C-B2A3-A73EFD9F6418}"/>
              </a:ext>
            </a:extLst>
          </p:cNvPr>
          <p:cNvSpPr txBox="1"/>
          <p:nvPr/>
        </p:nvSpPr>
        <p:spPr>
          <a:xfrm>
            <a:off x="-1" y="901700"/>
            <a:ext cx="3996346"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19" name="Text Placeholder 7">
            <a:extLst>
              <a:ext uri="{FF2B5EF4-FFF2-40B4-BE49-F238E27FC236}">
                <a16:creationId xmlns:a16="http://schemas.microsoft.com/office/drawing/2014/main" id="{22E7D644-F2E6-8B48-BC38-FF03CF403456}"/>
              </a:ext>
            </a:extLst>
          </p:cNvPr>
          <p:cNvSpPr txBox="1">
            <a:spLocks/>
          </p:cNvSpPr>
          <p:nvPr/>
        </p:nvSpPr>
        <p:spPr>
          <a:xfrm>
            <a:off x="742950" y="4483413"/>
            <a:ext cx="3038356" cy="1154391"/>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Simplify and unify your legal project management methodology</a:t>
            </a:r>
          </a:p>
        </p:txBody>
      </p:sp>
      <p:sp>
        <p:nvSpPr>
          <p:cNvPr id="11" name="TextBox 10">
            <a:extLst>
              <a:ext uri="{FF2B5EF4-FFF2-40B4-BE49-F238E27FC236}">
                <a16:creationId xmlns:a16="http://schemas.microsoft.com/office/drawing/2014/main" id="{08F30D7D-FDB5-5143-892E-3DF76C2B953B}"/>
              </a:ext>
            </a:extLst>
          </p:cNvPr>
          <p:cNvSpPr txBox="1"/>
          <p:nvPr/>
        </p:nvSpPr>
        <p:spPr>
          <a:xfrm>
            <a:off x="4475769" y="4374229"/>
            <a:ext cx="3425045" cy="9694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Manage everything in one location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With one solution, both your team and your clients can manage projects, work, and communicate more efficiently than ever.</a:t>
            </a:r>
          </a:p>
        </p:txBody>
      </p:sp>
      <p:sp>
        <p:nvSpPr>
          <p:cNvPr id="12" name="TextBox 11">
            <a:extLst>
              <a:ext uri="{FF2B5EF4-FFF2-40B4-BE49-F238E27FC236}">
                <a16:creationId xmlns:a16="http://schemas.microsoft.com/office/drawing/2014/main" id="{A050BD55-F741-F244-9E9A-DC31C9B6843A}"/>
              </a:ext>
            </a:extLst>
          </p:cNvPr>
          <p:cNvSpPr txBox="1"/>
          <p:nvPr/>
        </p:nvSpPr>
        <p:spPr>
          <a:xfrm>
            <a:off x="8273183" y="2849082"/>
            <a:ext cx="3289789"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Introduce transparency</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Let clients know that you’re handling their legal matters efficiently and protecting against risk by providing access to real-time information about their matters.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3" name="TextBox 12">
            <a:extLst>
              <a:ext uri="{FF2B5EF4-FFF2-40B4-BE49-F238E27FC236}">
                <a16:creationId xmlns:a16="http://schemas.microsoft.com/office/drawing/2014/main" id="{1E1F4C1A-EAA3-824F-A3DA-1D0FB31ABA9B}"/>
              </a:ext>
            </a:extLst>
          </p:cNvPr>
          <p:cNvSpPr txBox="1"/>
          <p:nvPr/>
        </p:nvSpPr>
        <p:spPr>
          <a:xfrm>
            <a:off x="8273183" y="4374229"/>
            <a:ext cx="3289789" cy="126188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Clarify project scope and cost</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Collect and analyze matter data in dashboards and reports, dramatically improving the effectiveness of your pitch. </a:t>
            </a:r>
            <a:endParaRPr kumimoji="0" lang="en-US" sz="1400" b="0" i="0" u="none" strike="noStrike" kern="1200" cap="none" spc="0" normalizeH="0" baseline="0" noProof="0" dirty="0">
              <a:ln>
                <a:noFill/>
              </a:ln>
              <a:solidFill>
                <a:srgbClr val="4D4D4D"/>
              </a:solidFill>
              <a:effectLst/>
              <a:uLnTx/>
              <a:uFillTx/>
              <a:latin typeface="Knowledge Light" panose="020B0506040000020004" pitchFamily="34" charset="0"/>
              <a:ea typeface="FSAlbert" charset="0"/>
              <a:cs typeface="FSAlbert"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4D4D4D"/>
              </a:solidFill>
              <a:effectLst/>
              <a:uLnTx/>
              <a:uFillTx/>
              <a:latin typeface="Knowledge Light" panose="020B0506040000020004" pitchFamily="34" charset="0"/>
              <a:ea typeface="FSAlbert" charset="0"/>
              <a:cs typeface="FSAlbert" charset="0"/>
            </a:endParaRP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475771" y="2849083"/>
            <a:ext cx="3131530" cy="1350593"/>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Improve legal processes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HighQ empowers you to systematize legal projects and eliminate manual steps along the way.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9" name="Picture 8">
            <a:extLst>
              <a:ext uri="{FF2B5EF4-FFF2-40B4-BE49-F238E27FC236}">
                <a16:creationId xmlns:a16="http://schemas.microsoft.com/office/drawing/2014/main" id="{B28EA7E1-DE4B-413C-8EC9-2FA8BD458A85}"/>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51544" y="2438399"/>
            <a:ext cx="1659853" cy="1659853"/>
          </a:xfrm>
          <a:prstGeom prst="rect">
            <a:avLst/>
          </a:prstGeom>
        </p:spPr>
      </p:pic>
      <p:sp>
        <p:nvSpPr>
          <p:cNvPr id="10" name="Freeform 9">
            <a:extLst>
              <a:ext uri="{FF2B5EF4-FFF2-40B4-BE49-F238E27FC236}">
                <a16:creationId xmlns:a16="http://schemas.microsoft.com/office/drawing/2014/main" id="{12A5920B-F6F3-FB40-BB97-CEB9A48F0FB6}"/>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5" name="Rectangle 14">
            <a:extLst>
              <a:ext uri="{FF2B5EF4-FFF2-40B4-BE49-F238E27FC236}">
                <a16:creationId xmlns:a16="http://schemas.microsoft.com/office/drawing/2014/main" id="{8E7023B6-04C6-1347-875A-BDE70395E6C9}"/>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20" name="Title 2">
            <a:extLst>
              <a:ext uri="{FF2B5EF4-FFF2-40B4-BE49-F238E27FC236}">
                <a16:creationId xmlns:a16="http://schemas.microsoft.com/office/drawing/2014/main" id="{F45CDADC-99A6-7B41-BB06-A977B5E7EF68}"/>
              </a:ext>
            </a:extLst>
          </p:cNvPr>
          <p:cNvSpPr txBox="1">
            <a:spLocks/>
          </p:cNvSpPr>
          <p:nvPr/>
        </p:nvSpPr>
        <p:spPr>
          <a:xfrm>
            <a:off x="742950" y="700425"/>
            <a:ext cx="11445874"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Legal Project Management</a:t>
            </a:r>
          </a:p>
        </p:txBody>
      </p:sp>
      <p:cxnSp>
        <p:nvCxnSpPr>
          <p:cNvPr id="25" name="Straight Connector 24">
            <a:extLst>
              <a:ext uri="{FF2B5EF4-FFF2-40B4-BE49-F238E27FC236}">
                <a16:creationId xmlns:a16="http://schemas.microsoft.com/office/drawing/2014/main" id="{913B81F8-9A05-7546-A7E3-505CD43AD91A}"/>
              </a:ext>
            </a:extLst>
          </p:cNvPr>
          <p:cNvCxnSpPr>
            <a:cxnSpLocks/>
          </p:cNvCxnSpPr>
          <p:nvPr/>
        </p:nvCxnSpPr>
        <p:spPr>
          <a:xfrm>
            <a:off x="4475769" y="2658400"/>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85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80AA0F-5949-0246-899F-19C6AC257C6A}"/>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5" name="TextBox 14">
            <a:extLst>
              <a:ext uri="{FF2B5EF4-FFF2-40B4-BE49-F238E27FC236}">
                <a16:creationId xmlns:a16="http://schemas.microsoft.com/office/drawing/2014/main" id="{FBB83249-360A-BB44-AF41-6DAD54D458B9}"/>
              </a:ext>
            </a:extLst>
          </p:cNvPr>
          <p:cNvSpPr txBox="1"/>
          <p:nvPr/>
        </p:nvSpPr>
        <p:spPr>
          <a:xfrm>
            <a:off x="-1" y="901700"/>
            <a:ext cx="3781307"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16" name="Freeform 15">
            <a:extLst>
              <a:ext uri="{FF2B5EF4-FFF2-40B4-BE49-F238E27FC236}">
                <a16:creationId xmlns:a16="http://schemas.microsoft.com/office/drawing/2014/main" id="{FC150DA0-6FB2-5647-82F3-FEAE51CF0368}"/>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8" name="Title 2">
            <a:extLst>
              <a:ext uri="{FF2B5EF4-FFF2-40B4-BE49-F238E27FC236}">
                <a16:creationId xmlns:a16="http://schemas.microsoft.com/office/drawing/2014/main" id="{71A01D2A-36E5-454A-9F38-7DAA9F363F30}"/>
              </a:ext>
            </a:extLst>
          </p:cNvPr>
          <p:cNvSpPr txBox="1">
            <a:spLocks/>
          </p:cNvSpPr>
          <p:nvPr/>
        </p:nvSpPr>
        <p:spPr>
          <a:xfrm>
            <a:off x="742950" y="700425"/>
            <a:ext cx="10189509"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Transaction Management</a:t>
            </a:r>
          </a:p>
        </p:txBody>
      </p:sp>
      <p:sp>
        <p:nvSpPr>
          <p:cNvPr id="19" name="Rectangle 18">
            <a:extLst>
              <a:ext uri="{FF2B5EF4-FFF2-40B4-BE49-F238E27FC236}">
                <a16:creationId xmlns:a16="http://schemas.microsoft.com/office/drawing/2014/main" id="{5F5D7F1A-764F-5744-9ADF-8DA524407D47}"/>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20" name="Text Placeholder 7">
            <a:extLst>
              <a:ext uri="{FF2B5EF4-FFF2-40B4-BE49-F238E27FC236}">
                <a16:creationId xmlns:a16="http://schemas.microsoft.com/office/drawing/2014/main" id="{F598274E-1A0D-7644-9296-2B89DD660159}"/>
              </a:ext>
            </a:extLst>
          </p:cNvPr>
          <p:cNvSpPr txBox="1">
            <a:spLocks/>
          </p:cNvSpPr>
          <p:nvPr/>
        </p:nvSpPr>
        <p:spPr>
          <a:xfrm>
            <a:off x="742950" y="4432555"/>
            <a:ext cx="2632262" cy="1154391"/>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Add efficiency and transparency to M&amp;A, property, and other transactions</a:t>
            </a:r>
          </a:p>
        </p:txBody>
      </p:sp>
      <p:sp>
        <p:nvSpPr>
          <p:cNvPr id="11" name="TextBox 10">
            <a:extLst>
              <a:ext uri="{FF2B5EF4-FFF2-40B4-BE49-F238E27FC236}">
                <a16:creationId xmlns:a16="http://schemas.microsoft.com/office/drawing/2014/main" id="{08F30D7D-FDB5-5143-892E-3DF76C2B953B}"/>
              </a:ext>
            </a:extLst>
          </p:cNvPr>
          <p:cNvSpPr txBox="1"/>
          <p:nvPr/>
        </p:nvSpPr>
        <p:spPr>
          <a:xfrm>
            <a:off x="4317499" y="4400321"/>
            <a:ext cx="3178417"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Effectively mitigate risk</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Automatically classify documents, quickly identify contracts and clauses that present risk, make faster decisions, and deploy agile project management.</a:t>
            </a:r>
          </a:p>
        </p:txBody>
      </p:sp>
      <p:sp>
        <p:nvSpPr>
          <p:cNvPr id="12" name="TextBox 11">
            <a:extLst>
              <a:ext uri="{FF2B5EF4-FFF2-40B4-BE49-F238E27FC236}">
                <a16:creationId xmlns:a16="http://schemas.microsoft.com/office/drawing/2014/main" id="{A050BD55-F741-F244-9E9A-DC31C9B6843A}"/>
              </a:ext>
            </a:extLst>
          </p:cNvPr>
          <p:cNvSpPr txBox="1"/>
          <p:nvPr/>
        </p:nvSpPr>
        <p:spPr>
          <a:xfrm>
            <a:off x="7781772" y="2850928"/>
            <a:ext cx="3588722"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Automate and streamline workflows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Automate and standardize time-consuming, manual transactions so your team can focus on more valuable, strategic tasks and complete deals more efficiently.</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3" name="TextBox 12">
            <a:extLst>
              <a:ext uri="{FF2B5EF4-FFF2-40B4-BE49-F238E27FC236}">
                <a16:creationId xmlns:a16="http://schemas.microsoft.com/office/drawing/2014/main" id="{1E1F4C1A-EAA3-824F-A3DA-1D0FB31ABA9B}"/>
              </a:ext>
            </a:extLst>
          </p:cNvPr>
          <p:cNvSpPr txBox="1"/>
          <p:nvPr/>
        </p:nvSpPr>
        <p:spPr>
          <a:xfrm>
            <a:off x="7781771" y="4400321"/>
            <a:ext cx="3781201" cy="1692771"/>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Accelerate deal execution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Disclosing sensitive documentation is a critical part of most deals. HighQ enables you to securely structure, categorize, and share documents for review, ensuring sensitive information doesn’t get into the wrong hands.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317499" y="2850928"/>
            <a:ext cx="3226301" cy="1475644"/>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Real-time status reporting</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Transparency and accountability are key to better deal outcomes, and HighQ helps you deliver both with real-time dashboards.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9" name="Picture 8">
            <a:extLst>
              <a:ext uri="{FF2B5EF4-FFF2-40B4-BE49-F238E27FC236}">
                <a16:creationId xmlns:a16="http://schemas.microsoft.com/office/drawing/2014/main" id="{612B0926-C619-4659-BF88-9FA3095CE36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978609" y="2380164"/>
            <a:ext cx="1777291" cy="1777291"/>
          </a:xfrm>
          <a:prstGeom prst="rect">
            <a:avLst/>
          </a:prstGeom>
        </p:spPr>
      </p:pic>
      <p:cxnSp>
        <p:nvCxnSpPr>
          <p:cNvPr id="22" name="Straight Connector 21">
            <a:extLst>
              <a:ext uri="{FF2B5EF4-FFF2-40B4-BE49-F238E27FC236}">
                <a16:creationId xmlns:a16="http://schemas.microsoft.com/office/drawing/2014/main" id="{33F6513A-EF3D-B149-B092-B1992161437C}"/>
              </a:ext>
            </a:extLst>
          </p:cNvPr>
          <p:cNvCxnSpPr>
            <a:cxnSpLocks/>
          </p:cNvCxnSpPr>
          <p:nvPr/>
        </p:nvCxnSpPr>
        <p:spPr>
          <a:xfrm>
            <a:off x="4317499" y="2640485"/>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496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9FC7FBA-2C1A-084E-88BD-0D71F59CA7F0}"/>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6" name="TextBox 15">
            <a:extLst>
              <a:ext uri="{FF2B5EF4-FFF2-40B4-BE49-F238E27FC236}">
                <a16:creationId xmlns:a16="http://schemas.microsoft.com/office/drawing/2014/main" id="{CA4226DA-8370-CA43-BF1B-9A7EF2A2F9A9}"/>
              </a:ext>
            </a:extLst>
          </p:cNvPr>
          <p:cNvSpPr txBox="1"/>
          <p:nvPr/>
        </p:nvSpPr>
        <p:spPr>
          <a:xfrm>
            <a:off x="-1" y="901700"/>
            <a:ext cx="3781307"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17" name="Freeform 16">
            <a:extLst>
              <a:ext uri="{FF2B5EF4-FFF2-40B4-BE49-F238E27FC236}">
                <a16:creationId xmlns:a16="http://schemas.microsoft.com/office/drawing/2014/main" id="{4B2BDAF2-EB77-8F49-9504-FBB62832C268}"/>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8" name="Title 2">
            <a:extLst>
              <a:ext uri="{FF2B5EF4-FFF2-40B4-BE49-F238E27FC236}">
                <a16:creationId xmlns:a16="http://schemas.microsoft.com/office/drawing/2014/main" id="{CB239C57-BB03-A34D-8063-3A3791101218}"/>
              </a:ext>
            </a:extLst>
          </p:cNvPr>
          <p:cNvSpPr txBox="1">
            <a:spLocks/>
          </p:cNvSpPr>
          <p:nvPr/>
        </p:nvSpPr>
        <p:spPr>
          <a:xfrm>
            <a:off x="742950" y="700425"/>
            <a:ext cx="10189509"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Portfolio Management</a:t>
            </a:r>
          </a:p>
        </p:txBody>
      </p:sp>
      <p:sp>
        <p:nvSpPr>
          <p:cNvPr id="20" name="Rectangle 19">
            <a:extLst>
              <a:ext uri="{FF2B5EF4-FFF2-40B4-BE49-F238E27FC236}">
                <a16:creationId xmlns:a16="http://schemas.microsoft.com/office/drawing/2014/main" id="{6FA51735-9D8E-DD4B-8513-3C32241C3419}"/>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22" name="Text Placeholder 7">
            <a:extLst>
              <a:ext uri="{FF2B5EF4-FFF2-40B4-BE49-F238E27FC236}">
                <a16:creationId xmlns:a16="http://schemas.microsoft.com/office/drawing/2014/main" id="{6744FE6F-7E68-D946-842E-015B4A8C3381}"/>
              </a:ext>
            </a:extLst>
          </p:cNvPr>
          <p:cNvSpPr txBox="1">
            <a:spLocks/>
          </p:cNvSpPr>
          <p:nvPr/>
        </p:nvSpPr>
        <p:spPr>
          <a:xfrm>
            <a:off x="742950" y="4043139"/>
            <a:ext cx="2847241" cy="1634198"/>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Easily manage and keep track of a wide range of portfolios, from private equity investments and real estate assets to trademarks</a:t>
            </a:r>
          </a:p>
        </p:txBody>
      </p:sp>
      <p:sp>
        <p:nvSpPr>
          <p:cNvPr id="10" name="TextBox 9">
            <a:extLst>
              <a:ext uri="{FF2B5EF4-FFF2-40B4-BE49-F238E27FC236}">
                <a16:creationId xmlns:a16="http://schemas.microsoft.com/office/drawing/2014/main" id="{76BB46CD-107D-B940-BD20-D96C07CD1F20}"/>
              </a:ext>
            </a:extLst>
          </p:cNvPr>
          <p:cNvSpPr txBox="1"/>
          <p:nvPr/>
        </p:nvSpPr>
        <p:spPr>
          <a:xfrm>
            <a:off x="8406898" y="3804198"/>
            <a:ext cx="3305573"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Manage everything in one place</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Maintaining everything within one online space means that workflows are more efficient, costs are streamlined, and security is tightened.</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1" name="TextBox 10">
            <a:extLst>
              <a:ext uri="{FF2B5EF4-FFF2-40B4-BE49-F238E27FC236}">
                <a16:creationId xmlns:a16="http://schemas.microsoft.com/office/drawing/2014/main" id="{08F30D7D-FDB5-5143-892E-3DF76C2B953B}"/>
              </a:ext>
            </a:extLst>
          </p:cNvPr>
          <p:cNvSpPr txBox="1"/>
          <p:nvPr/>
        </p:nvSpPr>
        <p:spPr>
          <a:xfrm>
            <a:off x="4333142" y="3804198"/>
            <a:ext cx="3468350" cy="9694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Provide advanced permissions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Control permissions at a granular level and manage access to rooms, folders, and files for buyers, sellers, and advisors.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2" name="TextBox 11">
            <a:extLst>
              <a:ext uri="{FF2B5EF4-FFF2-40B4-BE49-F238E27FC236}">
                <a16:creationId xmlns:a16="http://schemas.microsoft.com/office/drawing/2014/main" id="{A050BD55-F741-F244-9E9A-DC31C9B6843A}"/>
              </a:ext>
            </a:extLst>
          </p:cNvPr>
          <p:cNvSpPr txBox="1"/>
          <p:nvPr/>
        </p:nvSpPr>
        <p:spPr>
          <a:xfrm>
            <a:off x="8406899" y="2576505"/>
            <a:ext cx="3305573" cy="969496"/>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Detailed reports and auditing</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Audit every file and action using criteria such as date, user, organization, folder, file, or action.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3" name="TextBox 12">
            <a:extLst>
              <a:ext uri="{FF2B5EF4-FFF2-40B4-BE49-F238E27FC236}">
                <a16:creationId xmlns:a16="http://schemas.microsoft.com/office/drawing/2014/main" id="{1E1F4C1A-EAA3-824F-A3DA-1D0FB31ABA9B}"/>
              </a:ext>
            </a:extLst>
          </p:cNvPr>
          <p:cNvSpPr txBox="1"/>
          <p:nvPr/>
        </p:nvSpPr>
        <p:spPr>
          <a:xfrm>
            <a:off x="4317499" y="5056549"/>
            <a:ext cx="3936398" cy="75405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Rest easy with enterprise-grade security</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HighQ is ISO 27001 certified, and our products are independently audited and tested.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335462" y="2566937"/>
            <a:ext cx="3551237" cy="1350593"/>
          </a:xfrm>
          <a:prstGeom prst="rect">
            <a:avLst/>
          </a:prstGeom>
        </p:spPr>
        <p:txBody>
          <a:bodyPr vert="horz" lIns="0" tIns="0" rIns="27432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Flexible data capture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Create highly flexible spreadsheets and databases for easy data capture, access, and maintenance of portfolio assets.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21" name="Picture 20">
            <a:extLst>
              <a:ext uri="{FF2B5EF4-FFF2-40B4-BE49-F238E27FC236}">
                <a16:creationId xmlns:a16="http://schemas.microsoft.com/office/drawing/2014/main" id="{48238EF6-5F92-4C4B-A06B-10CF620B25E2}"/>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295400" y="2364649"/>
            <a:ext cx="1341107" cy="1341107"/>
          </a:xfrm>
          <a:prstGeom prst="rect">
            <a:avLst/>
          </a:prstGeom>
        </p:spPr>
      </p:pic>
      <p:cxnSp>
        <p:nvCxnSpPr>
          <p:cNvPr id="23" name="Straight Connector 22">
            <a:extLst>
              <a:ext uri="{FF2B5EF4-FFF2-40B4-BE49-F238E27FC236}">
                <a16:creationId xmlns:a16="http://schemas.microsoft.com/office/drawing/2014/main" id="{1F4B10A8-D23C-7943-AE70-DCD7ECA68C8D}"/>
              </a:ext>
            </a:extLst>
          </p:cNvPr>
          <p:cNvCxnSpPr>
            <a:cxnSpLocks/>
          </p:cNvCxnSpPr>
          <p:nvPr/>
        </p:nvCxnSpPr>
        <p:spPr>
          <a:xfrm>
            <a:off x="4317499" y="2331689"/>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478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C7A381-0EB7-CB4C-9975-1F4C927FF6F4}"/>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0" name="TextBox 9">
            <a:extLst>
              <a:ext uri="{FF2B5EF4-FFF2-40B4-BE49-F238E27FC236}">
                <a16:creationId xmlns:a16="http://schemas.microsoft.com/office/drawing/2014/main" id="{3CB68491-94A5-A749-AA99-B1E77BCDF865}"/>
              </a:ext>
            </a:extLst>
          </p:cNvPr>
          <p:cNvSpPr txBox="1"/>
          <p:nvPr/>
        </p:nvSpPr>
        <p:spPr>
          <a:xfrm>
            <a:off x="-1" y="901700"/>
            <a:ext cx="3781307"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15" name="Freeform 14">
            <a:extLst>
              <a:ext uri="{FF2B5EF4-FFF2-40B4-BE49-F238E27FC236}">
                <a16:creationId xmlns:a16="http://schemas.microsoft.com/office/drawing/2014/main" id="{8456C247-711D-B04F-A33B-AFFCD505DA6E}"/>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6" name="Title 2">
            <a:extLst>
              <a:ext uri="{FF2B5EF4-FFF2-40B4-BE49-F238E27FC236}">
                <a16:creationId xmlns:a16="http://schemas.microsoft.com/office/drawing/2014/main" id="{2F578252-57ED-7943-982E-056AD51B01D1}"/>
              </a:ext>
            </a:extLst>
          </p:cNvPr>
          <p:cNvSpPr txBox="1">
            <a:spLocks/>
          </p:cNvSpPr>
          <p:nvPr/>
        </p:nvSpPr>
        <p:spPr>
          <a:xfrm>
            <a:off x="742950" y="700425"/>
            <a:ext cx="10189509"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Litigation Management</a:t>
            </a:r>
          </a:p>
        </p:txBody>
      </p:sp>
      <p:sp>
        <p:nvSpPr>
          <p:cNvPr id="18" name="Rectangle 17">
            <a:extLst>
              <a:ext uri="{FF2B5EF4-FFF2-40B4-BE49-F238E27FC236}">
                <a16:creationId xmlns:a16="http://schemas.microsoft.com/office/drawing/2014/main" id="{CFE96524-AC59-1E4D-9A6E-66EEED8D00FB}"/>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20" name="Text Placeholder 7">
            <a:extLst>
              <a:ext uri="{FF2B5EF4-FFF2-40B4-BE49-F238E27FC236}">
                <a16:creationId xmlns:a16="http://schemas.microsoft.com/office/drawing/2014/main" id="{E70DCBB2-035C-7241-A2BD-54C54A86D8B2}"/>
              </a:ext>
            </a:extLst>
          </p:cNvPr>
          <p:cNvSpPr txBox="1">
            <a:spLocks/>
          </p:cNvSpPr>
          <p:nvPr/>
        </p:nvSpPr>
        <p:spPr>
          <a:xfrm>
            <a:off x="742951" y="4043139"/>
            <a:ext cx="2444750" cy="1634198"/>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Manage all aspects of litigation matters efficiently</a:t>
            </a:r>
          </a:p>
        </p:txBody>
      </p:sp>
      <p:sp>
        <p:nvSpPr>
          <p:cNvPr id="11" name="TextBox 10">
            <a:extLst>
              <a:ext uri="{FF2B5EF4-FFF2-40B4-BE49-F238E27FC236}">
                <a16:creationId xmlns:a16="http://schemas.microsoft.com/office/drawing/2014/main" id="{08F30D7D-FDB5-5143-892E-3DF76C2B953B}"/>
              </a:ext>
            </a:extLst>
          </p:cNvPr>
          <p:cNvSpPr txBox="1"/>
          <p:nvPr/>
        </p:nvSpPr>
        <p:spPr>
          <a:xfrm>
            <a:off x="4317499" y="4421365"/>
            <a:ext cx="3468350"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Deliver on-time and on-budget</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Pinpoint exactly which resources are needed, how much time and effort is required, and what to charge based on data and insight collected from previous matters.</a:t>
            </a:r>
          </a:p>
        </p:txBody>
      </p:sp>
      <p:sp>
        <p:nvSpPr>
          <p:cNvPr id="12" name="TextBox 11">
            <a:extLst>
              <a:ext uri="{FF2B5EF4-FFF2-40B4-BE49-F238E27FC236}">
                <a16:creationId xmlns:a16="http://schemas.microsoft.com/office/drawing/2014/main" id="{A050BD55-F741-F244-9E9A-DC31C9B6843A}"/>
              </a:ext>
            </a:extLst>
          </p:cNvPr>
          <p:cNvSpPr txBox="1"/>
          <p:nvPr/>
        </p:nvSpPr>
        <p:spPr>
          <a:xfrm>
            <a:off x="8261341" y="2651086"/>
            <a:ext cx="3404734" cy="140038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Track and manage disputes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At every stage of a dispute or litigation, get a real-time picture of progress while effortlessly managing and collaborating on documents, deadlines, timelines, tasks, and budgets.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3" name="TextBox 12">
            <a:extLst>
              <a:ext uri="{FF2B5EF4-FFF2-40B4-BE49-F238E27FC236}">
                <a16:creationId xmlns:a16="http://schemas.microsoft.com/office/drawing/2014/main" id="{1E1F4C1A-EAA3-824F-A3DA-1D0FB31ABA9B}"/>
              </a:ext>
            </a:extLst>
          </p:cNvPr>
          <p:cNvSpPr txBox="1"/>
          <p:nvPr/>
        </p:nvSpPr>
        <p:spPr>
          <a:xfrm>
            <a:off x="8261341" y="4421365"/>
            <a:ext cx="3590507" cy="1692771"/>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Simplify collaboration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Facilitate more strategic, collaborative work with clients by easily sharing files, co-authoring documents, and communicating, so you can focus on developing strategies and delivering better outcomes.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317499" y="2646907"/>
            <a:ext cx="3404734" cy="1621635"/>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Automate routine tasks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Minimize time spent on non-billable, administrative work with automated workflows that eliminate many routine tasks, so you can spend more time on valuable pursuits.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17" name="Picture 16">
            <a:extLst>
              <a:ext uri="{FF2B5EF4-FFF2-40B4-BE49-F238E27FC236}">
                <a16:creationId xmlns:a16="http://schemas.microsoft.com/office/drawing/2014/main" id="{E7D77F89-70AF-44DB-8262-BC25EE56DF3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212159" y="2421504"/>
            <a:ext cx="1356985" cy="1356985"/>
          </a:xfrm>
          <a:prstGeom prst="rect">
            <a:avLst/>
          </a:prstGeom>
        </p:spPr>
      </p:pic>
      <p:cxnSp>
        <p:nvCxnSpPr>
          <p:cNvPr id="22" name="Straight Connector 21">
            <a:extLst>
              <a:ext uri="{FF2B5EF4-FFF2-40B4-BE49-F238E27FC236}">
                <a16:creationId xmlns:a16="http://schemas.microsoft.com/office/drawing/2014/main" id="{0C668EAF-1DC0-3C45-9156-8D8CF644F0EB}"/>
              </a:ext>
            </a:extLst>
          </p:cNvPr>
          <p:cNvCxnSpPr>
            <a:cxnSpLocks/>
          </p:cNvCxnSpPr>
          <p:nvPr/>
        </p:nvCxnSpPr>
        <p:spPr>
          <a:xfrm>
            <a:off x="4317499" y="2421504"/>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193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F5EBCEF-A68D-6B48-A420-CAFD5C97CA08}"/>
              </a:ext>
            </a:extLst>
          </p:cNvPr>
          <p:cNvSpPr/>
          <p:nvPr/>
        </p:nvSpPr>
        <p:spPr>
          <a:xfrm flipV="1">
            <a:off x="-1" y="8488"/>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0" name="TextBox 9">
            <a:extLst>
              <a:ext uri="{FF2B5EF4-FFF2-40B4-BE49-F238E27FC236}">
                <a16:creationId xmlns:a16="http://schemas.microsoft.com/office/drawing/2014/main" id="{4C919816-C971-8249-8AFC-3CF6D8692092}"/>
              </a:ext>
            </a:extLst>
          </p:cNvPr>
          <p:cNvSpPr txBox="1"/>
          <p:nvPr/>
        </p:nvSpPr>
        <p:spPr>
          <a:xfrm>
            <a:off x="-1" y="901700"/>
            <a:ext cx="3781307"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13" name="Freeform 12">
            <a:extLst>
              <a:ext uri="{FF2B5EF4-FFF2-40B4-BE49-F238E27FC236}">
                <a16:creationId xmlns:a16="http://schemas.microsoft.com/office/drawing/2014/main" id="{52CBCD19-FD81-824F-BCB6-F9644AD2C31D}"/>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5" name="Title 2">
            <a:extLst>
              <a:ext uri="{FF2B5EF4-FFF2-40B4-BE49-F238E27FC236}">
                <a16:creationId xmlns:a16="http://schemas.microsoft.com/office/drawing/2014/main" id="{E93D2C41-C52C-C643-AEF0-039C5358C6D2}"/>
              </a:ext>
            </a:extLst>
          </p:cNvPr>
          <p:cNvSpPr txBox="1">
            <a:spLocks/>
          </p:cNvSpPr>
          <p:nvPr/>
        </p:nvSpPr>
        <p:spPr>
          <a:xfrm>
            <a:off x="742950" y="700425"/>
            <a:ext cx="10189509"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Compliance Management</a:t>
            </a:r>
          </a:p>
        </p:txBody>
      </p:sp>
      <p:sp>
        <p:nvSpPr>
          <p:cNvPr id="17" name="Rectangle 16">
            <a:extLst>
              <a:ext uri="{FF2B5EF4-FFF2-40B4-BE49-F238E27FC236}">
                <a16:creationId xmlns:a16="http://schemas.microsoft.com/office/drawing/2014/main" id="{99269085-1E69-344D-93C0-B2049F9D6348}"/>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18" name="Text Placeholder 7">
            <a:extLst>
              <a:ext uri="{FF2B5EF4-FFF2-40B4-BE49-F238E27FC236}">
                <a16:creationId xmlns:a16="http://schemas.microsoft.com/office/drawing/2014/main" id="{E510D74E-0582-4B42-9176-58C1369BA22D}"/>
              </a:ext>
            </a:extLst>
          </p:cNvPr>
          <p:cNvSpPr txBox="1">
            <a:spLocks/>
          </p:cNvSpPr>
          <p:nvPr/>
        </p:nvSpPr>
        <p:spPr>
          <a:xfrm>
            <a:off x="742951" y="4043139"/>
            <a:ext cx="2655342" cy="1634198"/>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Manage your firm’s business risks as well as help clients remain compliant and navigate the ever-changing risk landscape</a:t>
            </a:r>
          </a:p>
        </p:txBody>
      </p:sp>
      <p:cxnSp>
        <p:nvCxnSpPr>
          <p:cNvPr id="20" name="Straight Connector 19">
            <a:extLst>
              <a:ext uri="{FF2B5EF4-FFF2-40B4-BE49-F238E27FC236}">
                <a16:creationId xmlns:a16="http://schemas.microsoft.com/office/drawing/2014/main" id="{0DF8871D-FA31-3D4E-A82F-9B5DA28DDEBC}"/>
              </a:ext>
            </a:extLst>
          </p:cNvPr>
          <p:cNvCxnSpPr>
            <a:cxnSpLocks/>
          </p:cNvCxnSpPr>
          <p:nvPr/>
        </p:nvCxnSpPr>
        <p:spPr>
          <a:xfrm>
            <a:off x="4317499" y="2421504"/>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050BD55-F741-F244-9E9A-DC31C9B6843A}"/>
              </a:ext>
            </a:extLst>
          </p:cNvPr>
          <p:cNvSpPr txBox="1"/>
          <p:nvPr/>
        </p:nvSpPr>
        <p:spPr>
          <a:xfrm>
            <a:off x="8261341" y="2660183"/>
            <a:ext cx="3571624" cy="1477328"/>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Monitor changes and work smarter</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Track regulatory developments across multiple jurisdictions in an intelligent and consistent way. Coordinate your regulatory compliance efforts with external advisors.</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4" name="Text Placeholder 15">
            <a:extLst>
              <a:ext uri="{FF2B5EF4-FFF2-40B4-BE49-F238E27FC236}">
                <a16:creationId xmlns:a16="http://schemas.microsoft.com/office/drawing/2014/main" id="{7DE80271-8807-8146-BB47-4429152CC38C}"/>
              </a:ext>
            </a:extLst>
          </p:cNvPr>
          <p:cNvSpPr txBox="1">
            <a:spLocks/>
          </p:cNvSpPr>
          <p:nvPr/>
        </p:nvSpPr>
        <p:spPr>
          <a:xfrm>
            <a:off x="4317499" y="2660183"/>
            <a:ext cx="3468349" cy="1716277"/>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Control and simplify the process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Leverage your scarce internal compliance resources efficiently, allowing you to prioritize and focus on the most critical issues. </a:t>
            </a: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Simplify and streamline the risk management process to help you deliver strategic business change.</a:t>
            </a:r>
          </a:p>
        </p:txBody>
      </p:sp>
      <p:sp>
        <p:nvSpPr>
          <p:cNvPr id="9" name="TextBox 8">
            <a:extLst>
              <a:ext uri="{FF2B5EF4-FFF2-40B4-BE49-F238E27FC236}">
                <a16:creationId xmlns:a16="http://schemas.microsoft.com/office/drawing/2014/main" id="{3DCE8289-D364-4CEF-9371-8DE69AE21822}"/>
              </a:ext>
            </a:extLst>
          </p:cNvPr>
          <p:cNvSpPr txBox="1"/>
          <p:nvPr/>
        </p:nvSpPr>
        <p:spPr>
          <a:xfrm>
            <a:off x="4317498" y="4542860"/>
            <a:ext cx="3619872"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Manage data and minimize the risk</a:t>
            </a:r>
            <a:endPar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Organize your key management information (MI) data to assess the business impact and prepare management reports. Demonstrate effective risk oversight to regulatory bodies.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11" name="Picture 10">
            <a:extLst>
              <a:ext uri="{FF2B5EF4-FFF2-40B4-BE49-F238E27FC236}">
                <a16:creationId xmlns:a16="http://schemas.microsoft.com/office/drawing/2014/main" id="{1855CE2B-E0C1-429A-92ED-83CA834D180D}"/>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205036" y="2367002"/>
            <a:ext cx="1465988" cy="1465988"/>
          </a:xfrm>
          <a:prstGeom prst="rect">
            <a:avLst/>
          </a:prstGeom>
        </p:spPr>
      </p:pic>
    </p:spTree>
    <p:extLst>
      <p:ext uri="{BB962C8B-B14F-4D97-AF65-F5344CB8AC3E}">
        <p14:creationId xmlns:p14="http://schemas.microsoft.com/office/powerpoint/2010/main" val="574012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0A6119B-5DF9-A044-BBCC-CE23CD7C9D31}"/>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14" name="TextBox 13">
            <a:extLst>
              <a:ext uri="{FF2B5EF4-FFF2-40B4-BE49-F238E27FC236}">
                <a16:creationId xmlns:a16="http://schemas.microsoft.com/office/drawing/2014/main" id="{E54E34F6-CF64-6C45-8F3C-901168A7CFE9}"/>
              </a:ext>
            </a:extLst>
          </p:cNvPr>
          <p:cNvSpPr txBox="1"/>
          <p:nvPr/>
        </p:nvSpPr>
        <p:spPr>
          <a:xfrm>
            <a:off x="-1" y="901700"/>
            <a:ext cx="3781307"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sp>
        <p:nvSpPr>
          <p:cNvPr id="15" name="Freeform 14">
            <a:extLst>
              <a:ext uri="{FF2B5EF4-FFF2-40B4-BE49-F238E27FC236}">
                <a16:creationId xmlns:a16="http://schemas.microsoft.com/office/drawing/2014/main" id="{18F3A3DE-9675-4D43-9381-F844E6978AF3}"/>
              </a:ext>
            </a:extLst>
          </p:cNvPr>
          <p:cNvSpPr/>
          <p:nvPr/>
        </p:nvSpPr>
        <p:spPr>
          <a:xfrm>
            <a:off x="-2" y="-5035"/>
            <a:ext cx="11562974" cy="1885395"/>
          </a:xfrm>
          <a:custGeom>
            <a:avLst/>
            <a:gdLst>
              <a:gd name="connsiteX0" fmla="*/ 0 w 11562974"/>
              <a:gd name="connsiteY0" fmla="*/ 0 h 1885395"/>
              <a:gd name="connsiteX1" fmla="*/ 847335 w 11562974"/>
              <a:gd name="connsiteY1" fmla="*/ 0 h 1885395"/>
              <a:gd name="connsiteX2" fmla="*/ 1275016 w 11562974"/>
              <a:gd name="connsiteY2" fmla="*/ 0 h 1885395"/>
              <a:gd name="connsiteX3" fmla="*/ 1476481 w 11562974"/>
              <a:gd name="connsiteY3" fmla="*/ 0 h 1885395"/>
              <a:gd name="connsiteX4" fmla="*/ 2122351 w 11562974"/>
              <a:gd name="connsiteY4" fmla="*/ 0 h 1885395"/>
              <a:gd name="connsiteX5" fmla="*/ 2323816 w 11562974"/>
              <a:gd name="connsiteY5" fmla="*/ 0 h 1885395"/>
              <a:gd name="connsiteX6" fmla="*/ 2420963 w 11562974"/>
              <a:gd name="connsiteY6" fmla="*/ 0 h 1885395"/>
              <a:gd name="connsiteX7" fmla="*/ 2428555 w 11562974"/>
              <a:gd name="connsiteY7" fmla="*/ 0 h 1885395"/>
              <a:gd name="connsiteX8" fmla="*/ 2751496 w 11562974"/>
              <a:gd name="connsiteY8" fmla="*/ 0 h 1885395"/>
              <a:gd name="connsiteX9" fmla="*/ 3268298 w 11562974"/>
              <a:gd name="connsiteY9" fmla="*/ 0 h 1885395"/>
              <a:gd name="connsiteX10" fmla="*/ 3275890 w 11562974"/>
              <a:gd name="connsiteY10" fmla="*/ 0 h 1885395"/>
              <a:gd name="connsiteX11" fmla="*/ 3598831 w 11562974"/>
              <a:gd name="connsiteY11" fmla="*/ 0 h 1885395"/>
              <a:gd name="connsiteX12" fmla="*/ 3695979 w 11562974"/>
              <a:gd name="connsiteY12" fmla="*/ 0 h 1885395"/>
              <a:gd name="connsiteX13" fmla="*/ 3703570 w 11562974"/>
              <a:gd name="connsiteY13" fmla="*/ 0 h 1885395"/>
              <a:gd name="connsiteX14" fmla="*/ 3897444 w 11562974"/>
              <a:gd name="connsiteY14" fmla="*/ 0 h 1885395"/>
              <a:gd name="connsiteX15" fmla="*/ 3905033 w 11562974"/>
              <a:gd name="connsiteY15" fmla="*/ 0 h 1885395"/>
              <a:gd name="connsiteX16" fmla="*/ 4543314 w 11562974"/>
              <a:gd name="connsiteY16" fmla="*/ 0 h 1885395"/>
              <a:gd name="connsiteX17" fmla="*/ 4550905 w 11562974"/>
              <a:gd name="connsiteY17" fmla="*/ 0 h 1885395"/>
              <a:gd name="connsiteX18" fmla="*/ 4744779 w 11562974"/>
              <a:gd name="connsiteY18" fmla="*/ 0 h 1885395"/>
              <a:gd name="connsiteX19" fmla="*/ 4752368 w 11562974"/>
              <a:gd name="connsiteY19" fmla="*/ 0 h 1885395"/>
              <a:gd name="connsiteX20" fmla="*/ 5172458 w 11562974"/>
              <a:gd name="connsiteY20" fmla="*/ 0 h 1885395"/>
              <a:gd name="connsiteX21" fmla="*/ 5180049 w 11562974"/>
              <a:gd name="connsiteY21" fmla="*/ 0 h 1885395"/>
              <a:gd name="connsiteX22" fmla="*/ 6019793 w 11562974"/>
              <a:gd name="connsiteY22" fmla="*/ 0 h 1885395"/>
              <a:gd name="connsiteX23" fmla="*/ 6027384 w 11562974"/>
              <a:gd name="connsiteY23" fmla="*/ 0 h 1885395"/>
              <a:gd name="connsiteX24" fmla="*/ 7013855 w 11562974"/>
              <a:gd name="connsiteY24" fmla="*/ 0 h 1885395"/>
              <a:gd name="connsiteX25" fmla="*/ 7021446 w 11562974"/>
              <a:gd name="connsiteY25" fmla="*/ 0 h 1885395"/>
              <a:gd name="connsiteX26" fmla="*/ 7861190 w 11562974"/>
              <a:gd name="connsiteY26" fmla="*/ 0 h 1885395"/>
              <a:gd name="connsiteX27" fmla="*/ 7868781 w 11562974"/>
              <a:gd name="connsiteY27" fmla="*/ 0 h 1885395"/>
              <a:gd name="connsiteX28" fmla="*/ 8288871 w 11562974"/>
              <a:gd name="connsiteY28" fmla="*/ 0 h 1885395"/>
              <a:gd name="connsiteX29" fmla="*/ 8296462 w 11562974"/>
              <a:gd name="connsiteY29" fmla="*/ 0 h 1885395"/>
              <a:gd name="connsiteX30" fmla="*/ 8490334 w 11562974"/>
              <a:gd name="connsiteY30" fmla="*/ 0 h 1885395"/>
              <a:gd name="connsiteX31" fmla="*/ 8497925 w 11562974"/>
              <a:gd name="connsiteY31" fmla="*/ 0 h 1885395"/>
              <a:gd name="connsiteX32" fmla="*/ 9136205 w 11562974"/>
              <a:gd name="connsiteY32" fmla="*/ 0 h 1885395"/>
              <a:gd name="connsiteX33" fmla="*/ 9143797 w 11562974"/>
              <a:gd name="connsiteY33" fmla="*/ 0 h 1885395"/>
              <a:gd name="connsiteX34" fmla="*/ 9337669 w 11562974"/>
              <a:gd name="connsiteY34" fmla="*/ 0 h 1885395"/>
              <a:gd name="connsiteX35" fmla="*/ 9345260 w 11562974"/>
              <a:gd name="connsiteY35" fmla="*/ 0 h 1885395"/>
              <a:gd name="connsiteX36" fmla="*/ 9765350 w 11562974"/>
              <a:gd name="connsiteY36" fmla="*/ 0 h 1885395"/>
              <a:gd name="connsiteX37" fmla="*/ 9772941 w 11562974"/>
              <a:gd name="connsiteY37" fmla="*/ 0 h 1885395"/>
              <a:gd name="connsiteX38" fmla="*/ 10612685 w 11562974"/>
              <a:gd name="connsiteY38" fmla="*/ 0 h 1885395"/>
              <a:gd name="connsiteX39" fmla="*/ 10612685 w 11562974"/>
              <a:gd name="connsiteY39" fmla="*/ 765 h 1885395"/>
              <a:gd name="connsiteX40" fmla="*/ 10620276 w 11562974"/>
              <a:gd name="connsiteY40" fmla="*/ 0 h 1885395"/>
              <a:gd name="connsiteX41" fmla="*/ 11562974 w 11562974"/>
              <a:gd name="connsiteY41" fmla="*/ 942701 h 1885395"/>
              <a:gd name="connsiteX42" fmla="*/ 10620276 w 11562974"/>
              <a:gd name="connsiteY42" fmla="*/ 1885395 h 1885395"/>
              <a:gd name="connsiteX43" fmla="*/ 10612685 w 11562974"/>
              <a:gd name="connsiteY43" fmla="*/ 1884631 h 1885395"/>
              <a:gd name="connsiteX44" fmla="*/ 10612685 w 11562974"/>
              <a:gd name="connsiteY44" fmla="*/ 1885395 h 1885395"/>
              <a:gd name="connsiteX45" fmla="*/ 9772941 w 11562974"/>
              <a:gd name="connsiteY45" fmla="*/ 1885395 h 1885395"/>
              <a:gd name="connsiteX46" fmla="*/ 9765350 w 11562974"/>
              <a:gd name="connsiteY46" fmla="*/ 1885395 h 1885395"/>
              <a:gd name="connsiteX47" fmla="*/ 9345260 w 11562974"/>
              <a:gd name="connsiteY47" fmla="*/ 1885395 h 1885395"/>
              <a:gd name="connsiteX48" fmla="*/ 9337669 w 11562974"/>
              <a:gd name="connsiteY48" fmla="*/ 1885395 h 1885395"/>
              <a:gd name="connsiteX49" fmla="*/ 9143797 w 11562974"/>
              <a:gd name="connsiteY49" fmla="*/ 1885395 h 1885395"/>
              <a:gd name="connsiteX50" fmla="*/ 9136205 w 11562974"/>
              <a:gd name="connsiteY50" fmla="*/ 1885395 h 1885395"/>
              <a:gd name="connsiteX51" fmla="*/ 8497925 w 11562974"/>
              <a:gd name="connsiteY51" fmla="*/ 1885395 h 1885395"/>
              <a:gd name="connsiteX52" fmla="*/ 8490334 w 11562974"/>
              <a:gd name="connsiteY52" fmla="*/ 1885395 h 1885395"/>
              <a:gd name="connsiteX53" fmla="*/ 8296462 w 11562974"/>
              <a:gd name="connsiteY53" fmla="*/ 1885395 h 1885395"/>
              <a:gd name="connsiteX54" fmla="*/ 8288871 w 11562974"/>
              <a:gd name="connsiteY54" fmla="*/ 1885395 h 1885395"/>
              <a:gd name="connsiteX55" fmla="*/ 7868781 w 11562974"/>
              <a:gd name="connsiteY55" fmla="*/ 1885395 h 1885395"/>
              <a:gd name="connsiteX56" fmla="*/ 7861190 w 11562974"/>
              <a:gd name="connsiteY56" fmla="*/ 1885395 h 1885395"/>
              <a:gd name="connsiteX57" fmla="*/ 7021446 w 11562974"/>
              <a:gd name="connsiteY57" fmla="*/ 1885395 h 1885395"/>
              <a:gd name="connsiteX58" fmla="*/ 7013855 w 11562974"/>
              <a:gd name="connsiteY58" fmla="*/ 1885395 h 1885395"/>
              <a:gd name="connsiteX59" fmla="*/ 6027399 w 11562974"/>
              <a:gd name="connsiteY59" fmla="*/ 1885395 h 1885395"/>
              <a:gd name="connsiteX60" fmla="*/ 6027384 w 11562974"/>
              <a:gd name="connsiteY60" fmla="*/ 1885395 h 1885395"/>
              <a:gd name="connsiteX61" fmla="*/ 6027368 w 11562974"/>
              <a:gd name="connsiteY61" fmla="*/ 1885395 h 1885395"/>
              <a:gd name="connsiteX62" fmla="*/ 6019793 w 11562974"/>
              <a:gd name="connsiteY62" fmla="*/ 1885395 h 1885395"/>
              <a:gd name="connsiteX63" fmla="*/ 5180064 w 11562974"/>
              <a:gd name="connsiteY63" fmla="*/ 1885395 h 1885395"/>
              <a:gd name="connsiteX64" fmla="*/ 5180049 w 11562974"/>
              <a:gd name="connsiteY64" fmla="*/ 1885395 h 1885395"/>
              <a:gd name="connsiteX65" fmla="*/ 5180033 w 11562974"/>
              <a:gd name="connsiteY65" fmla="*/ 1885395 h 1885395"/>
              <a:gd name="connsiteX66" fmla="*/ 5172458 w 11562974"/>
              <a:gd name="connsiteY66" fmla="*/ 1885395 h 1885395"/>
              <a:gd name="connsiteX67" fmla="*/ 4752383 w 11562974"/>
              <a:gd name="connsiteY67" fmla="*/ 1885395 h 1885395"/>
              <a:gd name="connsiteX68" fmla="*/ 4752368 w 11562974"/>
              <a:gd name="connsiteY68" fmla="*/ 1885395 h 1885395"/>
              <a:gd name="connsiteX69" fmla="*/ 4752353 w 11562974"/>
              <a:gd name="connsiteY69" fmla="*/ 1885395 h 1885395"/>
              <a:gd name="connsiteX70" fmla="*/ 4744779 w 11562974"/>
              <a:gd name="connsiteY70" fmla="*/ 1885395 h 1885395"/>
              <a:gd name="connsiteX71" fmla="*/ 4550920 w 11562974"/>
              <a:gd name="connsiteY71" fmla="*/ 1885395 h 1885395"/>
              <a:gd name="connsiteX72" fmla="*/ 4550905 w 11562974"/>
              <a:gd name="connsiteY72" fmla="*/ 1885395 h 1885395"/>
              <a:gd name="connsiteX73" fmla="*/ 4550889 w 11562974"/>
              <a:gd name="connsiteY73" fmla="*/ 1885395 h 1885395"/>
              <a:gd name="connsiteX74" fmla="*/ 4543314 w 11562974"/>
              <a:gd name="connsiteY74" fmla="*/ 1885395 h 1885395"/>
              <a:gd name="connsiteX75" fmla="*/ 3905049 w 11562974"/>
              <a:gd name="connsiteY75" fmla="*/ 1885395 h 1885395"/>
              <a:gd name="connsiteX76" fmla="*/ 3905033 w 11562974"/>
              <a:gd name="connsiteY76" fmla="*/ 1885395 h 1885395"/>
              <a:gd name="connsiteX77" fmla="*/ 3905018 w 11562974"/>
              <a:gd name="connsiteY77" fmla="*/ 1885395 h 1885395"/>
              <a:gd name="connsiteX78" fmla="*/ 3897444 w 11562974"/>
              <a:gd name="connsiteY78" fmla="*/ 1885395 h 1885395"/>
              <a:gd name="connsiteX79" fmla="*/ 3703585 w 11562974"/>
              <a:gd name="connsiteY79" fmla="*/ 1885395 h 1885395"/>
              <a:gd name="connsiteX80" fmla="*/ 3703570 w 11562974"/>
              <a:gd name="connsiteY80" fmla="*/ 1885395 h 1885395"/>
              <a:gd name="connsiteX81" fmla="*/ 3703554 w 11562974"/>
              <a:gd name="connsiteY81" fmla="*/ 1885395 h 1885395"/>
              <a:gd name="connsiteX82" fmla="*/ 3695979 w 11562974"/>
              <a:gd name="connsiteY82" fmla="*/ 1885395 h 1885395"/>
              <a:gd name="connsiteX83" fmla="*/ 3598831 w 11562974"/>
              <a:gd name="connsiteY83" fmla="*/ 1885395 h 1885395"/>
              <a:gd name="connsiteX84" fmla="*/ 3275903 w 11562974"/>
              <a:gd name="connsiteY84" fmla="*/ 1885395 h 1885395"/>
              <a:gd name="connsiteX85" fmla="*/ 3275890 w 11562974"/>
              <a:gd name="connsiteY85" fmla="*/ 1885395 h 1885395"/>
              <a:gd name="connsiteX86" fmla="*/ 3275873 w 11562974"/>
              <a:gd name="connsiteY86" fmla="*/ 1885395 h 1885395"/>
              <a:gd name="connsiteX87" fmla="*/ 3268298 w 11562974"/>
              <a:gd name="connsiteY87" fmla="*/ 1885395 h 1885395"/>
              <a:gd name="connsiteX88" fmla="*/ 2751496 w 11562974"/>
              <a:gd name="connsiteY88" fmla="*/ 1885395 h 1885395"/>
              <a:gd name="connsiteX89" fmla="*/ 2428568 w 11562974"/>
              <a:gd name="connsiteY89" fmla="*/ 1885395 h 1885395"/>
              <a:gd name="connsiteX90" fmla="*/ 2428555 w 11562974"/>
              <a:gd name="connsiteY90" fmla="*/ 1885395 h 1885395"/>
              <a:gd name="connsiteX91" fmla="*/ 2428538 w 11562974"/>
              <a:gd name="connsiteY91" fmla="*/ 1885395 h 1885395"/>
              <a:gd name="connsiteX92" fmla="*/ 2420963 w 11562974"/>
              <a:gd name="connsiteY92" fmla="*/ 1885395 h 1885395"/>
              <a:gd name="connsiteX93" fmla="*/ 2323816 w 11562974"/>
              <a:gd name="connsiteY93" fmla="*/ 1885395 h 1885395"/>
              <a:gd name="connsiteX94" fmla="*/ 2122351 w 11562974"/>
              <a:gd name="connsiteY94" fmla="*/ 1885395 h 1885395"/>
              <a:gd name="connsiteX95" fmla="*/ 1476481 w 11562974"/>
              <a:gd name="connsiteY95" fmla="*/ 1885395 h 1885395"/>
              <a:gd name="connsiteX96" fmla="*/ 1275016 w 11562974"/>
              <a:gd name="connsiteY96" fmla="*/ 1885395 h 1885395"/>
              <a:gd name="connsiteX97" fmla="*/ 847335 w 11562974"/>
              <a:gd name="connsiteY97" fmla="*/ 1885395 h 1885395"/>
              <a:gd name="connsiteX98" fmla="*/ 0 w 11562974"/>
              <a:gd name="connsiteY98" fmla="*/ 1885395 h 1885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1562974" h="1885395">
                <a:moveTo>
                  <a:pt x="0" y="0"/>
                </a:moveTo>
                <a:lnTo>
                  <a:pt x="847335" y="0"/>
                </a:lnTo>
                <a:lnTo>
                  <a:pt x="1275016" y="0"/>
                </a:lnTo>
                <a:lnTo>
                  <a:pt x="1476481" y="0"/>
                </a:lnTo>
                <a:lnTo>
                  <a:pt x="2122351" y="0"/>
                </a:lnTo>
                <a:lnTo>
                  <a:pt x="2323816" y="0"/>
                </a:lnTo>
                <a:lnTo>
                  <a:pt x="2420963" y="0"/>
                </a:lnTo>
                <a:lnTo>
                  <a:pt x="2428555" y="0"/>
                </a:lnTo>
                <a:lnTo>
                  <a:pt x="2751496" y="0"/>
                </a:lnTo>
                <a:lnTo>
                  <a:pt x="3268298" y="0"/>
                </a:lnTo>
                <a:lnTo>
                  <a:pt x="3275890" y="0"/>
                </a:lnTo>
                <a:lnTo>
                  <a:pt x="3598831" y="0"/>
                </a:lnTo>
                <a:lnTo>
                  <a:pt x="3695979" y="0"/>
                </a:lnTo>
                <a:lnTo>
                  <a:pt x="3703570" y="0"/>
                </a:lnTo>
                <a:lnTo>
                  <a:pt x="3897444" y="0"/>
                </a:lnTo>
                <a:lnTo>
                  <a:pt x="3905033" y="0"/>
                </a:lnTo>
                <a:lnTo>
                  <a:pt x="4543314" y="0"/>
                </a:lnTo>
                <a:lnTo>
                  <a:pt x="4550905" y="0"/>
                </a:lnTo>
                <a:lnTo>
                  <a:pt x="4744779" y="0"/>
                </a:lnTo>
                <a:lnTo>
                  <a:pt x="4752368" y="0"/>
                </a:lnTo>
                <a:lnTo>
                  <a:pt x="5172458" y="0"/>
                </a:lnTo>
                <a:lnTo>
                  <a:pt x="5180049" y="0"/>
                </a:lnTo>
                <a:lnTo>
                  <a:pt x="6019793" y="0"/>
                </a:lnTo>
                <a:lnTo>
                  <a:pt x="6027384" y="0"/>
                </a:lnTo>
                <a:lnTo>
                  <a:pt x="7013855" y="0"/>
                </a:lnTo>
                <a:lnTo>
                  <a:pt x="7021446" y="0"/>
                </a:lnTo>
                <a:lnTo>
                  <a:pt x="7861190" y="0"/>
                </a:lnTo>
                <a:lnTo>
                  <a:pt x="7868781" y="0"/>
                </a:lnTo>
                <a:lnTo>
                  <a:pt x="8288871" y="0"/>
                </a:lnTo>
                <a:lnTo>
                  <a:pt x="8296462" y="0"/>
                </a:lnTo>
                <a:lnTo>
                  <a:pt x="8490334" y="0"/>
                </a:lnTo>
                <a:lnTo>
                  <a:pt x="8497925" y="0"/>
                </a:lnTo>
                <a:lnTo>
                  <a:pt x="9136205" y="0"/>
                </a:lnTo>
                <a:lnTo>
                  <a:pt x="9143797" y="0"/>
                </a:lnTo>
                <a:lnTo>
                  <a:pt x="9337669" y="0"/>
                </a:lnTo>
                <a:lnTo>
                  <a:pt x="9345260" y="0"/>
                </a:lnTo>
                <a:lnTo>
                  <a:pt x="9765350" y="0"/>
                </a:lnTo>
                <a:lnTo>
                  <a:pt x="9772941" y="0"/>
                </a:lnTo>
                <a:lnTo>
                  <a:pt x="10612685" y="0"/>
                </a:lnTo>
                <a:lnTo>
                  <a:pt x="10612685" y="765"/>
                </a:lnTo>
                <a:lnTo>
                  <a:pt x="10620276" y="0"/>
                </a:lnTo>
                <a:cubicBezTo>
                  <a:pt x="11140917" y="0"/>
                  <a:pt x="11562974" y="422058"/>
                  <a:pt x="11562974" y="942701"/>
                </a:cubicBezTo>
                <a:cubicBezTo>
                  <a:pt x="11562974" y="1463337"/>
                  <a:pt x="11140917" y="1885395"/>
                  <a:pt x="10620276" y="1885395"/>
                </a:cubicBezTo>
                <a:lnTo>
                  <a:pt x="10612685" y="1884631"/>
                </a:lnTo>
                <a:lnTo>
                  <a:pt x="10612685" y="1885395"/>
                </a:lnTo>
                <a:lnTo>
                  <a:pt x="9772941" y="1885395"/>
                </a:lnTo>
                <a:lnTo>
                  <a:pt x="9765350" y="1885395"/>
                </a:lnTo>
                <a:lnTo>
                  <a:pt x="9345260" y="1885395"/>
                </a:lnTo>
                <a:lnTo>
                  <a:pt x="9337669" y="1885395"/>
                </a:lnTo>
                <a:lnTo>
                  <a:pt x="9143797" y="1885395"/>
                </a:lnTo>
                <a:lnTo>
                  <a:pt x="9136205" y="1885395"/>
                </a:lnTo>
                <a:lnTo>
                  <a:pt x="8497925" y="1885395"/>
                </a:lnTo>
                <a:lnTo>
                  <a:pt x="8490334" y="1885395"/>
                </a:lnTo>
                <a:lnTo>
                  <a:pt x="8296462" y="1885395"/>
                </a:lnTo>
                <a:lnTo>
                  <a:pt x="8288871" y="1885395"/>
                </a:lnTo>
                <a:lnTo>
                  <a:pt x="7868781" y="1885395"/>
                </a:lnTo>
                <a:lnTo>
                  <a:pt x="7861190" y="1885395"/>
                </a:lnTo>
                <a:lnTo>
                  <a:pt x="7021446" y="1885395"/>
                </a:lnTo>
                <a:lnTo>
                  <a:pt x="7013855" y="1885395"/>
                </a:lnTo>
                <a:lnTo>
                  <a:pt x="6027399" y="1885395"/>
                </a:lnTo>
                <a:lnTo>
                  <a:pt x="6027384" y="1885395"/>
                </a:lnTo>
                <a:lnTo>
                  <a:pt x="6027368" y="1885395"/>
                </a:lnTo>
                <a:lnTo>
                  <a:pt x="6019793" y="1885395"/>
                </a:lnTo>
                <a:lnTo>
                  <a:pt x="5180064" y="1885395"/>
                </a:lnTo>
                <a:lnTo>
                  <a:pt x="5180049" y="1885395"/>
                </a:lnTo>
                <a:lnTo>
                  <a:pt x="5180033" y="1885395"/>
                </a:lnTo>
                <a:lnTo>
                  <a:pt x="5172458" y="1885395"/>
                </a:lnTo>
                <a:lnTo>
                  <a:pt x="4752383" y="1885395"/>
                </a:lnTo>
                <a:lnTo>
                  <a:pt x="4752368" y="1885395"/>
                </a:lnTo>
                <a:lnTo>
                  <a:pt x="4752353" y="1885395"/>
                </a:lnTo>
                <a:lnTo>
                  <a:pt x="4744779" y="1885395"/>
                </a:lnTo>
                <a:lnTo>
                  <a:pt x="4550920" y="1885395"/>
                </a:lnTo>
                <a:lnTo>
                  <a:pt x="4550905" y="1885395"/>
                </a:lnTo>
                <a:lnTo>
                  <a:pt x="4550889" y="1885395"/>
                </a:lnTo>
                <a:lnTo>
                  <a:pt x="4543314" y="1885395"/>
                </a:lnTo>
                <a:lnTo>
                  <a:pt x="3905049" y="1885395"/>
                </a:lnTo>
                <a:lnTo>
                  <a:pt x="3905033" y="1885395"/>
                </a:lnTo>
                <a:lnTo>
                  <a:pt x="3905018" y="1885395"/>
                </a:lnTo>
                <a:lnTo>
                  <a:pt x="3897444" y="1885395"/>
                </a:lnTo>
                <a:lnTo>
                  <a:pt x="3703585" y="1885395"/>
                </a:lnTo>
                <a:lnTo>
                  <a:pt x="3703570" y="1885395"/>
                </a:lnTo>
                <a:lnTo>
                  <a:pt x="3703554" y="1885395"/>
                </a:lnTo>
                <a:lnTo>
                  <a:pt x="3695979" y="1885395"/>
                </a:lnTo>
                <a:lnTo>
                  <a:pt x="3598831" y="1885395"/>
                </a:lnTo>
                <a:lnTo>
                  <a:pt x="3275903" y="1885395"/>
                </a:lnTo>
                <a:lnTo>
                  <a:pt x="3275890" y="1885395"/>
                </a:lnTo>
                <a:lnTo>
                  <a:pt x="3275873" y="1885395"/>
                </a:lnTo>
                <a:lnTo>
                  <a:pt x="3268298" y="1885395"/>
                </a:lnTo>
                <a:lnTo>
                  <a:pt x="2751496" y="1885395"/>
                </a:lnTo>
                <a:lnTo>
                  <a:pt x="2428568" y="1885395"/>
                </a:lnTo>
                <a:lnTo>
                  <a:pt x="2428555" y="1885395"/>
                </a:lnTo>
                <a:lnTo>
                  <a:pt x="2428538" y="1885395"/>
                </a:lnTo>
                <a:lnTo>
                  <a:pt x="2420963" y="1885395"/>
                </a:lnTo>
                <a:lnTo>
                  <a:pt x="2323816" y="1885395"/>
                </a:lnTo>
                <a:lnTo>
                  <a:pt x="2122351" y="1885395"/>
                </a:lnTo>
                <a:lnTo>
                  <a:pt x="1476481" y="1885395"/>
                </a:lnTo>
                <a:lnTo>
                  <a:pt x="1275016" y="1885395"/>
                </a:lnTo>
                <a:lnTo>
                  <a:pt x="847335" y="1885395"/>
                </a:lnTo>
                <a:lnTo>
                  <a:pt x="0" y="1885395"/>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sp>
        <p:nvSpPr>
          <p:cNvPr id="16" name="Title 2">
            <a:extLst>
              <a:ext uri="{FF2B5EF4-FFF2-40B4-BE49-F238E27FC236}">
                <a16:creationId xmlns:a16="http://schemas.microsoft.com/office/drawing/2014/main" id="{C5B3FC2D-0FDA-6E4D-B900-98D0987B9442}"/>
              </a:ext>
            </a:extLst>
          </p:cNvPr>
          <p:cNvSpPr txBox="1">
            <a:spLocks/>
          </p:cNvSpPr>
          <p:nvPr/>
        </p:nvSpPr>
        <p:spPr>
          <a:xfrm>
            <a:off x="742950" y="700425"/>
            <a:ext cx="10189509" cy="1267821"/>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Litigation Management</a:t>
            </a:r>
          </a:p>
        </p:txBody>
      </p:sp>
      <p:sp>
        <p:nvSpPr>
          <p:cNvPr id="17" name="Rectangle 16">
            <a:extLst>
              <a:ext uri="{FF2B5EF4-FFF2-40B4-BE49-F238E27FC236}">
                <a16:creationId xmlns:a16="http://schemas.microsoft.com/office/drawing/2014/main" id="{F5BDF84F-1A1F-9F45-A316-D5E609FA55C3}"/>
              </a:ext>
            </a:extLst>
          </p:cNvPr>
          <p:cNvSpPr/>
          <p:nvPr/>
        </p:nvSpPr>
        <p:spPr>
          <a:xfrm>
            <a:off x="781050" y="361876"/>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HighQ for</a:t>
            </a:r>
          </a:p>
        </p:txBody>
      </p:sp>
      <p:sp>
        <p:nvSpPr>
          <p:cNvPr id="18" name="Text Placeholder 7">
            <a:extLst>
              <a:ext uri="{FF2B5EF4-FFF2-40B4-BE49-F238E27FC236}">
                <a16:creationId xmlns:a16="http://schemas.microsoft.com/office/drawing/2014/main" id="{04B2451C-178B-4240-BB26-DDD5A5CDA640}"/>
              </a:ext>
            </a:extLst>
          </p:cNvPr>
          <p:cNvSpPr txBox="1">
            <a:spLocks/>
          </p:cNvSpPr>
          <p:nvPr/>
        </p:nvSpPr>
        <p:spPr>
          <a:xfrm>
            <a:off x="742951" y="4043139"/>
            <a:ext cx="2655342" cy="1634198"/>
          </a:xfrm>
          <a:prstGeom prst="rect">
            <a:avLst/>
          </a:prstGeom>
        </p:spPr>
        <p:txBody>
          <a:bodyPr vert="horz" lIns="0" tIns="0" rIns="0" bIns="0" rtlCol="0">
            <a:noAutofit/>
          </a:bodyPr>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latin typeface="+mj-lt"/>
              </a:rPr>
              <a:t>Deliver a complete digital workplace for teams to stay informed, communicate, and collaborate easily</a:t>
            </a:r>
          </a:p>
        </p:txBody>
      </p:sp>
      <p:sp>
        <p:nvSpPr>
          <p:cNvPr id="6" name="Title 5">
            <a:extLst>
              <a:ext uri="{FF2B5EF4-FFF2-40B4-BE49-F238E27FC236}">
                <a16:creationId xmlns:a16="http://schemas.microsoft.com/office/drawing/2014/main" id="{AEB9D05C-B830-444F-B465-C7C49CA7D3B9}"/>
              </a:ext>
            </a:extLst>
          </p:cNvPr>
          <p:cNvSpPr>
            <a:spLocks noGrp="1"/>
          </p:cNvSpPr>
          <p:nvPr>
            <p:ph type="title" idx="4294967295"/>
          </p:nvPr>
        </p:nvSpPr>
        <p:spPr>
          <a:xfrm>
            <a:off x="742950" y="-860425"/>
            <a:ext cx="11445875" cy="428625"/>
          </a:xfrm>
        </p:spPr>
        <p:txBody>
          <a:bodyPr/>
          <a:lstStyle/>
          <a:p>
            <a:r>
              <a:rPr lang="en-US" sz="2800" dirty="0">
                <a:solidFill>
                  <a:schemeClr val="accent1"/>
                </a:solidFill>
              </a:rPr>
              <a:t>HighQ for Team Collaboration</a:t>
            </a:r>
            <a:br>
              <a:rPr lang="en-US" sz="2800" dirty="0">
                <a:solidFill>
                  <a:schemeClr val="accent1"/>
                </a:solidFill>
              </a:rPr>
            </a:br>
            <a:endParaRPr lang="en-US" sz="2800" dirty="0">
              <a:solidFill>
                <a:schemeClr val="accent1"/>
              </a:solidFill>
            </a:endParaRPr>
          </a:p>
        </p:txBody>
      </p:sp>
      <p:sp>
        <p:nvSpPr>
          <p:cNvPr id="10" name="TextBox 9">
            <a:extLst>
              <a:ext uri="{FF2B5EF4-FFF2-40B4-BE49-F238E27FC236}">
                <a16:creationId xmlns:a16="http://schemas.microsoft.com/office/drawing/2014/main" id="{76BB46CD-107D-B940-BD20-D96C07CD1F20}"/>
              </a:ext>
            </a:extLst>
          </p:cNvPr>
          <p:cNvSpPr txBox="1"/>
          <p:nvPr/>
        </p:nvSpPr>
        <p:spPr>
          <a:xfrm>
            <a:off x="8225334" y="4480466"/>
            <a:ext cx="3507284" cy="11849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Quick and easy intranet setup</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Rapidly build, implement, and maintain a highly secure digital workplace right out of the box, without coding, hardware, or headaches. </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1" name="TextBox 10">
            <a:extLst>
              <a:ext uri="{FF2B5EF4-FFF2-40B4-BE49-F238E27FC236}">
                <a16:creationId xmlns:a16="http://schemas.microsoft.com/office/drawing/2014/main" id="{08F30D7D-FDB5-5143-892E-3DF76C2B953B}"/>
              </a:ext>
            </a:extLst>
          </p:cNvPr>
          <p:cNvSpPr txBox="1"/>
          <p:nvPr/>
        </p:nvSpPr>
        <p:spPr>
          <a:xfrm>
            <a:off x="8225335" y="2651430"/>
            <a:ext cx="3337637" cy="1646605"/>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Automate time-consuming administrative tasks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Streamline check requests, intake, expense reporting, contract management, event sign-ups, and other routines right from your intranet, replacing manual, paper processes.</a:t>
            </a:r>
          </a:p>
        </p:txBody>
      </p:sp>
      <p:sp>
        <p:nvSpPr>
          <p:cNvPr id="12" name="TextBox 11">
            <a:extLst>
              <a:ext uri="{FF2B5EF4-FFF2-40B4-BE49-F238E27FC236}">
                <a16:creationId xmlns:a16="http://schemas.microsoft.com/office/drawing/2014/main" id="{A050BD55-F741-F244-9E9A-DC31C9B6843A}"/>
              </a:ext>
            </a:extLst>
          </p:cNvPr>
          <p:cNvSpPr txBox="1"/>
          <p:nvPr/>
        </p:nvSpPr>
        <p:spPr>
          <a:xfrm>
            <a:off x="4330914" y="4465077"/>
            <a:ext cx="2997934" cy="121571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4D4D4D"/>
                </a:solidFill>
                <a:effectLst/>
                <a:uLnTx/>
                <a:uFillTx/>
                <a:latin typeface="Arial"/>
                <a:ea typeface="FSAlbert" charset="0"/>
                <a:cs typeface="FSAlbert" charset="0"/>
              </a:rPr>
              <a:t>Communicate and network effectively</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mn-ea"/>
                <a:cs typeface="+mn-cs"/>
              </a:rPr>
              <a:t>Deliver clear, consistent information to the entire firm so everyone is always in the know. </a:t>
            </a:r>
          </a:p>
        </p:txBody>
      </p:sp>
      <p:sp>
        <p:nvSpPr>
          <p:cNvPr id="13" name="TextBox 12">
            <a:extLst>
              <a:ext uri="{FF2B5EF4-FFF2-40B4-BE49-F238E27FC236}">
                <a16:creationId xmlns:a16="http://schemas.microsoft.com/office/drawing/2014/main" id="{1E1F4C1A-EAA3-824F-A3DA-1D0FB31ABA9B}"/>
              </a:ext>
            </a:extLst>
          </p:cNvPr>
          <p:cNvSpPr txBox="1"/>
          <p:nvPr/>
        </p:nvSpPr>
        <p:spPr>
          <a:xfrm>
            <a:off x="4330914" y="2650841"/>
            <a:ext cx="3468350" cy="140038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4D4D4D"/>
                </a:solidFill>
                <a:effectLst/>
                <a:uLnTx/>
                <a:uFillTx/>
                <a:latin typeface="Arial"/>
                <a:ea typeface="FSAlbert" charset="0"/>
                <a:cs typeface="FSAlbert" charset="0"/>
              </a:rPr>
              <a:t>Improve internal communication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4D4D4D"/>
                </a:solidFill>
                <a:effectLst/>
                <a:uLnTx/>
                <a:uFillTx/>
                <a:latin typeface="Arial"/>
                <a:ea typeface="FSAlbert" charset="0"/>
                <a:cs typeface="FSAlbert" charset="0"/>
              </a:rPr>
              <a:t>Staying informed and connected internally is key to delivering better legal services and exceeding client expectations–a real challenge when everyone in your firm is managing so many different demands.</a:t>
            </a:r>
            <a:endParaRPr kumimoji="0" lang="en-GB" sz="14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20" name="Picture 19">
            <a:extLst>
              <a:ext uri="{FF2B5EF4-FFF2-40B4-BE49-F238E27FC236}">
                <a16:creationId xmlns:a16="http://schemas.microsoft.com/office/drawing/2014/main" id="{04567E45-FEF1-4A05-B7B6-729C71620481}"/>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1147819" y="2292824"/>
            <a:ext cx="1485665" cy="1485665"/>
          </a:xfrm>
          <a:prstGeom prst="rect">
            <a:avLst/>
          </a:prstGeom>
        </p:spPr>
      </p:pic>
      <p:cxnSp>
        <p:nvCxnSpPr>
          <p:cNvPr id="22" name="Straight Connector 21">
            <a:extLst>
              <a:ext uri="{FF2B5EF4-FFF2-40B4-BE49-F238E27FC236}">
                <a16:creationId xmlns:a16="http://schemas.microsoft.com/office/drawing/2014/main" id="{2CD11AB3-AEFF-384F-8692-E1CE3C1E8CF3}"/>
              </a:ext>
            </a:extLst>
          </p:cNvPr>
          <p:cNvCxnSpPr>
            <a:cxnSpLocks/>
          </p:cNvCxnSpPr>
          <p:nvPr/>
        </p:nvCxnSpPr>
        <p:spPr>
          <a:xfrm>
            <a:off x="4317499" y="2421504"/>
            <a:ext cx="1383908" cy="0"/>
          </a:xfrm>
          <a:prstGeom prst="line">
            <a:avLst/>
          </a:prstGeom>
          <a:ln w="7302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3776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Freeform 106">
            <a:extLst>
              <a:ext uri="{FF2B5EF4-FFF2-40B4-BE49-F238E27FC236}">
                <a16:creationId xmlns:a16="http://schemas.microsoft.com/office/drawing/2014/main" id="{98A2EACC-007F-1C46-8C31-9B4428451F04}"/>
              </a:ext>
            </a:extLst>
          </p:cNvPr>
          <p:cNvSpPr/>
          <p:nvPr/>
        </p:nvSpPr>
        <p:spPr>
          <a:xfrm>
            <a:off x="0" y="-10603"/>
            <a:ext cx="11562972" cy="1777409"/>
          </a:xfrm>
          <a:custGeom>
            <a:avLst/>
            <a:gdLst>
              <a:gd name="connsiteX0" fmla="*/ 0 w 11562972"/>
              <a:gd name="connsiteY0" fmla="*/ 0 h 1777409"/>
              <a:gd name="connsiteX1" fmla="*/ 381758 w 11562972"/>
              <a:gd name="connsiteY1" fmla="*/ 0 h 1777409"/>
              <a:gd name="connsiteX2" fmla="*/ 571684 w 11562972"/>
              <a:gd name="connsiteY2" fmla="*/ 0 h 1777409"/>
              <a:gd name="connsiteX3" fmla="*/ 662265 w 11562972"/>
              <a:gd name="connsiteY3" fmla="*/ 0 h 1777409"/>
              <a:gd name="connsiteX4" fmla="*/ 1180562 w 11562972"/>
              <a:gd name="connsiteY4" fmla="*/ 0 h 1777409"/>
              <a:gd name="connsiteX5" fmla="*/ 1370488 w 11562972"/>
              <a:gd name="connsiteY5" fmla="*/ 0 h 1777409"/>
              <a:gd name="connsiteX6" fmla="*/ 1461070 w 11562972"/>
              <a:gd name="connsiteY6" fmla="*/ 0 h 1777409"/>
              <a:gd name="connsiteX7" fmla="*/ 1462071 w 11562972"/>
              <a:gd name="connsiteY7" fmla="*/ 0 h 1777409"/>
              <a:gd name="connsiteX8" fmla="*/ 1469228 w 11562972"/>
              <a:gd name="connsiteY8" fmla="*/ 0 h 1777409"/>
              <a:gd name="connsiteX9" fmla="*/ 1773673 w 11562972"/>
              <a:gd name="connsiteY9" fmla="*/ 0 h 1777409"/>
              <a:gd name="connsiteX10" fmla="*/ 1864255 w 11562972"/>
              <a:gd name="connsiteY10" fmla="*/ 0 h 1777409"/>
              <a:gd name="connsiteX11" fmla="*/ 2054181 w 11562972"/>
              <a:gd name="connsiteY11" fmla="*/ 0 h 1777409"/>
              <a:gd name="connsiteX12" fmla="*/ 2260876 w 11562972"/>
              <a:gd name="connsiteY12" fmla="*/ 0 h 1777409"/>
              <a:gd name="connsiteX13" fmla="*/ 2268032 w 11562972"/>
              <a:gd name="connsiteY13" fmla="*/ 0 h 1777409"/>
              <a:gd name="connsiteX14" fmla="*/ 2572478 w 11562972"/>
              <a:gd name="connsiteY14" fmla="*/ 0 h 1777409"/>
              <a:gd name="connsiteX15" fmla="*/ 2663060 w 11562972"/>
              <a:gd name="connsiteY15" fmla="*/ 0 h 1777409"/>
              <a:gd name="connsiteX16" fmla="*/ 2664061 w 11562972"/>
              <a:gd name="connsiteY16" fmla="*/ 0 h 1777409"/>
              <a:gd name="connsiteX17" fmla="*/ 2671217 w 11562972"/>
              <a:gd name="connsiteY17" fmla="*/ 0 h 1777409"/>
              <a:gd name="connsiteX18" fmla="*/ 2852986 w 11562972"/>
              <a:gd name="connsiteY18" fmla="*/ 0 h 1777409"/>
              <a:gd name="connsiteX19" fmla="*/ 2853987 w 11562972"/>
              <a:gd name="connsiteY19" fmla="*/ 0 h 1777409"/>
              <a:gd name="connsiteX20" fmla="*/ 2861141 w 11562972"/>
              <a:gd name="connsiteY20" fmla="*/ 0 h 1777409"/>
              <a:gd name="connsiteX21" fmla="*/ 2944568 w 11562972"/>
              <a:gd name="connsiteY21" fmla="*/ 0 h 1777409"/>
              <a:gd name="connsiteX22" fmla="*/ 2951725 w 11562972"/>
              <a:gd name="connsiteY22" fmla="*/ 0 h 1777409"/>
              <a:gd name="connsiteX23" fmla="*/ 3256170 w 11562972"/>
              <a:gd name="connsiteY23" fmla="*/ 0 h 1777409"/>
              <a:gd name="connsiteX24" fmla="*/ 3462866 w 11562972"/>
              <a:gd name="connsiteY24" fmla="*/ 0 h 1777409"/>
              <a:gd name="connsiteX25" fmla="*/ 3470022 w 11562972"/>
              <a:gd name="connsiteY25" fmla="*/ 0 h 1777409"/>
              <a:gd name="connsiteX26" fmla="*/ 3652792 w 11562972"/>
              <a:gd name="connsiteY26" fmla="*/ 0 h 1777409"/>
              <a:gd name="connsiteX27" fmla="*/ 3659946 w 11562972"/>
              <a:gd name="connsiteY27" fmla="*/ 0 h 1777409"/>
              <a:gd name="connsiteX28" fmla="*/ 3743372 w 11562972"/>
              <a:gd name="connsiteY28" fmla="*/ 0 h 1777409"/>
              <a:gd name="connsiteX29" fmla="*/ 3750529 w 11562972"/>
              <a:gd name="connsiteY29" fmla="*/ 0 h 1777409"/>
              <a:gd name="connsiteX30" fmla="*/ 4054973 w 11562972"/>
              <a:gd name="connsiteY30" fmla="*/ 0 h 1777409"/>
              <a:gd name="connsiteX31" fmla="*/ 4055975 w 11562972"/>
              <a:gd name="connsiteY31" fmla="*/ 0 h 1777409"/>
              <a:gd name="connsiteX32" fmla="*/ 4063132 w 11562972"/>
              <a:gd name="connsiteY32" fmla="*/ 0 h 1777409"/>
              <a:gd name="connsiteX33" fmla="*/ 4146558 w 11562972"/>
              <a:gd name="connsiteY33" fmla="*/ 0 h 1777409"/>
              <a:gd name="connsiteX34" fmla="*/ 4153714 w 11562972"/>
              <a:gd name="connsiteY34" fmla="*/ 0 h 1777409"/>
              <a:gd name="connsiteX35" fmla="*/ 4336485 w 11562972"/>
              <a:gd name="connsiteY35" fmla="*/ 0 h 1777409"/>
              <a:gd name="connsiteX36" fmla="*/ 4343638 w 11562972"/>
              <a:gd name="connsiteY36" fmla="*/ 0 h 1777409"/>
              <a:gd name="connsiteX37" fmla="*/ 4854780 w 11562972"/>
              <a:gd name="connsiteY37" fmla="*/ 0 h 1777409"/>
              <a:gd name="connsiteX38" fmla="*/ 4861936 w 11562972"/>
              <a:gd name="connsiteY38" fmla="*/ 0 h 1777409"/>
              <a:gd name="connsiteX39" fmla="*/ 4945362 w 11562972"/>
              <a:gd name="connsiteY39" fmla="*/ 0 h 1777409"/>
              <a:gd name="connsiteX40" fmla="*/ 4952519 w 11562972"/>
              <a:gd name="connsiteY40" fmla="*/ 0 h 1777409"/>
              <a:gd name="connsiteX41" fmla="*/ 5135288 w 11562972"/>
              <a:gd name="connsiteY41" fmla="*/ 0 h 1777409"/>
              <a:gd name="connsiteX42" fmla="*/ 5142443 w 11562972"/>
              <a:gd name="connsiteY42" fmla="*/ 0 h 1777409"/>
              <a:gd name="connsiteX43" fmla="*/ 5538472 w 11562972"/>
              <a:gd name="connsiteY43" fmla="*/ 0 h 1777409"/>
              <a:gd name="connsiteX44" fmla="*/ 5545629 w 11562972"/>
              <a:gd name="connsiteY44" fmla="*/ 0 h 1777409"/>
              <a:gd name="connsiteX45" fmla="*/ 5791907 w 11562972"/>
              <a:gd name="connsiteY45" fmla="*/ 0 h 1777409"/>
              <a:gd name="connsiteX46" fmla="*/ 5799062 w 11562972"/>
              <a:gd name="connsiteY46" fmla="*/ 0 h 1777409"/>
              <a:gd name="connsiteX47" fmla="*/ 6337276 w 11562972"/>
              <a:gd name="connsiteY47" fmla="*/ 0 h 1777409"/>
              <a:gd name="connsiteX48" fmla="*/ 6344432 w 11562972"/>
              <a:gd name="connsiteY48" fmla="*/ 0 h 1777409"/>
              <a:gd name="connsiteX49" fmla="*/ 6590710 w 11562972"/>
              <a:gd name="connsiteY49" fmla="*/ 0 h 1777409"/>
              <a:gd name="connsiteX50" fmla="*/ 6597867 w 11562972"/>
              <a:gd name="connsiteY50" fmla="*/ 0 h 1777409"/>
              <a:gd name="connsiteX51" fmla="*/ 6993896 w 11562972"/>
              <a:gd name="connsiteY51" fmla="*/ 0 h 1777409"/>
              <a:gd name="connsiteX52" fmla="*/ 7001052 w 11562972"/>
              <a:gd name="connsiteY52" fmla="*/ 0 h 1777409"/>
              <a:gd name="connsiteX53" fmla="*/ 7183820 w 11562972"/>
              <a:gd name="connsiteY53" fmla="*/ 0 h 1777409"/>
              <a:gd name="connsiteX54" fmla="*/ 7190976 w 11562972"/>
              <a:gd name="connsiteY54" fmla="*/ 0 h 1777409"/>
              <a:gd name="connsiteX55" fmla="*/ 7274403 w 11562972"/>
              <a:gd name="connsiteY55" fmla="*/ 0 h 1777409"/>
              <a:gd name="connsiteX56" fmla="*/ 7281559 w 11562972"/>
              <a:gd name="connsiteY56" fmla="*/ 0 h 1777409"/>
              <a:gd name="connsiteX57" fmla="*/ 7792699 w 11562972"/>
              <a:gd name="connsiteY57" fmla="*/ 0 h 1777409"/>
              <a:gd name="connsiteX58" fmla="*/ 7799857 w 11562972"/>
              <a:gd name="connsiteY58" fmla="*/ 0 h 1777409"/>
              <a:gd name="connsiteX59" fmla="*/ 7982624 w 11562972"/>
              <a:gd name="connsiteY59" fmla="*/ 0 h 1777409"/>
              <a:gd name="connsiteX60" fmla="*/ 7989781 w 11562972"/>
              <a:gd name="connsiteY60" fmla="*/ 0 h 1777409"/>
              <a:gd name="connsiteX61" fmla="*/ 8073207 w 11562972"/>
              <a:gd name="connsiteY61" fmla="*/ 0 h 1777409"/>
              <a:gd name="connsiteX62" fmla="*/ 8080364 w 11562972"/>
              <a:gd name="connsiteY62" fmla="*/ 0 h 1777409"/>
              <a:gd name="connsiteX63" fmla="*/ 8385810 w 11562972"/>
              <a:gd name="connsiteY63" fmla="*/ 0 h 1777409"/>
              <a:gd name="connsiteX64" fmla="*/ 8392966 w 11562972"/>
              <a:gd name="connsiteY64" fmla="*/ 0 h 1777409"/>
              <a:gd name="connsiteX65" fmla="*/ 8476393 w 11562972"/>
              <a:gd name="connsiteY65" fmla="*/ 0 h 1777409"/>
              <a:gd name="connsiteX66" fmla="*/ 8483549 w 11562972"/>
              <a:gd name="connsiteY66" fmla="*/ 0 h 1777409"/>
              <a:gd name="connsiteX67" fmla="*/ 8666317 w 11562972"/>
              <a:gd name="connsiteY67" fmla="*/ 0 h 1777409"/>
              <a:gd name="connsiteX68" fmla="*/ 8673473 w 11562972"/>
              <a:gd name="connsiteY68" fmla="*/ 0 h 1777409"/>
              <a:gd name="connsiteX69" fmla="*/ 9184614 w 11562972"/>
              <a:gd name="connsiteY69" fmla="*/ 0 h 1777409"/>
              <a:gd name="connsiteX70" fmla="*/ 9191770 w 11562972"/>
              <a:gd name="connsiteY70" fmla="*/ 0 h 1777409"/>
              <a:gd name="connsiteX71" fmla="*/ 9275195 w 11562972"/>
              <a:gd name="connsiteY71" fmla="*/ 0 h 1777409"/>
              <a:gd name="connsiteX72" fmla="*/ 9282354 w 11562972"/>
              <a:gd name="connsiteY72" fmla="*/ 0 h 1777409"/>
              <a:gd name="connsiteX73" fmla="*/ 9465121 w 11562972"/>
              <a:gd name="connsiteY73" fmla="*/ 0 h 1777409"/>
              <a:gd name="connsiteX74" fmla="*/ 9472278 w 11562972"/>
              <a:gd name="connsiteY74" fmla="*/ 0 h 1777409"/>
              <a:gd name="connsiteX75" fmla="*/ 9868307 w 11562972"/>
              <a:gd name="connsiteY75" fmla="*/ 0 h 1777409"/>
              <a:gd name="connsiteX76" fmla="*/ 9875463 w 11562972"/>
              <a:gd name="connsiteY76" fmla="*/ 0 h 1777409"/>
              <a:gd name="connsiteX77" fmla="*/ 10667110 w 11562972"/>
              <a:gd name="connsiteY77" fmla="*/ 0 h 1777409"/>
              <a:gd name="connsiteX78" fmla="*/ 10667110 w 11562972"/>
              <a:gd name="connsiteY78" fmla="*/ 721 h 1777409"/>
              <a:gd name="connsiteX79" fmla="*/ 10674266 w 11562972"/>
              <a:gd name="connsiteY79" fmla="*/ 0 h 1777409"/>
              <a:gd name="connsiteX80" fmla="*/ 11562972 w 11562972"/>
              <a:gd name="connsiteY80" fmla="*/ 888708 h 1777409"/>
              <a:gd name="connsiteX81" fmla="*/ 10674266 w 11562972"/>
              <a:gd name="connsiteY81" fmla="*/ 1777409 h 1777409"/>
              <a:gd name="connsiteX82" fmla="*/ 10667110 w 11562972"/>
              <a:gd name="connsiteY82" fmla="*/ 1776689 h 1777409"/>
              <a:gd name="connsiteX83" fmla="*/ 10667110 w 11562972"/>
              <a:gd name="connsiteY83" fmla="*/ 1777409 h 1777409"/>
              <a:gd name="connsiteX84" fmla="*/ 9875463 w 11562972"/>
              <a:gd name="connsiteY84" fmla="*/ 1777409 h 1777409"/>
              <a:gd name="connsiteX85" fmla="*/ 9868307 w 11562972"/>
              <a:gd name="connsiteY85" fmla="*/ 1777409 h 1777409"/>
              <a:gd name="connsiteX86" fmla="*/ 9472278 w 11562972"/>
              <a:gd name="connsiteY86" fmla="*/ 1777409 h 1777409"/>
              <a:gd name="connsiteX87" fmla="*/ 9465121 w 11562972"/>
              <a:gd name="connsiteY87" fmla="*/ 1777409 h 1777409"/>
              <a:gd name="connsiteX88" fmla="*/ 9282354 w 11562972"/>
              <a:gd name="connsiteY88" fmla="*/ 1777409 h 1777409"/>
              <a:gd name="connsiteX89" fmla="*/ 9275195 w 11562972"/>
              <a:gd name="connsiteY89" fmla="*/ 1777409 h 1777409"/>
              <a:gd name="connsiteX90" fmla="*/ 9191770 w 11562972"/>
              <a:gd name="connsiteY90" fmla="*/ 1777409 h 1777409"/>
              <a:gd name="connsiteX91" fmla="*/ 9184614 w 11562972"/>
              <a:gd name="connsiteY91" fmla="*/ 1777409 h 1777409"/>
              <a:gd name="connsiteX92" fmla="*/ 8673473 w 11562972"/>
              <a:gd name="connsiteY92" fmla="*/ 1777409 h 1777409"/>
              <a:gd name="connsiteX93" fmla="*/ 8666317 w 11562972"/>
              <a:gd name="connsiteY93" fmla="*/ 1777409 h 1777409"/>
              <a:gd name="connsiteX94" fmla="*/ 8483549 w 11562972"/>
              <a:gd name="connsiteY94" fmla="*/ 1777409 h 1777409"/>
              <a:gd name="connsiteX95" fmla="*/ 8476393 w 11562972"/>
              <a:gd name="connsiteY95" fmla="*/ 1777409 h 1777409"/>
              <a:gd name="connsiteX96" fmla="*/ 8392966 w 11562972"/>
              <a:gd name="connsiteY96" fmla="*/ 1777409 h 1777409"/>
              <a:gd name="connsiteX97" fmla="*/ 8385810 w 11562972"/>
              <a:gd name="connsiteY97" fmla="*/ 1777409 h 1777409"/>
              <a:gd name="connsiteX98" fmla="*/ 8080364 w 11562972"/>
              <a:gd name="connsiteY98" fmla="*/ 1777409 h 1777409"/>
              <a:gd name="connsiteX99" fmla="*/ 8073207 w 11562972"/>
              <a:gd name="connsiteY99" fmla="*/ 1777409 h 1777409"/>
              <a:gd name="connsiteX100" fmla="*/ 7989781 w 11562972"/>
              <a:gd name="connsiteY100" fmla="*/ 1777409 h 1777409"/>
              <a:gd name="connsiteX101" fmla="*/ 7982624 w 11562972"/>
              <a:gd name="connsiteY101" fmla="*/ 1777409 h 1777409"/>
              <a:gd name="connsiteX102" fmla="*/ 7799857 w 11562972"/>
              <a:gd name="connsiteY102" fmla="*/ 1777409 h 1777409"/>
              <a:gd name="connsiteX103" fmla="*/ 7792699 w 11562972"/>
              <a:gd name="connsiteY103" fmla="*/ 1777409 h 1777409"/>
              <a:gd name="connsiteX104" fmla="*/ 7281559 w 11562972"/>
              <a:gd name="connsiteY104" fmla="*/ 1777409 h 1777409"/>
              <a:gd name="connsiteX105" fmla="*/ 7274403 w 11562972"/>
              <a:gd name="connsiteY105" fmla="*/ 1777409 h 1777409"/>
              <a:gd name="connsiteX106" fmla="*/ 7190976 w 11562972"/>
              <a:gd name="connsiteY106" fmla="*/ 1777409 h 1777409"/>
              <a:gd name="connsiteX107" fmla="*/ 7183820 w 11562972"/>
              <a:gd name="connsiteY107" fmla="*/ 1777409 h 1777409"/>
              <a:gd name="connsiteX108" fmla="*/ 7001052 w 11562972"/>
              <a:gd name="connsiteY108" fmla="*/ 1777409 h 1777409"/>
              <a:gd name="connsiteX109" fmla="*/ 6993896 w 11562972"/>
              <a:gd name="connsiteY109" fmla="*/ 1777409 h 1777409"/>
              <a:gd name="connsiteX110" fmla="*/ 6597867 w 11562972"/>
              <a:gd name="connsiteY110" fmla="*/ 1777409 h 1777409"/>
              <a:gd name="connsiteX111" fmla="*/ 6590710 w 11562972"/>
              <a:gd name="connsiteY111" fmla="*/ 1777409 h 1777409"/>
              <a:gd name="connsiteX112" fmla="*/ 6344446 w 11562972"/>
              <a:gd name="connsiteY112" fmla="*/ 1777409 h 1777409"/>
              <a:gd name="connsiteX113" fmla="*/ 6344432 w 11562972"/>
              <a:gd name="connsiteY113" fmla="*/ 1777409 h 1777409"/>
              <a:gd name="connsiteX114" fmla="*/ 6344417 w 11562972"/>
              <a:gd name="connsiteY114" fmla="*/ 1777409 h 1777409"/>
              <a:gd name="connsiteX115" fmla="*/ 6337276 w 11562972"/>
              <a:gd name="connsiteY115" fmla="*/ 1777409 h 1777409"/>
              <a:gd name="connsiteX116" fmla="*/ 5799062 w 11562972"/>
              <a:gd name="connsiteY116" fmla="*/ 1777409 h 1777409"/>
              <a:gd name="connsiteX117" fmla="*/ 5791907 w 11562972"/>
              <a:gd name="connsiteY117" fmla="*/ 1777409 h 1777409"/>
              <a:gd name="connsiteX118" fmla="*/ 5545643 w 11562972"/>
              <a:gd name="connsiteY118" fmla="*/ 1777409 h 1777409"/>
              <a:gd name="connsiteX119" fmla="*/ 5545629 w 11562972"/>
              <a:gd name="connsiteY119" fmla="*/ 1777409 h 1777409"/>
              <a:gd name="connsiteX120" fmla="*/ 5545613 w 11562972"/>
              <a:gd name="connsiteY120" fmla="*/ 1777409 h 1777409"/>
              <a:gd name="connsiteX121" fmla="*/ 5538472 w 11562972"/>
              <a:gd name="connsiteY121" fmla="*/ 1777409 h 1777409"/>
              <a:gd name="connsiteX122" fmla="*/ 5142457 w 11562972"/>
              <a:gd name="connsiteY122" fmla="*/ 1777409 h 1777409"/>
              <a:gd name="connsiteX123" fmla="*/ 5142443 w 11562972"/>
              <a:gd name="connsiteY123" fmla="*/ 1777409 h 1777409"/>
              <a:gd name="connsiteX124" fmla="*/ 5142429 w 11562972"/>
              <a:gd name="connsiteY124" fmla="*/ 1777409 h 1777409"/>
              <a:gd name="connsiteX125" fmla="*/ 5135288 w 11562972"/>
              <a:gd name="connsiteY125" fmla="*/ 1777409 h 1777409"/>
              <a:gd name="connsiteX126" fmla="*/ 4952533 w 11562972"/>
              <a:gd name="connsiteY126" fmla="*/ 1777409 h 1777409"/>
              <a:gd name="connsiteX127" fmla="*/ 4952519 w 11562972"/>
              <a:gd name="connsiteY127" fmla="*/ 1777409 h 1777409"/>
              <a:gd name="connsiteX128" fmla="*/ 4952503 w 11562972"/>
              <a:gd name="connsiteY128" fmla="*/ 1777409 h 1777409"/>
              <a:gd name="connsiteX129" fmla="*/ 4945362 w 11562972"/>
              <a:gd name="connsiteY129" fmla="*/ 1777409 h 1777409"/>
              <a:gd name="connsiteX130" fmla="*/ 4861950 w 11562972"/>
              <a:gd name="connsiteY130" fmla="*/ 1777409 h 1777409"/>
              <a:gd name="connsiteX131" fmla="*/ 4861936 w 11562972"/>
              <a:gd name="connsiteY131" fmla="*/ 1777409 h 1777409"/>
              <a:gd name="connsiteX132" fmla="*/ 4861921 w 11562972"/>
              <a:gd name="connsiteY132" fmla="*/ 1777409 h 1777409"/>
              <a:gd name="connsiteX133" fmla="*/ 4854780 w 11562972"/>
              <a:gd name="connsiteY133" fmla="*/ 1777409 h 1777409"/>
              <a:gd name="connsiteX134" fmla="*/ 4343653 w 11562972"/>
              <a:gd name="connsiteY134" fmla="*/ 1777409 h 1777409"/>
              <a:gd name="connsiteX135" fmla="*/ 4343638 w 11562972"/>
              <a:gd name="connsiteY135" fmla="*/ 1777409 h 1777409"/>
              <a:gd name="connsiteX136" fmla="*/ 4343624 w 11562972"/>
              <a:gd name="connsiteY136" fmla="*/ 1777409 h 1777409"/>
              <a:gd name="connsiteX137" fmla="*/ 4336485 w 11562972"/>
              <a:gd name="connsiteY137" fmla="*/ 1777409 h 1777409"/>
              <a:gd name="connsiteX138" fmla="*/ 4153728 w 11562972"/>
              <a:gd name="connsiteY138" fmla="*/ 1777409 h 1777409"/>
              <a:gd name="connsiteX139" fmla="*/ 4153714 w 11562972"/>
              <a:gd name="connsiteY139" fmla="*/ 1777409 h 1777409"/>
              <a:gd name="connsiteX140" fmla="*/ 4153699 w 11562972"/>
              <a:gd name="connsiteY140" fmla="*/ 1777409 h 1777409"/>
              <a:gd name="connsiteX141" fmla="*/ 4146558 w 11562972"/>
              <a:gd name="connsiteY141" fmla="*/ 1777409 h 1777409"/>
              <a:gd name="connsiteX142" fmla="*/ 4063146 w 11562972"/>
              <a:gd name="connsiteY142" fmla="*/ 1777409 h 1777409"/>
              <a:gd name="connsiteX143" fmla="*/ 4063132 w 11562972"/>
              <a:gd name="connsiteY143" fmla="*/ 1777409 h 1777409"/>
              <a:gd name="connsiteX144" fmla="*/ 4063116 w 11562972"/>
              <a:gd name="connsiteY144" fmla="*/ 1777409 h 1777409"/>
              <a:gd name="connsiteX145" fmla="*/ 4055975 w 11562972"/>
              <a:gd name="connsiteY145" fmla="*/ 1777409 h 1777409"/>
              <a:gd name="connsiteX146" fmla="*/ 4054973 w 11562972"/>
              <a:gd name="connsiteY146" fmla="*/ 1777409 h 1777409"/>
              <a:gd name="connsiteX147" fmla="*/ 3750542 w 11562972"/>
              <a:gd name="connsiteY147" fmla="*/ 1777409 h 1777409"/>
              <a:gd name="connsiteX148" fmla="*/ 3750529 w 11562972"/>
              <a:gd name="connsiteY148" fmla="*/ 1777409 h 1777409"/>
              <a:gd name="connsiteX149" fmla="*/ 3750513 w 11562972"/>
              <a:gd name="connsiteY149" fmla="*/ 1777409 h 1777409"/>
              <a:gd name="connsiteX150" fmla="*/ 3743372 w 11562972"/>
              <a:gd name="connsiteY150" fmla="*/ 1777409 h 1777409"/>
              <a:gd name="connsiteX151" fmla="*/ 3659960 w 11562972"/>
              <a:gd name="connsiteY151" fmla="*/ 1777409 h 1777409"/>
              <a:gd name="connsiteX152" fmla="*/ 3659946 w 11562972"/>
              <a:gd name="connsiteY152" fmla="*/ 1777409 h 1777409"/>
              <a:gd name="connsiteX153" fmla="*/ 3659932 w 11562972"/>
              <a:gd name="connsiteY153" fmla="*/ 1777409 h 1777409"/>
              <a:gd name="connsiteX154" fmla="*/ 3652792 w 11562972"/>
              <a:gd name="connsiteY154" fmla="*/ 1777409 h 1777409"/>
              <a:gd name="connsiteX155" fmla="*/ 3470036 w 11562972"/>
              <a:gd name="connsiteY155" fmla="*/ 1777409 h 1777409"/>
              <a:gd name="connsiteX156" fmla="*/ 3470022 w 11562972"/>
              <a:gd name="connsiteY156" fmla="*/ 1777409 h 1777409"/>
              <a:gd name="connsiteX157" fmla="*/ 3470006 w 11562972"/>
              <a:gd name="connsiteY157" fmla="*/ 1777409 h 1777409"/>
              <a:gd name="connsiteX158" fmla="*/ 3462866 w 11562972"/>
              <a:gd name="connsiteY158" fmla="*/ 1777409 h 1777409"/>
              <a:gd name="connsiteX159" fmla="*/ 3256170 w 11562972"/>
              <a:gd name="connsiteY159" fmla="*/ 1777409 h 1777409"/>
              <a:gd name="connsiteX160" fmla="*/ 2951738 w 11562972"/>
              <a:gd name="connsiteY160" fmla="*/ 1777409 h 1777409"/>
              <a:gd name="connsiteX161" fmla="*/ 2951725 w 11562972"/>
              <a:gd name="connsiteY161" fmla="*/ 1777409 h 1777409"/>
              <a:gd name="connsiteX162" fmla="*/ 2951709 w 11562972"/>
              <a:gd name="connsiteY162" fmla="*/ 1777409 h 1777409"/>
              <a:gd name="connsiteX163" fmla="*/ 2944568 w 11562972"/>
              <a:gd name="connsiteY163" fmla="*/ 1777409 h 1777409"/>
              <a:gd name="connsiteX164" fmla="*/ 2861157 w 11562972"/>
              <a:gd name="connsiteY164" fmla="*/ 1777409 h 1777409"/>
              <a:gd name="connsiteX165" fmla="*/ 2861141 w 11562972"/>
              <a:gd name="connsiteY165" fmla="*/ 1777409 h 1777409"/>
              <a:gd name="connsiteX166" fmla="*/ 2861127 w 11562972"/>
              <a:gd name="connsiteY166" fmla="*/ 1777409 h 1777409"/>
              <a:gd name="connsiteX167" fmla="*/ 2853987 w 11562972"/>
              <a:gd name="connsiteY167" fmla="*/ 1777409 h 1777409"/>
              <a:gd name="connsiteX168" fmla="*/ 2852986 w 11562972"/>
              <a:gd name="connsiteY168" fmla="*/ 1777409 h 1777409"/>
              <a:gd name="connsiteX169" fmla="*/ 2671232 w 11562972"/>
              <a:gd name="connsiteY169" fmla="*/ 1777409 h 1777409"/>
              <a:gd name="connsiteX170" fmla="*/ 2671217 w 11562972"/>
              <a:gd name="connsiteY170" fmla="*/ 1777409 h 1777409"/>
              <a:gd name="connsiteX171" fmla="*/ 2671202 w 11562972"/>
              <a:gd name="connsiteY171" fmla="*/ 1777409 h 1777409"/>
              <a:gd name="connsiteX172" fmla="*/ 2664061 w 11562972"/>
              <a:gd name="connsiteY172" fmla="*/ 1777409 h 1777409"/>
              <a:gd name="connsiteX173" fmla="*/ 2663060 w 11562972"/>
              <a:gd name="connsiteY173" fmla="*/ 1777409 h 1777409"/>
              <a:gd name="connsiteX174" fmla="*/ 2572478 w 11562972"/>
              <a:gd name="connsiteY174" fmla="*/ 1777409 h 1777409"/>
              <a:gd name="connsiteX175" fmla="*/ 2268045 w 11562972"/>
              <a:gd name="connsiteY175" fmla="*/ 1777409 h 1777409"/>
              <a:gd name="connsiteX176" fmla="*/ 2268032 w 11562972"/>
              <a:gd name="connsiteY176" fmla="*/ 1777409 h 1777409"/>
              <a:gd name="connsiteX177" fmla="*/ 2268016 w 11562972"/>
              <a:gd name="connsiteY177" fmla="*/ 1777409 h 1777409"/>
              <a:gd name="connsiteX178" fmla="*/ 2260876 w 11562972"/>
              <a:gd name="connsiteY178" fmla="*/ 1777409 h 1777409"/>
              <a:gd name="connsiteX179" fmla="*/ 2054181 w 11562972"/>
              <a:gd name="connsiteY179" fmla="*/ 1777409 h 1777409"/>
              <a:gd name="connsiteX180" fmla="*/ 1864255 w 11562972"/>
              <a:gd name="connsiteY180" fmla="*/ 1777409 h 1777409"/>
              <a:gd name="connsiteX181" fmla="*/ 1773673 w 11562972"/>
              <a:gd name="connsiteY181" fmla="*/ 1777409 h 1777409"/>
              <a:gd name="connsiteX182" fmla="*/ 1469241 w 11562972"/>
              <a:gd name="connsiteY182" fmla="*/ 1777409 h 1777409"/>
              <a:gd name="connsiteX183" fmla="*/ 1469228 w 11562972"/>
              <a:gd name="connsiteY183" fmla="*/ 1777409 h 1777409"/>
              <a:gd name="connsiteX184" fmla="*/ 1469212 w 11562972"/>
              <a:gd name="connsiteY184" fmla="*/ 1777409 h 1777409"/>
              <a:gd name="connsiteX185" fmla="*/ 1462071 w 11562972"/>
              <a:gd name="connsiteY185" fmla="*/ 1777409 h 1777409"/>
              <a:gd name="connsiteX186" fmla="*/ 1461070 w 11562972"/>
              <a:gd name="connsiteY186" fmla="*/ 1777409 h 1777409"/>
              <a:gd name="connsiteX187" fmla="*/ 1370488 w 11562972"/>
              <a:gd name="connsiteY187" fmla="*/ 1777409 h 1777409"/>
              <a:gd name="connsiteX188" fmla="*/ 1180562 w 11562972"/>
              <a:gd name="connsiteY188" fmla="*/ 1777409 h 1777409"/>
              <a:gd name="connsiteX189" fmla="*/ 662265 w 11562972"/>
              <a:gd name="connsiteY189" fmla="*/ 1777409 h 1777409"/>
              <a:gd name="connsiteX190" fmla="*/ 571684 w 11562972"/>
              <a:gd name="connsiteY190" fmla="*/ 1777409 h 1777409"/>
              <a:gd name="connsiteX191" fmla="*/ 381758 w 11562972"/>
              <a:gd name="connsiteY191" fmla="*/ 1777409 h 1777409"/>
              <a:gd name="connsiteX192" fmla="*/ 0 w 11562972"/>
              <a:gd name="connsiteY192" fmla="*/ 1777409 h 177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562972" h="1777409">
                <a:moveTo>
                  <a:pt x="0" y="0"/>
                </a:moveTo>
                <a:lnTo>
                  <a:pt x="381758" y="0"/>
                </a:lnTo>
                <a:lnTo>
                  <a:pt x="571684" y="0"/>
                </a:lnTo>
                <a:lnTo>
                  <a:pt x="662265" y="0"/>
                </a:lnTo>
                <a:lnTo>
                  <a:pt x="1180562" y="0"/>
                </a:lnTo>
                <a:lnTo>
                  <a:pt x="1370488" y="0"/>
                </a:lnTo>
                <a:lnTo>
                  <a:pt x="1461070" y="0"/>
                </a:lnTo>
                <a:lnTo>
                  <a:pt x="1462071" y="0"/>
                </a:lnTo>
                <a:lnTo>
                  <a:pt x="1469228" y="0"/>
                </a:lnTo>
                <a:lnTo>
                  <a:pt x="1773673" y="0"/>
                </a:lnTo>
                <a:lnTo>
                  <a:pt x="1864255" y="0"/>
                </a:lnTo>
                <a:lnTo>
                  <a:pt x="2054181" y="0"/>
                </a:lnTo>
                <a:lnTo>
                  <a:pt x="2260876" y="0"/>
                </a:lnTo>
                <a:lnTo>
                  <a:pt x="2268032" y="0"/>
                </a:lnTo>
                <a:lnTo>
                  <a:pt x="2572478" y="0"/>
                </a:lnTo>
                <a:lnTo>
                  <a:pt x="2663060" y="0"/>
                </a:lnTo>
                <a:lnTo>
                  <a:pt x="2664061" y="0"/>
                </a:lnTo>
                <a:lnTo>
                  <a:pt x="2671217" y="0"/>
                </a:lnTo>
                <a:lnTo>
                  <a:pt x="2852986" y="0"/>
                </a:lnTo>
                <a:lnTo>
                  <a:pt x="2853987" y="0"/>
                </a:lnTo>
                <a:lnTo>
                  <a:pt x="2861141" y="0"/>
                </a:lnTo>
                <a:lnTo>
                  <a:pt x="2944568" y="0"/>
                </a:lnTo>
                <a:lnTo>
                  <a:pt x="2951725" y="0"/>
                </a:lnTo>
                <a:lnTo>
                  <a:pt x="3256170" y="0"/>
                </a:lnTo>
                <a:lnTo>
                  <a:pt x="3462866" y="0"/>
                </a:lnTo>
                <a:lnTo>
                  <a:pt x="3470022" y="0"/>
                </a:lnTo>
                <a:lnTo>
                  <a:pt x="3652792" y="0"/>
                </a:lnTo>
                <a:lnTo>
                  <a:pt x="3659946" y="0"/>
                </a:lnTo>
                <a:lnTo>
                  <a:pt x="3743372" y="0"/>
                </a:lnTo>
                <a:lnTo>
                  <a:pt x="3750529" y="0"/>
                </a:lnTo>
                <a:lnTo>
                  <a:pt x="4054973" y="0"/>
                </a:lnTo>
                <a:lnTo>
                  <a:pt x="4055975" y="0"/>
                </a:lnTo>
                <a:lnTo>
                  <a:pt x="4063132" y="0"/>
                </a:lnTo>
                <a:lnTo>
                  <a:pt x="4146558" y="0"/>
                </a:lnTo>
                <a:lnTo>
                  <a:pt x="4153714" y="0"/>
                </a:lnTo>
                <a:lnTo>
                  <a:pt x="4336485" y="0"/>
                </a:lnTo>
                <a:lnTo>
                  <a:pt x="4343638" y="0"/>
                </a:lnTo>
                <a:lnTo>
                  <a:pt x="4854780" y="0"/>
                </a:lnTo>
                <a:lnTo>
                  <a:pt x="4861936" y="0"/>
                </a:lnTo>
                <a:lnTo>
                  <a:pt x="4945362" y="0"/>
                </a:lnTo>
                <a:lnTo>
                  <a:pt x="4952519" y="0"/>
                </a:lnTo>
                <a:lnTo>
                  <a:pt x="5135288" y="0"/>
                </a:lnTo>
                <a:lnTo>
                  <a:pt x="5142443" y="0"/>
                </a:lnTo>
                <a:lnTo>
                  <a:pt x="5538472" y="0"/>
                </a:lnTo>
                <a:lnTo>
                  <a:pt x="5545629" y="0"/>
                </a:lnTo>
                <a:lnTo>
                  <a:pt x="5791907" y="0"/>
                </a:lnTo>
                <a:lnTo>
                  <a:pt x="5799062" y="0"/>
                </a:lnTo>
                <a:lnTo>
                  <a:pt x="6337276" y="0"/>
                </a:lnTo>
                <a:lnTo>
                  <a:pt x="6344432" y="0"/>
                </a:lnTo>
                <a:lnTo>
                  <a:pt x="6590710" y="0"/>
                </a:lnTo>
                <a:lnTo>
                  <a:pt x="6597867" y="0"/>
                </a:lnTo>
                <a:lnTo>
                  <a:pt x="6993896" y="0"/>
                </a:lnTo>
                <a:lnTo>
                  <a:pt x="7001052" y="0"/>
                </a:lnTo>
                <a:lnTo>
                  <a:pt x="7183820" y="0"/>
                </a:lnTo>
                <a:lnTo>
                  <a:pt x="7190976" y="0"/>
                </a:lnTo>
                <a:lnTo>
                  <a:pt x="7274403" y="0"/>
                </a:lnTo>
                <a:lnTo>
                  <a:pt x="7281559" y="0"/>
                </a:lnTo>
                <a:lnTo>
                  <a:pt x="7792699" y="0"/>
                </a:lnTo>
                <a:lnTo>
                  <a:pt x="7799857" y="0"/>
                </a:lnTo>
                <a:lnTo>
                  <a:pt x="7982624" y="0"/>
                </a:lnTo>
                <a:lnTo>
                  <a:pt x="7989781" y="0"/>
                </a:lnTo>
                <a:lnTo>
                  <a:pt x="8073207" y="0"/>
                </a:lnTo>
                <a:lnTo>
                  <a:pt x="8080364" y="0"/>
                </a:lnTo>
                <a:lnTo>
                  <a:pt x="8385810" y="0"/>
                </a:lnTo>
                <a:lnTo>
                  <a:pt x="8392966" y="0"/>
                </a:lnTo>
                <a:lnTo>
                  <a:pt x="8476393" y="0"/>
                </a:lnTo>
                <a:lnTo>
                  <a:pt x="8483549" y="0"/>
                </a:lnTo>
                <a:lnTo>
                  <a:pt x="8666317" y="0"/>
                </a:lnTo>
                <a:lnTo>
                  <a:pt x="8673473" y="0"/>
                </a:lnTo>
                <a:lnTo>
                  <a:pt x="9184614" y="0"/>
                </a:lnTo>
                <a:lnTo>
                  <a:pt x="9191770" y="0"/>
                </a:lnTo>
                <a:lnTo>
                  <a:pt x="9275195" y="0"/>
                </a:lnTo>
                <a:lnTo>
                  <a:pt x="9282354" y="0"/>
                </a:lnTo>
                <a:lnTo>
                  <a:pt x="9465121" y="0"/>
                </a:lnTo>
                <a:lnTo>
                  <a:pt x="9472278" y="0"/>
                </a:lnTo>
                <a:lnTo>
                  <a:pt x="9868307" y="0"/>
                </a:lnTo>
                <a:lnTo>
                  <a:pt x="9875463" y="0"/>
                </a:lnTo>
                <a:lnTo>
                  <a:pt x="10667110" y="0"/>
                </a:lnTo>
                <a:lnTo>
                  <a:pt x="10667110" y="721"/>
                </a:lnTo>
                <a:lnTo>
                  <a:pt x="10674266" y="0"/>
                </a:lnTo>
                <a:cubicBezTo>
                  <a:pt x="11165088" y="0"/>
                  <a:pt x="11562972" y="397885"/>
                  <a:pt x="11562972" y="888708"/>
                </a:cubicBezTo>
                <a:cubicBezTo>
                  <a:pt x="11562972" y="1379524"/>
                  <a:pt x="11165088" y="1777409"/>
                  <a:pt x="10674266" y="1777409"/>
                </a:cubicBezTo>
                <a:lnTo>
                  <a:pt x="10667110" y="1776689"/>
                </a:lnTo>
                <a:lnTo>
                  <a:pt x="10667110" y="1777409"/>
                </a:lnTo>
                <a:lnTo>
                  <a:pt x="9875463" y="1777409"/>
                </a:lnTo>
                <a:lnTo>
                  <a:pt x="9868307" y="1777409"/>
                </a:lnTo>
                <a:lnTo>
                  <a:pt x="9472278" y="1777409"/>
                </a:lnTo>
                <a:lnTo>
                  <a:pt x="9465121" y="1777409"/>
                </a:lnTo>
                <a:lnTo>
                  <a:pt x="9282354" y="1777409"/>
                </a:lnTo>
                <a:lnTo>
                  <a:pt x="9275195" y="1777409"/>
                </a:lnTo>
                <a:lnTo>
                  <a:pt x="9191770" y="1777409"/>
                </a:lnTo>
                <a:lnTo>
                  <a:pt x="9184614" y="1777409"/>
                </a:lnTo>
                <a:lnTo>
                  <a:pt x="8673473" y="1777409"/>
                </a:lnTo>
                <a:lnTo>
                  <a:pt x="8666317" y="1777409"/>
                </a:lnTo>
                <a:lnTo>
                  <a:pt x="8483549" y="1777409"/>
                </a:lnTo>
                <a:lnTo>
                  <a:pt x="8476393" y="1777409"/>
                </a:lnTo>
                <a:lnTo>
                  <a:pt x="8392966" y="1777409"/>
                </a:lnTo>
                <a:lnTo>
                  <a:pt x="8385810" y="1777409"/>
                </a:lnTo>
                <a:lnTo>
                  <a:pt x="8080364" y="1777409"/>
                </a:lnTo>
                <a:lnTo>
                  <a:pt x="8073207" y="1777409"/>
                </a:lnTo>
                <a:lnTo>
                  <a:pt x="7989781" y="1777409"/>
                </a:lnTo>
                <a:lnTo>
                  <a:pt x="7982624" y="1777409"/>
                </a:lnTo>
                <a:lnTo>
                  <a:pt x="7799857" y="1777409"/>
                </a:lnTo>
                <a:lnTo>
                  <a:pt x="7792699" y="1777409"/>
                </a:lnTo>
                <a:lnTo>
                  <a:pt x="7281559" y="1777409"/>
                </a:lnTo>
                <a:lnTo>
                  <a:pt x="7274403" y="1777409"/>
                </a:lnTo>
                <a:lnTo>
                  <a:pt x="7190976" y="1777409"/>
                </a:lnTo>
                <a:lnTo>
                  <a:pt x="7183820" y="1777409"/>
                </a:lnTo>
                <a:lnTo>
                  <a:pt x="7001052" y="1777409"/>
                </a:lnTo>
                <a:lnTo>
                  <a:pt x="6993896" y="1777409"/>
                </a:lnTo>
                <a:lnTo>
                  <a:pt x="6597867" y="1777409"/>
                </a:lnTo>
                <a:lnTo>
                  <a:pt x="6590710" y="1777409"/>
                </a:lnTo>
                <a:lnTo>
                  <a:pt x="6344446" y="1777409"/>
                </a:lnTo>
                <a:lnTo>
                  <a:pt x="6344432" y="1777409"/>
                </a:lnTo>
                <a:lnTo>
                  <a:pt x="6344417" y="1777409"/>
                </a:lnTo>
                <a:lnTo>
                  <a:pt x="6337276" y="1777409"/>
                </a:lnTo>
                <a:lnTo>
                  <a:pt x="5799062" y="1777409"/>
                </a:lnTo>
                <a:lnTo>
                  <a:pt x="5791907" y="1777409"/>
                </a:lnTo>
                <a:lnTo>
                  <a:pt x="5545643" y="1777409"/>
                </a:lnTo>
                <a:lnTo>
                  <a:pt x="5545629" y="1777409"/>
                </a:lnTo>
                <a:lnTo>
                  <a:pt x="5545613" y="1777409"/>
                </a:lnTo>
                <a:lnTo>
                  <a:pt x="5538472" y="1777409"/>
                </a:lnTo>
                <a:lnTo>
                  <a:pt x="5142457" y="1777409"/>
                </a:lnTo>
                <a:lnTo>
                  <a:pt x="5142443" y="1777409"/>
                </a:lnTo>
                <a:lnTo>
                  <a:pt x="5142429" y="1777409"/>
                </a:lnTo>
                <a:lnTo>
                  <a:pt x="5135288" y="1777409"/>
                </a:lnTo>
                <a:lnTo>
                  <a:pt x="4952533" y="1777409"/>
                </a:lnTo>
                <a:lnTo>
                  <a:pt x="4952519" y="1777409"/>
                </a:lnTo>
                <a:lnTo>
                  <a:pt x="4952503" y="1777409"/>
                </a:lnTo>
                <a:lnTo>
                  <a:pt x="4945362" y="1777409"/>
                </a:lnTo>
                <a:lnTo>
                  <a:pt x="4861950" y="1777409"/>
                </a:lnTo>
                <a:lnTo>
                  <a:pt x="4861936" y="1777409"/>
                </a:lnTo>
                <a:lnTo>
                  <a:pt x="4861921" y="1777409"/>
                </a:lnTo>
                <a:lnTo>
                  <a:pt x="4854780" y="1777409"/>
                </a:lnTo>
                <a:lnTo>
                  <a:pt x="4343653" y="1777409"/>
                </a:lnTo>
                <a:lnTo>
                  <a:pt x="4343638" y="1777409"/>
                </a:lnTo>
                <a:lnTo>
                  <a:pt x="4343624" y="1777409"/>
                </a:lnTo>
                <a:lnTo>
                  <a:pt x="4336485" y="1777409"/>
                </a:lnTo>
                <a:lnTo>
                  <a:pt x="4153728" y="1777409"/>
                </a:lnTo>
                <a:lnTo>
                  <a:pt x="4153714" y="1777409"/>
                </a:lnTo>
                <a:lnTo>
                  <a:pt x="4153699" y="1777409"/>
                </a:lnTo>
                <a:lnTo>
                  <a:pt x="4146558" y="1777409"/>
                </a:lnTo>
                <a:lnTo>
                  <a:pt x="4063146" y="1777409"/>
                </a:lnTo>
                <a:lnTo>
                  <a:pt x="4063132" y="1777409"/>
                </a:lnTo>
                <a:lnTo>
                  <a:pt x="4063116" y="1777409"/>
                </a:lnTo>
                <a:lnTo>
                  <a:pt x="4055975" y="1777409"/>
                </a:lnTo>
                <a:lnTo>
                  <a:pt x="4054973" y="1777409"/>
                </a:lnTo>
                <a:lnTo>
                  <a:pt x="3750542" y="1777409"/>
                </a:lnTo>
                <a:lnTo>
                  <a:pt x="3750529" y="1777409"/>
                </a:lnTo>
                <a:lnTo>
                  <a:pt x="3750513" y="1777409"/>
                </a:lnTo>
                <a:lnTo>
                  <a:pt x="3743372" y="1777409"/>
                </a:lnTo>
                <a:lnTo>
                  <a:pt x="3659960" y="1777409"/>
                </a:lnTo>
                <a:lnTo>
                  <a:pt x="3659946" y="1777409"/>
                </a:lnTo>
                <a:lnTo>
                  <a:pt x="3659932" y="1777409"/>
                </a:lnTo>
                <a:lnTo>
                  <a:pt x="3652792" y="1777409"/>
                </a:lnTo>
                <a:lnTo>
                  <a:pt x="3470036" y="1777409"/>
                </a:lnTo>
                <a:lnTo>
                  <a:pt x="3470022" y="1777409"/>
                </a:lnTo>
                <a:lnTo>
                  <a:pt x="3470006" y="1777409"/>
                </a:lnTo>
                <a:lnTo>
                  <a:pt x="3462866" y="1777409"/>
                </a:lnTo>
                <a:lnTo>
                  <a:pt x="3256170" y="1777409"/>
                </a:lnTo>
                <a:lnTo>
                  <a:pt x="2951738" y="1777409"/>
                </a:lnTo>
                <a:lnTo>
                  <a:pt x="2951725" y="1777409"/>
                </a:lnTo>
                <a:lnTo>
                  <a:pt x="2951709" y="1777409"/>
                </a:lnTo>
                <a:lnTo>
                  <a:pt x="2944568" y="1777409"/>
                </a:lnTo>
                <a:lnTo>
                  <a:pt x="2861157" y="1777409"/>
                </a:lnTo>
                <a:lnTo>
                  <a:pt x="2861141" y="1777409"/>
                </a:lnTo>
                <a:lnTo>
                  <a:pt x="2861127" y="1777409"/>
                </a:lnTo>
                <a:lnTo>
                  <a:pt x="2853987" y="1777409"/>
                </a:lnTo>
                <a:lnTo>
                  <a:pt x="2852986" y="1777409"/>
                </a:lnTo>
                <a:lnTo>
                  <a:pt x="2671232" y="1777409"/>
                </a:lnTo>
                <a:lnTo>
                  <a:pt x="2671217" y="1777409"/>
                </a:lnTo>
                <a:lnTo>
                  <a:pt x="2671202" y="1777409"/>
                </a:lnTo>
                <a:lnTo>
                  <a:pt x="2664061" y="1777409"/>
                </a:lnTo>
                <a:lnTo>
                  <a:pt x="2663060" y="1777409"/>
                </a:lnTo>
                <a:lnTo>
                  <a:pt x="2572478" y="1777409"/>
                </a:lnTo>
                <a:lnTo>
                  <a:pt x="2268045" y="1777409"/>
                </a:lnTo>
                <a:lnTo>
                  <a:pt x="2268032" y="1777409"/>
                </a:lnTo>
                <a:lnTo>
                  <a:pt x="2268016" y="1777409"/>
                </a:lnTo>
                <a:lnTo>
                  <a:pt x="2260876" y="1777409"/>
                </a:lnTo>
                <a:lnTo>
                  <a:pt x="2054181" y="1777409"/>
                </a:lnTo>
                <a:lnTo>
                  <a:pt x="1864255" y="1777409"/>
                </a:lnTo>
                <a:lnTo>
                  <a:pt x="1773673" y="1777409"/>
                </a:lnTo>
                <a:lnTo>
                  <a:pt x="1469241" y="1777409"/>
                </a:lnTo>
                <a:lnTo>
                  <a:pt x="1469228" y="1777409"/>
                </a:lnTo>
                <a:lnTo>
                  <a:pt x="1469212" y="1777409"/>
                </a:lnTo>
                <a:lnTo>
                  <a:pt x="1462071" y="1777409"/>
                </a:lnTo>
                <a:lnTo>
                  <a:pt x="1461070" y="1777409"/>
                </a:lnTo>
                <a:lnTo>
                  <a:pt x="1370488" y="1777409"/>
                </a:lnTo>
                <a:lnTo>
                  <a:pt x="1180562" y="1777409"/>
                </a:lnTo>
                <a:lnTo>
                  <a:pt x="662265" y="1777409"/>
                </a:lnTo>
                <a:lnTo>
                  <a:pt x="571684" y="1777409"/>
                </a:lnTo>
                <a:lnTo>
                  <a:pt x="381758" y="1777409"/>
                </a:lnTo>
                <a:lnTo>
                  <a:pt x="0" y="1777409"/>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grpSp>
        <p:nvGrpSpPr>
          <p:cNvPr id="148" name="Group 147">
            <a:extLst>
              <a:ext uri="{FF2B5EF4-FFF2-40B4-BE49-F238E27FC236}">
                <a16:creationId xmlns:a16="http://schemas.microsoft.com/office/drawing/2014/main" id="{18152647-A226-4FB3-8411-46124437D030}"/>
              </a:ext>
            </a:extLst>
          </p:cNvPr>
          <p:cNvGrpSpPr/>
          <p:nvPr/>
        </p:nvGrpSpPr>
        <p:grpSpPr>
          <a:xfrm>
            <a:off x="8455873" y="1806537"/>
            <a:ext cx="833598" cy="4838501"/>
            <a:chOff x="8997666" y="1392870"/>
            <a:chExt cx="833815" cy="4839762"/>
          </a:xfrm>
        </p:grpSpPr>
        <p:pic>
          <p:nvPicPr>
            <p:cNvPr id="68" name="Picture 67">
              <a:extLst>
                <a:ext uri="{FF2B5EF4-FFF2-40B4-BE49-F238E27FC236}">
                  <a16:creationId xmlns:a16="http://schemas.microsoft.com/office/drawing/2014/main" id="{0CD4C5F6-DA86-4AD8-9E74-5BE37D8F57C9}"/>
                </a:ext>
              </a:extLst>
            </p:cNvPr>
            <p:cNvPicPr>
              <a:picLocks noChangeAspect="1"/>
            </p:cNvPicPr>
            <p:nvPr/>
          </p:nvPicPr>
          <p:blipFill>
            <a:blip r:embed="rId3"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64250" y="3806880"/>
              <a:ext cx="741822" cy="741822"/>
            </a:xfrm>
            <a:prstGeom prst="rect">
              <a:avLst/>
            </a:prstGeom>
          </p:spPr>
        </p:pic>
        <p:pic>
          <p:nvPicPr>
            <p:cNvPr id="103" name="Picture 102">
              <a:extLst>
                <a:ext uri="{FF2B5EF4-FFF2-40B4-BE49-F238E27FC236}">
                  <a16:creationId xmlns:a16="http://schemas.microsoft.com/office/drawing/2014/main" id="{3D280780-FB48-407B-80A8-8C8A21DBF63C}"/>
                </a:ext>
              </a:extLst>
            </p:cNvPr>
            <p:cNvPicPr>
              <a:picLocks noChangeAspect="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21663" y="2990120"/>
              <a:ext cx="740897" cy="741210"/>
            </a:xfrm>
            <a:prstGeom prst="rect">
              <a:avLst/>
            </a:prstGeom>
          </p:spPr>
        </p:pic>
        <p:pic>
          <p:nvPicPr>
            <p:cNvPr id="106" name="Picture 105">
              <a:extLst>
                <a:ext uri="{FF2B5EF4-FFF2-40B4-BE49-F238E27FC236}">
                  <a16:creationId xmlns:a16="http://schemas.microsoft.com/office/drawing/2014/main" id="{D108FB7B-38D8-4B94-9D94-4AF849829799}"/>
                </a:ext>
              </a:extLst>
            </p:cNvPr>
            <p:cNvPicPr>
              <a:picLocks noChangeAspect="1"/>
            </p:cNvPicPr>
            <p:nvPr/>
          </p:nvPicPr>
          <p:blipFill>
            <a:blip r:embed="rId5"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61988" y="4679331"/>
              <a:ext cx="769493" cy="769493"/>
            </a:xfrm>
            <a:prstGeom prst="rect">
              <a:avLst/>
            </a:prstGeom>
          </p:spPr>
        </p:pic>
        <p:pic>
          <p:nvPicPr>
            <p:cNvPr id="109" name="Picture 108">
              <a:extLst>
                <a:ext uri="{FF2B5EF4-FFF2-40B4-BE49-F238E27FC236}">
                  <a16:creationId xmlns:a16="http://schemas.microsoft.com/office/drawing/2014/main" id="{83DB0013-9E39-45B6-AD78-C1A87220C58C}"/>
                </a:ext>
              </a:extLst>
            </p:cNvPr>
            <p:cNvPicPr>
              <a:picLocks noChangeAspect="1"/>
            </p:cNvPicPr>
            <p:nvPr/>
          </p:nvPicPr>
          <p:blipFill>
            <a:blip r:embed="rId6"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41659" y="5489828"/>
              <a:ext cx="742804" cy="742804"/>
            </a:xfrm>
            <a:prstGeom prst="rect">
              <a:avLst/>
            </a:prstGeom>
            <a:solidFill>
              <a:schemeClr val="bg1"/>
            </a:solidFill>
          </p:spPr>
        </p:pic>
        <p:pic>
          <p:nvPicPr>
            <p:cNvPr id="112" name="Picture 111">
              <a:extLst>
                <a:ext uri="{FF2B5EF4-FFF2-40B4-BE49-F238E27FC236}">
                  <a16:creationId xmlns:a16="http://schemas.microsoft.com/office/drawing/2014/main" id="{D04E02B9-04A6-4817-8BE4-65514FD68CDC}"/>
                </a:ext>
              </a:extLst>
            </p:cNvPr>
            <p:cNvPicPr>
              <a:picLocks noChangeAspect="1"/>
            </p:cNvPicPr>
            <p:nvPr/>
          </p:nvPicPr>
          <p:blipFill>
            <a:blip r:embed="rId7" cstate="screen">
              <a:grayscl/>
              <a:extLst>
                <a:ext uri="{28A0092B-C50C-407E-A947-70E740481C1C}">
                  <a14:useLocalDpi xmlns:a14="http://schemas.microsoft.com/office/drawing/2010/main"/>
                </a:ext>
              </a:extLst>
            </a:blip>
            <a:stretch>
              <a:fillRect/>
            </a:stretch>
          </p:blipFill>
          <p:spPr>
            <a:xfrm>
              <a:off x="9064250" y="1392870"/>
              <a:ext cx="673543" cy="673543"/>
            </a:xfrm>
            <a:prstGeom prst="rect">
              <a:avLst/>
            </a:prstGeom>
          </p:spPr>
        </p:pic>
        <p:pic>
          <p:nvPicPr>
            <p:cNvPr id="115" name="Picture 114">
              <a:extLst>
                <a:ext uri="{FF2B5EF4-FFF2-40B4-BE49-F238E27FC236}">
                  <a16:creationId xmlns:a16="http://schemas.microsoft.com/office/drawing/2014/main" id="{00BED76D-DFB0-4362-A760-773B1BA0403D}"/>
                </a:ext>
              </a:extLst>
            </p:cNvPr>
            <p:cNvPicPr>
              <a:picLocks noChangeAspect="1"/>
            </p:cNvPicPr>
            <p:nvPr/>
          </p:nvPicPr>
          <p:blipFill>
            <a:blip r:embed="rId8"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8997666" y="2037978"/>
              <a:ext cx="816004" cy="816004"/>
            </a:xfrm>
            <a:prstGeom prst="rect">
              <a:avLst/>
            </a:prstGeom>
          </p:spPr>
        </p:pic>
      </p:grpSp>
      <p:cxnSp>
        <p:nvCxnSpPr>
          <p:cNvPr id="69" name="Straight Arrow Connector 68">
            <a:extLst>
              <a:ext uri="{FF2B5EF4-FFF2-40B4-BE49-F238E27FC236}">
                <a16:creationId xmlns:a16="http://schemas.microsoft.com/office/drawing/2014/main" id="{F7995142-4231-4C2B-BCEA-D978371CB641}"/>
              </a:ext>
            </a:extLst>
          </p:cNvPr>
          <p:cNvCxnSpPr>
            <a:cxnSpLocks/>
          </p:cNvCxnSpPr>
          <p:nvPr/>
        </p:nvCxnSpPr>
        <p:spPr>
          <a:xfrm>
            <a:off x="2836332" y="3317096"/>
            <a:ext cx="1150956" cy="633575"/>
          </a:xfrm>
          <a:prstGeom prst="straightConnector1">
            <a:avLst/>
          </a:prstGeom>
          <a:noFill/>
          <a:ln w="31750" cap="flat" cmpd="sng" algn="ctr">
            <a:solidFill>
              <a:srgbClr val="AFAFAF"/>
            </a:solidFill>
            <a:prstDash val="solid"/>
            <a:headEnd type="oval" w="med" len="med"/>
            <a:tailEnd type="none" w="lg" len="sm"/>
          </a:ln>
          <a:effectLst/>
        </p:spPr>
      </p:cxnSp>
      <p:sp>
        <p:nvSpPr>
          <p:cNvPr id="70" name="TextBox 69">
            <a:extLst>
              <a:ext uri="{FF2B5EF4-FFF2-40B4-BE49-F238E27FC236}">
                <a16:creationId xmlns:a16="http://schemas.microsoft.com/office/drawing/2014/main" id="{B187ED28-71D3-488B-8456-DA93B93152AF}"/>
              </a:ext>
            </a:extLst>
          </p:cNvPr>
          <p:cNvSpPr txBox="1"/>
          <p:nvPr/>
        </p:nvSpPr>
        <p:spPr>
          <a:xfrm>
            <a:off x="6789384" y="1920359"/>
            <a:ext cx="1555234" cy="338554"/>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Matter updates</a:t>
            </a:r>
          </a:p>
        </p:txBody>
      </p:sp>
      <p:sp>
        <p:nvSpPr>
          <p:cNvPr id="71" name="TextBox 70">
            <a:extLst>
              <a:ext uri="{FF2B5EF4-FFF2-40B4-BE49-F238E27FC236}">
                <a16:creationId xmlns:a16="http://schemas.microsoft.com/office/drawing/2014/main" id="{AD945FBF-0A79-47F7-9591-E8D576610DF8}"/>
              </a:ext>
            </a:extLst>
          </p:cNvPr>
          <p:cNvSpPr txBox="1"/>
          <p:nvPr/>
        </p:nvSpPr>
        <p:spPr>
          <a:xfrm>
            <a:off x="6789383" y="2659573"/>
            <a:ext cx="1428596" cy="338554"/>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Project status</a:t>
            </a:r>
          </a:p>
        </p:txBody>
      </p:sp>
      <p:sp>
        <p:nvSpPr>
          <p:cNvPr id="72" name="TextBox 71">
            <a:extLst>
              <a:ext uri="{FF2B5EF4-FFF2-40B4-BE49-F238E27FC236}">
                <a16:creationId xmlns:a16="http://schemas.microsoft.com/office/drawing/2014/main" id="{4802FB26-E58D-4201-B0EC-B47FD77C7E90}"/>
              </a:ext>
            </a:extLst>
          </p:cNvPr>
          <p:cNvSpPr txBox="1"/>
          <p:nvPr/>
        </p:nvSpPr>
        <p:spPr>
          <a:xfrm>
            <a:off x="6789383" y="4412744"/>
            <a:ext cx="1221809" cy="338554"/>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Documents</a:t>
            </a:r>
          </a:p>
        </p:txBody>
      </p:sp>
      <p:sp>
        <p:nvSpPr>
          <p:cNvPr id="73" name="TextBox 72">
            <a:extLst>
              <a:ext uri="{FF2B5EF4-FFF2-40B4-BE49-F238E27FC236}">
                <a16:creationId xmlns:a16="http://schemas.microsoft.com/office/drawing/2014/main" id="{14CEE281-CD88-4DD1-8C54-0EA1DDFCF437}"/>
              </a:ext>
            </a:extLst>
          </p:cNvPr>
          <p:cNvSpPr txBox="1"/>
          <p:nvPr/>
        </p:nvSpPr>
        <p:spPr>
          <a:xfrm>
            <a:off x="6789383" y="5149618"/>
            <a:ext cx="1199367" cy="584775"/>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Billing </a:t>
            </a:r>
          </a:p>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information</a:t>
            </a:r>
          </a:p>
        </p:txBody>
      </p:sp>
      <p:sp>
        <p:nvSpPr>
          <p:cNvPr id="74" name="TextBox 73">
            <a:extLst>
              <a:ext uri="{FF2B5EF4-FFF2-40B4-BE49-F238E27FC236}">
                <a16:creationId xmlns:a16="http://schemas.microsoft.com/office/drawing/2014/main" id="{29EB99C6-BE46-465E-A103-9C13515F4877}"/>
              </a:ext>
            </a:extLst>
          </p:cNvPr>
          <p:cNvSpPr txBox="1"/>
          <p:nvPr/>
        </p:nvSpPr>
        <p:spPr>
          <a:xfrm>
            <a:off x="6789382" y="6000087"/>
            <a:ext cx="1907543" cy="584775"/>
          </a:xfrm>
          <a:prstGeom prst="rect">
            <a:avLst/>
          </a:prstGeom>
          <a:noFill/>
        </p:spPr>
        <p:txBody>
          <a:bodyPr wrap="squar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Reporting / </a:t>
            </a:r>
            <a:b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b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data visualization </a:t>
            </a:r>
          </a:p>
        </p:txBody>
      </p:sp>
      <p:sp>
        <p:nvSpPr>
          <p:cNvPr id="75" name="TextBox 74">
            <a:extLst>
              <a:ext uri="{FF2B5EF4-FFF2-40B4-BE49-F238E27FC236}">
                <a16:creationId xmlns:a16="http://schemas.microsoft.com/office/drawing/2014/main" id="{634D79ED-0453-4A7A-978D-A6B31BE5C4D4}"/>
              </a:ext>
            </a:extLst>
          </p:cNvPr>
          <p:cNvSpPr txBox="1"/>
          <p:nvPr/>
        </p:nvSpPr>
        <p:spPr>
          <a:xfrm>
            <a:off x="6789384" y="3467309"/>
            <a:ext cx="1253869" cy="584775"/>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Knowledge </a:t>
            </a:r>
            <a:b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b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and insight</a:t>
            </a:r>
          </a:p>
        </p:txBody>
      </p:sp>
      <p:cxnSp>
        <p:nvCxnSpPr>
          <p:cNvPr id="76" name="Connector: Elbow 75">
            <a:extLst>
              <a:ext uri="{FF2B5EF4-FFF2-40B4-BE49-F238E27FC236}">
                <a16:creationId xmlns:a16="http://schemas.microsoft.com/office/drawing/2014/main" id="{143F7699-6F9C-4E81-8EB4-6906609EE02F}"/>
              </a:ext>
            </a:extLst>
          </p:cNvPr>
          <p:cNvCxnSpPr>
            <a:cxnSpLocks/>
          </p:cNvCxnSpPr>
          <p:nvPr/>
        </p:nvCxnSpPr>
        <p:spPr>
          <a:xfrm rot="5400000" flipH="1" flipV="1">
            <a:off x="5372516" y="2858332"/>
            <a:ext cx="2193656" cy="640080"/>
          </a:xfrm>
          <a:prstGeom prst="bentConnector2">
            <a:avLst/>
          </a:prstGeom>
          <a:noFill/>
          <a:ln w="19050" cap="flat" cmpd="sng" algn="ctr">
            <a:solidFill>
              <a:srgbClr val="666666"/>
            </a:solidFill>
            <a:prstDash val="dash"/>
            <a:headEnd type="none" w="med" len="med"/>
            <a:tailEnd type="triangle" w="lg" len="lg"/>
          </a:ln>
          <a:effectLst/>
        </p:spPr>
      </p:cxnSp>
      <p:cxnSp>
        <p:nvCxnSpPr>
          <p:cNvPr id="77" name="Connector: Elbow 76">
            <a:extLst>
              <a:ext uri="{FF2B5EF4-FFF2-40B4-BE49-F238E27FC236}">
                <a16:creationId xmlns:a16="http://schemas.microsoft.com/office/drawing/2014/main" id="{B25A3EEB-B806-4D68-9C14-18F6E2A8A84D}"/>
              </a:ext>
            </a:extLst>
          </p:cNvPr>
          <p:cNvCxnSpPr>
            <a:cxnSpLocks/>
          </p:cNvCxnSpPr>
          <p:nvPr/>
        </p:nvCxnSpPr>
        <p:spPr>
          <a:xfrm rot="16200000" flipH="1">
            <a:off x="5418417" y="4932237"/>
            <a:ext cx="2103120" cy="640080"/>
          </a:xfrm>
          <a:prstGeom prst="bentConnector2">
            <a:avLst/>
          </a:prstGeom>
          <a:noFill/>
          <a:ln w="19050" cap="flat" cmpd="sng" algn="ctr">
            <a:solidFill>
              <a:srgbClr val="666666"/>
            </a:solidFill>
            <a:prstDash val="dash"/>
            <a:headEnd type="none" w="med" len="med"/>
            <a:tailEnd type="triangle" w="lg" len="lg"/>
          </a:ln>
          <a:effectLst/>
        </p:spPr>
      </p:cxnSp>
      <p:sp>
        <p:nvSpPr>
          <p:cNvPr id="78" name="Arc 77">
            <a:extLst>
              <a:ext uri="{FF2B5EF4-FFF2-40B4-BE49-F238E27FC236}">
                <a16:creationId xmlns:a16="http://schemas.microsoft.com/office/drawing/2014/main" id="{91FE08D9-C291-4817-BC32-8F9058331B6E}"/>
              </a:ext>
            </a:extLst>
          </p:cNvPr>
          <p:cNvSpPr/>
          <p:nvPr/>
        </p:nvSpPr>
        <p:spPr>
          <a:xfrm rot="1989032" flipH="1" flipV="1">
            <a:off x="9262752" y="2232820"/>
            <a:ext cx="2998471" cy="1264064"/>
          </a:xfrm>
          <a:prstGeom prst="arc">
            <a:avLst>
              <a:gd name="adj1" fmla="val 15782777"/>
              <a:gd name="adj2" fmla="val 21041903"/>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79" name="Arc 78">
            <a:extLst>
              <a:ext uri="{FF2B5EF4-FFF2-40B4-BE49-F238E27FC236}">
                <a16:creationId xmlns:a16="http://schemas.microsoft.com/office/drawing/2014/main" id="{F367F64D-D071-4CBB-9C05-8592251CEAAA}"/>
              </a:ext>
            </a:extLst>
          </p:cNvPr>
          <p:cNvSpPr/>
          <p:nvPr/>
        </p:nvSpPr>
        <p:spPr>
          <a:xfrm rot="832436" flipH="1">
            <a:off x="9422565" y="4696512"/>
            <a:ext cx="1650628" cy="2947930"/>
          </a:xfrm>
          <a:prstGeom prst="arc">
            <a:avLst>
              <a:gd name="adj1" fmla="val 16972786"/>
              <a:gd name="adj2" fmla="val 898276"/>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80" name="Arc 79">
            <a:extLst>
              <a:ext uri="{FF2B5EF4-FFF2-40B4-BE49-F238E27FC236}">
                <a16:creationId xmlns:a16="http://schemas.microsoft.com/office/drawing/2014/main" id="{A1AE930D-DBE9-495A-8522-AEBF6DFD4E58}"/>
              </a:ext>
            </a:extLst>
          </p:cNvPr>
          <p:cNvSpPr/>
          <p:nvPr/>
        </p:nvSpPr>
        <p:spPr>
          <a:xfrm rot="1477594" flipH="1" flipV="1">
            <a:off x="9091822" y="2461842"/>
            <a:ext cx="2549460" cy="1264064"/>
          </a:xfrm>
          <a:prstGeom prst="arc">
            <a:avLst>
              <a:gd name="adj1" fmla="val 15782777"/>
              <a:gd name="adj2" fmla="val 20441016"/>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81" name="Arc 80">
            <a:extLst>
              <a:ext uri="{FF2B5EF4-FFF2-40B4-BE49-F238E27FC236}">
                <a16:creationId xmlns:a16="http://schemas.microsoft.com/office/drawing/2014/main" id="{439F039A-0B82-429C-BB3A-BD485998CAE2}"/>
              </a:ext>
            </a:extLst>
          </p:cNvPr>
          <p:cNvSpPr/>
          <p:nvPr/>
        </p:nvSpPr>
        <p:spPr>
          <a:xfrm rot="2157463" flipH="1">
            <a:off x="8745285" y="4063982"/>
            <a:ext cx="1650628" cy="2801311"/>
          </a:xfrm>
          <a:prstGeom prst="arc">
            <a:avLst>
              <a:gd name="adj1" fmla="val 16972786"/>
              <a:gd name="adj2" fmla="val 18866902"/>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82" name="Arc 81">
            <a:extLst>
              <a:ext uri="{FF2B5EF4-FFF2-40B4-BE49-F238E27FC236}">
                <a16:creationId xmlns:a16="http://schemas.microsoft.com/office/drawing/2014/main" id="{74E267CC-7333-4CE9-A13C-C0586E486B65}"/>
              </a:ext>
            </a:extLst>
          </p:cNvPr>
          <p:cNvSpPr/>
          <p:nvPr/>
        </p:nvSpPr>
        <p:spPr>
          <a:xfrm rot="1580319" flipH="1">
            <a:off x="9013840" y="4420367"/>
            <a:ext cx="1650628" cy="2801311"/>
          </a:xfrm>
          <a:prstGeom prst="arc">
            <a:avLst>
              <a:gd name="adj1" fmla="val 17030412"/>
              <a:gd name="adj2" fmla="val 19965785"/>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83" name="Arc 82">
            <a:extLst>
              <a:ext uri="{FF2B5EF4-FFF2-40B4-BE49-F238E27FC236}">
                <a16:creationId xmlns:a16="http://schemas.microsoft.com/office/drawing/2014/main" id="{90E19C04-8B19-495D-BEB3-9B42F6D64BC4}"/>
              </a:ext>
            </a:extLst>
          </p:cNvPr>
          <p:cNvSpPr/>
          <p:nvPr/>
        </p:nvSpPr>
        <p:spPr>
          <a:xfrm rot="921102" flipH="1" flipV="1">
            <a:off x="8906267" y="2723873"/>
            <a:ext cx="2549460" cy="1264064"/>
          </a:xfrm>
          <a:prstGeom prst="arc">
            <a:avLst>
              <a:gd name="adj1" fmla="val 15782777"/>
              <a:gd name="adj2" fmla="val 19121052"/>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cxnSp>
        <p:nvCxnSpPr>
          <p:cNvPr id="84" name="Straight Arrow Connector 83">
            <a:extLst>
              <a:ext uri="{FF2B5EF4-FFF2-40B4-BE49-F238E27FC236}">
                <a16:creationId xmlns:a16="http://schemas.microsoft.com/office/drawing/2014/main" id="{4075B98F-68DC-4D3C-8683-C87CCEE19723}"/>
              </a:ext>
            </a:extLst>
          </p:cNvPr>
          <p:cNvCxnSpPr>
            <a:cxnSpLocks/>
          </p:cNvCxnSpPr>
          <p:nvPr/>
        </p:nvCxnSpPr>
        <p:spPr>
          <a:xfrm flipV="1">
            <a:off x="6231462" y="3773797"/>
            <a:ext cx="566928" cy="82"/>
          </a:xfrm>
          <a:prstGeom prst="straightConnector1">
            <a:avLst/>
          </a:prstGeom>
          <a:noFill/>
          <a:ln w="19050" cap="flat" cmpd="sng" algn="ctr">
            <a:solidFill>
              <a:srgbClr val="666666"/>
            </a:solidFill>
            <a:prstDash val="dash"/>
            <a:headEnd type="none" w="med" len="med"/>
            <a:tailEnd type="triangle" w="lg" len="lg"/>
          </a:ln>
          <a:effectLst/>
        </p:spPr>
      </p:cxnSp>
      <p:cxnSp>
        <p:nvCxnSpPr>
          <p:cNvPr id="85" name="Straight Arrow Connector 84">
            <a:extLst>
              <a:ext uri="{FF2B5EF4-FFF2-40B4-BE49-F238E27FC236}">
                <a16:creationId xmlns:a16="http://schemas.microsoft.com/office/drawing/2014/main" id="{075AAB04-8131-4AB0-9CB4-988CE4634C45}"/>
              </a:ext>
            </a:extLst>
          </p:cNvPr>
          <p:cNvCxnSpPr>
            <a:cxnSpLocks/>
          </p:cNvCxnSpPr>
          <p:nvPr/>
        </p:nvCxnSpPr>
        <p:spPr>
          <a:xfrm>
            <a:off x="6231462" y="4587568"/>
            <a:ext cx="566928" cy="0"/>
          </a:xfrm>
          <a:prstGeom prst="straightConnector1">
            <a:avLst/>
          </a:prstGeom>
          <a:noFill/>
          <a:ln w="19050" cap="flat" cmpd="sng" algn="ctr">
            <a:solidFill>
              <a:srgbClr val="666666"/>
            </a:solidFill>
            <a:prstDash val="dash"/>
            <a:headEnd type="none" w="med" len="med"/>
            <a:tailEnd type="triangle" w="lg" len="lg"/>
          </a:ln>
          <a:effectLst/>
        </p:spPr>
      </p:cxnSp>
      <p:cxnSp>
        <p:nvCxnSpPr>
          <p:cNvPr id="86" name="Straight Arrow Connector 85">
            <a:extLst>
              <a:ext uri="{FF2B5EF4-FFF2-40B4-BE49-F238E27FC236}">
                <a16:creationId xmlns:a16="http://schemas.microsoft.com/office/drawing/2014/main" id="{1C807EDC-2D94-411B-A438-FD46AC43B31D}"/>
              </a:ext>
            </a:extLst>
          </p:cNvPr>
          <p:cNvCxnSpPr>
            <a:cxnSpLocks/>
          </p:cNvCxnSpPr>
          <p:nvPr/>
        </p:nvCxnSpPr>
        <p:spPr>
          <a:xfrm>
            <a:off x="6231462" y="5473203"/>
            <a:ext cx="566928" cy="0"/>
          </a:xfrm>
          <a:prstGeom prst="straightConnector1">
            <a:avLst/>
          </a:prstGeom>
          <a:noFill/>
          <a:ln w="19050" cap="flat" cmpd="sng" algn="ctr">
            <a:solidFill>
              <a:srgbClr val="666666"/>
            </a:solidFill>
            <a:prstDash val="dash"/>
            <a:headEnd type="none" w="med" len="med"/>
            <a:tailEnd type="triangle" w="lg" len="lg"/>
          </a:ln>
          <a:effectLst/>
        </p:spPr>
      </p:cxnSp>
      <p:cxnSp>
        <p:nvCxnSpPr>
          <p:cNvPr id="87" name="Straight Arrow Connector 86">
            <a:extLst>
              <a:ext uri="{FF2B5EF4-FFF2-40B4-BE49-F238E27FC236}">
                <a16:creationId xmlns:a16="http://schemas.microsoft.com/office/drawing/2014/main" id="{739ED064-BD25-4917-AB63-CB21574A9BCB}"/>
              </a:ext>
            </a:extLst>
          </p:cNvPr>
          <p:cNvCxnSpPr>
            <a:cxnSpLocks/>
          </p:cNvCxnSpPr>
          <p:nvPr/>
        </p:nvCxnSpPr>
        <p:spPr>
          <a:xfrm>
            <a:off x="3813324" y="3108170"/>
            <a:ext cx="394918" cy="561185"/>
          </a:xfrm>
          <a:prstGeom prst="straightConnector1">
            <a:avLst/>
          </a:prstGeom>
          <a:noFill/>
          <a:ln w="31750" cap="flat" cmpd="sng" algn="ctr">
            <a:solidFill>
              <a:srgbClr val="AFAFAF"/>
            </a:solidFill>
            <a:prstDash val="solid"/>
            <a:headEnd type="oval" w="med" len="med"/>
            <a:tailEnd type="none" w="lg" len="sm"/>
          </a:ln>
          <a:effectLst/>
        </p:spPr>
      </p:cxnSp>
      <p:cxnSp>
        <p:nvCxnSpPr>
          <p:cNvPr id="88" name="Straight Arrow Connector 87">
            <a:extLst>
              <a:ext uri="{FF2B5EF4-FFF2-40B4-BE49-F238E27FC236}">
                <a16:creationId xmlns:a16="http://schemas.microsoft.com/office/drawing/2014/main" id="{0C225214-5463-4D0D-B304-7E8B2F6D01AF}"/>
              </a:ext>
            </a:extLst>
          </p:cNvPr>
          <p:cNvCxnSpPr>
            <a:cxnSpLocks/>
          </p:cNvCxnSpPr>
          <p:nvPr/>
        </p:nvCxnSpPr>
        <p:spPr>
          <a:xfrm>
            <a:off x="2529173" y="4240494"/>
            <a:ext cx="1319398" cy="1"/>
          </a:xfrm>
          <a:prstGeom prst="straightConnector1">
            <a:avLst/>
          </a:prstGeom>
          <a:noFill/>
          <a:ln w="31750" cap="flat" cmpd="sng" algn="ctr">
            <a:solidFill>
              <a:srgbClr val="AFAFAF"/>
            </a:solidFill>
            <a:prstDash val="solid"/>
            <a:headEnd type="oval" w="med" len="med"/>
            <a:tailEnd type="none" w="lg" len="sm"/>
          </a:ln>
          <a:effectLst/>
        </p:spPr>
      </p:cxnSp>
      <p:cxnSp>
        <p:nvCxnSpPr>
          <p:cNvPr id="89" name="Straight Arrow Connector 88">
            <a:extLst>
              <a:ext uri="{FF2B5EF4-FFF2-40B4-BE49-F238E27FC236}">
                <a16:creationId xmlns:a16="http://schemas.microsoft.com/office/drawing/2014/main" id="{C32FB914-98D0-46E4-9E59-7E7EAFC5346D}"/>
              </a:ext>
            </a:extLst>
          </p:cNvPr>
          <p:cNvCxnSpPr>
            <a:cxnSpLocks/>
          </p:cNvCxnSpPr>
          <p:nvPr/>
        </p:nvCxnSpPr>
        <p:spPr>
          <a:xfrm flipV="1">
            <a:off x="2866767" y="4412745"/>
            <a:ext cx="1027334" cy="682903"/>
          </a:xfrm>
          <a:prstGeom prst="straightConnector1">
            <a:avLst/>
          </a:prstGeom>
          <a:noFill/>
          <a:ln w="31750" cap="flat" cmpd="sng" algn="ctr">
            <a:solidFill>
              <a:srgbClr val="AFAFAF"/>
            </a:solidFill>
            <a:prstDash val="solid"/>
            <a:headEnd type="oval" w="med" len="med"/>
            <a:tailEnd type="none" w="lg" len="sm"/>
          </a:ln>
          <a:effectLst/>
        </p:spPr>
      </p:cxnSp>
      <p:cxnSp>
        <p:nvCxnSpPr>
          <p:cNvPr id="90" name="Straight Arrow Connector 89">
            <a:extLst>
              <a:ext uri="{FF2B5EF4-FFF2-40B4-BE49-F238E27FC236}">
                <a16:creationId xmlns:a16="http://schemas.microsoft.com/office/drawing/2014/main" id="{C13C56BB-62C7-4346-AA05-F1CF4784E1EB}"/>
              </a:ext>
            </a:extLst>
          </p:cNvPr>
          <p:cNvCxnSpPr>
            <a:cxnSpLocks/>
            <a:endCxn id="123" idx="8"/>
          </p:cNvCxnSpPr>
          <p:nvPr/>
        </p:nvCxnSpPr>
        <p:spPr>
          <a:xfrm flipV="1">
            <a:off x="3771269" y="4619903"/>
            <a:ext cx="436972" cy="726507"/>
          </a:xfrm>
          <a:prstGeom prst="straightConnector1">
            <a:avLst/>
          </a:prstGeom>
          <a:noFill/>
          <a:ln w="31750" cap="flat" cmpd="sng" algn="ctr">
            <a:solidFill>
              <a:srgbClr val="AFAFAF"/>
            </a:solidFill>
            <a:prstDash val="solid"/>
            <a:headEnd type="oval" w="med" len="med"/>
            <a:tailEnd type="none" w="lg" len="sm"/>
          </a:ln>
          <a:effectLst/>
        </p:spPr>
      </p:cxnSp>
      <p:cxnSp>
        <p:nvCxnSpPr>
          <p:cNvPr id="91" name="Straight Arrow Connector 90">
            <a:extLst>
              <a:ext uri="{FF2B5EF4-FFF2-40B4-BE49-F238E27FC236}">
                <a16:creationId xmlns:a16="http://schemas.microsoft.com/office/drawing/2014/main" id="{C6ABAEDE-74FD-432D-AFB1-FC91AA00E53F}"/>
              </a:ext>
            </a:extLst>
          </p:cNvPr>
          <p:cNvCxnSpPr>
            <a:cxnSpLocks/>
          </p:cNvCxnSpPr>
          <p:nvPr/>
        </p:nvCxnSpPr>
        <p:spPr>
          <a:xfrm flipV="1">
            <a:off x="4721521" y="4619904"/>
            <a:ext cx="0" cy="726508"/>
          </a:xfrm>
          <a:prstGeom prst="straightConnector1">
            <a:avLst/>
          </a:prstGeom>
          <a:noFill/>
          <a:ln w="31750" cap="flat" cmpd="sng" algn="ctr">
            <a:solidFill>
              <a:srgbClr val="AFAFAF"/>
            </a:solidFill>
            <a:prstDash val="solid"/>
            <a:headEnd type="oval" w="med" len="med"/>
            <a:tailEnd type="none" w="lg" len="sm"/>
          </a:ln>
          <a:effectLst/>
        </p:spPr>
      </p:cxnSp>
      <p:cxnSp>
        <p:nvCxnSpPr>
          <p:cNvPr id="92" name="Straight Arrow Connector 91">
            <a:extLst>
              <a:ext uri="{FF2B5EF4-FFF2-40B4-BE49-F238E27FC236}">
                <a16:creationId xmlns:a16="http://schemas.microsoft.com/office/drawing/2014/main" id="{A945FBB5-CEBC-4686-9767-B246952AF051}"/>
              </a:ext>
            </a:extLst>
          </p:cNvPr>
          <p:cNvCxnSpPr>
            <a:cxnSpLocks/>
          </p:cNvCxnSpPr>
          <p:nvPr/>
        </p:nvCxnSpPr>
        <p:spPr>
          <a:xfrm>
            <a:off x="4680747" y="3084237"/>
            <a:ext cx="0" cy="551137"/>
          </a:xfrm>
          <a:prstGeom prst="straightConnector1">
            <a:avLst/>
          </a:prstGeom>
          <a:noFill/>
          <a:ln w="31750" cap="flat" cmpd="sng" algn="ctr">
            <a:solidFill>
              <a:srgbClr val="AFAFAF"/>
            </a:solidFill>
            <a:prstDash val="solid"/>
            <a:headEnd type="oval" w="med" len="med"/>
            <a:tailEnd type="none" w="lg" len="sm"/>
          </a:ln>
          <a:effectLst/>
        </p:spPr>
      </p:cxnSp>
      <p:sp>
        <p:nvSpPr>
          <p:cNvPr id="93" name="Rectangle 92">
            <a:extLst>
              <a:ext uri="{FF2B5EF4-FFF2-40B4-BE49-F238E27FC236}">
                <a16:creationId xmlns:a16="http://schemas.microsoft.com/office/drawing/2014/main" id="{45FA2373-AA11-42BF-A4B3-DDAFB9213A17}"/>
              </a:ext>
            </a:extLst>
          </p:cNvPr>
          <p:cNvSpPr/>
          <p:nvPr/>
        </p:nvSpPr>
        <p:spPr>
          <a:xfrm>
            <a:off x="787824" y="2053455"/>
            <a:ext cx="1521419" cy="930241"/>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tx2"/>
                </a:solidFill>
                <a:effectLst/>
                <a:uLnTx/>
                <a:uFillTx/>
                <a:latin typeface="Arial"/>
                <a:ea typeface="+mn-ea"/>
                <a:cs typeface="Helvetica"/>
                <a:sym typeface="Arial"/>
              </a:rPr>
              <a:t>Artificial Intelligence</a:t>
            </a:r>
          </a:p>
        </p:txBody>
      </p:sp>
      <p:sp>
        <p:nvSpPr>
          <p:cNvPr id="94" name="Rectangle 93">
            <a:extLst>
              <a:ext uri="{FF2B5EF4-FFF2-40B4-BE49-F238E27FC236}">
                <a16:creationId xmlns:a16="http://schemas.microsoft.com/office/drawing/2014/main" id="{F6F62520-1EB9-4A57-AABC-D8DF7536535D}"/>
              </a:ext>
            </a:extLst>
          </p:cNvPr>
          <p:cNvSpPr/>
          <p:nvPr/>
        </p:nvSpPr>
        <p:spPr>
          <a:xfrm>
            <a:off x="788117" y="4359997"/>
            <a:ext cx="1521420" cy="880236"/>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chemeClr val="tx2"/>
                </a:solidFill>
                <a:effectLst/>
                <a:uLnTx/>
                <a:uFillTx/>
                <a:latin typeface="Arial"/>
                <a:ea typeface="+mn-ea"/>
                <a:cs typeface="Helvetica"/>
                <a:sym typeface="Arial"/>
              </a:rPr>
              <a:t>Electronic signatures</a:t>
            </a:r>
          </a:p>
        </p:txBody>
      </p:sp>
      <p:sp>
        <p:nvSpPr>
          <p:cNvPr id="95" name="Rectangle 94">
            <a:extLst>
              <a:ext uri="{FF2B5EF4-FFF2-40B4-BE49-F238E27FC236}">
                <a16:creationId xmlns:a16="http://schemas.microsoft.com/office/drawing/2014/main" id="{A73F7259-D183-4700-949D-F640D52ECF4A}"/>
              </a:ext>
            </a:extLst>
          </p:cNvPr>
          <p:cNvSpPr/>
          <p:nvPr/>
        </p:nvSpPr>
        <p:spPr>
          <a:xfrm>
            <a:off x="787195" y="5456224"/>
            <a:ext cx="1521420" cy="880237"/>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chemeClr val="tx2"/>
                </a:solidFill>
                <a:effectLst/>
                <a:uLnTx/>
                <a:uFillTx/>
                <a:latin typeface="Arial"/>
                <a:ea typeface="+mn-ea"/>
                <a:cs typeface="Helvetica"/>
                <a:sym typeface="Arial"/>
              </a:rPr>
              <a:t>CRM</a:t>
            </a:r>
          </a:p>
        </p:txBody>
      </p:sp>
      <p:sp>
        <p:nvSpPr>
          <p:cNvPr id="96" name="Rectangle 95">
            <a:extLst>
              <a:ext uri="{FF2B5EF4-FFF2-40B4-BE49-F238E27FC236}">
                <a16:creationId xmlns:a16="http://schemas.microsoft.com/office/drawing/2014/main" id="{8901C096-88BC-4B08-A062-4CA4D0A95BD7}"/>
              </a:ext>
            </a:extLst>
          </p:cNvPr>
          <p:cNvSpPr/>
          <p:nvPr/>
        </p:nvSpPr>
        <p:spPr>
          <a:xfrm>
            <a:off x="787196" y="3205394"/>
            <a:ext cx="1521419" cy="930241"/>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chemeClr val="tx2"/>
                </a:solidFill>
                <a:effectLst/>
                <a:uLnTx/>
                <a:uFillTx/>
                <a:latin typeface="Arial"/>
                <a:ea typeface="+mn-ea"/>
                <a:cs typeface="Helvetica"/>
                <a:sym typeface="Arial"/>
              </a:rPr>
              <a:t>Document Automation</a:t>
            </a:r>
          </a:p>
        </p:txBody>
      </p:sp>
      <p:sp>
        <p:nvSpPr>
          <p:cNvPr id="97" name="Rectangle 96">
            <a:extLst>
              <a:ext uri="{FF2B5EF4-FFF2-40B4-BE49-F238E27FC236}">
                <a16:creationId xmlns:a16="http://schemas.microsoft.com/office/drawing/2014/main" id="{15AA63DD-FFE7-41EA-8B81-16A5ADC909C3}"/>
              </a:ext>
            </a:extLst>
          </p:cNvPr>
          <p:cNvSpPr/>
          <p:nvPr/>
        </p:nvSpPr>
        <p:spPr>
          <a:xfrm>
            <a:off x="2530480" y="5452832"/>
            <a:ext cx="1521420" cy="877483"/>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tx2"/>
                </a:solidFill>
                <a:effectLst/>
                <a:uLnTx/>
                <a:uFillTx/>
                <a:latin typeface="Arial"/>
                <a:ea typeface="+mn-ea"/>
                <a:cs typeface="Helvetica"/>
                <a:sym typeface="Arial"/>
              </a:rPr>
              <a:t>Identity services</a:t>
            </a:r>
          </a:p>
        </p:txBody>
      </p:sp>
      <p:sp>
        <p:nvSpPr>
          <p:cNvPr id="98" name="Rectangle 97">
            <a:extLst>
              <a:ext uri="{FF2B5EF4-FFF2-40B4-BE49-F238E27FC236}">
                <a16:creationId xmlns:a16="http://schemas.microsoft.com/office/drawing/2014/main" id="{5FE1A788-1655-441D-9C2F-54CF192DEFD6}"/>
              </a:ext>
            </a:extLst>
          </p:cNvPr>
          <p:cNvSpPr/>
          <p:nvPr/>
        </p:nvSpPr>
        <p:spPr>
          <a:xfrm>
            <a:off x="4271892" y="5452833"/>
            <a:ext cx="1521420" cy="877482"/>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chemeClr val="tx2"/>
                </a:solidFill>
                <a:effectLst/>
                <a:uLnTx/>
                <a:uFillTx/>
                <a:latin typeface="Arial"/>
                <a:ea typeface="+mn-ea"/>
                <a:cs typeface="Helvetica"/>
                <a:sym typeface="Arial"/>
              </a:rPr>
              <a:t>Other </a:t>
            </a:r>
          </a:p>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chemeClr val="tx2"/>
                </a:solidFill>
                <a:effectLst/>
                <a:uLnTx/>
                <a:uFillTx/>
                <a:latin typeface="Arial"/>
                <a:ea typeface="+mn-ea"/>
                <a:cs typeface="Helvetica"/>
                <a:sym typeface="Arial"/>
              </a:rPr>
              <a:t>connectors</a:t>
            </a:r>
          </a:p>
        </p:txBody>
      </p:sp>
      <p:sp>
        <p:nvSpPr>
          <p:cNvPr id="99" name="Rectangle 98">
            <a:extLst>
              <a:ext uri="{FF2B5EF4-FFF2-40B4-BE49-F238E27FC236}">
                <a16:creationId xmlns:a16="http://schemas.microsoft.com/office/drawing/2014/main" id="{4F6AFCCF-E9BF-4ACB-A342-839ADFCB00BD}"/>
              </a:ext>
            </a:extLst>
          </p:cNvPr>
          <p:cNvSpPr/>
          <p:nvPr/>
        </p:nvSpPr>
        <p:spPr>
          <a:xfrm>
            <a:off x="2529173" y="2055924"/>
            <a:ext cx="1521420" cy="925304"/>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tx2"/>
                </a:solidFill>
                <a:effectLst/>
                <a:uLnTx/>
                <a:uFillTx/>
                <a:latin typeface="Arial"/>
                <a:ea typeface="+mn-ea"/>
                <a:cs typeface="Helvetica"/>
                <a:sym typeface="Arial"/>
              </a:rPr>
              <a:t>Productivity applications</a:t>
            </a:r>
          </a:p>
        </p:txBody>
      </p:sp>
      <p:sp>
        <p:nvSpPr>
          <p:cNvPr id="100" name="Rectangle 99">
            <a:extLst>
              <a:ext uri="{FF2B5EF4-FFF2-40B4-BE49-F238E27FC236}">
                <a16:creationId xmlns:a16="http://schemas.microsoft.com/office/drawing/2014/main" id="{EDDFB0B3-41CF-4854-B43A-D0453BE177C9}"/>
              </a:ext>
            </a:extLst>
          </p:cNvPr>
          <p:cNvSpPr/>
          <p:nvPr/>
        </p:nvSpPr>
        <p:spPr>
          <a:xfrm>
            <a:off x="4270934" y="2053455"/>
            <a:ext cx="1521420" cy="925304"/>
          </a:xfrm>
          <a:prstGeom prst="rect">
            <a:avLst/>
          </a:prstGeom>
          <a:solidFill>
            <a:schemeClr val="bg1">
              <a:lumMod val="95000"/>
            </a:schemeClr>
          </a:solid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chemeClr val="tx2"/>
                </a:solidFill>
                <a:effectLst/>
                <a:uLnTx/>
                <a:uFillTx/>
                <a:latin typeface="Arial"/>
                <a:ea typeface="+mn-ea"/>
                <a:cs typeface="Helvetica"/>
                <a:sym typeface="Arial"/>
              </a:rPr>
              <a:t>Document management</a:t>
            </a:r>
          </a:p>
        </p:txBody>
      </p:sp>
      <p:cxnSp>
        <p:nvCxnSpPr>
          <p:cNvPr id="121" name="Straight Arrow Connector 120">
            <a:extLst>
              <a:ext uri="{FF2B5EF4-FFF2-40B4-BE49-F238E27FC236}">
                <a16:creationId xmlns:a16="http://schemas.microsoft.com/office/drawing/2014/main" id="{BBAE14F9-8290-4869-B58C-0B0A457C4DFE}"/>
              </a:ext>
            </a:extLst>
          </p:cNvPr>
          <p:cNvCxnSpPr>
            <a:cxnSpLocks/>
          </p:cNvCxnSpPr>
          <p:nvPr/>
        </p:nvCxnSpPr>
        <p:spPr>
          <a:xfrm>
            <a:off x="6231462" y="2846791"/>
            <a:ext cx="566928" cy="0"/>
          </a:xfrm>
          <a:prstGeom prst="straightConnector1">
            <a:avLst/>
          </a:prstGeom>
          <a:noFill/>
          <a:ln w="19050" cap="flat" cmpd="sng" algn="ctr">
            <a:solidFill>
              <a:srgbClr val="666666"/>
            </a:solidFill>
            <a:prstDash val="dash"/>
            <a:headEnd type="none" w="med" len="med"/>
            <a:tailEnd type="triangle" w="lg" len="lg"/>
          </a:ln>
          <a:effectLst/>
        </p:spPr>
      </p:cxnSp>
      <p:sp>
        <p:nvSpPr>
          <p:cNvPr id="123" name="Freeform 157">
            <a:extLst>
              <a:ext uri="{FF2B5EF4-FFF2-40B4-BE49-F238E27FC236}">
                <a16:creationId xmlns:a16="http://schemas.microsoft.com/office/drawing/2014/main" id="{81A7FA08-5D21-4AFE-BEE6-44EB816C3829}"/>
              </a:ext>
            </a:extLst>
          </p:cNvPr>
          <p:cNvSpPr>
            <a:spLocks noChangeAspect="1"/>
          </p:cNvSpPr>
          <p:nvPr/>
        </p:nvSpPr>
        <p:spPr bwMode="auto">
          <a:xfrm>
            <a:off x="3825424" y="3357582"/>
            <a:ext cx="1851763" cy="1262322"/>
          </a:xfrm>
          <a:custGeom>
            <a:avLst/>
            <a:gdLst>
              <a:gd name="T0" fmla="*/ 466 w 1040"/>
              <a:gd name="T1" fmla="*/ 158 h 674"/>
              <a:gd name="T2" fmla="*/ 596 w 1040"/>
              <a:gd name="T3" fmla="*/ 53 h 674"/>
              <a:gd name="T4" fmla="*/ 931 w 1040"/>
              <a:gd name="T5" fmla="*/ 233 h 674"/>
              <a:gd name="T6" fmla="*/ 936 w 1040"/>
              <a:gd name="T7" fmla="*/ 273 h 674"/>
              <a:gd name="T8" fmla="*/ 963 w 1040"/>
              <a:gd name="T9" fmla="*/ 329 h 674"/>
              <a:gd name="T10" fmla="*/ 1017 w 1040"/>
              <a:gd name="T11" fmla="*/ 530 h 674"/>
              <a:gd name="T12" fmla="*/ 858 w 1040"/>
              <a:gd name="T13" fmla="*/ 670 h 674"/>
              <a:gd name="T14" fmla="*/ 815 w 1040"/>
              <a:gd name="T15" fmla="*/ 674 h 674"/>
              <a:gd name="T16" fmla="*/ 215 w 1040"/>
              <a:gd name="T17" fmla="*/ 674 h 674"/>
              <a:gd name="T18" fmla="*/ 13 w 1040"/>
              <a:gd name="T19" fmla="*/ 501 h 674"/>
              <a:gd name="T20" fmla="*/ 141 w 1040"/>
              <a:gd name="T21" fmla="*/ 286 h 674"/>
              <a:gd name="T22" fmla="*/ 163 w 1040"/>
              <a:gd name="T23" fmla="*/ 260 h 674"/>
              <a:gd name="T24" fmla="*/ 449 w 1040"/>
              <a:gd name="T25" fmla="*/ 147 h 674"/>
              <a:gd name="T26" fmla="*/ 466 w 1040"/>
              <a:gd name="T27" fmla="*/ 158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0" h="674">
                <a:moveTo>
                  <a:pt x="466" y="158"/>
                </a:moveTo>
                <a:cubicBezTo>
                  <a:pt x="499" y="108"/>
                  <a:pt x="541" y="73"/>
                  <a:pt x="596" y="53"/>
                </a:cubicBezTo>
                <a:cubicBezTo>
                  <a:pt x="740" y="0"/>
                  <a:pt x="897" y="84"/>
                  <a:pt x="931" y="233"/>
                </a:cubicBezTo>
                <a:cubicBezTo>
                  <a:pt x="934" y="246"/>
                  <a:pt x="938" y="260"/>
                  <a:pt x="936" y="273"/>
                </a:cubicBezTo>
                <a:cubicBezTo>
                  <a:pt x="933" y="298"/>
                  <a:pt x="946" y="313"/>
                  <a:pt x="963" y="329"/>
                </a:cubicBezTo>
                <a:cubicBezTo>
                  <a:pt x="1022" y="384"/>
                  <a:pt x="1040" y="453"/>
                  <a:pt x="1017" y="530"/>
                </a:cubicBezTo>
                <a:cubicBezTo>
                  <a:pt x="994" y="608"/>
                  <a:pt x="938" y="654"/>
                  <a:pt x="858" y="670"/>
                </a:cubicBezTo>
                <a:cubicBezTo>
                  <a:pt x="844" y="673"/>
                  <a:pt x="829" y="674"/>
                  <a:pt x="815" y="674"/>
                </a:cubicBezTo>
                <a:cubicBezTo>
                  <a:pt x="615" y="674"/>
                  <a:pt x="415" y="674"/>
                  <a:pt x="215" y="674"/>
                </a:cubicBezTo>
                <a:cubicBezTo>
                  <a:pt x="115" y="674"/>
                  <a:pt x="28" y="599"/>
                  <a:pt x="13" y="501"/>
                </a:cubicBezTo>
                <a:cubicBezTo>
                  <a:pt x="0" y="410"/>
                  <a:pt x="53" y="319"/>
                  <a:pt x="141" y="286"/>
                </a:cubicBezTo>
                <a:cubicBezTo>
                  <a:pt x="154" y="281"/>
                  <a:pt x="161" y="275"/>
                  <a:pt x="163" y="260"/>
                </a:cubicBezTo>
                <a:cubicBezTo>
                  <a:pt x="174" y="134"/>
                  <a:pt x="335" y="63"/>
                  <a:pt x="449" y="147"/>
                </a:cubicBezTo>
                <a:cubicBezTo>
                  <a:pt x="454" y="150"/>
                  <a:pt x="459" y="153"/>
                  <a:pt x="466" y="158"/>
                </a:cubicBezTo>
                <a:close/>
              </a:path>
            </a:pathLst>
          </a:custGeom>
          <a:noFill/>
          <a:ln w="38100">
            <a:solidFill>
              <a:srgbClr val="AFAFAF"/>
            </a:solidFill>
          </a:ln>
        </p:spPr>
        <p:txBody>
          <a:bodyPr vert="horz" wrap="square" lIns="82896" tIns="41448" rIns="82896" bIns="41448" numCol="1" anchor="t" anchorCtr="0" compatLnSpc="1">
            <a:prstTxWarp prst="textNoShape">
              <a:avLst/>
            </a:prstTxWarp>
          </a:bodyPr>
          <a:lstStyle>
            <a:defPPr>
              <a:defRPr lang="en-U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a:lstStyle>
          <a:p>
            <a:pPr marL="0" marR="0" lvl="0" indent="0" algn="l" defTabSz="461796" rtl="0" eaLnBrk="1" fontAlgn="auto" latinLnBrk="0" hangingPunct="1">
              <a:lnSpc>
                <a:spcPct val="100000"/>
              </a:lnSpc>
              <a:spcBef>
                <a:spcPts val="0"/>
              </a:spcBef>
              <a:spcAft>
                <a:spcPts val="0"/>
              </a:spcAft>
              <a:buClrTx/>
              <a:buSzTx/>
              <a:buFontTx/>
              <a:buNone/>
              <a:tabLst/>
              <a:defRPr/>
            </a:pPr>
            <a:endParaRPr kumimoji="0" lang="en-GB" sz="1088" b="0" i="0" u="none" strike="noStrike" kern="1200" cap="none" spc="0" normalizeH="0" baseline="0" noProof="0">
              <a:ln>
                <a:noFill/>
              </a:ln>
              <a:solidFill>
                <a:prstClr val="black"/>
              </a:solidFill>
              <a:effectLst/>
              <a:uLnTx/>
              <a:uFillTx/>
              <a:latin typeface="FSAlbert" panose="02000603040000020004" pitchFamily="50" charset="0"/>
              <a:ea typeface="+mn-ea"/>
              <a:cs typeface="Helvetica"/>
              <a:sym typeface="Arial"/>
            </a:endParaRPr>
          </a:p>
        </p:txBody>
      </p:sp>
      <p:sp>
        <p:nvSpPr>
          <p:cNvPr id="2" name="TextBox 1">
            <a:extLst>
              <a:ext uri="{FF2B5EF4-FFF2-40B4-BE49-F238E27FC236}">
                <a16:creationId xmlns:a16="http://schemas.microsoft.com/office/drawing/2014/main" id="{E8BC41E0-F2B7-CE48-A97A-986AFFCAAE44}"/>
              </a:ext>
            </a:extLst>
          </p:cNvPr>
          <p:cNvSpPr txBox="1"/>
          <p:nvPr/>
        </p:nvSpPr>
        <p:spPr>
          <a:xfrm>
            <a:off x="3987288" y="3998657"/>
            <a:ext cx="1577657" cy="164999"/>
          </a:xfrm>
          <a:prstGeom prst="rect">
            <a:avLst/>
          </a:prstGeom>
          <a:noFill/>
        </p:spPr>
        <p:txBody>
          <a:bodyPr wrap="square" lIns="0" tIns="0" rIns="0" bIns="0" rtlCol="0" anchor="t">
            <a:noAutofit/>
          </a:bodyPr>
          <a:lstStyle/>
          <a:p>
            <a:pPr algn="ctr">
              <a:lnSpc>
                <a:spcPct val="90000"/>
              </a:lnSpc>
            </a:pPr>
            <a:r>
              <a:rPr lang="en-US" sz="1400" b="1" dirty="0">
                <a:solidFill>
                  <a:schemeClr val="tx2"/>
                </a:solidFill>
                <a:latin typeface="Knowledge2017" panose="020B0506000000020004" pitchFamily="34" charset="0"/>
              </a:rPr>
              <a:t>Thomson Reuters </a:t>
            </a:r>
          </a:p>
          <a:p>
            <a:pPr algn="ctr">
              <a:lnSpc>
                <a:spcPct val="90000"/>
              </a:lnSpc>
            </a:pPr>
            <a:r>
              <a:rPr lang="en-US" sz="1400" b="1" dirty="0">
                <a:solidFill>
                  <a:schemeClr val="tx2"/>
                </a:solidFill>
                <a:latin typeface="Knowledge2017" panose="020B0506000000020004" pitchFamily="34" charset="0"/>
              </a:rPr>
              <a:t>HighQ</a:t>
            </a:r>
          </a:p>
        </p:txBody>
      </p:sp>
      <p:sp>
        <p:nvSpPr>
          <p:cNvPr id="56" name="Title 2">
            <a:extLst>
              <a:ext uri="{FF2B5EF4-FFF2-40B4-BE49-F238E27FC236}">
                <a16:creationId xmlns:a16="http://schemas.microsoft.com/office/drawing/2014/main" id="{5B85E348-4FB5-2446-AC43-FD886B7FC2C2}"/>
              </a:ext>
            </a:extLst>
          </p:cNvPr>
          <p:cNvSpPr txBox="1">
            <a:spLocks/>
          </p:cNvSpPr>
          <p:nvPr/>
        </p:nvSpPr>
        <p:spPr>
          <a:xfrm>
            <a:off x="742950" y="189158"/>
            <a:ext cx="10189509" cy="1003299"/>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HighQ Integrations</a:t>
            </a:r>
          </a:p>
        </p:txBody>
      </p:sp>
      <p:sp>
        <p:nvSpPr>
          <p:cNvPr id="57" name="Rectangle 56">
            <a:extLst>
              <a:ext uri="{FF2B5EF4-FFF2-40B4-BE49-F238E27FC236}">
                <a16:creationId xmlns:a16="http://schemas.microsoft.com/office/drawing/2014/main" id="{3724A814-AE53-7549-9C00-EF6DDB825D39}"/>
              </a:ext>
            </a:extLst>
          </p:cNvPr>
          <p:cNvSpPr/>
          <p:nvPr/>
        </p:nvSpPr>
        <p:spPr>
          <a:xfrm>
            <a:off x="781050" y="1165417"/>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with best-in-class solutions</a:t>
            </a:r>
          </a:p>
        </p:txBody>
      </p:sp>
      <p:grpSp>
        <p:nvGrpSpPr>
          <p:cNvPr id="3" name="Group 2">
            <a:extLst>
              <a:ext uri="{FF2B5EF4-FFF2-40B4-BE49-F238E27FC236}">
                <a16:creationId xmlns:a16="http://schemas.microsoft.com/office/drawing/2014/main" id="{A1E2C7F8-CF6A-544D-9978-38407ADA2C2B}"/>
              </a:ext>
            </a:extLst>
          </p:cNvPr>
          <p:cNvGrpSpPr/>
          <p:nvPr/>
        </p:nvGrpSpPr>
        <p:grpSpPr>
          <a:xfrm>
            <a:off x="10289886" y="3635373"/>
            <a:ext cx="808059" cy="1006974"/>
            <a:chOff x="10770797" y="3222237"/>
            <a:chExt cx="808059" cy="1006974"/>
          </a:xfrm>
        </p:grpSpPr>
        <p:sp>
          <p:nvSpPr>
            <p:cNvPr id="120" name="TextBox 119">
              <a:extLst>
                <a:ext uri="{FF2B5EF4-FFF2-40B4-BE49-F238E27FC236}">
                  <a16:creationId xmlns:a16="http://schemas.microsoft.com/office/drawing/2014/main" id="{DF6D8CF1-AB74-43FA-B0B8-43D0654C2FA7}"/>
                </a:ext>
              </a:extLst>
            </p:cNvPr>
            <p:cNvSpPr txBox="1"/>
            <p:nvPr/>
          </p:nvSpPr>
          <p:spPr>
            <a:xfrm>
              <a:off x="10802681" y="3952212"/>
              <a:ext cx="776175" cy="276999"/>
            </a:xfrm>
            <a:prstGeom prst="rect">
              <a:avLst/>
            </a:prstGeom>
            <a:noFill/>
          </p:spPr>
          <p:txBody>
            <a:bodyPr wrap="none" rtlCol="0">
              <a:spAutoFit/>
            </a:bodyPr>
            <a:lstStyle/>
            <a:p>
              <a:pPr marL="0" marR="0" lvl="0" indent="0" algn="l" defTabSz="914126" rtl="0" eaLnBrk="1" fontAlgn="auto" latinLnBrk="0" hangingPunct="0">
                <a:lnSpc>
                  <a:spcPct val="100000"/>
                </a:lnSpc>
                <a:spcBef>
                  <a:spcPts val="0"/>
                </a:spcBef>
                <a:spcAft>
                  <a:spcPts val="0"/>
                </a:spcAft>
                <a:buClrTx/>
                <a:buSzTx/>
                <a:buFontTx/>
                <a:buNone/>
                <a:tabLst/>
                <a:defRPr/>
              </a:pPr>
              <a:r>
                <a:rPr kumimoji="0" lang="en-US" sz="1200" b="1" u="none" strike="noStrike" kern="0" cap="none" spc="0" normalizeH="0" baseline="0" noProof="0" dirty="0">
                  <a:ln>
                    <a:noFill/>
                  </a:ln>
                  <a:effectLst/>
                  <a:uLnTx/>
                  <a:uFillTx/>
                  <a:latin typeface="Arial Black" panose="020B0604020202020204" pitchFamily="34" charset="0"/>
                  <a:cs typeface="Arial Black" panose="020B0604020202020204" pitchFamily="34" charset="0"/>
                  <a:sym typeface="Arial"/>
                </a:rPr>
                <a:t>Clients</a:t>
              </a:r>
            </a:p>
          </p:txBody>
        </p:sp>
        <p:pic>
          <p:nvPicPr>
            <p:cNvPr id="58" name="Picture 57">
              <a:extLst>
                <a:ext uri="{FF2B5EF4-FFF2-40B4-BE49-F238E27FC236}">
                  <a16:creationId xmlns:a16="http://schemas.microsoft.com/office/drawing/2014/main" id="{3FDF97AD-5A68-694B-9150-7FCFC66B8635}"/>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10770797" y="3222237"/>
              <a:ext cx="792459" cy="792459"/>
            </a:xfrm>
            <a:prstGeom prst="rect">
              <a:avLst/>
            </a:prstGeom>
          </p:spPr>
        </p:pic>
      </p:grpSp>
    </p:spTree>
    <p:extLst>
      <p:ext uri="{BB962C8B-B14F-4D97-AF65-F5344CB8AC3E}">
        <p14:creationId xmlns:p14="http://schemas.microsoft.com/office/powerpoint/2010/main" val="332529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0"/>
                                        </p:tgtEl>
                                        <p:attrNameLst>
                                          <p:attrName>style.visibility</p:attrName>
                                        </p:attrNameLst>
                                      </p:cBhvr>
                                      <p:to>
                                        <p:strVal val="visible"/>
                                      </p:to>
                                    </p:set>
                                    <p:animEffect transition="in" filter="fade">
                                      <p:cBhvr>
                                        <p:cTn id="11" dur="500"/>
                                        <p:tgtEl>
                                          <p:spTgt spid="10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87"/>
                                        </p:tgtEl>
                                        <p:attrNameLst>
                                          <p:attrName>style.visibility</p:attrName>
                                        </p:attrNameLst>
                                      </p:cBhvr>
                                      <p:to>
                                        <p:strVal val="visible"/>
                                      </p:to>
                                    </p:set>
                                    <p:animEffect transition="in" filter="fade">
                                      <p:cBhvr>
                                        <p:cTn id="15" dur="500"/>
                                        <p:tgtEl>
                                          <p:spTgt spid="8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99"/>
                                        </p:tgtEl>
                                        <p:attrNameLst>
                                          <p:attrName>style.visibility</p:attrName>
                                        </p:attrNameLst>
                                      </p:cBhvr>
                                      <p:to>
                                        <p:strVal val="visible"/>
                                      </p:to>
                                    </p:set>
                                    <p:animEffect transition="in" filter="fade">
                                      <p:cBhvr>
                                        <p:cTn id="19" dur="500"/>
                                        <p:tgtEl>
                                          <p:spTgt spid="99"/>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9"/>
                                        </p:tgtEl>
                                        <p:attrNameLst>
                                          <p:attrName>style.visibility</p:attrName>
                                        </p:attrNameLst>
                                      </p:cBhvr>
                                      <p:to>
                                        <p:strVal val="visible"/>
                                      </p:to>
                                    </p:set>
                                    <p:animEffect transition="in" filter="fade">
                                      <p:cBhvr>
                                        <p:cTn id="23" dur="500"/>
                                        <p:tgtEl>
                                          <p:spTgt spid="6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93"/>
                                        </p:tgtEl>
                                        <p:attrNameLst>
                                          <p:attrName>style.visibility</p:attrName>
                                        </p:attrNameLst>
                                      </p:cBhvr>
                                      <p:to>
                                        <p:strVal val="visible"/>
                                      </p:to>
                                    </p:set>
                                    <p:animEffect transition="in" filter="fade">
                                      <p:cBhvr>
                                        <p:cTn id="27" dur="500"/>
                                        <p:tgtEl>
                                          <p:spTgt spid="93"/>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88"/>
                                        </p:tgtEl>
                                        <p:attrNameLst>
                                          <p:attrName>style.visibility</p:attrName>
                                        </p:attrNameLst>
                                      </p:cBhvr>
                                      <p:to>
                                        <p:strVal val="visible"/>
                                      </p:to>
                                    </p:set>
                                    <p:animEffect transition="in" filter="fade">
                                      <p:cBhvr>
                                        <p:cTn id="31" dur="500"/>
                                        <p:tgtEl>
                                          <p:spTgt spid="88"/>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96"/>
                                        </p:tgtEl>
                                        <p:attrNameLst>
                                          <p:attrName>style.visibility</p:attrName>
                                        </p:attrNameLst>
                                      </p:cBhvr>
                                      <p:to>
                                        <p:strVal val="visible"/>
                                      </p:to>
                                    </p:set>
                                    <p:animEffect transition="in" filter="fade">
                                      <p:cBhvr>
                                        <p:cTn id="35" dur="500"/>
                                        <p:tgtEl>
                                          <p:spTgt spid="96"/>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94"/>
                                        </p:tgtEl>
                                        <p:attrNameLst>
                                          <p:attrName>style.visibility</p:attrName>
                                        </p:attrNameLst>
                                      </p:cBhvr>
                                      <p:to>
                                        <p:strVal val="visible"/>
                                      </p:to>
                                    </p:set>
                                    <p:animEffect transition="in" filter="fade">
                                      <p:cBhvr>
                                        <p:cTn id="39" dur="500"/>
                                        <p:tgtEl>
                                          <p:spTgt spid="94"/>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89"/>
                                        </p:tgtEl>
                                        <p:attrNameLst>
                                          <p:attrName>style.visibility</p:attrName>
                                        </p:attrNameLst>
                                      </p:cBhvr>
                                      <p:to>
                                        <p:strVal val="visible"/>
                                      </p:to>
                                    </p:set>
                                    <p:animEffect transition="in" filter="fade">
                                      <p:cBhvr>
                                        <p:cTn id="43" dur="500"/>
                                        <p:tgtEl>
                                          <p:spTgt spid="89"/>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95"/>
                                        </p:tgtEl>
                                        <p:attrNameLst>
                                          <p:attrName>style.visibility</p:attrName>
                                        </p:attrNameLst>
                                      </p:cBhvr>
                                      <p:to>
                                        <p:strVal val="visible"/>
                                      </p:to>
                                    </p:set>
                                    <p:animEffect transition="in" filter="fade">
                                      <p:cBhvr>
                                        <p:cTn id="47" dur="500"/>
                                        <p:tgtEl>
                                          <p:spTgt spid="95"/>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90"/>
                                        </p:tgtEl>
                                        <p:attrNameLst>
                                          <p:attrName>style.visibility</p:attrName>
                                        </p:attrNameLst>
                                      </p:cBhvr>
                                      <p:to>
                                        <p:strVal val="visible"/>
                                      </p:to>
                                    </p:set>
                                    <p:animEffect transition="in" filter="fade">
                                      <p:cBhvr>
                                        <p:cTn id="51" dur="500"/>
                                        <p:tgtEl>
                                          <p:spTgt spid="90"/>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97"/>
                                        </p:tgtEl>
                                        <p:attrNameLst>
                                          <p:attrName>style.visibility</p:attrName>
                                        </p:attrNameLst>
                                      </p:cBhvr>
                                      <p:to>
                                        <p:strVal val="visible"/>
                                      </p:to>
                                    </p:set>
                                    <p:animEffect transition="in" filter="fade">
                                      <p:cBhvr>
                                        <p:cTn id="55" dur="500"/>
                                        <p:tgtEl>
                                          <p:spTgt spid="97"/>
                                        </p:tgtEl>
                                      </p:cBhvr>
                                    </p:animEffect>
                                  </p:childTnLst>
                                </p:cTn>
                              </p:par>
                            </p:childTnLst>
                          </p:cTn>
                        </p:par>
                        <p:par>
                          <p:cTn id="56" fill="hold">
                            <p:stCondLst>
                              <p:cond delay="6500"/>
                            </p:stCondLst>
                            <p:childTnLst>
                              <p:par>
                                <p:cTn id="57" presetID="10" presetClass="entr" presetSubtype="0" fill="hold" nodeType="afterEffect">
                                  <p:stCondLst>
                                    <p:cond delay="0"/>
                                  </p:stCondLst>
                                  <p:childTnLst>
                                    <p:set>
                                      <p:cBhvr>
                                        <p:cTn id="58" dur="1" fill="hold">
                                          <p:stCondLst>
                                            <p:cond delay="0"/>
                                          </p:stCondLst>
                                        </p:cTn>
                                        <p:tgtEl>
                                          <p:spTgt spid="91"/>
                                        </p:tgtEl>
                                        <p:attrNameLst>
                                          <p:attrName>style.visibility</p:attrName>
                                        </p:attrNameLst>
                                      </p:cBhvr>
                                      <p:to>
                                        <p:strVal val="visible"/>
                                      </p:to>
                                    </p:set>
                                    <p:animEffect transition="in" filter="fade">
                                      <p:cBhvr>
                                        <p:cTn id="59" dur="500"/>
                                        <p:tgtEl>
                                          <p:spTgt spid="91"/>
                                        </p:tgtEl>
                                      </p:cBhvr>
                                    </p:animEffect>
                                  </p:childTnLst>
                                </p:cTn>
                              </p:par>
                            </p:childTnLst>
                          </p:cTn>
                        </p:par>
                        <p:par>
                          <p:cTn id="60" fill="hold">
                            <p:stCondLst>
                              <p:cond delay="7000"/>
                            </p:stCondLst>
                            <p:childTnLst>
                              <p:par>
                                <p:cTn id="61" presetID="10" presetClass="entr" presetSubtype="0" fill="hold" grpId="0" nodeType="afterEffect">
                                  <p:stCondLst>
                                    <p:cond delay="0"/>
                                  </p:stCondLst>
                                  <p:childTnLst>
                                    <p:set>
                                      <p:cBhvr>
                                        <p:cTn id="62" dur="1" fill="hold">
                                          <p:stCondLst>
                                            <p:cond delay="0"/>
                                          </p:stCondLst>
                                        </p:cTn>
                                        <p:tgtEl>
                                          <p:spTgt spid="98"/>
                                        </p:tgtEl>
                                        <p:attrNameLst>
                                          <p:attrName>style.visibility</p:attrName>
                                        </p:attrNameLst>
                                      </p:cBhvr>
                                      <p:to>
                                        <p:strVal val="visible"/>
                                      </p:to>
                                    </p:set>
                                    <p:animEffect transition="in" filter="fade">
                                      <p:cBhvr>
                                        <p:cTn id="63" dur="500"/>
                                        <p:tgtEl>
                                          <p:spTgt spid="9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76"/>
                                        </p:tgtEl>
                                        <p:attrNameLst>
                                          <p:attrName>style.visibility</p:attrName>
                                        </p:attrNameLst>
                                      </p:cBhvr>
                                      <p:to>
                                        <p:strVal val="visible"/>
                                      </p:to>
                                    </p:set>
                                    <p:animEffect transition="in" filter="wipe(left)">
                                      <p:cBhvr>
                                        <p:cTn id="68" dur="500"/>
                                        <p:tgtEl>
                                          <p:spTgt spid="76"/>
                                        </p:tgtEl>
                                      </p:cBhvr>
                                    </p:animEffect>
                                  </p:childTnLst>
                                </p:cTn>
                              </p:par>
                              <p:par>
                                <p:cTn id="69" presetID="22" presetClass="entr" presetSubtype="8"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wipe(left)">
                                      <p:cBhvr>
                                        <p:cTn id="71" dur="500"/>
                                        <p:tgtEl>
                                          <p:spTgt spid="77"/>
                                        </p:tgtEl>
                                      </p:cBhvr>
                                    </p:animEffect>
                                  </p:childTnLst>
                                </p:cTn>
                              </p:par>
                              <p:par>
                                <p:cTn id="72" presetID="22" presetClass="entr" presetSubtype="8" fill="hold" nodeType="withEffect">
                                  <p:stCondLst>
                                    <p:cond delay="0"/>
                                  </p:stCondLst>
                                  <p:childTnLst>
                                    <p:set>
                                      <p:cBhvr>
                                        <p:cTn id="73" dur="1" fill="hold">
                                          <p:stCondLst>
                                            <p:cond delay="0"/>
                                          </p:stCondLst>
                                        </p:cTn>
                                        <p:tgtEl>
                                          <p:spTgt spid="121"/>
                                        </p:tgtEl>
                                        <p:attrNameLst>
                                          <p:attrName>style.visibility</p:attrName>
                                        </p:attrNameLst>
                                      </p:cBhvr>
                                      <p:to>
                                        <p:strVal val="visible"/>
                                      </p:to>
                                    </p:set>
                                    <p:animEffect transition="in" filter="wipe(left)">
                                      <p:cBhvr>
                                        <p:cTn id="74" dur="500"/>
                                        <p:tgtEl>
                                          <p:spTgt spid="121"/>
                                        </p:tgtEl>
                                      </p:cBhvr>
                                    </p:animEffect>
                                  </p:childTnLst>
                                </p:cTn>
                              </p:par>
                              <p:par>
                                <p:cTn id="75" presetID="22" presetClass="entr" presetSubtype="8" fill="hold" nodeType="withEffect">
                                  <p:stCondLst>
                                    <p:cond delay="0"/>
                                  </p:stCondLst>
                                  <p:childTnLst>
                                    <p:set>
                                      <p:cBhvr>
                                        <p:cTn id="76" dur="1" fill="hold">
                                          <p:stCondLst>
                                            <p:cond delay="0"/>
                                          </p:stCondLst>
                                        </p:cTn>
                                        <p:tgtEl>
                                          <p:spTgt spid="84"/>
                                        </p:tgtEl>
                                        <p:attrNameLst>
                                          <p:attrName>style.visibility</p:attrName>
                                        </p:attrNameLst>
                                      </p:cBhvr>
                                      <p:to>
                                        <p:strVal val="visible"/>
                                      </p:to>
                                    </p:set>
                                    <p:animEffect transition="in" filter="wipe(left)">
                                      <p:cBhvr>
                                        <p:cTn id="77" dur="500"/>
                                        <p:tgtEl>
                                          <p:spTgt spid="84"/>
                                        </p:tgtEl>
                                      </p:cBhvr>
                                    </p:animEffect>
                                  </p:childTnLst>
                                </p:cTn>
                              </p:par>
                              <p:par>
                                <p:cTn id="78" presetID="22" presetClass="entr" presetSubtype="8" fill="hold" nodeType="withEffect">
                                  <p:stCondLst>
                                    <p:cond delay="0"/>
                                  </p:stCondLst>
                                  <p:childTnLst>
                                    <p:set>
                                      <p:cBhvr>
                                        <p:cTn id="79" dur="1" fill="hold">
                                          <p:stCondLst>
                                            <p:cond delay="0"/>
                                          </p:stCondLst>
                                        </p:cTn>
                                        <p:tgtEl>
                                          <p:spTgt spid="85"/>
                                        </p:tgtEl>
                                        <p:attrNameLst>
                                          <p:attrName>style.visibility</p:attrName>
                                        </p:attrNameLst>
                                      </p:cBhvr>
                                      <p:to>
                                        <p:strVal val="visible"/>
                                      </p:to>
                                    </p:set>
                                    <p:animEffect transition="in" filter="wipe(left)">
                                      <p:cBhvr>
                                        <p:cTn id="80" dur="500"/>
                                        <p:tgtEl>
                                          <p:spTgt spid="85"/>
                                        </p:tgtEl>
                                      </p:cBhvr>
                                    </p:animEffect>
                                  </p:childTnLst>
                                </p:cTn>
                              </p:par>
                              <p:par>
                                <p:cTn id="81" presetID="22" presetClass="entr" presetSubtype="8" fill="hold" nodeType="withEffect">
                                  <p:stCondLst>
                                    <p:cond delay="0"/>
                                  </p:stCondLst>
                                  <p:childTnLst>
                                    <p:set>
                                      <p:cBhvr>
                                        <p:cTn id="82" dur="1" fill="hold">
                                          <p:stCondLst>
                                            <p:cond delay="0"/>
                                          </p:stCondLst>
                                        </p:cTn>
                                        <p:tgtEl>
                                          <p:spTgt spid="86"/>
                                        </p:tgtEl>
                                        <p:attrNameLst>
                                          <p:attrName>style.visibility</p:attrName>
                                        </p:attrNameLst>
                                      </p:cBhvr>
                                      <p:to>
                                        <p:strVal val="visible"/>
                                      </p:to>
                                    </p:set>
                                    <p:animEffect transition="in" filter="wipe(left)">
                                      <p:cBhvr>
                                        <p:cTn id="83" dur="500"/>
                                        <p:tgtEl>
                                          <p:spTgt spid="86"/>
                                        </p:tgtEl>
                                      </p:cBhvr>
                                    </p:animEffec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70"/>
                                        </p:tgtEl>
                                        <p:attrNameLst>
                                          <p:attrName>style.visibility</p:attrName>
                                        </p:attrNameLst>
                                      </p:cBhvr>
                                      <p:to>
                                        <p:strVal val="visible"/>
                                      </p:to>
                                    </p:set>
                                    <p:animEffect transition="in" filter="wipe(left)">
                                      <p:cBhvr>
                                        <p:cTn id="87" dur="500"/>
                                        <p:tgtEl>
                                          <p:spTgt spid="70"/>
                                        </p:tgtEl>
                                      </p:cBhvr>
                                    </p:animEffect>
                                  </p:childTnLst>
                                </p:cTn>
                              </p:par>
                            </p:childTnLst>
                          </p:cTn>
                        </p:par>
                        <p:par>
                          <p:cTn id="88" fill="hold">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wipe(left)">
                                      <p:cBhvr>
                                        <p:cTn id="91" dur="500"/>
                                        <p:tgtEl>
                                          <p:spTgt spid="71"/>
                                        </p:tgtEl>
                                      </p:cBhvr>
                                    </p:animEffect>
                                  </p:childTnLst>
                                </p:cTn>
                              </p:par>
                            </p:childTnLst>
                          </p:cTn>
                        </p:par>
                        <p:par>
                          <p:cTn id="92" fill="hold">
                            <p:stCondLst>
                              <p:cond delay="1500"/>
                            </p:stCondLst>
                            <p:childTnLst>
                              <p:par>
                                <p:cTn id="93" presetID="22" presetClass="entr" presetSubtype="8" fill="hold" grpId="0" nodeType="afterEffect">
                                  <p:stCondLst>
                                    <p:cond delay="0"/>
                                  </p:stCondLst>
                                  <p:childTnLst>
                                    <p:set>
                                      <p:cBhvr>
                                        <p:cTn id="94" dur="1" fill="hold">
                                          <p:stCondLst>
                                            <p:cond delay="0"/>
                                          </p:stCondLst>
                                        </p:cTn>
                                        <p:tgtEl>
                                          <p:spTgt spid="75"/>
                                        </p:tgtEl>
                                        <p:attrNameLst>
                                          <p:attrName>style.visibility</p:attrName>
                                        </p:attrNameLst>
                                      </p:cBhvr>
                                      <p:to>
                                        <p:strVal val="visible"/>
                                      </p:to>
                                    </p:set>
                                    <p:animEffect transition="in" filter="wipe(left)">
                                      <p:cBhvr>
                                        <p:cTn id="95" dur="500"/>
                                        <p:tgtEl>
                                          <p:spTgt spid="75"/>
                                        </p:tgtEl>
                                      </p:cBhvr>
                                    </p:animEffect>
                                  </p:childTnLst>
                                </p:cTn>
                              </p:par>
                            </p:childTnLst>
                          </p:cTn>
                        </p:par>
                        <p:par>
                          <p:cTn id="96" fill="hold">
                            <p:stCondLst>
                              <p:cond delay="2000"/>
                            </p:stCondLst>
                            <p:childTnLst>
                              <p:par>
                                <p:cTn id="97" presetID="22" presetClass="entr" presetSubtype="8" fill="hold" grpId="0" nodeType="afterEffect">
                                  <p:stCondLst>
                                    <p:cond delay="0"/>
                                  </p:stCondLst>
                                  <p:childTnLst>
                                    <p:set>
                                      <p:cBhvr>
                                        <p:cTn id="98" dur="1" fill="hold">
                                          <p:stCondLst>
                                            <p:cond delay="0"/>
                                          </p:stCondLst>
                                        </p:cTn>
                                        <p:tgtEl>
                                          <p:spTgt spid="72"/>
                                        </p:tgtEl>
                                        <p:attrNameLst>
                                          <p:attrName>style.visibility</p:attrName>
                                        </p:attrNameLst>
                                      </p:cBhvr>
                                      <p:to>
                                        <p:strVal val="visible"/>
                                      </p:to>
                                    </p:set>
                                    <p:animEffect transition="in" filter="wipe(left)">
                                      <p:cBhvr>
                                        <p:cTn id="99" dur="500"/>
                                        <p:tgtEl>
                                          <p:spTgt spid="72"/>
                                        </p:tgtEl>
                                      </p:cBhvr>
                                    </p:animEffect>
                                  </p:childTnLst>
                                </p:cTn>
                              </p:par>
                            </p:childTnLst>
                          </p:cTn>
                        </p:par>
                        <p:par>
                          <p:cTn id="100" fill="hold">
                            <p:stCondLst>
                              <p:cond delay="2500"/>
                            </p:stCondLst>
                            <p:childTnLst>
                              <p:par>
                                <p:cTn id="101" presetID="22" presetClass="entr" presetSubtype="8" fill="hold" grpId="0" nodeType="afterEffect">
                                  <p:stCondLst>
                                    <p:cond delay="0"/>
                                  </p:stCondLst>
                                  <p:childTnLst>
                                    <p:set>
                                      <p:cBhvr>
                                        <p:cTn id="102" dur="1" fill="hold">
                                          <p:stCondLst>
                                            <p:cond delay="0"/>
                                          </p:stCondLst>
                                        </p:cTn>
                                        <p:tgtEl>
                                          <p:spTgt spid="73"/>
                                        </p:tgtEl>
                                        <p:attrNameLst>
                                          <p:attrName>style.visibility</p:attrName>
                                        </p:attrNameLst>
                                      </p:cBhvr>
                                      <p:to>
                                        <p:strVal val="visible"/>
                                      </p:to>
                                    </p:set>
                                    <p:animEffect transition="in" filter="wipe(left)">
                                      <p:cBhvr>
                                        <p:cTn id="103" dur="500"/>
                                        <p:tgtEl>
                                          <p:spTgt spid="73"/>
                                        </p:tgtEl>
                                      </p:cBhvr>
                                    </p:animEffect>
                                  </p:childTnLst>
                                </p:cTn>
                              </p:par>
                            </p:childTnLst>
                          </p:cTn>
                        </p:par>
                        <p:par>
                          <p:cTn id="104" fill="hold">
                            <p:stCondLst>
                              <p:cond delay="3000"/>
                            </p:stCondLst>
                            <p:childTnLst>
                              <p:par>
                                <p:cTn id="105" presetID="22" presetClass="entr" presetSubtype="8" fill="hold" grpId="0" nodeType="afterEffect">
                                  <p:stCondLst>
                                    <p:cond delay="0"/>
                                  </p:stCondLst>
                                  <p:childTnLst>
                                    <p:set>
                                      <p:cBhvr>
                                        <p:cTn id="106" dur="1" fill="hold">
                                          <p:stCondLst>
                                            <p:cond delay="0"/>
                                          </p:stCondLst>
                                        </p:cTn>
                                        <p:tgtEl>
                                          <p:spTgt spid="74"/>
                                        </p:tgtEl>
                                        <p:attrNameLst>
                                          <p:attrName>style.visibility</p:attrName>
                                        </p:attrNameLst>
                                      </p:cBhvr>
                                      <p:to>
                                        <p:strVal val="visible"/>
                                      </p:to>
                                    </p:set>
                                    <p:animEffect transition="in" filter="wipe(left)">
                                      <p:cBhvr>
                                        <p:cTn id="107" dur="500"/>
                                        <p:tgtEl>
                                          <p:spTgt spid="74"/>
                                        </p:tgtEl>
                                      </p:cBhvr>
                                    </p:animEffect>
                                  </p:childTnLst>
                                </p:cTn>
                              </p:par>
                            </p:childTnLst>
                          </p:cTn>
                        </p:par>
                        <p:par>
                          <p:cTn id="108" fill="hold">
                            <p:stCondLst>
                              <p:cond delay="3500"/>
                            </p:stCondLst>
                            <p:childTnLst>
                              <p:par>
                                <p:cTn id="109" presetID="10" presetClass="entr" presetSubtype="0" fill="hold" nodeType="afterEffect">
                                  <p:stCondLst>
                                    <p:cond delay="0"/>
                                  </p:stCondLst>
                                  <p:childTnLst>
                                    <p:set>
                                      <p:cBhvr>
                                        <p:cTn id="110" dur="1" fill="hold">
                                          <p:stCondLst>
                                            <p:cond delay="0"/>
                                          </p:stCondLst>
                                        </p:cTn>
                                        <p:tgtEl>
                                          <p:spTgt spid="148"/>
                                        </p:tgtEl>
                                        <p:attrNameLst>
                                          <p:attrName>style.visibility</p:attrName>
                                        </p:attrNameLst>
                                      </p:cBhvr>
                                      <p:to>
                                        <p:strVal val="visible"/>
                                      </p:to>
                                    </p:set>
                                    <p:animEffect transition="in" filter="fade">
                                      <p:cBhvr>
                                        <p:cTn id="111" dur="500"/>
                                        <p:tgtEl>
                                          <p:spTgt spid="148"/>
                                        </p:tgtEl>
                                      </p:cBhvr>
                                    </p:animEffect>
                                  </p:childTnLst>
                                </p:cTn>
                              </p:par>
                            </p:childTnLst>
                          </p:cTn>
                        </p:par>
                        <p:par>
                          <p:cTn id="112" fill="hold">
                            <p:stCondLst>
                              <p:cond delay="4000"/>
                            </p:stCondLst>
                            <p:childTnLst>
                              <p:par>
                                <p:cTn id="113" presetID="22" presetClass="entr" presetSubtype="8" fill="hold" grpId="0" nodeType="afterEffect">
                                  <p:stCondLst>
                                    <p:cond delay="0"/>
                                  </p:stCondLst>
                                  <p:childTnLst>
                                    <p:set>
                                      <p:cBhvr>
                                        <p:cTn id="114" dur="1" fill="hold">
                                          <p:stCondLst>
                                            <p:cond delay="0"/>
                                          </p:stCondLst>
                                        </p:cTn>
                                        <p:tgtEl>
                                          <p:spTgt spid="78"/>
                                        </p:tgtEl>
                                        <p:attrNameLst>
                                          <p:attrName>style.visibility</p:attrName>
                                        </p:attrNameLst>
                                      </p:cBhvr>
                                      <p:to>
                                        <p:strVal val="visible"/>
                                      </p:to>
                                    </p:set>
                                    <p:animEffect transition="in" filter="wipe(left)">
                                      <p:cBhvr>
                                        <p:cTn id="115" dur="500"/>
                                        <p:tgtEl>
                                          <p:spTgt spid="78"/>
                                        </p:tgtEl>
                                      </p:cBhvr>
                                    </p:animEffect>
                                  </p:childTnLst>
                                </p:cTn>
                              </p:par>
                            </p:childTnLst>
                          </p:cTn>
                        </p:par>
                        <p:par>
                          <p:cTn id="116" fill="hold">
                            <p:stCondLst>
                              <p:cond delay="4500"/>
                            </p:stCondLst>
                            <p:childTnLst>
                              <p:par>
                                <p:cTn id="117" presetID="22" presetClass="entr" presetSubtype="8" fill="hold" grpId="0" nodeType="afterEffect">
                                  <p:stCondLst>
                                    <p:cond delay="0"/>
                                  </p:stCondLst>
                                  <p:childTnLst>
                                    <p:set>
                                      <p:cBhvr>
                                        <p:cTn id="118" dur="1" fill="hold">
                                          <p:stCondLst>
                                            <p:cond delay="0"/>
                                          </p:stCondLst>
                                        </p:cTn>
                                        <p:tgtEl>
                                          <p:spTgt spid="79"/>
                                        </p:tgtEl>
                                        <p:attrNameLst>
                                          <p:attrName>style.visibility</p:attrName>
                                        </p:attrNameLst>
                                      </p:cBhvr>
                                      <p:to>
                                        <p:strVal val="visible"/>
                                      </p:to>
                                    </p:set>
                                    <p:animEffect transition="in" filter="wipe(left)">
                                      <p:cBhvr>
                                        <p:cTn id="119" dur="500"/>
                                        <p:tgtEl>
                                          <p:spTgt spid="79"/>
                                        </p:tgtEl>
                                      </p:cBhvr>
                                    </p:animEffect>
                                  </p:childTnLst>
                                </p:cTn>
                              </p:par>
                            </p:childTnLst>
                          </p:cTn>
                        </p:par>
                        <p:par>
                          <p:cTn id="120" fill="hold">
                            <p:stCondLst>
                              <p:cond delay="5000"/>
                            </p:stCondLst>
                            <p:childTnLst>
                              <p:par>
                                <p:cTn id="121" presetID="22" presetClass="entr" presetSubtype="8" fill="hold" grpId="0" nodeType="afterEffect">
                                  <p:stCondLst>
                                    <p:cond delay="0"/>
                                  </p:stCondLst>
                                  <p:childTnLst>
                                    <p:set>
                                      <p:cBhvr>
                                        <p:cTn id="122" dur="1" fill="hold">
                                          <p:stCondLst>
                                            <p:cond delay="0"/>
                                          </p:stCondLst>
                                        </p:cTn>
                                        <p:tgtEl>
                                          <p:spTgt spid="80"/>
                                        </p:tgtEl>
                                        <p:attrNameLst>
                                          <p:attrName>style.visibility</p:attrName>
                                        </p:attrNameLst>
                                      </p:cBhvr>
                                      <p:to>
                                        <p:strVal val="visible"/>
                                      </p:to>
                                    </p:set>
                                    <p:animEffect transition="in" filter="wipe(left)">
                                      <p:cBhvr>
                                        <p:cTn id="123" dur="500"/>
                                        <p:tgtEl>
                                          <p:spTgt spid="80"/>
                                        </p:tgtEl>
                                      </p:cBhvr>
                                    </p:animEffect>
                                  </p:childTnLst>
                                </p:cTn>
                              </p:par>
                            </p:childTnLst>
                          </p:cTn>
                        </p:par>
                        <p:par>
                          <p:cTn id="124" fill="hold">
                            <p:stCondLst>
                              <p:cond delay="5500"/>
                            </p:stCondLst>
                            <p:childTnLst>
                              <p:par>
                                <p:cTn id="125" presetID="22" presetClass="entr" presetSubtype="8" fill="hold" grpId="0" nodeType="afterEffect">
                                  <p:stCondLst>
                                    <p:cond delay="0"/>
                                  </p:stCondLst>
                                  <p:childTnLst>
                                    <p:set>
                                      <p:cBhvr>
                                        <p:cTn id="126" dur="1" fill="hold">
                                          <p:stCondLst>
                                            <p:cond delay="0"/>
                                          </p:stCondLst>
                                        </p:cTn>
                                        <p:tgtEl>
                                          <p:spTgt spid="82"/>
                                        </p:tgtEl>
                                        <p:attrNameLst>
                                          <p:attrName>style.visibility</p:attrName>
                                        </p:attrNameLst>
                                      </p:cBhvr>
                                      <p:to>
                                        <p:strVal val="visible"/>
                                      </p:to>
                                    </p:set>
                                    <p:animEffect transition="in" filter="wipe(left)">
                                      <p:cBhvr>
                                        <p:cTn id="127" dur="500"/>
                                        <p:tgtEl>
                                          <p:spTgt spid="82"/>
                                        </p:tgtEl>
                                      </p:cBhvr>
                                    </p:animEffect>
                                  </p:childTnLst>
                                </p:cTn>
                              </p:par>
                            </p:childTnLst>
                          </p:cTn>
                        </p:par>
                        <p:par>
                          <p:cTn id="128" fill="hold">
                            <p:stCondLst>
                              <p:cond delay="6000"/>
                            </p:stCondLst>
                            <p:childTnLst>
                              <p:par>
                                <p:cTn id="129" presetID="22" presetClass="entr" presetSubtype="8" fill="hold" grpId="0" nodeType="afterEffect">
                                  <p:stCondLst>
                                    <p:cond delay="0"/>
                                  </p:stCondLst>
                                  <p:childTnLst>
                                    <p:set>
                                      <p:cBhvr>
                                        <p:cTn id="130" dur="1" fill="hold">
                                          <p:stCondLst>
                                            <p:cond delay="0"/>
                                          </p:stCondLst>
                                        </p:cTn>
                                        <p:tgtEl>
                                          <p:spTgt spid="83"/>
                                        </p:tgtEl>
                                        <p:attrNameLst>
                                          <p:attrName>style.visibility</p:attrName>
                                        </p:attrNameLst>
                                      </p:cBhvr>
                                      <p:to>
                                        <p:strVal val="visible"/>
                                      </p:to>
                                    </p:set>
                                    <p:animEffect transition="in" filter="wipe(left)">
                                      <p:cBhvr>
                                        <p:cTn id="131" dur="500"/>
                                        <p:tgtEl>
                                          <p:spTgt spid="83"/>
                                        </p:tgtEl>
                                      </p:cBhvr>
                                    </p:animEffect>
                                  </p:childTnLst>
                                </p:cTn>
                              </p:par>
                            </p:childTnLst>
                          </p:cTn>
                        </p:par>
                        <p:par>
                          <p:cTn id="132" fill="hold">
                            <p:stCondLst>
                              <p:cond delay="6500"/>
                            </p:stCondLst>
                            <p:childTnLst>
                              <p:par>
                                <p:cTn id="133" presetID="22" presetClass="entr" presetSubtype="8" fill="hold" grpId="0" nodeType="afterEffect">
                                  <p:stCondLst>
                                    <p:cond delay="0"/>
                                  </p:stCondLst>
                                  <p:childTnLst>
                                    <p:set>
                                      <p:cBhvr>
                                        <p:cTn id="134" dur="1" fill="hold">
                                          <p:stCondLst>
                                            <p:cond delay="0"/>
                                          </p:stCondLst>
                                        </p:cTn>
                                        <p:tgtEl>
                                          <p:spTgt spid="81"/>
                                        </p:tgtEl>
                                        <p:attrNameLst>
                                          <p:attrName>style.visibility</p:attrName>
                                        </p:attrNameLst>
                                      </p:cBhvr>
                                      <p:to>
                                        <p:strVal val="visible"/>
                                      </p:to>
                                    </p:set>
                                    <p:animEffect transition="in" filter="wipe(left)">
                                      <p:cBhvr>
                                        <p:cTn id="135" dur="500"/>
                                        <p:tgtEl>
                                          <p:spTgt spid="81"/>
                                        </p:tgtEl>
                                      </p:cBhvr>
                                    </p:animEffect>
                                  </p:childTnLst>
                                </p:cTn>
                              </p:par>
                            </p:childTnLst>
                          </p:cTn>
                        </p:par>
                        <p:par>
                          <p:cTn id="136" fill="hold">
                            <p:stCondLst>
                              <p:cond delay="7000"/>
                            </p:stCondLst>
                            <p:childTnLst>
                              <p:par>
                                <p:cTn id="137" presetID="10" presetClass="entr" presetSubtype="0" fill="hold" nodeType="afterEffect">
                                  <p:stCondLst>
                                    <p:cond delay="0"/>
                                  </p:stCondLst>
                                  <p:childTnLst>
                                    <p:set>
                                      <p:cBhvr>
                                        <p:cTn id="138" dur="1" fill="hold">
                                          <p:stCondLst>
                                            <p:cond delay="0"/>
                                          </p:stCondLst>
                                        </p:cTn>
                                        <p:tgtEl>
                                          <p:spTgt spid="3"/>
                                        </p:tgtEl>
                                        <p:attrNameLst>
                                          <p:attrName>style.visibility</p:attrName>
                                        </p:attrNameLst>
                                      </p:cBhvr>
                                      <p:to>
                                        <p:strVal val="visible"/>
                                      </p:to>
                                    </p:set>
                                    <p:animEffect transition="in" filter="fade">
                                      <p:cBhvr>
                                        <p:cTn id="13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1" grpId="0"/>
      <p:bldP spid="72" grpId="0"/>
      <p:bldP spid="73" grpId="0"/>
      <p:bldP spid="74" grpId="0"/>
      <p:bldP spid="75" grpId="0"/>
      <p:bldP spid="78" grpId="0" animBg="1"/>
      <p:bldP spid="79" grpId="0" animBg="1"/>
      <p:bldP spid="80" grpId="0" animBg="1"/>
      <p:bldP spid="81" grpId="0" animBg="1"/>
      <p:bldP spid="82" grpId="0" animBg="1"/>
      <p:bldP spid="83" grpId="0" animBg="1"/>
      <p:bldP spid="93" grpId="0" animBg="1"/>
      <p:bldP spid="94" grpId="0" animBg="1"/>
      <p:bldP spid="95" grpId="0" animBg="1"/>
      <p:bldP spid="96" grpId="0" animBg="1"/>
      <p:bldP spid="97" grpId="0" animBg="1"/>
      <p:bldP spid="98" grpId="0" animBg="1"/>
      <p:bldP spid="99" grpId="0" animBg="1"/>
      <p:bldP spid="10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Freeform 101">
            <a:extLst>
              <a:ext uri="{FF2B5EF4-FFF2-40B4-BE49-F238E27FC236}">
                <a16:creationId xmlns:a16="http://schemas.microsoft.com/office/drawing/2014/main" id="{8D0EBF63-0C4F-E64F-8B15-65F44C243348}"/>
              </a:ext>
            </a:extLst>
          </p:cNvPr>
          <p:cNvSpPr/>
          <p:nvPr/>
        </p:nvSpPr>
        <p:spPr>
          <a:xfrm>
            <a:off x="0" y="-10603"/>
            <a:ext cx="11562972" cy="1777409"/>
          </a:xfrm>
          <a:custGeom>
            <a:avLst/>
            <a:gdLst>
              <a:gd name="connsiteX0" fmla="*/ 0 w 11562972"/>
              <a:gd name="connsiteY0" fmla="*/ 0 h 1777409"/>
              <a:gd name="connsiteX1" fmla="*/ 381758 w 11562972"/>
              <a:gd name="connsiteY1" fmla="*/ 0 h 1777409"/>
              <a:gd name="connsiteX2" fmla="*/ 571684 w 11562972"/>
              <a:gd name="connsiteY2" fmla="*/ 0 h 1777409"/>
              <a:gd name="connsiteX3" fmla="*/ 662265 w 11562972"/>
              <a:gd name="connsiteY3" fmla="*/ 0 h 1777409"/>
              <a:gd name="connsiteX4" fmla="*/ 1180562 w 11562972"/>
              <a:gd name="connsiteY4" fmla="*/ 0 h 1777409"/>
              <a:gd name="connsiteX5" fmla="*/ 1370488 w 11562972"/>
              <a:gd name="connsiteY5" fmla="*/ 0 h 1777409"/>
              <a:gd name="connsiteX6" fmla="*/ 1461070 w 11562972"/>
              <a:gd name="connsiteY6" fmla="*/ 0 h 1777409"/>
              <a:gd name="connsiteX7" fmla="*/ 1462071 w 11562972"/>
              <a:gd name="connsiteY7" fmla="*/ 0 h 1777409"/>
              <a:gd name="connsiteX8" fmla="*/ 1469228 w 11562972"/>
              <a:gd name="connsiteY8" fmla="*/ 0 h 1777409"/>
              <a:gd name="connsiteX9" fmla="*/ 1773673 w 11562972"/>
              <a:gd name="connsiteY9" fmla="*/ 0 h 1777409"/>
              <a:gd name="connsiteX10" fmla="*/ 1864255 w 11562972"/>
              <a:gd name="connsiteY10" fmla="*/ 0 h 1777409"/>
              <a:gd name="connsiteX11" fmla="*/ 2054181 w 11562972"/>
              <a:gd name="connsiteY11" fmla="*/ 0 h 1777409"/>
              <a:gd name="connsiteX12" fmla="*/ 2260876 w 11562972"/>
              <a:gd name="connsiteY12" fmla="*/ 0 h 1777409"/>
              <a:gd name="connsiteX13" fmla="*/ 2268032 w 11562972"/>
              <a:gd name="connsiteY13" fmla="*/ 0 h 1777409"/>
              <a:gd name="connsiteX14" fmla="*/ 2572478 w 11562972"/>
              <a:gd name="connsiteY14" fmla="*/ 0 h 1777409"/>
              <a:gd name="connsiteX15" fmla="*/ 2663060 w 11562972"/>
              <a:gd name="connsiteY15" fmla="*/ 0 h 1777409"/>
              <a:gd name="connsiteX16" fmla="*/ 2664061 w 11562972"/>
              <a:gd name="connsiteY16" fmla="*/ 0 h 1777409"/>
              <a:gd name="connsiteX17" fmla="*/ 2671217 w 11562972"/>
              <a:gd name="connsiteY17" fmla="*/ 0 h 1777409"/>
              <a:gd name="connsiteX18" fmla="*/ 2852986 w 11562972"/>
              <a:gd name="connsiteY18" fmla="*/ 0 h 1777409"/>
              <a:gd name="connsiteX19" fmla="*/ 2853987 w 11562972"/>
              <a:gd name="connsiteY19" fmla="*/ 0 h 1777409"/>
              <a:gd name="connsiteX20" fmla="*/ 2861141 w 11562972"/>
              <a:gd name="connsiteY20" fmla="*/ 0 h 1777409"/>
              <a:gd name="connsiteX21" fmla="*/ 2944568 w 11562972"/>
              <a:gd name="connsiteY21" fmla="*/ 0 h 1777409"/>
              <a:gd name="connsiteX22" fmla="*/ 2951725 w 11562972"/>
              <a:gd name="connsiteY22" fmla="*/ 0 h 1777409"/>
              <a:gd name="connsiteX23" fmla="*/ 3256170 w 11562972"/>
              <a:gd name="connsiteY23" fmla="*/ 0 h 1777409"/>
              <a:gd name="connsiteX24" fmla="*/ 3462866 w 11562972"/>
              <a:gd name="connsiteY24" fmla="*/ 0 h 1777409"/>
              <a:gd name="connsiteX25" fmla="*/ 3470022 w 11562972"/>
              <a:gd name="connsiteY25" fmla="*/ 0 h 1777409"/>
              <a:gd name="connsiteX26" fmla="*/ 3652792 w 11562972"/>
              <a:gd name="connsiteY26" fmla="*/ 0 h 1777409"/>
              <a:gd name="connsiteX27" fmla="*/ 3659946 w 11562972"/>
              <a:gd name="connsiteY27" fmla="*/ 0 h 1777409"/>
              <a:gd name="connsiteX28" fmla="*/ 3743372 w 11562972"/>
              <a:gd name="connsiteY28" fmla="*/ 0 h 1777409"/>
              <a:gd name="connsiteX29" fmla="*/ 3750529 w 11562972"/>
              <a:gd name="connsiteY29" fmla="*/ 0 h 1777409"/>
              <a:gd name="connsiteX30" fmla="*/ 4054973 w 11562972"/>
              <a:gd name="connsiteY30" fmla="*/ 0 h 1777409"/>
              <a:gd name="connsiteX31" fmla="*/ 4055975 w 11562972"/>
              <a:gd name="connsiteY31" fmla="*/ 0 h 1777409"/>
              <a:gd name="connsiteX32" fmla="*/ 4063132 w 11562972"/>
              <a:gd name="connsiteY32" fmla="*/ 0 h 1777409"/>
              <a:gd name="connsiteX33" fmla="*/ 4146558 w 11562972"/>
              <a:gd name="connsiteY33" fmla="*/ 0 h 1777409"/>
              <a:gd name="connsiteX34" fmla="*/ 4153714 w 11562972"/>
              <a:gd name="connsiteY34" fmla="*/ 0 h 1777409"/>
              <a:gd name="connsiteX35" fmla="*/ 4336485 w 11562972"/>
              <a:gd name="connsiteY35" fmla="*/ 0 h 1777409"/>
              <a:gd name="connsiteX36" fmla="*/ 4343638 w 11562972"/>
              <a:gd name="connsiteY36" fmla="*/ 0 h 1777409"/>
              <a:gd name="connsiteX37" fmla="*/ 4854780 w 11562972"/>
              <a:gd name="connsiteY37" fmla="*/ 0 h 1777409"/>
              <a:gd name="connsiteX38" fmla="*/ 4861936 w 11562972"/>
              <a:gd name="connsiteY38" fmla="*/ 0 h 1777409"/>
              <a:gd name="connsiteX39" fmla="*/ 4945362 w 11562972"/>
              <a:gd name="connsiteY39" fmla="*/ 0 h 1777409"/>
              <a:gd name="connsiteX40" fmla="*/ 4952519 w 11562972"/>
              <a:gd name="connsiteY40" fmla="*/ 0 h 1777409"/>
              <a:gd name="connsiteX41" fmla="*/ 5135288 w 11562972"/>
              <a:gd name="connsiteY41" fmla="*/ 0 h 1777409"/>
              <a:gd name="connsiteX42" fmla="*/ 5142443 w 11562972"/>
              <a:gd name="connsiteY42" fmla="*/ 0 h 1777409"/>
              <a:gd name="connsiteX43" fmla="*/ 5538472 w 11562972"/>
              <a:gd name="connsiteY43" fmla="*/ 0 h 1777409"/>
              <a:gd name="connsiteX44" fmla="*/ 5545629 w 11562972"/>
              <a:gd name="connsiteY44" fmla="*/ 0 h 1777409"/>
              <a:gd name="connsiteX45" fmla="*/ 5791907 w 11562972"/>
              <a:gd name="connsiteY45" fmla="*/ 0 h 1777409"/>
              <a:gd name="connsiteX46" fmla="*/ 5799062 w 11562972"/>
              <a:gd name="connsiteY46" fmla="*/ 0 h 1777409"/>
              <a:gd name="connsiteX47" fmla="*/ 6337276 w 11562972"/>
              <a:gd name="connsiteY47" fmla="*/ 0 h 1777409"/>
              <a:gd name="connsiteX48" fmla="*/ 6344432 w 11562972"/>
              <a:gd name="connsiteY48" fmla="*/ 0 h 1777409"/>
              <a:gd name="connsiteX49" fmla="*/ 6590710 w 11562972"/>
              <a:gd name="connsiteY49" fmla="*/ 0 h 1777409"/>
              <a:gd name="connsiteX50" fmla="*/ 6597867 w 11562972"/>
              <a:gd name="connsiteY50" fmla="*/ 0 h 1777409"/>
              <a:gd name="connsiteX51" fmla="*/ 6993896 w 11562972"/>
              <a:gd name="connsiteY51" fmla="*/ 0 h 1777409"/>
              <a:gd name="connsiteX52" fmla="*/ 7001052 w 11562972"/>
              <a:gd name="connsiteY52" fmla="*/ 0 h 1777409"/>
              <a:gd name="connsiteX53" fmla="*/ 7183820 w 11562972"/>
              <a:gd name="connsiteY53" fmla="*/ 0 h 1777409"/>
              <a:gd name="connsiteX54" fmla="*/ 7190976 w 11562972"/>
              <a:gd name="connsiteY54" fmla="*/ 0 h 1777409"/>
              <a:gd name="connsiteX55" fmla="*/ 7274403 w 11562972"/>
              <a:gd name="connsiteY55" fmla="*/ 0 h 1777409"/>
              <a:gd name="connsiteX56" fmla="*/ 7281559 w 11562972"/>
              <a:gd name="connsiteY56" fmla="*/ 0 h 1777409"/>
              <a:gd name="connsiteX57" fmla="*/ 7792699 w 11562972"/>
              <a:gd name="connsiteY57" fmla="*/ 0 h 1777409"/>
              <a:gd name="connsiteX58" fmla="*/ 7799857 w 11562972"/>
              <a:gd name="connsiteY58" fmla="*/ 0 h 1777409"/>
              <a:gd name="connsiteX59" fmla="*/ 7982624 w 11562972"/>
              <a:gd name="connsiteY59" fmla="*/ 0 h 1777409"/>
              <a:gd name="connsiteX60" fmla="*/ 7989781 w 11562972"/>
              <a:gd name="connsiteY60" fmla="*/ 0 h 1777409"/>
              <a:gd name="connsiteX61" fmla="*/ 8073207 w 11562972"/>
              <a:gd name="connsiteY61" fmla="*/ 0 h 1777409"/>
              <a:gd name="connsiteX62" fmla="*/ 8080364 w 11562972"/>
              <a:gd name="connsiteY62" fmla="*/ 0 h 1777409"/>
              <a:gd name="connsiteX63" fmla="*/ 8385810 w 11562972"/>
              <a:gd name="connsiteY63" fmla="*/ 0 h 1777409"/>
              <a:gd name="connsiteX64" fmla="*/ 8392966 w 11562972"/>
              <a:gd name="connsiteY64" fmla="*/ 0 h 1777409"/>
              <a:gd name="connsiteX65" fmla="*/ 8476393 w 11562972"/>
              <a:gd name="connsiteY65" fmla="*/ 0 h 1777409"/>
              <a:gd name="connsiteX66" fmla="*/ 8483549 w 11562972"/>
              <a:gd name="connsiteY66" fmla="*/ 0 h 1777409"/>
              <a:gd name="connsiteX67" fmla="*/ 8666317 w 11562972"/>
              <a:gd name="connsiteY67" fmla="*/ 0 h 1777409"/>
              <a:gd name="connsiteX68" fmla="*/ 8673473 w 11562972"/>
              <a:gd name="connsiteY68" fmla="*/ 0 h 1777409"/>
              <a:gd name="connsiteX69" fmla="*/ 9184614 w 11562972"/>
              <a:gd name="connsiteY69" fmla="*/ 0 h 1777409"/>
              <a:gd name="connsiteX70" fmla="*/ 9191770 w 11562972"/>
              <a:gd name="connsiteY70" fmla="*/ 0 h 1777409"/>
              <a:gd name="connsiteX71" fmla="*/ 9275195 w 11562972"/>
              <a:gd name="connsiteY71" fmla="*/ 0 h 1777409"/>
              <a:gd name="connsiteX72" fmla="*/ 9282354 w 11562972"/>
              <a:gd name="connsiteY72" fmla="*/ 0 h 1777409"/>
              <a:gd name="connsiteX73" fmla="*/ 9465121 w 11562972"/>
              <a:gd name="connsiteY73" fmla="*/ 0 h 1777409"/>
              <a:gd name="connsiteX74" fmla="*/ 9472278 w 11562972"/>
              <a:gd name="connsiteY74" fmla="*/ 0 h 1777409"/>
              <a:gd name="connsiteX75" fmla="*/ 9868307 w 11562972"/>
              <a:gd name="connsiteY75" fmla="*/ 0 h 1777409"/>
              <a:gd name="connsiteX76" fmla="*/ 9875463 w 11562972"/>
              <a:gd name="connsiteY76" fmla="*/ 0 h 1777409"/>
              <a:gd name="connsiteX77" fmla="*/ 10667110 w 11562972"/>
              <a:gd name="connsiteY77" fmla="*/ 0 h 1777409"/>
              <a:gd name="connsiteX78" fmla="*/ 10667110 w 11562972"/>
              <a:gd name="connsiteY78" fmla="*/ 721 h 1777409"/>
              <a:gd name="connsiteX79" fmla="*/ 10674266 w 11562972"/>
              <a:gd name="connsiteY79" fmla="*/ 0 h 1777409"/>
              <a:gd name="connsiteX80" fmla="*/ 11562972 w 11562972"/>
              <a:gd name="connsiteY80" fmla="*/ 888708 h 1777409"/>
              <a:gd name="connsiteX81" fmla="*/ 10674266 w 11562972"/>
              <a:gd name="connsiteY81" fmla="*/ 1777409 h 1777409"/>
              <a:gd name="connsiteX82" fmla="*/ 10667110 w 11562972"/>
              <a:gd name="connsiteY82" fmla="*/ 1776689 h 1777409"/>
              <a:gd name="connsiteX83" fmla="*/ 10667110 w 11562972"/>
              <a:gd name="connsiteY83" fmla="*/ 1777409 h 1777409"/>
              <a:gd name="connsiteX84" fmla="*/ 9875463 w 11562972"/>
              <a:gd name="connsiteY84" fmla="*/ 1777409 h 1777409"/>
              <a:gd name="connsiteX85" fmla="*/ 9868307 w 11562972"/>
              <a:gd name="connsiteY85" fmla="*/ 1777409 h 1777409"/>
              <a:gd name="connsiteX86" fmla="*/ 9472278 w 11562972"/>
              <a:gd name="connsiteY86" fmla="*/ 1777409 h 1777409"/>
              <a:gd name="connsiteX87" fmla="*/ 9465121 w 11562972"/>
              <a:gd name="connsiteY87" fmla="*/ 1777409 h 1777409"/>
              <a:gd name="connsiteX88" fmla="*/ 9282354 w 11562972"/>
              <a:gd name="connsiteY88" fmla="*/ 1777409 h 1777409"/>
              <a:gd name="connsiteX89" fmla="*/ 9275195 w 11562972"/>
              <a:gd name="connsiteY89" fmla="*/ 1777409 h 1777409"/>
              <a:gd name="connsiteX90" fmla="*/ 9191770 w 11562972"/>
              <a:gd name="connsiteY90" fmla="*/ 1777409 h 1777409"/>
              <a:gd name="connsiteX91" fmla="*/ 9184614 w 11562972"/>
              <a:gd name="connsiteY91" fmla="*/ 1777409 h 1777409"/>
              <a:gd name="connsiteX92" fmla="*/ 8673473 w 11562972"/>
              <a:gd name="connsiteY92" fmla="*/ 1777409 h 1777409"/>
              <a:gd name="connsiteX93" fmla="*/ 8666317 w 11562972"/>
              <a:gd name="connsiteY93" fmla="*/ 1777409 h 1777409"/>
              <a:gd name="connsiteX94" fmla="*/ 8483549 w 11562972"/>
              <a:gd name="connsiteY94" fmla="*/ 1777409 h 1777409"/>
              <a:gd name="connsiteX95" fmla="*/ 8476393 w 11562972"/>
              <a:gd name="connsiteY95" fmla="*/ 1777409 h 1777409"/>
              <a:gd name="connsiteX96" fmla="*/ 8392966 w 11562972"/>
              <a:gd name="connsiteY96" fmla="*/ 1777409 h 1777409"/>
              <a:gd name="connsiteX97" fmla="*/ 8385810 w 11562972"/>
              <a:gd name="connsiteY97" fmla="*/ 1777409 h 1777409"/>
              <a:gd name="connsiteX98" fmla="*/ 8080364 w 11562972"/>
              <a:gd name="connsiteY98" fmla="*/ 1777409 h 1777409"/>
              <a:gd name="connsiteX99" fmla="*/ 8073207 w 11562972"/>
              <a:gd name="connsiteY99" fmla="*/ 1777409 h 1777409"/>
              <a:gd name="connsiteX100" fmla="*/ 7989781 w 11562972"/>
              <a:gd name="connsiteY100" fmla="*/ 1777409 h 1777409"/>
              <a:gd name="connsiteX101" fmla="*/ 7982624 w 11562972"/>
              <a:gd name="connsiteY101" fmla="*/ 1777409 h 1777409"/>
              <a:gd name="connsiteX102" fmla="*/ 7799857 w 11562972"/>
              <a:gd name="connsiteY102" fmla="*/ 1777409 h 1777409"/>
              <a:gd name="connsiteX103" fmla="*/ 7792699 w 11562972"/>
              <a:gd name="connsiteY103" fmla="*/ 1777409 h 1777409"/>
              <a:gd name="connsiteX104" fmla="*/ 7281559 w 11562972"/>
              <a:gd name="connsiteY104" fmla="*/ 1777409 h 1777409"/>
              <a:gd name="connsiteX105" fmla="*/ 7274403 w 11562972"/>
              <a:gd name="connsiteY105" fmla="*/ 1777409 h 1777409"/>
              <a:gd name="connsiteX106" fmla="*/ 7190976 w 11562972"/>
              <a:gd name="connsiteY106" fmla="*/ 1777409 h 1777409"/>
              <a:gd name="connsiteX107" fmla="*/ 7183820 w 11562972"/>
              <a:gd name="connsiteY107" fmla="*/ 1777409 h 1777409"/>
              <a:gd name="connsiteX108" fmla="*/ 7001052 w 11562972"/>
              <a:gd name="connsiteY108" fmla="*/ 1777409 h 1777409"/>
              <a:gd name="connsiteX109" fmla="*/ 6993896 w 11562972"/>
              <a:gd name="connsiteY109" fmla="*/ 1777409 h 1777409"/>
              <a:gd name="connsiteX110" fmla="*/ 6597867 w 11562972"/>
              <a:gd name="connsiteY110" fmla="*/ 1777409 h 1777409"/>
              <a:gd name="connsiteX111" fmla="*/ 6590710 w 11562972"/>
              <a:gd name="connsiteY111" fmla="*/ 1777409 h 1777409"/>
              <a:gd name="connsiteX112" fmla="*/ 6344446 w 11562972"/>
              <a:gd name="connsiteY112" fmla="*/ 1777409 h 1777409"/>
              <a:gd name="connsiteX113" fmla="*/ 6344432 w 11562972"/>
              <a:gd name="connsiteY113" fmla="*/ 1777409 h 1777409"/>
              <a:gd name="connsiteX114" fmla="*/ 6344417 w 11562972"/>
              <a:gd name="connsiteY114" fmla="*/ 1777409 h 1777409"/>
              <a:gd name="connsiteX115" fmla="*/ 6337276 w 11562972"/>
              <a:gd name="connsiteY115" fmla="*/ 1777409 h 1777409"/>
              <a:gd name="connsiteX116" fmla="*/ 5799062 w 11562972"/>
              <a:gd name="connsiteY116" fmla="*/ 1777409 h 1777409"/>
              <a:gd name="connsiteX117" fmla="*/ 5791907 w 11562972"/>
              <a:gd name="connsiteY117" fmla="*/ 1777409 h 1777409"/>
              <a:gd name="connsiteX118" fmla="*/ 5545643 w 11562972"/>
              <a:gd name="connsiteY118" fmla="*/ 1777409 h 1777409"/>
              <a:gd name="connsiteX119" fmla="*/ 5545629 w 11562972"/>
              <a:gd name="connsiteY119" fmla="*/ 1777409 h 1777409"/>
              <a:gd name="connsiteX120" fmla="*/ 5545613 w 11562972"/>
              <a:gd name="connsiteY120" fmla="*/ 1777409 h 1777409"/>
              <a:gd name="connsiteX121" fmla="*/ 5538472 w 11562972"/>
              <a:gd name="connsiteY121" fmla="*/ 1777409 h 1777409"/>
              <a:gd name="connsiteX122" fmla="*/ 5142457 w 11562972"/>
              <a:gd name="connsiteY122" fmla="*/ 1777409 h 1777409"/>
              <a:gd name="connsiteX123" fmla="*/ 5142443 w 11562972"/>
              <a:gd name="connsiteY123" fmla="*/ 1777409 h 1777409"/>
              <a:gd name="connsiteX124" fmla="*/ 5142429 w 11562972"/>
              <a:gd name="connsiteY124" fmla="*/ 1777409 h 1777409"/>
              <a:gd name="connsiteX125" fmla="*/ 5135288 w 11562972"/>
              <a:gd name="connsiteY125" fmla="*/ 1777409 h 1777409"/>
              <a:gd name="connsiteX126" fmla="*/ 4952533 w 11562972"/>
              <a:gd name="connsiteY126" fmla="*/ 1777409 h 1777409"/>
              <a:gd name="connsiteX127" fmla="*/ 4952519 w 11562972"/>
              <a:gd name="connsiteY127" fmla="*/ 1777409 h 1777409"/>
              <a:gd name="connsiteX128" fmla="*/ 4952503 w 11562972"/>
              <a:gd name="connsiteY128" fmla="*/ 1777409 h 1777409"/>
              <a:gd name="connsiteX129" fmla="*/ 4945362 w 11562972"/>
              <a:gd name="connsiteY129" fmla="*/ 1777409 h 1777409"/>
              <a:gd name="connsiteX130" fmla="*/ 4861950 w 11562972"/>
              <a:gd name="connsiteY130" fmla="*/ 1777409 h 1777409"/>
              <a:gd name="connsiteX131" fmla="*/ 4861936 w 11562972"/>
              <a:gd name="connsiteY131" fmla="*/ 1777409 h 1777409"/>
              <a:gd name="connsiteX132" fmla="*/ 4861921 w 11562972"/>
              <a:gd name="connsiteY132" fmla="*/ 1777409 h 1777409"/>
              <a:gd name="connsiteX133" fmla="*/ 4854780 w 11562972"/>
              <a:gd name="connsiteY133" fmla="*/ 1777409 h 1777409"/>
              <a:gd name="connsiteX134" fmla="*/ 4343653 w 11562972"/>
              <a:gd name="connsiteY134" fmla="*/ 1777409 h 1777409"/>
              <a:gd name="connsiteX135" fmla="*/ 4343638 w 11562972"/>
              <a:gd name="connsiteY135" fmla="*/ 1777409 h 1777409"/>
              <a:gd name="connsiteX136" fmla="*/ 4343624 w 11562972"/>
              <a:gd name="connsiteY136" fmla="*/ 1777409 h 1777409"/>
              <a:gd name="connsiteX137" fmla="*/ 4336485 w 11562972"/>
              <a:gd name="connsiteY137" fmla="*/ 1777409 h 1777409"/>
              <a:gd name="connsiteX138" fmla="*/ 4153728 w 11562972"/>
              <a:gd name="connsiteY138" fmla="*/ 1777409 h 1777409"/>
              <a:gd name="connsiteX139" fmla="*/ 4153714 w 11562972"/>
              <a:gd name="connsiteY139" fmla="*/ 1777409 h 1777409"/>
              <a:gd name="connsiteX140" fmla="*/ 4153699 w 11562972"/>
              <a:gd name="connsiteY140" fmla="*/ 1777409 h 1777409"/>
              <a:gd name="connsiteX141" fmla="*/ 4146558 w 11562972"/>
              <a:gd name="connsiteY141" fmla="*/ 1777409 h 1777409"/>
              <a:gd name="connsiteX142" fmla="*/ 4063146 w 11562972"/>
              <a:gd name="connsiteY142" fmla="*/ 1777409 h 1777409"/>
              <a:gd name="connsiteX143" fmla="*/ 4063132 w 11562972"/>
              <a:gd name="connsiteY143" fmla="*/ 1777409 h 1777409"/>
              <a:gd name="connsiteX144" fmla="*/ 4063116 w 11562972"/>
              <a:gd name="connsiteY144" fmla="*/ 1777409 h 1777409"/>
              <a:gd name="connsiteX145" fmla="*/ 4055975 w 11562972"/>
              <a:gd name="connsiteY145" fmla="*/ 1777409 h 1777409"/>
              <a:gd name="connsiteX146" fmla="*/ 4054973 w 11562972"/>
              <a:gd name="connsiteY146" fmla="*/ 1777409 h 1777409"/>
              <a:gd name="connsiteX147" fmla="*/ 3750542 w 11562972"/>
              <a:gd name="connsiteY147" fmla="*/ 1777409 h 1777409"/>
              <a:gd name="connsiteX148" fmla="*/ 3750529 w 11562972"/>
              <a:gd name="connsiteY148" fmla="*/ 1777409 h 1777409"/>
              <a:gd name="connsiteX149" fmla="*/ 3750513 w 11562972"/>
              <a:gd name="connsiteY149" fmla="*/ 1777409 h 1777409"/>
              <a:gd name="connsiteX150" fmla="*/ 3743372 w 11562972"/>
              <a:gd name="connsiteY150" fmla="*/ 1777409 h 1777409"/>
              <a:gd name="connsiteX151" fmla="*/ 3659960 w 11562972"/>
              <a:gd name="connsiteY151" fmla="*/ 1777409 h 1777409"/>
              <a:gd name="connsiteX152" fmla="*/ 3659946 w 11562972"/>
              <a:gd name="connsiteY152" fmla="*/ 1777409 h 1777409"/>
              <a:gd name="connsiteX153" fmla="*/ 3659932 w 11562972"/>
              <a:gd name="connsiteY153" fmla="*/ 1777409 h 1777409"/>
              <a:gd name="connsiteX154" fmla="*/ 3652792 w 11562972"/>
              <a:gd name="connsiteY154" fmla="*/ 1777409 h 1777409"/>
              <a:gd name="connsiteX155" fmla="*/ 3470036 w 11562972"/>
              <a:gd name="connsiteY155" fmla="*/ 1777409 h 1777409"/>
              <a:gd name="connsiteX156" fmla="*/ 3470022 w 11562972"/>
              <a:gd name="connsiteY156" fmla="*/ 1777409 h 1777409"/>
              <a:gd name="connsiteX157" fmla="*/ 3470006 w 11562972"/>
              <a:gd name="connsiteY157" fmla="*/ 1777409 h 1777409"/>
              <a:gd name="connsiteX158" fmla="*/ 3462866 w 11562972"/>
              <a:gd name="connsiteY158" fmla="*/ 1777409 h 1777409"/>
              <a:gd name="connsiteX159" fmla="*/ 3256170 w 11562972"/>
              <a:gd name="connsiteY159" fmla="*/ 1777409 h 1777409"/>
              <a:gd name="connsiteX160" fmla="*/ 2951738 w 11562972"/>
              <a:gd name="connsiteY160" fmla="*/ 1777409 h 1777409"/>
              <a:gd name="connsiteX161" fmla="*/ 2951725 w 11562972"/>
              <a:gd name="connsiteY161" fmla="*/ 1777409 h 1777409"/>
              <a:gd name="connsiteX162" fmla="*/ 2951709 w 11562972"/>
              <a:gd name="connsiteY162" fmla="*/ 1777409 h 1777409"/>
              <a:gd name="connsiteX163" fmla="*/ 2944568 w 11562972"/>
              <a:gd name="connsiteY163" fmla="*/ 1777409 h 1777409"/>
              <a:gd name="connsiteX164" fmla="*/ 2861157 w 11562972"/>
              <a:gd name="connsiteY164" fmla="*/ 1777409 h 1777409"/>
              <a:gd name="connsiteX165" fmla="*/ 2861141 w 11562972"/>
              <a:gd name="connsiteY165" fmla="*/ 1777409 h 1777409"/>
              <a:gd name="connsiteX166" fmla="*/ 2861127 w 11562972"/>
              <a:gd name="connsiteY166" fmla="*/ 1777409 h 1777409"/>
              <a:gd name="connsiteX167" fmla="*/ 2853987 w 11562972"/>
              <a:gd name="connsiteY167" fmla="*/ 1777409 h 1777409"/>
              <a:gd name="connsiteX168" fmla="*/ 2852986 w 11562972"/>
              <a:gd name="connsiteY168" fmla="*/ 1777409 h 1777409"/>
              <a:gd name="connsiteX169" fmla="*/ 2671232 w 11562972"/>
              <a:gd name="connsiteY169" fmla="*/ 1777409 h 1777409"/>
              <a:gd name="connsiteX170" fmla="*/ 2671217 w 11562972"/>
              <a:gd name="connsiteY170" fmla="*/ 1777409 h 1777409"/>
              <a:gd name="connsiteX171" fmla="*/ 2671202 w 11562972"/>
              <a:gd name="connsiteY171" fmla="*/ 1777409 h 1777409"/>
              <a:gd name="connsiteX172" fmla="*/ 2664061 w 11562972"/>
              <a:gd name="connsiteY172" fmla="*/ 1777409 h 1777409"/>
              <a:gd name="connsiteX173" fmla="*/ 2663060 w 11562972"/>
              <a:gd name="connsiteY173" fmla="*/ 1777409 h 1777409"/>
              <a:gd name="connsiteX174" fmla="*/ 2572478 w 11562972"/>
              <a:gd name="connsiteY174" fmla="*/ 1777409 h 1777409"/>
              <a:gd name="connsiteX175" fmla="*/ 2268045 w 11562972"/>
              <a:gd name="connsiteY175" fmla="*/ 1777409 h 1777409"/>
              <a:gd name="connsiteX176" fmla="*/ 2268032 w 11562972"/>
              <a:gd name="connsiteY176" fmla="*/ 1777409 h 1777409"/>
              <a:gd name="connsiteX177" fmla="*/ 2268016 w 11562972"/>
              <a:gd name="connsiteY177" fmla="*/ 1777409 h 1777409"/>
              <a:gd name="connsiteX178" fmla="*/ 2260876 w 11562972"/>
              <a:gd name="connsiteY178" fmla="*/ 1777409 h 1777409"/>
              <a:gd name="connsiteX179" fmla="*/ 2054181 w 11562972"/>
              <a:gd name="connsiteY179" fmla="*/ 1777409 h 1777409"/>
              <a:gd name="connsiteX180" fmla="*/ 1864255 w 11562972"/>
              <a:gd name="connsiteY180" fmla="*/ 1777409 h 1777409"/>
              <a:gd name="connsiteX181" fmla="*/ 1773673 w 11562972"/>
              <a:gd name="connsiteY181" fmla="*/ 1777409 h 1777409"/>
              <a:gd name="connsiteX182" fmla="*/ 1469241 w 11562972"/>
              <a:gd name="connsiteY182" fmla="*/ 1777409 h 1777409"/>
              <a:gd name="connsiteX183" fmla="*/ 1469228 w 11562972"/>
              <a:gd name="connsiteY183" fmla="*/ 1777409 h 1777409"/>
              <a:gd name="connsiteX184" fmla="*/ 1469212 w 11562972"/>
              <a:gd name="connsiteY184" fmla="*/ 1777409 h 1777409"/>
              <a:gd name="connsiteX185" fmla="*/ 1462071 w 11562972"/>
              <a:gd name="connsiteY185" fmla="*/ 1777409 h 1777409"/>
              <a:gd name="connsiteX186" fmla="*/ 1461070 w 11562972"/>
              <a:gd name="connsiteY186" fmla="*/ 1777409 h 1777409"/>
              <a:gd name="connsiteX187" fmla="*/ 1370488 w 11562972"/>
              <a:gd name="connsiteY187" fmla="*/ 1777409 h 1777409"/>
              <a:gd name="connsiteX188" fmla="*/ 1180562 w 11562972"/>
              <a:gd name="connsiteY188" fmla="*/ 1777409 h 1777409"/>
              <a:gd name="connsiteX189" fmla="*/ 662265 w 11562972"/>
              <a:gd name="connsiteY189" fmla="*/ 1777409 h 1777409"/>
              <a:gd name="connsiteX190" fmla="*/ 571684 w 11562972"/>
              <a:gd name="connsiteY190" fmla="*/ 1777409 h 1777409"/>
              <a:gd name="connsiteX191" fmla="*/ 381758 w 11562972"/>
              <a:gd name="connsiteY191" fmla="*/ 1777409 h 1777409"/>
              <a:gd name="connsiteX192" fmla="*/ 0 w 11562972"/>
              <a:gd name="connsiteY192" fmla="*/ 1777409 h 177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562972" h="1777409">
                <a:moveTo>
                  <a:pt x="0" y="0"/>
                </a:moveTo>
                <a:lnTo>
                  <a:pt x="381758" y="0"/>
                </a:lnTo>
                <a:lnTo>
                  <a:pt x="571684" y="0"/>
                </a:lnTo>
                <a:lnTo>
                  <a:pt x="662265" y="0"/>
                </a:lnTo>
                <a:lnTo>
                  <a:pt x="1180562" y="0"/>
                </a:lnTo>
                <a:lnTo>
                  <a:pt x="1370488" y="0"/>
                </a:lnTo>
                <a:lnTo>
                  <a:pt x="1461070" y="0"/>
                </a:lnTo>
                <a:lnTo>
                  <a:pt x="1462071" y="0"/>
                </a:lnTo>
                <a:lnTo>
                  <a:pt x="1469228" y="0"/>
                </a:lnTo>
                <a:lnTo>
                  <a:pt x="1773673" y="0"/>
                </a:lnTo>
                <a:lnTo>
                  <a:pt x="1864255" y="0"/>
                </a:lnTo>
                <a:lnTo>
                  <a:pt x="2054181" y="0"/>
                </a:lnTo>
                <a:lnTo>
                  <a:pt x="2260876" y="0"/>
                </a:lnTo>
                <a:lnTo>
                  <a:pt x="2268032" y="0"/>
                </a:lnTo>
                <a:lnTo>
                  <a:pt x="2572478" y="0"/>
                </a:lnTo>
                <a:lnTo>
                  <a:pt x="2663060" y="0"/>
                </a:lnTo>
                <a:lnTo>
                  <a:pt x="2664061" y="0"/>
                </a:lnTo>
                <a:lnTo>
                  <a:pt x="2671217" y="0"/>
                </a:lnTo>
                <a:lnTo>
                  <a:pt x="2852986" y="0"/>
                </a:lnTo>
                <a:lnTo>
                  <a:pt x="2853987" y="0"/>
                </a:lnTo>
                <a:lnTo>
                  <a:pt x="2861141" y="0"/>
                </a:lnTo>
                <a:lnTo>
                  <a:pt x="2944568" y="0"/>
                </a:lnTo>
                <a:lnTo>
                  <a:pt x="2951725" y="0"/>
                </a:lnTo>
                <a:lnTo>
                  <a:pt x="3256170" y="0"/>
                </a:lnTo>
                <a:lnTo>
                  <a:pt x="3462866" y="0"/>
                </a:lnTo>
                <a:lnTo>
                  <a:pt x="3470022" y="0"/>
                </a:lnTo>
                <a:lnTo>
                  <a:pt x="3652792" y="0"/>
                </a:lnTo>
                <a:lnTo>
                  <a:pt x="3659946" y="0"/>
                </a:lnTo>
                <a:lnTo>
                  <a:pt x="3743372" y="0"/>
                </a:lnTo>
                <a:lnTo>
                  <a:pt x="3750529" y="0"/>
                </a:lnTo>
                <a:lnTo>
                  <a:pt x="4054973" y="0"/>
                </a:lnTo>
                <a:lnTo>
                  <a:pt x="4055975" y="0"/>
                </a:lnTo>
                <a:lnTo>
                  <a:pt x="4063132" y="0"/>
                </a:lnTo>
                <a:lnTo>
                  <a:pt x="4146558" y="0"/>
                </a:lnTo>
                <a:lnTo>
                  <a:pt x="4153714" y="0"/>
                </a:lnTo>
                <a:lnTo>
                  <a:pt x="4336485" y="0"/>
                </a:lnTo>
                <a:lnTo>
                  <a:pt x="4343638" y="0"/>
                </a:lnTo>
                <a:lnTo>
                  <a:pt x="4854780" y="0"/>
                </a:lnTo>
                <a:lnTo>
                  <a:pt x="4861936" y="0"/>
                </a:lnTo>
                <a:lnTo>
                  <a:pt x="4945362" y="0"/>
                </a:lnTo>
                <a:lnTo>
                  <a:pt x="4952519" y="0"/>
                </a:lnTo>
                <a:lnTo>
                  <a:pt x="5135288" y="0"/>
                </a:lnTo>
                <a:lnTo>
                  <a:pt x="5142443" y="0"/>
                </a:lnTo>
                <a:lnTo>
                  <a:pt x="5538472" y="0"/>
                </a:lnTo>
                <a:lnTo>
                  <a:pt x="5545629" y="0"/>
                </a:lnTo>
                <a:lnTo>
                  <a:pt x="5791907" y="0"/>
                </a:lnTo>
                <a:lnTo>
                  <a:pt x="5799062" y="0"/>
                </a:lnTo>
                <a:lnTo>
                  <a:pt x="6337276" y="0"/>
                </a:lnTo>
                <a:lnTo>
                  <a:pt x="6344432" y="0"/>
                </a:lnTo>
                <a:lnTo>
                  <a:pt x="6590710" y="0"/>
                </a:lnTo>
                <a:lnTo>
                  <a:pt x="6597867" y="0"/>
                </a:lnTo>
                <a:lnTo>
                  <a:pt x="6993896" y="0"/>
                </a:lnTo>
                <a:lnTo>
                  <a:pt x="7001052" y="0"/>
                </a:lnTo>
                <a:lnTo>
                  <a:pt x="7183820" y="0"/>
                </a:lnTo>
                <a:lnTo>
                  <a:pt x="7190976" y="0"/>
                </a:lnTo>
                <a:lnTo>
                  <a:pt x="7274403" y="0"/>
                </a:lnTo>
                <a:lnTo>
                  <a:pt x="7281559" y="0"/>
                </a:lnTo>
                <a:lnTo>
                  <a:pt x="7792699" y="0"/>
                </a:lnTo>
                <a:lnTo>
                  <a:pt x="7799857" y="0"/>
                </a:lnTo>
                <a:lnTo>
                  <a:pt x="7982624" y="0"/>
                </a:lnTo>
                <a:lnTo>
                  <a:pt x="7989781" y="0"/>
                </a:lnTo>
                <a:lnTo>
                  <a:pt x="8073207" y="0"/>
                </a:lnTo>
                <a:lnTo>
                  <a:pt x="8080364" y="0"/>
                </a:lnTo>
                <a:lnTo>
                  <a:pt x="8385810" y="0"/>
                </a:lnTo>
                <a:lnTo>
                  <a:pt x="8392966" y="0"/>
                </a:lnTo>
                <a:lnTo>
                  <a:pt x="8476393" y="0"/>
                </a:lnTo>
                <a:lnTo>
                  <a:pt x="8483549" y="0"/>
                </a:lnTo>
                <a:lnTo>
                  <a:pt x="8666317" y="0"/>
                </a:lnTo>
                <a:lnTo>
                  <a:pt x="8673473" y="0"/>
                </a:lnTo>
                <a:lnTo>
                  <a:pt x="9184614" y="0"/>
                </a:lnTo>
                <a:lnTo>
                  <a:pt x="9191770" y="0"/>
                </a:lnTo>
                <a:lnTo>
                  <a:pt x="9275195" y="0"/>
                </a:lnTo>
                <a:lnTo>
                  <a:pt x="9282354" y="0"/>
                </a:lnTo>
                <a:lnTo>
                  <a:pt x="9465121" y="0"/>
                </a:lnTo>
                <a:lnTo>
                  <a:pt x="9472278" y="0"/>
                </a:lnTo>
                <a:lnTo>
                  <a:pt x="9868307" y="0"/>
                </a:lnTo>
                <a:lnTo>
                  <a:pt x="9875463" y="0"/>
                </a:lnTo>
                <a:lnTo>
                  <a:pt x="10667110" y="0"/>
                </a:lnTo>
                <a:lnTo>
                  <a:pt x="10667110" y="721"/>
                </a:lnTo>
                <a:lnTo>
                  <a:pt x="10674266" y="0"/>
                </a:lnTo>
                <a:cubicBezTo>
                  <a:pt x="11165088" y="0"/>
                  <a:pt x="11562972" y="397885"/>
                  <a:pt x="11562972" y="888708"/>
                </a:cubicBezTo>
                <a:cubicBezTo>
                  <a:pt x="11562972" y="1379524"/>
                  <a:pt x="11165088" y="1777409"/>
                  <a:pt x="10674266" y="1777409"/>
                </a:cubicBezTo>
                <a:lnTo>
                  <a:pt x="10667110" y="1776689"/>
                </a:lnTo>
                <a:lnTo>
                  <a:pt x="10667110" y="1777409"/>
                </a:lnTo>
                <a:lnTo>
                  <a:pt x="9875463" y="1777409"/>
                </a:lnTo>
                <a:lnTo>
                  <a:pt x="9868307" y="1777409"/>
                </a:lnTo>
                <a:lnTo>
                  <a:pt x="9472278" y="1777409"/>
                </a:lnTo>
                <a:lnTo>
                  <a:pt x="9465121" y="1777409"/>
                </a:lnTo>
                <a:lnTo>
                  <a:pt x="9282354" y="1777409"/>
                </a:lnTo>
                <a:lnTo>
                  <a:pt x="9275195" y="1777409"/>
                </a:lnTo>
                <a:lnTo>
                  <a:pt x="9191770" y="1777409"/>
                </a:lnTo>
                <a:lnTo>
                  <a:pt x="9184614" y="1777409"/>
                </a:lnTo>
                <a:lnTo>
                  <a:pt x="8673473" y="1777409"/>
                </a:lnTo>
                <a:lnTo>
                  <a:pt x="8666317" y="1777409"/>
                </a:lnTo>
                <a:lnTo>
                  <a:pt x="8483549" y="1777409"/>
                </a:lnTo>
                <a:lnTo>
                  <a:pt x="8476393" y="1777409"/>
                </a:lnTo>
                <a:lnTo>
                  <a:pt x="8392966" y="1777409"/>
                </a:lnTo>
                <a:lnTo>
                  <a:pt x="8385810" y="1777409"/>
                </a:lnTo>
                <a:lnTo>
                  <a:pt x="8080364" y="1777409"/>
                </a:lnTo>
                <a:lnTo>
                  <a:pt x="8073207" y="1777409"/>
                </a:lnTo>
                <a:lnTo>
                  <a:pt x="7989781" y="1777409"/>
                </a:lnTo>
                <a:lnTo>
                  <a:pt x="7982624" y="1777409"/>
                </a:lnTo>
                <a:lnTo>
                  <a:pt x="7799857" y="1777409"/>
                </a:lnTo>
                <a:lnTo>
                  <a:pt x="7792699" y="1777409"/>
                </a:lnTo>
                <a:lnTo>
                  <a:pt x="7281559" y="1777409"/>
                </a:lnTo>
                <a:lnTo>
                  <a:pt x="7274403" y="1777409"/>
                </a:lnTo>
                <a:lnTo>
                  <a:pt x="7190976" y="1777409"/>
                </a:lnTo>
                <a:lnTo>
                  <a:pt x="7183820" y="1777409"/>
                </a:lnTo>
                <a:lnTo>
                  <a:pt x="7001052" y="1777409"/>
                </a:lnTo>
                <a:lnTo>
                  <a:pt x="6993896" y="1777409"/>
                </a:lnTo>
                <a:lnTo>
                  <a:pt x="6597867" y="1777409"/>
                </a:lnTo>
                <a:lnTo>
                  <a:pt x="6590710" y="1777409"/>
                </a:lnTo>
                <a:lnTo>
                  <a:pt x="6344446" y="1777409"/>
                </a:lnTo>
                <a:lnTo>
                  <a:pt x="6344432" y="1777409"/>
                </a:lnTo>
                <a:lnTo>
                  <a:pt x="6344417" y="1777409"/>
                </a:lnTo>
                <a:lnTo>
                  <a:pt x="6337276" y="1777409"/>
                </a:lnTo>
                <a:lnTo>
                  <a:pt x="5799062" y="1777409"/>
                </a:lnTo>
                <a:lnTo>
                  <a:pt x="5791907" y="1777409"/>
                </a:lnTo>
                <a:lnTo>
                  <a:pt x="5545643" y="1777409"/>
                </a:lnTo>
                <a:lnTo>
                  <a:pt x="5545629" y="1777409"/>
                </a:lnTo>
                <a:lnTo>
                  <a:pt x="5545613" y="1777409"/>
                </a:lnTo>
                <a:lnTo>
                  <a:pt x="5538472" y="1777409"/>
                </a:lnTo>
                <a:lnTo>
                  <a:pt x="5142457" y="1777409"/>
                </a:lnTo>
                <a:lnTo>
                  <a:pt x="5142443" y="1777409"/>
                </a:lnTo>
                <a:lnTo>
                  <a:pt x="5142429" y="1777409"/>
                </a:lnTo>
                <a:lnTo>
                  <a:pt x="5135288" y="1777409"/>
                </a:lnTo>
                <a:lnTo>
                  <a:pt x="4952533" y="1777409"/>
                </a:lnTo>
                <a:lnTo>
                  <a:pt x="4952519" y="1777409"/>
                </a:lnTo>
                <a:lnTo>
                  <a:pt x="4952503" y="1777409"/>
                </a:lnTo>
                <a:lnTo>
                  <a:pt x="4945362" y="1777409"/>
                </a:lnTo>
                <a:lnTo>
                  <a:pt x="4861950" y="1777409"/>
                </a:lnTo>
                <a:lnTo>
                  <a:pt x="4861936" y="1777409"/>
                </a:lnTo>
                <a:lnTo>
                  <a:pt x="4861921" y="1777409"/>
                </a:lnTo>
                <a:lnTo>
                  <a:pt x="4854780" y="1777409"/>
                </a:lnTo>
                <a:lnTo>
                  <a:pt x="4343653" y="1777409"/>
                </a:lnTo>
                <a:lnTo>
                  <a:pt x="4343638" y="1777409"/>
                </a:lnTo>
                <a:lnTo>
                  <a:pt x="4343624" y="1777409"/>
                </a:lnTo>
                <a:lnTo>
                  <a:pt x="4336485" y="1777409"/>
                </a:lnTo>
                <a:lnTo>
                  <a:pt x="4153728" y="1777409"/>
                </a:lnTo>
                <a:lnTo>
                  <a:pt x="4153714" y="1777409"/>
                </a:lnTo>
                <a:lnTo>
                  <a:pt x="4153699" y="1777409"/>
                </a:lnTo>
                <a:lnTo>
                  <a:pt x="4146558" y="1777409"/>
                </a:lnTo>
                <a:lnTo>
                  <a:pt x="4063146" y="1777409"/>
                </a:lnTo>
                <a:lnTo>
                  <a:pt x="4063132" y="1777409"/>
                </a:lnTo>
                <a:lnTo>
                  <a:pt x="4063116" y="1777409"/>
                </a:lnTo>
                <a:lnTo>
                  <a:pt x="4055975" y="1777409"/>
                </a:lnTo>
                <a:lnTo>
                  <a:pt x="4054973" y="1777409"/>
                </a:lnTo>
                <a:lnTo>
                  <a:pt x="3750542" y="1777409"/>
                </a:lnTo>
                <a:lnTo>
                  <a:pt x="3750529" y="1777409"/>
                </a:lnTo>
                <a:lnTo>
                  <a:pt x="3750513" y="1777409"/>
                </a:lnTo>
                <a:lnTo>
                  <a:pt x="3743372" y="1777409"/>
                </a:lnTo>
                <a:lnTo>
                  <a:pt x="3659960" y="1777409"/>
                </a:lnTo>
                <a:lnTo>
                  <a:pt x="3659946" y="1777409"/>
                </a:lnTo>
                <a:lnTo>
                  <a:pt x="3659932" y="1777409"/>
                </a:lnTo>
                <a:lnTo>
                  <a:pt x="3652792" y="1777409"/>
                </a:lnTo>
                <a:lnTo>
                  <a:pt x="3470036" y="1777409"/>
                </a:lnTo>
                <a:lnTo>
                  <a:pt x="3470022" y="1777409"/>
                </a:lnTo>
                <a:lnTo>
                  <a:pt x="3470006" y="1777409"/>
                </a:lnTo>
                <a:lnTo>
                  <a:pt x="3462866" y="1777409"/>
                </a:lnTo>
                <a:lnTo>
                  <a:pt x="3256170" y="1777409"/>
                </a:lnTo>
                <a:lnTo>
                  <a:pt x="2951738" y="1777409"/>
                </a:lnTo>
                <a:lnTo>
                  <a:pt x="2951725" y="1777409"/>
                </a:lnTo>
                <a:lnTo>
                  <a:pt x="2951709" y="1777409"/>
                </a:lnTo>
                <a:lnTo>
                  <a:pt x="2944568" y="1777409"/>
                </a:lnTo>
                <a:lnTo>
                  <a:pt x="2861157" y="1777409"/>
                </a:lnTo>
                <a:lnTo>
                  <a:pt x="2861141" y="1777409"/>
                </a:lnTo>
                <a:lnTo>
                  <a:pt x="2861127" y="1777409"/>
                </a:lnTo>
                <a:lnTo>
                  <a:pt x="2853987" y="1777409"/>
                </a:lnTo>
                <a:lnTo>
                  <a:pt x="2852986" y="1777409"/>
                </a:lnTo>
                <a:lnTo>
                  <a:pt x="2671232" y="1777409"/>
                </a:lnTo>
                <a:lnTo>
                  <a:pt x="2671217" y="1777409"/>
                </a:lnTo>
                <a:lnTo>
                  <a:pt x="2671202" y="1777409"/>
                </a:lnTo>
                <a:lnTo>
                  <a:pt x="2664061" y="1777409"/>
                </a:lnTo>
                <a:lnTo>
                  <a:pt x="2663060" y="1777409"/>
                </a:lnTo>
                <a:lnTo>
                  <a:pt x="2572478" y="1777409"/>
                </a:lnTo>
                <a:lnTo>
                  <a:pt x="2268045" y="1777409"/>
                </a:lnTo>
                <a:lnTo>
                  <a:pt x="2268032" y="1777409"/>
                </a:lnTo>
                <a:lnTo>
                  <a:pt x="2268016" y="1777409"/>
                </a:lnTo>
                <a:lnTo>
                  <a:pt x="2260876" y="1777409"/>
                </a:lnTo>
                <a:lnTo>
                  <a:pt x="2054181" y="1777409"/>
                </a:lnTo>
                <a:lnTo>
                  <a:pt x="1864255" y="1777409"/>
                </a:lnTo>
                <a:lnTo>
                  <a:pt x="1773673" y="1777409"/>
                </a:lnTo>
                <a:lnTo>
                  <a:pt x="1469241" y="1777409"/>
                </a:lnTo>
                <a:lnTo>
                  <a:pt x="1469228" y="1777409"/>
                </a:lnTo>
                <a:lnTo>
                  <a:pt x="1469212" y="1777409"/>
                </a:lnTo>
                <a:lnTo>
                  <a:pt x="1462071" y="1777409"/>
                </a:lnTo>
                <a:lnTo>
                  <a:pt x="1461070" y="1777409"/>
                </a:lnTo>
                <a:lnTo>
                  <a:pt x="1370488" y="1777409"/>
                </a:lnTo>
                <a:lnTo>
                  <a:pt x="1180562" y="1777409"/>
                </a:lnTo>
                <a:lnTo>
                  <a:pt x="662265" y="1777409"/>
                </a:lnTo>
                <a:lnTo>
                  <a:pt x="571684" y="1777409"/>
                </a:lnTo>
                <a:lnTo>
                  <a:pt x="381758" y="1777409"/>
                </a:lnTo>
                <a:lnTo>
                  <a:pt x="0" y="1777409"/>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dirty="0"/>
          </a:p>
        </p:txBody>
      </p:sp>
      <p:grpSp>
        <p:nvGrpSpPr>
          <p:cNvPr id="103" name="Group 102">
            <a:extLst>
              <a:ext uri="{FF2B5EF4-FFF2-40B4-BE49-F238E27FC236}">
                <a16:creationId xmlns:a16="http://schemas.microsoft.com/office/drawing/2014/main" id="{945DB159-13B2-014E-B96F-97D55E25928C}"/>
              </a:ext>
            </a:extLst>
          </p:cNvPr>
          <p:cNvGrpSpPr/>
          <p:nvPr/>
        </p:nvGrpSpPr>
        <p:grpSpPr>
          <a:xfrm>
            <a:off x="8455873" y="1806537"/>
            <a:ext cx="833598" cy="4838501"/>
            <a:chOff x="8997666" y="1392870"/>
            <a:chExt cx="833815" cy="4839762"/>
          </a:xfrm>
        </p:grpSpPr>
        <p:pic>
          <p:nvPicPr>
            <p:cNvPr id="104" name="Picture 103">
              <a:extLst>
                <a:ext uri="{FF2B5EF4-FFF2-40B4-BE49-F238E27FC236}">
                  <a16:creationId xmlns:a16="http://schemas.microsoft.com/office/drawing/2014/main" id="{BE8F89FA-BE61-3748-8D78-71744A7FFD07}"/>
                </a:ext>
              </a:extLst>
            </p:cNvPr>
            <p:cNvPicPr>
              <a:picLocks noChangeAspect="1"/>
            </p:cNvPicPr>
            <p:nvPr/>
          </p:nvPicPr>
          <p:blipFill>
            <a:blip r:embed="rId2"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64250" y="3806880"/>
              <a:ext cx="741822" cy="741822"/>
            </a:xfrm>
            <a:prstGeom prst="rect">
              <a:avLst/>
            </a:prstGeom>
          </p:spPr>
        </p:pic>
        <p:pic>
          <p:nvPicPr>
            <p:cNvPr id="105" name="Picture 104">
              <a:extLst>
                <a:ext uri="{FF2B5EF4-FFF2-40B4-BE49-F238E27FC236}">
                  <a16:creationId xmlns:a16="http://schemas.microsoft.com/office/drawing/2014/main" id="{A4635376-4BDE-CA48-83C0-44EFEA27F7F5}"/>
                </a:ext>
              </a:extLst>
            </p:cNvPr>
            <p:cNvPicPr>
              <a:picLocks noChangeAspect="1"/>
            </p:cNvPicPr>
            <p:nvPr/>
          </p:nvPicPr>
          <p:blipFill>
            <a:blip r:embed="rId3"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21663" y="2990120"/>
              <a:ext cx="740897" cy="741210"/>
            </a:xfrm>
            <a:prstGeom prst="rect">
              <a:avLst/>
            </a:prstGeom>
          </p:spPr>
        </p:pic>
        <p:pic>
          <p:nvPicPr>
            <p:cNvPr id="106" name="Picture 105">
              <a:extLst>
                <a:ext uri="{FF2B5EF4-FFF2-40B4-BE49-F238E27FC236}">
                  <a16:creationId xmlns:a16="http://schemas.microsoft.com/office/drawing/2014/main" id="{AB4443D5-F5C7-3140-B29A-8405B8671879}"/>
                </a:ext>
              </a:extLst>
            </p:cNvPr>
            <p:cNvPicPr>
              <a:picLocks noChangeAspect="1"/>
            </p:cNvPicPr>
            <p:nvPr/>
          </p:nvPicPr>
          <p:blipFill>
            <a:blip r:embed="rId4"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61988" y="4679331"/>
              <a:ext cx="769493" cy="769493"/>
            </a:xfrm>
            <a:prstGeom prst="rect">
              <a:avLst/>
            </a:prstGeom>
          </p:spPr>
        </p:pic>
        <p:pic>
          <p:nvPicPr>
            <p:cNvPr id="107" name="Picture 106">
              <a:extLst>
                <a:ext uri="{FF2B5EF4-FFF2-40B4-BE49-F238E27FC236}">
                  <a16:creationId xmlns:a16="http://schemas.microsoft.com/office/drawing/2014/main" id="{449D51EA-65AF-6D4B-BB84-DF83B6C28579}"/>
                </a:ext>
              </a:extLst>
            </p:cNvPr>
            <p:cNvPicPr>
              <a:picLocks noChangeAspect="1"/>
            </p:cNvPicPr>
            <p:nvPr/>
          </p:nvPicPr>
          <p:blipFill>
            <a:blip r:embed="rId5"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041659" y="5489828"/>
              <a:ext cx="742804" cy="742804"/>
            </a:xfrm>
            <a:prstGeom prst="rect">
              <a:avLst/>
            </a:prstGeom>
            <a:solidFill>
              <a:schemeClr val="bg1"/>
            </a:solidFill>
          </p:spPr>
        </p:pic>
        <p:pic>
          <p:nvPicPr>
            <p:cNvPr id="108" name="Picture 107">
              <a:extLst>
                <a:ext uri="{FF2B5EF4-FFF2-40B4-BE49-F238E27FC236}">
                  <a16:creationId xmlns:a16="http://schemas.microsoft.com/office/drawing/2014/main" id="{1E4ABAB2-9ABB-D24B-B942-FCA03836D255}"/>
                </a:ext>
              </a:extLst>
            </p:cNvPr>
            <p:cNvPicPr>
              <a:picLocks noChangeAspect="1"/>
            </p:cNvPicPr>
            <p:nvPr/>
          </p:nvPicPr>
          <p:blipFill>
            <a:blip r:embed="rId6" cstate="screen">
              <a:grayscl/>
              <a:extLst>
                <a:ext uri="{28A0092B-C50C-407E-A947-70E740481C1C}">
                  <a14:useLocalDpi xmlns:a14="http://schemas.microsoft.com/office/drawing/2010/main"/>
                </a:ext>
              </a:extLst>
            </a:blip>
            <a:stretch>
              <a:fillRect/>
            </a:stretch>
          </p:blipFill>
          <p:spPr>
            <a:xfrm>
              <a:off x="9064250" y="1392870"/>
              <a:ext cx="673543" cy="673543"/>
            </a:xfrm>
            <a:prstGeom prst="rect">
              <a:avLst/>
            </a:prstGeom>
          </p:spPr>
        </p:pic>
        <p:pic>
          <p:nvPicPr>
            <p:cNvPr id="109" name="Picture 108">
              <a:extLst>
                <a:ext uri="{FF2B5EF4-FFF2-40B4-BE49-F238E27FC236}">
                  <a16:creationId xmlns:a16="http://schemas.microsoft.com/office/drawing/2014/main" id="{74A7734A-763A-2A49-ACDE-111E45A96625}"/>
                </a:ext>
              </a:extLst>
            </p:cNvPr>
            <p:cNvPicPr>
              <a:picLocks noChangeAspect="1"/>
            </p:cNvPicPr>
            <p:nvPr/>
          </p:nvPicPr>
          <p:blipFill>
            <a:blip r:embed="rId7" cstate="screen">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8997666" y="2037978"/>
              <a:ext cx="816004" cy="816004"/>
            </a:xfrm>
            <a:prstGeom prst="rect">
              <a:avLst/>
            </a:prstGeom>
          </p:spPr>
        </p:pic>
      </p:grpSp>
      <p:cxnSp>
        <p:nvCxnSpPr>
          <p:cNvPr id="110" name="Straight Arrow Connector 109">
            <a:extLst>
              <a:ext uri="{FF2B5EF4-FFF2-40B4-BE49-F238E27FC236}">
                <a16:creationId xmlns:a16="http://schemas.microsoft.com/office/drawing/2014/main" id="{583CAF44-DE1F-4A4A-9AEF-6FC3180F94DD}"/>
              </a:ext>
            </a:extLst>
          </p:cNvPr>
          <p:cNvCxnSpPr>
            <a:cxnSpLocks/>
          </p:cNvCxnSpPr>
          <p:nvPr/>
        </p:nvCxnSpPr>
        <p:spPr>
          <a:xfrm>
            <a:off x="2836332" y="3317096"/>
            <a:ext cx="1150956" cy="633575"/>
          </a:xfrm>
          <a:prstGeom prst="straightConnector1">
            <a:avLst/>
          </a:prstGeom>
          <a:noFill/>
          <a:ln w="31750" cap="flat" cmpd="sng" algn="ctr">
            <a:solidFill>
              <a:srgbClr val="AFAFAF"/>
            </a:solidFill>
            <a:prstDash val="solid"/>
            <a:headEnd type="oval" w="med" len="med"/>
            <a:tailEnd type="none" w="lg" len="sm"/>
          </a:ln>
          <a:effectLst/>
        </p:spPr>
      </p:cxnSp>
      <p:sp>
        <p:nvSpPr>
          <p:cNvPr id="111" name="TextBox 110">
            <a:extLst>
              <a:ext uri="{FF2B5EF4-FFF2-40B4-BE49-F238E27FC236}">
                <a16:creationId xmlns:a16="http://schemas.microsoft.com/office/drawing/2014/main" id="{9C8238D1-E9DA-734C-87AF-1CF327CC81C4}"/>
              </a:ext>
            </a:extLst>
          </p:cNvPr>
          <p:cNvSpPr txBox="1"/>
          <p:nvPr/>
        </p:nvSpPr>
        <p:spPr>
          <a:xfrm>
            <a:off x="6789384" y="1920359"/>
            <a:ext cx="1555234" cy="338554"/>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Matter updates</a:t>
            </a:r>
          </a:p>
        </p:txBody>
      </p:sp>
      <p:sp>
        <p:nvSpPr>
          <p:cNvPr id="112" name="TextBox 111">
            <a:extLst>
              <a:ext uri="{FF2B5EF4-FFF2-40B4-BE49-F238E27FC236}">
                <a16:creationId xmlns:a16="http://schemas.microsoft.com/office/drawing/2014/main" id="{4959D085-C2D6-A34D-9E70-4EEE19796D55}"/>
              </a:ext>
            </a:extLst>
          </p:cNvPr>
          <p:cNvSpPr txBox="1"/>
          <p:nvPr/>
        </p:nvSpPr>
        <p:spPr>
          <a:xfrm>
            <a:off x="6789383" y="2659573"/>
            <a:ext cx="1428596" cy="338554"/>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Project status</a:t>
            </a:r>
          </a:p>
        </p:txBody>
      </p:sp>
      <p:sp>
        <p:nvSpPr>
          <p:cNvPr id="113" name="TextBox 112">
            <a:extLst>
              <a:ext uri="{FF2B5EF4-FFF2-40B4-BE49-F238E27FC236}">
                <a16:creationId xmlns:a16="http://schemas.microsoft.com/office/drawing/2014/main" id="{2C3DDEE5-7A7B-FA48-8627-10522DDB4AAE}"/>
              </a:ext>
            </a:extLst>
          </p:cNvPr>
          <p:cNvSpPr txBox="1"/>
          <p:nvPr/>
        </p:nvSpPr>
        <p:spPr>
          <a:xfrm>
            <a:off x="6789383" y="4412744"/>
            <a:ext cx="1221809" cy="338554"/>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Documents</a:t>
            </a:r>
          </a:p>
        </p:txBody>
      </p:sp>
      <p:sp>
        <p:nvSpPr>
          <p:cNvPr id="114" name="TextBox 113">
            <a:extLst>
              <a:ext uri="{FF2B5EF4-FFF2-40B4-BE49-F238E27FC236}">
                <a16:creationId xmlns:a16="http://schemas.microsoft.com/office/drawing/2014/main" id="{0FA29A05-276A-E546-833E-0A6300993549}"/>
              </a:ext>
            </a:extLst>
          </p:cNvPr>
          <p:cNvSpPr txBox="1"/>
          <p:nvPr/>
        </p:nvSpPr>
        <p:spPr>
          <a:xfrm>
            <a:off x="6789383" y="5149618"/>
            <a:ext cx="1199367" cy="584775"/>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Billing </a:t>
            </a:r>
          </a:p>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information</a:t>
            </a:r>
          </a:p>
        </p:txBody>
      </p:sp>
      <p:sp>
        <p:nvSpPr>
          <p:cNvPr id="115" name="TextBox 114">
            <a:extLst>
              <a:ext uri="{FF2B5EF4-FFF2-40B4-BE49-F238E27FC236}">
                <a16:creationId xmlns:a16="http://schemas.microsoft.com/office/drawing/2014/main" id="{D8A8BFC8-D6DA-0D4B-AA2C-7D7316C3FD24}"/>
              </a:ext>
            </a:extLst>
          </p:cNvPr>
          <p:cNvSpPr txBox="1"/>
          <p:nvPr/>
        </p:nvSpPr>
        <p:spPr>
          <a:xfrm>
            <a:off x="6789382" y="6000087"/>
            <a:ext cx="1907543" cy="584775"/>
          </a:xfrm>
          <a:prstGeom prst="rect">
            <a:avLst/>
          </a:prstGeom>
          <a:noFill/>
        </p:spPr>
        <p:txBody>
          <a:bodyPr wrap="squar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Reporting / </a:t>
            </a:r>
            <a:b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br>
            <a:r>
              <a:rPr kumimoji="0" lang="en-US" sz="1600" b="0" i="0" u="none" strike="noStrike" kern="1200" cap="none" spc="0" normalizeH="0" baseline="0" noProof="0" dirty="0">
                <a:ln>
                  <a:noFill/>
                </a:ln>
                <a:solidFill>
                  <a:srgbClr val="666666"/>
                </a:solidFill>
                <a:effectLst/>
                <a:uLnTx/>
                <a:uFillTx/>
                <a:latin typeface="Arial"/>
                <a:ea typeface="+mn-ea"/>
                <a:cs typeface="Calibri" panose="020F0502020204030204" pitchFamily="34" charset="0"/>
                <a:sym typeface="Arial"/>
              </a:rPr>
              <a:t>data visualization </a:t>
            </a:r>
          </a:p>
        </p:txBody>
      </p:sp>
      <p:sp>
        <p:nvSpPr>
          <p:cNvPr id="116" name="TextBox 115">
            <a:extLst>
              <a:ext uri="{FF2B5EF4-FFF2-40B4-BE49-F238E27FC236}">
                <a16:creationId xmlns:a16="http://schemas.microsoft.com/office/drawing/2014/main" id="{432695BA-1049-BC4B-B953-7E9A6EB95303}"/>
              </a:ext>
            </a:extLst>
          </p:cNvPr>
          <p:cNvSpPr txBox="1"/>
          <p:nvPr/>
        </p:nvSpPr>
        <p:spPr>
          <a:xfrm>
            <a:off x="6789384" y="3467309"/>
            <a:ext cx="1253869" cy="584775"/>
          </a:xfrm>
          <a:prstGeom prst="rect">
            <a:avLst/>
          </a:prstGeom>
          <a:noFill/>
        </p:spPr>
        <p:txBody>
          <a:bodyPr wrap="none" rtlCol="0">
            <a:spAutoFit/>
          </a:bodyPr>
          <a:lstStyle/>
          <a:p>
            <a:pPr marL="0" marR="0" lvl="0" indent="0" algn="l" defTabSz="46179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Knowledge </a:t>
            </a:r>
            <a:b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br>
            <a:r>
              <a:rPr kumimoji="0" lang="en-US" sz="1600" b="0" i="0" u="none" strike="noStrike" kern="1200" cap="none" spc="0" normalizeH="0" baseline="0" noProof="0">
                <a:ln>
                  <a:noFill/>
                </a:ln>
                <a:solidFill>
                  <a:srgbClr val="666666"/>
                </a:solidFill>
                <a:effectLst/>
                <a:uLnTx/>
                <a:uFillTx/>
                <a:latin typeface="Arial"/>
                <a:ea typeface="+mn-ea"/>
                <a:cs typeface="Calibri" panose="020F0502020204030204" pitchFamily="34" charset="0"/>
                <a:sym typeface="Arial"/>
              </a:rPr>
              <a:t>and insight</a:t>
            </a:r>
          </a:p>
        </p:txBody>
      </p:sp>
      <p:cxnSp>
        <p:nvCxnSpPr>
          <p:cNvPr id="122" name="Connector: Elbow 75">
            <a:extLst>
              <a:ext uri="{FF2B5EF4-FFF2-40B4-BE49-F238E27FC236}">
                <a16:creationId xmlns:a16="http://schemas.microsoft.com/office/drawing/2014/main" id="{0405803A-D4B1-424A-AB88-F6FB9A2DFEF4}"/>
              </a:ext>
            </a:extLst>
          </p:cNvPr>
          <p:cNvCxnSpPr>
            <a:cxnSpLocks/>
          </p:cNvCxnSpPr>
          <p:nvPr/>
        </p:nvCxnSpPr>
        <p:spPr>
          <a:xfrm rot="5400000" flipH="1" flipV="1">
            <a:off x="5372516" y="2858332"/>
            <a:ext cx="2193656" cy="640080"/>
          </a:xfrm>
          <a:prstGeom prst="bentConnector2">
            <a:avLst/>
          </a:prstGeom>
          <a:noFill/>
          <a:ln w="19050" cap="flat" cmpd="sng" algn="ctr">
            <a:solidFill>
              <a:srgbClr val="666666"/>
            </a:solidFill>
            <a:prstDash val="dash"/>
            <a:headEnd type="none" w="med" len="med"/>
            <a:tailEnd type="triangle" w="lg" len="lg"/>
          </a:ln>
          <a:effectLst/>
        </p:spPr>
      </p:cxnSp>
      <p:cxnSp>
        <p:nvCxnSpPr>
          <p:cNvPr id="123" name="Connector: Elbow 76">
            <a:extLst>
              <a:ext uri="{FF2B5EF4-FFF2-40B4-BE49-F238E27FC236}">
                <a16:creationId xmlns:a16="http://schemas.microsoft.com/office/drawing/2014/main" id="{753E8279-D670-104A-8B20-4D00E16AE88B}"/>
              </a:ext>
            </a:extLst>
          </p:cNvPr>
          <p:cNvCxnSpPr>
            <a:cxnSpLocks/>
          </p:cNvCxnSpPr>
          <p:nvPr/>
        </p:nvCxnSpPr>
        <p:spPr>
          <a:xfrm rot="16200000" flipH="1">
            <a:off x="5418417" y="4932237"/>
            <a:ext cx="2103120" cy="640080"/>
          </a:xfrm>
          <a:prstGeom prst="bentConnector2">
            <a:avLst/>
          </a:prstGeom>
          <a:noFill/>
          <a:ln w="19050" cap="flat" cmpd="sng" algn="ctr">
            <a:solidFill>
              <a:srgbClr val="666666"/>
            </a:solidFill>
            <a:prstDash val="dash"/>
            <a:headEnd type="none" w="med" len="med"/>
            <a:tailEnd type="triangle" w="lg" len="lg"/>
          </a:ln>
          <a:effectLst/>
        </p:spPr>
      </p:cxnSp>
      <p:sp>
        <p:nvSpPr>
          <p:cNvPr id="127" name="Arc 126">
            <a:extLst>
              <a:ext uri="{FF2B5EF4-FFF2-40B4-BE49-F238E27FC236}">
                <a16:creationId xmlns:a16="http://schemas.microsoft.com/office/drawing/2014/main" id="{71464D47-5D16-F34E-9C03-673AFC574C33}"/>
              </a:ext>
            </a:extLst>
          </p:cNvPr>
          <p:cNvSpPr/>
          <p:nvPr/>
        </p:nvSpPr>
        <p:spPr>
          <a:xfrm rot="832436" flipH="1">
            <a:off x="9422565" y="4696512"/>
            <a:ext cx="1650628" cy="2947930"/>
          </a:xfrm>
          <a:prstGeom prst="arc">
            <a:avLst>
              <a:gd name="adj1" fmla="val 16972786"/>
              <a:gd name="adj2" fmla="val 898276"/>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129" name="Arc 128">
            <a:extLst>
              <a:ext uri="{FF2B5EF4-FFF2-40B4-BE49-F238E27FC236}">
                <a16:creationId xmlns:a16="http://schemas.microsoft.com/office/drawing/2014/main" id="{50724453-7B08-9541-910B-D156E31D39AA}"/>
              </a:ext>
            </a:extLst>
          </p:cNvPr>
          <p:cNvSpPr/>
          <p:nvPr/>
        </p:nvSpPr>
        <p:spPr>
          <a:xfrm rot="1477594" flipH="1" flipV="1">
            <a:off x="9091822" y="2461842"/>
            <a:ext cx="2549460" cy="1264064"/>
          </a:xfrm>
          <a:prstGeom prst="arc">
            <a:avLst>
              <a:gd name="adj1" fmla="val 15782777"/>
              <a:gd name="adj2" fmla="val 20441016"/>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137" name="Arc 136">
            <a:extLst>
              <a:ext uri="{FF2B5EF4-FFF2-40B4-BE49-F238E27FC236}">
                <a16:creationId xmlns:a16="http://schemas.microsoft.com/office/drawing/2014/main" id="{98A3C860-633C-6340-99F0-FB2995903601}"/>
              </a:ext>
            </a:extLst>
          </p:cNvPr>
          <p:cNvSpPr/>
          <p:nvPr/>
        </p:nvSpPr>
        <p:spPr>
          <a:xfrm rot="2157463" flipH="1">
            <a:off x="8745285" y="4063982"/>
            <a:ext cx="1650628" cy="2801311"/>
          </a:xfrm>
          <a:prstGeom prst="arc">
            <a:avLst>
              <a:gd name="adj1" fmla="val 16972786"/>
              <a:gd name="adj2" fmla="val 18866902"/>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138" name="Arc 137">
            <a:extLst>
              <a:ext uri="{FF2B5EF4-FFF2-40B4-BE49-F238E27FC236}">
                <a16:creationId xmlns:a16="http://schemas.microsoft.com/office/drawing/2014/main" id="{4C188EC0-1557-0B45-A04A-9EC4EC59FEFB}"/>
              </a:ext>
            </a:extLst>
          </p:cNvPr>
          <p:cNvSpPr/>
          <p:nvPr/>
        </p:nvSpPr>
        <p:spPr>
          <a:xfrm rot="1580319" flipH="1">
            <a:off x="9013840" y="4420367"/>
            <a:ext cx="1650628" cy="2801311"/>
          </a:xfrm>
          <a:prstGeom prst="arc">
            <a:avLst>
              <a:gd name="adj1" fmla="val 17030412"/>
              <a:gd name="adj2" fmla="val 19965785"/>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
        <p:nvSpPr>
          <p:cNvPr id="139" name="Arc 138">
            <a:extLst>
              <a:ext uri="{FF2B5EF4-FFF2-40B4-BE49-F238E27FC236}">
                <a16:creationId xmlns:a16="http://schemas.microsoft.com/office/drawing/2014/main" id="{FAB23995-5708-B94E-BD2A-4DDE6D5D0E79}"/>
              </a:ext>
            </a:extLst>
          </p:cNvPr>
          <p:cNvSpPr/>
          <p:nvPr/>
        </p:nvSpPr>
        <p:spPr>
          <a:xfrm rot="921102" flipH="1" flipV="1">
            <a:off x="8906267" y="2723873"/>
            <a:ext cx="2549460" cy="1264064"/>
          </a:xfrm>
          <a:prstGeom prst="arc">
            <a:avLst>
              <a:gd name="adj1" fmla="val 15782777"/>
              <a:gd name="adj2" fmla="val 19121052"/>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cxnSp>
        <p:nvCxnSpPr>
          <p:cNvPr id="140" name="Straight Arrow Connector 139">
            <a:extLst>
              <a:ext uri="{FF2B5EF4-FFF2-40B4-BE49-F238E27FC236}">
                <a16:creationId xmlns:a16="http://schemas.microsoft.com/office/drawing/2014/main" id="{D1419044-4B72-BE4B-9125-B87F94C97055}"/>
              </a:ext>
            </a:extLst>
          </p:cNvPr>
          <p:cNvCxnSpPr>
            <a:cxnSpLocks/>
          </p:cNvCxnSpPr>
          <p:nvPr/>
        </p:nvCxnSpPr>
        <p:spPr>
          <a:xfrm flipV="1">
            <a:off x="6231462" y="3773797"/>
            <a:ext cx="566928" cy="82"/>
          </a:xfrm>
          <a:prstGeom prst="straightConnector1">
            <a:avLst/>
          </a:prstGeom>
          <a:noFill/>
          <a:ln w="19050" cap="flat" cmpd="sng" algn="ctr">
            <a:solidFill>
              <a:srgbClr val="666666"/>
            </a:solidFill>
            <a:prstDash val="dash"/>
            <a:headEnd type="none" w="med" len="med"/>
            <a:tailEnd type="triangle" w="lg" len="lg"/>
          </a:ln>
          <a:effectLst/>
        </p:spPr>
      </p:cxnSp>
      <p:cxnSp>
        <p:nvCxnSpPr>
          <p:cNvPr id="141" name="Straight Arrow Connector 140">
            <a:extLst>
              <a:ext uri="{FF2B5EF4-FFF2-40B4-BE49-F238E27FC236}">
                <a16:creationId xmlns:a16="http://schemas.microsoft.com/office/drawing/2014/main" id="{EBC392FA-75ED-0C46-BE13-47444C0969AA}"/>
              </a:ext>
            </a:extLst>
          </p:cNvPr>
          <p:cNvCxnSpPr>
            <a:cxnSpLocks/>
          </p:cNvCxnSpPr>
          <p:nvPr/>
        </p:nvCxnSpPr>
        <p:spPr>
          <a:xfrm>
            <a:off x="6231462" y="4587568"/>
            <a:ext cx="566928" cy="0"/>
          </a:xfrm>
          <a:prstGeom prst="straightConnector1">
            <a:avLst/>
          </a:prstGeom>
          <a:noFill/>
          <a:ln w="19050" cap="flat" cmpd="sng" algn="ctr">
            <a:solidFill>
              <a:srgbClr val="666666"/>
            </a:solidFill>
            <a:prstDash val="dash"/>
            <a:headEnd type="none" w="med" len="med"/>
            <a:tailEnd type="triangle" w="lg" len="lg"/>
          </a:ln>
          <a:effectLst/>
        </p:spPr>
      </p:cxnSp>
      <p:cxnSp>
        <p:nvCxnSpPr>
          <p:cNvPr id="144" name="Straight Arrow Connector 143">
            <a:extLst>
              <a:ext uri="{FF2B5EF4-FFF2-40B4-BE49-F238E27FC236}">
                <a16:creationId xmlns:a16="http://schemas.microsoft.com/office/drawing/2014/main" id="{14135945-F0C4-2D4C-A025-5E8DC64CB2C6}"/>
              </a:ext>
            </a:extLst>
          </p:cNvPr>
          <p:cNvCxnSpPr>
            <a:cxnSpLocks/>
          </p:cNvCxnSpPr>
          <p:nvPr/>
        </p:nvCxnSpPr>
        <p:spPr>
          <a:xfrm>
            <a:off x="6231462" y="5473203"/>
            <a:ext cx="566928" cy="0"/>
          </a:xfrm>
          <a:prstGeom prst="straightConnector1">
            <a:avLst/>
          </a:prstGeom>
          <a:noFill/>
          <a:ln w="19050" cap="flat" cmpd="sng" algn="ctr">
            <a:solidFill>
              <a:srgbClr val="666666"/>
            </a:solidFill>
            <a:prstDash val="dash"/>
            <a:headEnd type="none" w="med" len="med"/>
            <a:tailEnd type="triangle" w="lg" len="lg"/>
          </a:ln>
          <a:effectLst/>
        </p:spPr>
      </p:cxnSp>
      <p:cxnSp>
        <p:nvCxnSpPr>
          <p:cNvPr id="151" name="Straight Arrow Connector 150">
            <a:extLst>
              <a:ext uri="{FF2B5EF4-FFF2-40B4-BE49-F238E27FC236}">
                <a16:creationId xmlns:a16="http://schemas.microsoft.com/office/drawing/2014/main" id="{6A48FF54-F5D0-7343-BE1D-2F54D2CC9B04}"/>
              </a:ext>
            </a:extLst>
          </p:cNvPr>
          <p:cNvCxnSpPr>
            <a:cxnSpLocks/>
          </p:cNvCxnSpPr>
          <p:nvPr/>
        </p:nvCxnSpPr>
        <p:spPr>
          <a:xfrm>
            <a:off x="3813324" y="3108170"/>
            <a:ext cx="394918" cy="561185"/>
          </a:xfrm>
          <a:prstGeom prst="straightConnector1">
            <a:avLst/>
          </a:prstGeom>
          <a:noFill/>
          <a:ln w="31750" cap="flat" cmpd="sng" algn="ctr">
            <a:solidFill>
              <a:srgbClr val="AFAFAF"/>
            </a:solidFill>
            <a:prstDash val="solid"/>
            <a:headEnd type="oval" w="med" len="med"/>
            <a:tailEnd type="none" w="lg" len="sm"/>
          </a:ln>
          <a:effectLst/>
        </p:spPr>
      </p:cxnSp>
      <p:cxnSp>
        <p:nvCxnSpPr>
          <p:cNvPr id="152" name="Straight Arrow Connector 151">
            <a:extLst>
              <a:ext uri="{FF2B5EF4-FFF2-40B4-BE49-F238E27FC236}">
                <a16:creationId xmlns:a16="http://schemas.microsoft.com/office/drawing/2014/main" id="{2407DB42-ACEA-0B48-B41B-E2749B43739A}"/>
              </a:ext>
            </a:extLst>
          </p:cNvPr>
          <p:cNvCxnSpPr>
            <a:cxnSpLocks/>
          </p:cNvCxnSpPr>
          <p:nvPr/>
        </p:nvCxnSpPr>
        <p:spPr>
          <a:xfrm>
            <a:off x="2529173" y="4240494"/>
            <a:ext cx="1319398" cy="1"/>
          </a:xfrm>
          <a:prstGeom prst="straightConnector1">
            <a:avLst/>
          </a:prstGeom>
          <a:noFill/>
          <a:ln w="31750" cap="flat" cmpd="sng" algn="ctr">
            <a:solidFill>
              <a:srgbClr val="AFAFAF"/>
            </a:solidFill>
            <a:prstDash val="solid"/>
            <a:headEnd type="oval" w="med" len="med"/>
            <a:tailEnd type="none" w="lg" len="sm"/>
          </a:ln>
          <a:effectLst/>
        </p:spPr>
      </p:cxnSp>
      <p:cxnSp>
        <p:nvCxnSpPr>
          <p:cNvPr id="153" name="Straight Arrow Connector 152">
            <a:extLst>
              <a:ext uri="{FF2B5EF4-FFF2-40B4-BE49-F238E27FC236}">
                <a16:creationId xmlns:a16="http://schemas.microsoft.com/office/drawing/2014/main" id="{E2176C0C-CF4F-7C46-A5CA-8711F5DB2385}"/>
              </a:ext>
            </a:extLst>
          </p:cNvPr>
          <p:cNvCxnSpPr>
            <a:cxnSpLocks/>
          </p:cNvCxnSpPr>
          <p:nvPr/>
        </p:nvCxnSpPr>
        <p:spPr>
          <a:xfrm flipV="1">
            <a:off x="2866767" y="4412745"/>
            <a:ext cx="1027334" cy="682903"/>
          </a:xfrm>
          <a:prstGeom prst="straightConnector1">
            <a:avLst/>
          </a:prstGeom>
          <a:noFill/>
          <a:ln w="31750" cap="flat" cmpd="sng" algn="ctr">
            <a:solidFill>
              <a:srgbClr val="AFAFAF"/>
            </a:solidFill>
            <a:prstDash val="solid"/>
            <a:headEnd type="oval" w="med" len="med"/>
            <a:tailEnd type="none" w="lg" len="sm"/>
          </a:ln>
          <a:effectLst/>
        </p:spPr>
      </p:cxnSp>
      <p:cxnSp>
        <p:nvCxnSpPr>
          <p:cNvPr id="154" name="Straight Arrow Connector 153">
            <a:extLst>
              <a:ext uri="{FF2B5EF4-FFF2-40B4-BE49-F238E27FC236}">
                <a16:creationId xmlns:a16="http://schemas.microsoft.com/office/drawing/2014/main" id="{2EC4C52F-1EF6-5C4B-963B-10100E621D54}"/>
              </a:ext>
            </a:extLst>
          </p:cNvPr>
          <p:cNvCxnSpPr>
            <a:cxnSpLocks/>
            <a:endCxn id="166" idx="8"/>
          </p:cNvCxnSpPr>
          <p:nvPr/>
        </p:nvCxnSpPr>
        <p:spPr>
          <a:xfrm flipV="1">
            <a:off x="3771269" y="4619903"/>
            <a:ext cx="436972" cy="726507"/>
          </a:xfrm>
          <a:prstGeom prst="straightConnector1">
            <a:avLst/>
          </a:prstGeom>
          <a:noFill/>
          <a:ln w="31750" cap="flat" cmpd="sng" algn="ctr">
            <a:solidFill>
              <a:srgbClr val="AFAFAF"/>
            </a:solidFill>
            <a:prstDash val="solid"/>
            <a:headEnd type="oval" w="med" len="med"/>
            <a:tailEnd type="none" w="lg" len="sm"/>
          </a:ln>
          <a:effectLst/>
        </p:spPr>
      </p:cxnSp>
      <p:cxnSp>
        <p:nvCxnSpPr>
          <p:cNvPr id="156" name="Straight Arrow Connector 155">
            <a:extLst>
              <a:ext uri="{FF2B5EF4-FFF2-40B4-BE49-F238E27FC236}">
                <a16:creationId xmlns:a16="http://schemas.microsoft.com/office/drawing/2014/main" id="{6E56EE0E-6386-924F-BCDB-DC00442414FA}"/>
              </a:ext>
            </a:extLst>
          </p:cNvPr>
          <p:cNvCxnSpPr>
            <a:cxnSpLocks/>
          </p:cNvCxnSpPr>
          <p:nvPr/>
        </p:nvCxnSpPr>
        <p:spPr>
          <a:xfrm>
            <a:off x="4680747" y="3084237"/>
            <a:ext cx="0" cy="551137"/>
          </a:xfrm>
          <a:prstGeom prst="straightConnector1">
            <a:avLst/>
          </a:prstGeom>
          <a:noFill/>
          <a:ln w="31750" cap="flat" cmpd="sng" algn="ctr">
            <a:solidFill>
              <a:srgbClr val="AFAFAF"/>
            </a:solidFill>
            <a:prstDash val="solid"/>
            <a:headEnd type="oval" w="med" len="med"/>
            <a:tailEnd type="none" w="lg" len="sm"/>
          </a:ln>
          <a:effectLst/>
        </p:spPr>
      </p:cxnSp>
      <p:sp>
        <p:nvSpPr>
          <p:cNvPr id="157" name="Rectangle 156">
            <a:extLst>
              <a:ext uri="{FF2B5EF4-FFF2-40B4-BE49-F238E27FC236}">
                <a16:creationId xmlns:a16="http://schemas.microsoft.com/office/drawing/2014/main" id="{DFDA7085-0DA5-E944-92B0-0894A6A36860}"/>
              </a:ext>
            </a:extLst>
          </p:cNvPr>
          <p:cNvSpPr/>
          <p:nvPr/>
        </p:nvSpPr>
        <p:spPr>
          <a:xfrm>
            <a:off x="787824" y="2053455"/>
            <a:ext cx="1521419" cy="930241"/>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58" name="Rectangle 157">
            <a:extLst>
              <a:ext uri="{FF2B5EF4-FFF2-40B4-BE49-F238E27FC236}">
                <a16:creationId xmlns:a16="http://schemas.microsoft.com/office/drawing/2014/main" id="{D3AF36B8-D35A-1447-A21D-948BFA4D1721}"/>
              </a:ext>
            </a:extLst>
          </p:cNvPr>
          <p:cNvSpPr/>
          <p:nvPr/>
        </p:nvSpPr>
        <p:spPr>
          <a:xfrm>
            <a:off x="788117" y="4359997"/>
            <a:ext cx="1521420" cy="880236"/>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59" name="Rectangle 158">
            <a:extLst>
              <a:ext uri="{FF2B5EF4-FFF2-40B4-BE49-F238E27FC236}">
                <a16:creationId xmlns:a16="http://schemas.microsoft.com/office/drawing/2014/main" id="{8D77E531-D9A0-434E-8CF9-893E28DC0B1B}"/>
              </a:ext>
            </a:extLst>
          </p:cNvPr>
          <p:cNvSpPr/>
          <p:nvPr/>
        </p:nvSpPr>
        <p:spPr>
          <a:xfrm>
            <a:off x="787195" y="5456224"/>
            <a:ext cx="1521420" cy="880237"/>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60" name="Rectangle 159">
            <a:extLst>
              <a:ext uri="{FF2B5EF4-FFF2-40B4-BE49-F238E27FC236}">
                <a16:creationId xmlns:a16="http://schemas.microsoft.com/office/drawing/2014/main" id="{0B60872A-343B-134D-B4AF-F1175A28D105}"/>
              </a:ext>
            </a:extLst>
          </p:cNvPr>
          <p:cNvSpPr/>
          <p:nvPr/>
        </p:nvSpPr>
        <p:spPr>
          <a:xfrm>
            <a:off x="787196" y="3205394"/>
            <a:ext cx="1521419" cy="930241"/>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61" name="Rectangle 160">
            <a:extLst>
              <a:ext uri="{FF2B5EF4-FFF2-40B4-BE49-F238E27FC236}">
                <a16:creationId xmlns:a16="http://schemas.microsoft.com/office/drawing/2014/main" id="{9D822CA7-46A2-0546-BDB4-72E1A5E68A22}"/>
              </a:ext>
            </a:extLst>
          </p:cNvPr>
          <p:cNvSpPr/>
          <p:nvPr/>
        </p:nvSpPr>
        <p:spPr>
          <a:xfrm>
            <a:off x="2530480" y="5452832"/>
            <a:ext cx="1521420" cy="877483"/>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62" name="Rectangle 161">
            <a:extLst>
              <a:ext uri="{FF2B5EF4-FFF2-40B4-BE49-F238E27FC236}">
                <a16:creationId xmlns:a16="http://schemas.microsoft.com/office/drawing/2014/main" id="{EFB7E30B-3C3E-DD4C-9010-0F91CF70F8F4}"/>
              </a:ext>
            </a:extLst>
          </p:cNvPr>
          <p:cNvSpPr/>
          <p:nvPr/>
        </p:nvSpPr>
        <p:spPr>
          <a:xfrm>
            <a:off x="4271892" y="5452833"/>
            <a:ext cx="1521420" cy="877482"/>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63" name="Rectangle 162">
            <a:extLst>
              <a:ext uri="{FF2B5EF4-FFF2-40B4-BE49-F238E27FC236}">
                <a16:creationId xmlns:a16="http://schemas.microsoft.com/office/drawing/2014/main" id="{D8AA68B7-5F57-1541-9CB7-B999E65D6A14}"/>
              </a:ext>
            </a:extLst>
          </p:cNvPr>
          <p:cNvSpPr/>
          <p:nvPr/>
        </p:nvSpPr>
        <p:spPr>
          <a:xfrm>
            <a:off x="2529173" y="2055924"/>
            <a:ext cx="1521420" cy="925304"/>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sp>
        <p:nvSpPr>
          <p:cNvPr id="164" name="Rectangle 163">
            <a:extLst>
              <a:ext uri="{FF2B5EF4-FFF2-40B4-BE49-F238E27FC236}">
                <a16:creationId xmlns:a16="http://schemas.microsoft.com/office/drawing/2014/main" id="{4BC3139A-990E-E34D-A73B-10B7F68E2B6D}"/>
              </a:ext>
            </a:extLst>
          </p:cNvPr>
          <p:cNvSpPr/>
          <p:nvPr/>
        </p:nvSpPr>
        <p:spPr>
          <a:xfrm>
            <a:off x="4270934" y="2053455"/>
            <a:ext cx="1521420" cy="925304"/>
          </a:xfrm>
          <a:prstGeom prst="rect">
            <a:avLst/>
          </a:prstGeom>
          <a:noFill/>
          <a:ln w="12700" cap="flat" cmpd="sng" algn="ctr">
            <a:solidFill>
              <a:srgbClr val="A7A7A7"/>
            </a:solidFill>
            <a:prstDash val="solid"/>
          </a:ln>
          <a:effectLst/>
        </p:spPr>
        <p:txBody>
          <a:bodyPr lIns="32636" tIns="32636" rIns="32636" bIns="32636"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chemeClr val="tx2"/>
              </a:solidFill>
              <a:effectLst/>
              <a:uLnTx/>
              <a:uFillTx/>
              <a:latin typeface="Arial"/>
              <a:ea typeface="+mn-ea"/>
              <a:cs typeface="Helvetica"/>
              <a:sym typeface="Arial"/>
            </a:endParaRPr>
          </a:p>
        </p:txBody>
      </p:sp>
      <p:cxnSp>
        <p:nvCxnSpPr>
          <p:cNvPr id="165" name="Straight Arrow Connector 164">
            <a:extLst>
              <a:ext uri="{FF2B5EF4-FFF2-40B4-BE49-F238E27FC236}">
                <a16:creationId xmlns:a16="http://schemas.microsoft.com/office/drawing/2014/main" id="{470A3D70-A8BC-FC4E-9751-B79BE6ECB40A}"/>
              </a:ext>
            </a:extLst>
          </p:cNvPr>
          <p:cNvCxnSpPr>
            <a:cxnSpLocks/>
          </p:cNvCxnSpPr>
          <p:nvPr/>
        </p:nvCxnSpPr>
        <p:spPr>
          <a:xfrm>
            <a:off x="6231462" y="2846791"/>
            <a:ext cx="566928" cy="0"/>
          </a:xfrm>
          <a:prstGeom prst="straightConnector1">
            <a:avLst/>
          </a:prstGeom>
          <a:noFill/>
          <a:ln w="19050" cap="flat" cmpd="sng" algn="ctr">
            <a:solidFill>
              <a:srgbClr val="666666"/>
            </a:solidFill>
            <a:prstDash val="dash"/>
            <a:headEnd type="none" w="med" len="med"/>
            <a:tailEnd type="triangle" w="lg" len="lg"/>
          </a:ln>
          <a:effectLst/>
        </p:spPr>
      </p:cxnSp>
      <p:sp>
        <p:nvSpPr>
          <p:cNvPr id="166" name="Freeform 157">
            <a:extLst>
              <a:ext uri="{FF2B5EF4-FFF2-40B4-BE49-F238E27FC236}">
                <a16:creationId xmlns:a16="http://schemas.microsoft.com/office/drawing/2014/main" id="{6B6AD6FA-0CDC-A340-B57F-9CC4F32FFE99}"/>
              </a:ext>
            </a:extLst>
          </p:cNvPr>
          <p:cNvSpPr>
            <a:spLocks noChangeAspect="1"/>
          </p:cNvSpPr>
          <p:nvPr/>
        </p:nvSpPr>
        <p:spPr bwMode="auto">
          <a:xfrm>
            <a:off x="3825424" y="3357582"/>
            <a:ext cx="1851763" cy="1262322"/>
          </a:xfrm>
          <a:custGeom>
            <a:avLst/>
            <a:gdLst>
              <a:gd name="T0" fmla="*/ 466 w 1040"/>
              <a:gd name="T1" fmla="*/ 158 h 674"/>
              <a:gd name="T2" fmla="*/ 596 w 1040"/>
              <a:gd name="T3" fmla="*/ 53 h 674"/>
              <a:gd name="T4" fmla="*/ 931 w 1040"/>
              <a:gd name="T5" fmla="*/ 233 h 674"/>
              <a:gd name="T6" fmla="*/ 936 w 1040"/>
              <a:gd name="T7" fmla="*/ 273 h 674"/>
              <a:gd name="T8" fmla="*/ 963 w 1040"/>
              <a:gd name="T9" fmla="*/ 329 h 674"/>
              <a:gd name="T10" fmla="*/ 1017 w 1040"/>
              <a:gd name="T11" fmla="*/ 530 h 674"/>
              <a:gd name="T12" fmla="*/ 858 w 1040"/>
              <a:gd name="T13" fmla="*/ 670 h 674"/>
              <a:gd name="T14" fmla="*/ 815 w 1040"/>
              <a:gd name="T15" fmla="*/ 674 h 674"/>
              <a:gd name="T16" fmla="*/ 215 w 1040"/>
              <a:gd name="T17" fmla="*/ 674 h 674"/>
              <a:gd name="T18" fmla="*/ 13 w 1040"/>
              <a:gd name="T19" fmla="*/ 501 h 674"/>
              <a:gd name="T20" fmla="*/ 141 w 1040"/>
              <a:gd name="T21" fmla="*/ 286 h 674"/>
              <a:gd name="T22" fmla="*/ 163 w 1040"/>
              <a:gd name="T23" fmla="*/ 260 h 674"/>
              <a:gd name="T24" fmla="*/ 449 w 1040"/>
              <a:gd name="T25" fmla="*/ 147 h 674"/>
              <a:gd name="T26" fmla="*/ 466 w 1040"/>
              <a:gd name="T27" fmla="*/ 158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0" h="674">
                <a:moveTo>
                  <a:pt x="466" y="158"/>
                </a:moveTo>
                <a:cubicBezTo>
                  <a:pt x="499" y="108"/>
                  <a:pt x="541" y="73"/>
                  <a:pt x="596" y="53"/>
                </a:cubicBezTo>
                <a:cubicBezTo>
                  <a:pt x="740" y="0"/>
                  <a:pt x="897" y="84"/>
                  <a:pt x="931" y="233"/>
                </a:cubicBezTo>
                <a:cubicBezTo>
                  <a:pt x="934" y="246"/>
                  <a:pt x="938" y="260"/>
                  <a:pt x="936" y="273"/>
                </a:cubicBezTo>
                <a:cubicBezTo>
                  <a:pt x="933" y="298"/>
                  <a:pt x="946" y="313"/>
                  <a:pt x="963" y="329"/>
                </a:cubicBezTo>
                <a:cubicBezTo>
                  <a:pt x="1022" y="384"/>
                  <a:pt x="1040" y="453"/>
                  <a:pt x="1017" y="530"/>
                </a:cubicBezTo>
                <a:cubicBezTo>
                  <a:pt x="994" y="608"/>
                  <a:pt x="938" y="654"/>
                  <a:pt x="858" y="670"/>
                </a:cubicBezTo>
                <a:cubicBezTo>
                  <a:pt x="844" y="673"/>
                  <a:pt x="829" y="674"/>
                  <a:pt x="815" y="674"/>
                </a:cubicBezTo>
                <a:cubicBezTo>
                  <a:pt x="615" y="674"/>
                  <a:pt x="415" y="674"/>
                  <a:pt x="215" y="674"/>
                </a:cubicBezTo>
                <a:cubicBezTo>
                  <a:pt x="115" y="674"/>
                  <a:pt x="28" y="599"/>
                  <a:pt x="13" y="501"/>
                </a:cubicBezTo>
                <a:cubicBezTo>
                  <a:pt x="0" y="410"/>
                  <a:pt x="53" y="319"/>
                  <a:pt x="141" y="286"/>
                </a:cubicBezTo>
                <a:cubicBezTo>
                  <a:pt x="154" y="281"/>
                  <a:pt x="161" y="275"/>
                  <a:pt x="163" y="260"/>
                </a:cubicBezTo>
                <a:cubicBezTo>
                  <a:pt x="174" y="134"/>
                  <a:pt x="335" y="63"/>
                  <a:pt x="449" y="147"/>
                </a:cubicBezTo>
                <a:cubicBezTo>
                  <a:pt x="454" y="150"/>
                  <a:pt x="459" y="153"/>
                  <a:pt x="466" y="158"/>
                </a:cubicBezTo>
                <a:close/>
              </a:path>
            </a:pathLst>
          </a:custGeom>
          <a:noFill/>
          <a:ln w="38100">
            <a:solidFill>
              <a:srgbClr val="AFAFAF"/>
            </a:solidFill>
          </a:ln>
        </p:spPr>
        <p:txBody>
          <a:bodyPr vert="horz" wrap="square" lIns="82896" tIns="41448" rIns="82896" bIns="41448" numCol="1" anchor="t" anchorCtr="0" compatLnSpc="1">
            <a:prstTxWarp prst="textNoShape">
              <a:avLst/>
            </a:prstTxWarp>
          </a:bodyPr>
          <a:lstStyle>
            <a:defPPr>
              <a:defRPr lang="en-U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a:lstStyle>
          <a:p>
            <a:pPr marL="0" marR="0" lvl="0" indent="0" algn="l" defTabSz="461796" rtl="0" eaLnBrk="1" fontAlgn="auto" latinLnBrk="0" hangingPunct="1">
              <a:lnSpc>
                <a:spcPct val="100000"/>
              </a:lnSpc>
              <a:spcBef>
                <a:spcPts val="0"/>
              </a:spcBef>
              <a:spcAft>
                <a:spcPts val="0"/>
              </a:spcAft>
              <a:buClrTx/>
              <a:buSzTx/>
              <a:buFontTx/>
              <a:buNone/>
              <a:tabLst/>
              <a:defRPr/>
            </a:pPr>
            <a:endParaRPr kumimoji="0" lang="en-GB" sz="1088" b="0" i="0" u="none" strike="noStrike" kern="1200" cap="none" spc="0" normalizeH="0" baseline="0" noProof="0">
              <a:ln>
                <a:noFill/>
              </a:ln>
              <a:solidFill>
                <a:prstClr val="black"/>
              </a:solidFill>
              <a:effectLst/>
              <a:uLnTx/>
              <a:uFillTx/>
              <a:latin typeface="FSAlbert" panose="02000603040000020004" pitchFamily="50" charset="0"/>
              <a:ea typeface="+mn-ea"/>
              <a:cs typeface="Helvetica"/>
              <a:sym typeface="Arial"/>
            </a:endParaRPr>
          </a:p>
        </p:txBody>
      </p:sp>
      <p:sp>
        <p:nvSpPr>
          <p:cNvPr id="167" name="TextBox 166">
            <a:extLst>
              <a:ext uri="{FF2B5EF4-FFF2-40B4-BE49-F238E27FC236}">
                <a16:creationId xmlns:a16="http://schemas.microsoft.com/office/drawing/2014/main" id="{69D74F91-AC1C-F842-923E-7DF94D0E6C4C}"/>
              </a:ext>
            </a:extLst>
          </p:cNvPr>
          <p:cNvSpPr txBox="1"/>
          <p:nvPr/>
        </p:nvSpPr>
        <p:spPr>
          <a:xfrm>
            <a:off x="3987288" y="3998657"/>
            <a:ext cx="1577657" cy="164999"/>
          </a:xfrm>
          <a:prstGeom prst="rect">
            <a:avLst/>
          </a:prstGeom>
          <a:noFill/>
        </p:spPr>
        <p:txBody>
          <a:bodyPr wrap="square" lIns="0" tIns="0" rIns="0" bIns="0" rtlCol="0" anchor="t">
            <a:noAutofit/>
          </a:bodyPr>
          <a:lstStyle/>
          <a:p>
            <a:pPr algn="ctr">
              <a:lnSpc>
                <a:spcPct val="90000"/>
              </a:lnSpc>
            </a:pPr>
            <a:r>
              <a:rPr lang="en-US" sz="1400" b="1" dirty="0">
                <a:solidFill>
                  <a:schemeClr val="tx2"/>
                </a:solidFill>
                <a:latin typeface="Knowledge2017" panose="020B0506000000020004" pitchFamily="34" charset="0"/>
              </a:rPr>
              <a:t>Thomson Reuters </a:t>
            </a:r>
          </a:p>
          <a:p>
            <a:pPr algn="ctr">
              <a:lnSpc>
                <a:spcPct val="90000"/>
              </a:lnSpc>
            </a:pPr>
            <a:r>
              <a:rPr lang="en-US" sz="1400" b="1" dirty="0">
                <a:solidFill>
                  <a:schemeClr val="tx2"/>
                </a:solidFill>
                <a:latin typeface="Knowledge2017" panose="020B0506000000020004" pitchFamily="34" charset="0"/>
              </a:rPr>
              <a:t>HighQ</a:t>
            </a:r>
          </a:p>
        </p:txBody>
      </p:sp>
      <p:sp>
        <p:nvSpPr>
          <p:cNvPr id="168" name="Title 2">
            <a:extLst>
              <a:ext uri="{FF2B5EF4-FFF2-40B4-BE49-F238E27FC236}">
                <a16:creationId xmlns:a16="http://schemas.microsoft.com/office/drawing/2014/main" id="{3AFECD66-F02F-2C4E-902D-004B4CED7B25}"/>
              </a:ext>
            </a:extLst>
          </p:cNvPr>
          <p:cNvSpPr txBox="1">
            <a:spLocks/>
          </p:cNvSpPr>
          <p:nvPr/>
        </p:nvSpPr>
        <p:spPr>
          <a:xfrm>
            <a:off x="742950" y="189158"/>
            <a:ext cx="10189509" cy="1003299"/>
          </a:xfrm>
          <a:prstGeom prst="rect">
            <a:avLst/>
          </a:prstGeom>
        </p:spPr>
        <p:txBody>
          <a:bodyPr lIns="0" tIns="0" rIns="0" bIns="0"/>
          <a:lstStyle>
            <a:lvl1pPr algn="l" defTabSz="457200" rtl="0" eaLnBrk="1" latinLnBrk="0" hangingPunct="1">
              <a:lnSpc>
                <a:spcPct val="100000"/>
              </a:lnSpc>
              <a:spcBef>
                <a:spcPct val="0"/>
              </a:spcBef>
              <a:buNone/>
              <a:defRPr sz="2400" kern="1200">
                <a:solidFill>
                  <a:schemeClr val="tx2"/>
                </a:solidFill>
                <a:latin typeface="+mj-lt"/>
                <a:ea typeface="+mj-ea"/>
                <a:cs typeface="+mj-cs"/>
              </a:defRPr>
            </a:lvl1pPr>
          </a:lstStyle>
          <a:p>
            <a:r>
              <a:rPr lang="en-US" sz="6500" dirty="0">
                <a:solidFill>
                  <a:schemeClr val="bg1">
                    <a:alpha val="68000"/>
                  </a:schemeClr>
                </a:solidFill>
                <a:latin typeface="+mn-lt"/>
              </a:rPr>
              <a:t>HighQ Integrations</a:t>
            </a:r>
          </a:p>
        </p:txBody>
      </p:sp>
      <p:sp>
        <p:nvSpPr>
          <p:cNvPr id="169" name="Rectangle 168">
            <a:extLst>
              <a:ext uri="{FF2B5EF4-FFF2-40B4-BE49-F238E27FC236}">
                <a16:creationId xmlns:a16="http://schemas.microsoft.com/office/drawing/2014/main" id="{6E334ED2-365E-5544-8AE2-02BD1D9E7659}"/>
              </a:ext>
            </a:extLst>
          </p:cNvPr>
          <p:cNvSpPr/>
          <p:nvPr/>
        </p:nvSpPr>
        <p:spPr>
          <a:xfrm>
            <a:off x="781050" y="1165417"/>
            <a:ext cx="4582556" cy="399981"/>
          </a:xfrm>
          <a:prstGeom prst="rect">
            <a:avLst/>
          </a:prstGeom>
          <a:noFill/>
        </p:spPr>
        <p:txBody>
          <a:bodyPr wrap="square" lIns="0" tIns="0" rIns="0" bIns="0">
            <a:spAutoFit/>
          </a:bodyPr>
          <a:lstStyle/>
          <a:p>
            <a:pPr>
              <a:spcBef>
                <a:spcPts val="400"/>
              </a:spcBef>
              <a:defRPr/>
            </a:pPr>
            <a:r>
              <a:rPr lang="en-US" sz="2599" spc="100" dirty="0">
                <a:solidFill>
                  <a:schemeClr val="bg1">
                    <a:alpha val="68000"/>
                  </a:schemeClr>
                </a:solidFill>
              </a:rPr>
              <a:t>with best-in-class solutions</a:t>
            </a:r>
          </a:p>
        </p:txBody>
      </p:sp>
      <p:grpSp>
        <p:nvGrpSpPr>
          <p:cNvPr id="170" name="Group 169">
            <a:extLst>
              <a:ext uri="{FF2B5EF4-FFF2-40B4-BE49-F238E27FC236}">
                <a16:creationId xmlns:a16="http://schemas.microsoft.com/office/drawing/2014/main" id="{06AAFAE2-08EA-F544-B2A6-7627762484F0}"/>
              </a:ext>
            </a:extLst>
          </p:cNvPr>
          <p:cNvGrpSpPr/>
          <p:nvPr/>
        </p:nvGrpSpPr>
        <p:grpSpPr>
          <a:xfrm>
            <a:off x="10289886" y="3635373"/>
            <a:ext cx="808059" cy="1006974"/>
            <a:chOff x="10770797" y="3222237"/>
            <a:chExt cx="808059" cy="1006974"/>
          </a:xfrm>
        </p:grpSpPr>
        <p:sp>
          <p:nvSpPr>
            <p:cNvPr id="171" name="TextBox 170">
              <a:extLst>
                <a:ext uri="{FF2B5EF4-FFF2-40B4-BE49-F238E27FC236}">
                  <a16:creationId xmlns:a16="http://schemas.microsoft.com/office/drawing/2014/main" id="{1A42C6F1-C1B3-6E44-9AC3-F0BBE7CD9BC9}"/>
                </a:ext>
              </a:extLst>
            </p:cNvPr>
            <p:cNvSpPr txBox="1"/>
            <p:nvPr/>
          </p:nvSpPr>
          <p:spPr>
            <a:xfrm>
              <a:off x="10802681" y="3952212"/>
              <a:ext cx="776175" cy="276999"/>
            </a:xfrm>
            <a:prstGeom prst="rect">
              <a:avLst/>
            </a:prstGeom>
            <a:noFill/>
          </p:spPr>
          <p:txBody>
            <a:bodyPr wrap="none" rtlCol="0">
              <a:spAutoFit/>
            </a:bodyPr>
            <a:lstStyle/>
            <a:p>
              <a:pPr marL="0" marR="0" lvl="0" indent="0" algn="l" defTabSz="914126" rtl="0" eaLnBrk="1" fontAlgn="auto" latinLnBrk="0" hangingPunct="0">
                <a:lnSpc>
                  <a:spcPct val="100000"/>
                </a:lnSpc>
                <a:spcBef>
                  <a:spcPts val="0"/>
                </a:spcBef>
                <a:spcAft>
                  <a:spcPts val="0"/>
                </a:spcAft>
                <a:buClrTx/>
                <a:buSzTx/>
                <a:buFontTx/>
                <a:buNone/>
                <a:tabLst/>
                <a:defRPr/>
              </a:pPr>
              <a:r>
                <a:rPr kumimoji="0" lang="en-US" sz="1200" b="1" u="none" strike="noStrike" kern="0" cap="none" spc="0" normalizeH="0" baseline="0" noProof="0" dirty="0">
                  <a:ln>
                    <a:noFill/>
                  </a:ln>
                  <a:effectLst/>
                  <a:uLnTx/>
                  <a:uFillTx/>
                  <a:latin typeface="Arial Black" panose="020B0604020202020204" pitchFamily="34" charset="0"/>
                  <a:cs typeface="Arial Black" panose="020B0604020202020204" pitchFamily="34" charset="0"/>
                  <a:sym typeface="Arial"/>
                </a:rPr>
                <a:t>Clients</a:t>
              </a:r>
            </a:p>
          </p:txBody>
        </p:sp>
        <p:pic>
          <p:nvPicPr>
            <p:cNvPr id="172" name="Picture 171">
              <a:extLst>
                <a:ext uri="{FF2B5EF4-FFF2-40B4-BE49-F238E27FC236}">
                  <a16:creationId xmlns:a16="http://schemas.microsoft.com/office/drawing/2014/main" id="{D0E80E98-0FCE-AC4E-81C9-3C16231AE43A}"/>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0770797" y="3222237"/>
              <a:ext cx="792459" cy="792459"/>
            </a:xfrm>
            <a:prstGeom prst="rect">
              <a:avLst/>
            </a:prstGeom>
          </p:spPr>
        </p:pic>
      </p:grpSp>
      <p:sp>
        <p:nvSpPr>
          <p:cNvPr id="173" name="Rectangle 172">
            <a:extLst>
              <a:ext uri="{FF2B5EF4-FFF2-40B4-BE49-F238E27FC236}">
                <a16:creationId xmlns:a16="http://schemas.microsoft.com/office/drawing/2014/main" id="{61F528CC-1DF1-8945-96C4-19CD0F6B1A1C}"/>
              </a:ext>
            </a:extLst>
          </p:cNvPr>
          <p:cNvSpPr/>
          <p:nvPr/>
        </p:nvSpPr>
        <p:spPr>
          <a:xfrm>
            <a:off x="1374986" y="2006154"/>
            <a:ext cx="274679" cy="129462"/>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6350" marR="0" lvl="0" algn="ctr" defTabSz="461796" rtl="0" eaLnBrk="1" fontAlgn="auto" latinLnBrk="0" hangingPunct="1">
              <a:lnSpc>
                <a:spcPct val="100000"/>
              </a:lnSpc>
              <a:spcBef>
                <a:spcPts val="0"/>
              </a:spcBef>
              <a:spcAft>
                <a:spcPts val="0"/>
              </a:spcAft>
              <a:buClrTx/>
              <a:buSzTx/>
              <a:buFontTx/>
              <a:buNone/>
              <a:defRPr/>
            </a:pPr>
            <a:r>
              <a:rPr kumimoji="0" lang="en-GB" sz="1088" b="1" i="0" u="none" strike="noStrike" kern="1200" cap="none" spc="0" normalizeH="0" baseline="0" noProof="0" dirty="0">
                <a:ln>
                  <a:noFill/>
                </a:ln>
                <a:solidFill>
                  <a:schemeClr val="tx2"/>
                </a:solidFill>
                <a:effectLst/>
                <a:uLnTx/>
                <a:uFillTx/>
                <a:latin typeface="Arial"/>
                <a:ea typeface="+mn-ea"/>
                <a:cs typeface="Helvetica"/>
                <a:sym typeface="Arial"/>
              </a:rPr>
              <a:t>AI</a:t>
            </a:r>
          </a:p>
        </p:txBody>
      </p:sp>
      <p:pic>
        <p:nvPicPr>
          <p:cNvPr id="181" name="Picture 180">
            <a:extLst>
              <a:ext uri="{FF2B5EF4-FFF2-40B4-BE49-F238E27FC236}">
                <a16:creationId xmlns:a16="http://schemas.microsoft.com/office/drawing/2014/main" id="{4BDA674F-DFE1-E24F-B585-2373692A1A9D}"/>
              </a:ext>
            </a:extLst>
          </p:cNvPr>
          <p:cNvPicPr>
            <a:picLocks noChangeAspect="1"/>
          </p:cNvPicPr>
          <p:nvPr/>
        </p:nvPicPr>
        <p:blipFill>
          <a:blip r:embed="rId9" cstate="hqprint">
            <a:clrChange>
              <a:clrFrom>
                <a:srgbClr val="000000"/>
              </a:clrFrom>
              <a:clrTo>
                <a:srgbClr val="000000">
                  <a:alpha val="0"/>
                </a:srgbClr>
              </a:clrTo>
            </a:clrChange>
            <a:extLst>
              <a:ext uri="{28A0092B-C50C-407E-A947-70E740481C1C}">
                <a14:useLocalDpi xmlns:a14="http://schemas.microsoft.com/office/drawing/2010/main"/>
              </a:ext>
            </a:extLst>
          </a:blip>
          <a:stretch>
            <a:fillRect/>
          </a:stretch>
        </p:blipFill>
        <p:spPr>
          <a:xfrm>
            <a:off x="1399923" y="2246949"/>
            <a:ext cx="843956" cy="92308"/>
          </a:xfrm>
          <a:prstGeom prst="rect">
            <a:avLst/>
          </a:prstGeom>
        </p:spPr>
      </p:pic>
      <p:pic>
        <p:nvPicPr>
          <p:cNvPr id="182" name="Picture 181">
            <a:extLst>
              <a:ext uri="{FF2B5EF4-FFF2-40B4-BE49-F238E27FC236}">
                <a16:creationId xmlns:a16="http://schemas.microsoft.com/office/drawing/2014/main" id="{7276FAE3-7795-6F45-8DC8-417EA6F0FD59}"/>
              </a:ext>
            </a:extLst>
          </p:cNvPr>
          <p:cNvPicPr>
            <a:picLocks noChangeAspect="1"/>
          </p:cNvPicPr>
          <p:nvPr/>
        </p:nvPicPr>
        <p:blipFill>
          <a:blip r:embed="rId10"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94386" y="2246949"/>
            <a:ext cx="398741" cy="136030"/>
          </a:xfrm>
          <a:prstGeom prst="rect">
            <a:avLst/>
          </a:prstGeom>
        </p:spPr>
      </p:pic>
      <p:pic>
        <p:nvPicPr>
          <p:cNvPr id="183" name="Picture 24" descr="Image result for leverton">
            <a:extLst>
              <a:ext uri="{FF2B5EF4-FFF2-40B4-BE49-F238E27FC236}">
                <a16:creationId xmlns:a16="http://schemas.microsoft.com/office/drawing/2014/main" id="{0B9EFB59-E010-484C-82CE-40488E1B634B}"/>
              </a:ext>
            </a:extLst>
          </p:cNvPr>
          <p:cNvPicPr>
            <a:picLocks noChangeAspect="1" noChangeArrowheads="1"/>
          </p:cNvPicPr>
          <p:nvPr/>
        </p:nvPicPr>
        <p:blipFill rotWithShape="1">
          <a:blip r:embed="rId11"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912519" y="2766514"/>
            <a:ext cx="639129" cy="94271"/>
          </a:xfrm>
          <a:prstGeom prst="rect">
            <a:avLst/>
          </a:prstGeom>
          <a:noFill/>
          <a:extLst>
            <a:ext uri="{909E8E84-426E-40DD-AFC4-6F175D3DCCD1}">
              <a14:hiddenFill xmlns:a14="http://schemas.microsoft.com/office/drawing/2010/main">
                <a:solidFill>
                  <a:srgbClr val="FFFFFF"/>
                </a:solidFill>
              </a14:hiddenFill>
            </a:ext>
          </a:extLst>
        </p:spPr>
      </p:pic>
      <p:pic>
        <p:nvPicPr>
          <p:cNvPr id="184" name="Picture 28" descr="Image result for Neota Logic">
            <a:extLst>
              <a:ext uri="{FF2B5EF4-FFF2-40B4-BE49-F238E27FC236}">
                <a16:creationId xmlns:a16="http://schemas.microsoft.com/office/drawing/2014/main" id="{D10B2066-E130-1A4C-B17E-6B87FBAC548B}"/>
              </a:ext>
            </a:extLst>
          </p:cNvPr>
          <p:cNvPicPr>
            <a:picLocks noChangeAspect="1" noChangeArrowheads="1"/>
          </p:cNvPicPr>
          <p:nvPr/>
        </p:nvPicPr>
        <p:blipFill rotWithShape="1">
          <a:blip r:embed="rId1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892850" y="2480712"/>
            <a:ext cx="534269" cy="184439"/>
          </a:xfrm>
          <a:prstGeom prst="rect">
            <a:avLst/>
          </a:prstGeom>
          <a:noFill/>
          <a:extLst>
            <a:ext uri="{909E8E84-426E-40DD-AFC4-6F175D3DCCD1}">
              <a14:hiddenFill xmlns:a14="http://schemas.microsoft.com/office/drawing/2010/main">
                <a:solidFill>
                  <a:srgbClr val="FFFFFF"/>
                </a:solidFill>
              </a14:hiddenFill>
            </a:ext>
          </a:extLst>
        </p:spPr>
      </p:pic>
      <p:pic>
        <p:nvPicPr>
          <p:cNvPr id="219" name="Picture 218">
            <a:extLst>
              <a:ext uri="{FF2B5EF4-FFF2-40B4-BE49-F238E27FC236}">
                <a16:creationId xmlns:a16="http://schemas.microsoft.com/office/drawing/2014/main" id="{3D80EB87-2151-5D40-9559-CD7704C0D539}"/>
              </a:ext>
            </a:extLst>
          </p:cNvPr>
          <p:cNvPicPr>
            <a:picLocks noChangeAspect="1"/>
          </p:cNvPicPr>
          <p:nvPr/>
        </p:nvPicPr>
        <p:blipFill rotWithShape="1">
          <a:blip r:embed="rId1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496014" y="2451179"/>
            <a:ext cx="798697" cy="212842"/>
          </a:xfrm>
          <a:prstGeom prst="rect">
            <a:avLst/>
          </a:prstGeom>
        </p:spPr>
      </p:pic>
      <p:pic>
        <p:nvPicPr>
          <p:cNvPr id="223" name="Picture 4" descr="Image result for g suite logo">
            <a:extLst>
              <a:ext uri="{FF2B5EF4-FFF2-40B4-BE49-F238E27FC236}">
                <a16:creationId xmlns:a16="http://schemas.microsoft.com/office/drawing/2014/main" id="{F9960981-FDF1-5342-BF66-D9D63C347140}"/>
              </a:ext>
            </a:extLst>
          </p:cNvPr>
          <p:cNvPicPr>
            <a:picLocks noChangeAspect="1" noChangeArrowheads="1"/>
          </p:cNvPicPr>
          <p:nvPr/>
        </p:nvPicPr>
        <p:blipFill>
          <a:blip r:embed="rId1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283431" y="2424101"/>
            <a:ext cx="725337" cy="374370"/>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23">
            <a:extLst>
              <a:ext uri="{FF2B5EF4-FFF2-40B4-BE49-F238E27FC236}">
                <a16:creationId xmlns:a16="http://schemas.microsoft.com/office/drawing/2014/main" id="{4F146407-3F13-C945-A5A6-9EC734756C22}"/>
              </a:ext>
            </a:extLst>
          </p:cNvPr>
          <p:cNvPicPr>
            <a:picLocks noChangeAspect="1"/>
          </p:cNvPicPr>
          <p:nvPr/>
        </p:nvPicPr>
        <p:blipFill>
          <a:blip r:embed="rId15"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605150" y="2461486"/>
            <a:ext cx="641704" cy="271562"/>
          </a:xfrm>
          <a:prstGeom prst="rect">
            <a:avLst/>
          </a:prstGeom>
        </p:spPr>
      </p:pic>
      <p:sp>
        <p:nvSpPr>
          <p:cNvPr id="225" name="Rectangle 224">
            <a:extLst>
              <a:ext uri="{FF2B5EF4-FFF2-40B4-BE49-F238E27FC236}">
                <a16:creationId xmlns:a16="http://schemas.microsoft.com/office/drawing/2014/main" id="{78A2AC79-5E66-5B45-9AAD-73E4CF58A1D1}"/>
              </a:ext>
            </a:extLst>
          </p:cNvPr>
          <p:cNvSpPr/>
          <p:nvPr/>
        </p:nvSpPr>
        <p:spPr>
          <a:xfrm>
            <a:off x="2836360" y="1988146"/>
            <a:ext cx="907635" cy="171186"/>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6350" algn="ctr" defTabSz="461796">
              <a:lnSpc>
                <a:spcPct val="90000"/>
              </a:lnSpc>
              <a:defRPr/>
            </a:pPr>
            <a:r>
              <a:rPr lang="en-GB" sz="1088" b="1" dirty="0">
                <a:solidFill>
                  <a:schemeClr val="tx2"/>
                </a:solidFill>
                <a:cs typeface="Helvetica"/>
                <a:sym typeface="Arial"/>
              </a:rPr>
              <a:t>Productivity Applications</a:t>
            </a:r>
          </a:p>
        </p:txBody>
      </p:sp>
      <p:pic>
        <p:nvPicPr>
          <p:cNvPr id="228" name="Picture 227">
            <a:extLst>
              <a:ext uri="{FF2B5EF4-FFF2-40B4-BE49-F238E27FC236}">
                <a16:creationId xmlns:a16="http://schemas.microsoft.com/office/drawing/2014/main" id="{79502421-4BB7-DB42-807E-9FDBBBEC5EB4}"/>
              </a:ext>
            </a:extLst>
          </p:cNvPr>
          <p:cNvPicPr>
            <a:picLocks noChangeAspect="1"/>
          </p:cNvPicPr>
          <p:nvPr/>
        </p:nvPicPr>
        <p:blipFill>
          <a:blip r:embed="rId16"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274992" y="2367568"/>
            <a:ext cx="777593" cy="205039"/>
          </a:xfrm>
          <a:prstGeom prst="rect">
            <a:avLst/>
          </a:prstGeom>
        </p:spPr>
      </p:pic>
      <p:pic>
        <p:nvPicPr>
          <p:cNvPr id="229" name="Picture 16" descr="Image result for microsoft sharepoint">
            <a:extLst>
              <a:ext uri="{FF2B5EF4-FFF2-40B4-BE49-F238E27FC236}">
                <a16:creationId xmlns:a16="http://schemas.microsoft.com/office/drawing/2014/main" id="{BFA40B4B-9802-6142-BC6C-4047322E332E}"/>
              </a:ext>
            </a:extLst>
          </p:cNvPr>
          <p:cNvPicPr>
            <a:picLocks noChangeAspect="1" noChangeArrowheads="1"/>
          </p:cNvPicPr>
          <p:nvPr/>
        </p:nvPicPr>
        <p:blipFill rotWithShape="1">
          <a:blip r:embed="rId1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5027573" y="2653467"/>
            <a:ext cx="733027" cy="154033"/>
          </a:xfrm>
          <a:prstGeom prst="rect">
            <a:avLst/>
          </a:prstGeom>
          <a:noFill/>
          <a:extLst>
            <a:ext uri="{909E8E84-426E-40DD-AFC4-6F175D3DCCD1}">
              <a14:hiddenFill xmlns:a14="http://schemas.microsoft.com/office/drawing/2010/main">
                <a:solidFill>
                  <a:srgbClr val="FFFFFF"/>
                </a:solidFill>
              </a14:hiddenFill>
            </a:ext>
          </a:extLst>
        </p:spPr>
      </p:pic>
      <p:pic>
        <p:nvPicPr>
          <p:cNvPr id="230" name="Picture 18" descr="Image result for NetDocuments">
            <a:extLst>
              <a:ext uri="{FF2B5EF4-FFF2-40B4-BE49-F238E27FC236}">
                <a16:creationId xmlns:a16="http://schemas.microsoft.com/office/drawing/2014/main" id="{61A756F0-3E86-6846-AFDB-86E3E814F34B}"/>
              </a:ext>
            </a:extLst>
          </p:cNvPr>
          <p:cNvPicPr>
            <a:picLocks noChangeAspect="1" noChangeArrowheads="1"/>
          </p:cNvPicPr>
          <p:nvPr/>
        </p:nvPicPr>
        <p:blipFill rotWithShape="1">
          <a:blip r:embed="rId18"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5061023" y="2414000"/>
            <a:ext cx="717688" cy="94971"/>
          </a:xfrm>
          <a:prstGeom prst="rect">
            <a:avLst/>
          </a:prstGeom>
          <a:noFill/>
          <a:extLst>
            <a:ext uri="{909E8E84-426E-40DD-AFC4-6F175D3DCCD1}">
              <a14:hiddenFill xmlns:a14="http://schemas.microsoft.com/office/drawing/2010/main">
                <a:solidFill>
                  <a:srgbClr val="FFFFFF"/>
                </a:solidFill>
              </a14:hiddenFill>
            </a:ext>
          </a:extLst>
        </p:spPr>
      </p:pic>
      <p:pic>
        <p:nvPicPr>
          <p:cNvPr id="231" name="Picture 20" descr="Image result for opentext">
            <a:extLst>
              <a:ext uri="{FF2B5EF4-FFF2-40B4-BE49-F238E27FC236}">
                <a16:creationId xmlns:a16="http://schemas.microsoft.com/office/drawing/2014/main" id="{D751A426-75E0-C345-A57E-EDE628FACBE6}"/>
              </a:ext>
            </a:extLst>
          </p:cNvPr>
          <p:cNvPicPr>
            <a:picLocks noChangeAspect="1" noChangeArrowheads="1"/>
          </p:cNvPicPr>
          <p:nvPr/>
        </p:nvPicPr>
        <p:blipFill rotWithShape="1">
          <a:blip r:embed="rId19" cstate="screen">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bwMode="auto">
          <a:xfrm>
            <a:off x="4353613" y="2673683"/>
            <a:ext cx="584171" cy="131567"/>
          </a:xfrm>
          <a:prstGeom prst="rect">
            <a:avLst/>
          </a:prstGeom>
          <a:noFill/>
          <a:extLst>
            <a:ext uri="{909E8E84-426E-40DD-AFC4-6F175D3DCCD1}">
              <a14:hiddenFill xmlns:a14="http://schemas.microsoft.com/office/drawing/2010/main">
                <a:solidFill>
                  <a:srgbClr val="FFFFFF"/>
                </a:solidFill>
              </a14:hiddenFill>
            </a:ext>
          </a:extLst>
        </p:spPr>
      </p:pic>
      <p:sp>
        <p:nvSpPr>
          <p:cNvPr id="233" name="Rectangle 232">
            <a:extLst>
              <a:ext uri="{FF2B5EF4-FFF2-40B4-BE49-F238E27FC236}">
                <a16:creationId xmlns:a16="http://schemas.microsoft.com/office/drawing/2014/main" id="{BC1A41D5-E96C-0B4E-B344-6057941FAFC1}"/>
              </a:ext>
            </a:extLst>
          </p:cNvPr>
          <p:cNvSpPr/>
          <p:nvPr/>
        </p:nvSpPr>
        <p:spPr>
          <a:xfrm>
            <a:off x="4560458" y="1988146"/>
            <a:ext cx="907635" cy="171186"/>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6350" algn="ctr" defTabSz="461796">
              <a:lnSpc>
                <a:spcPct val="90000"/>
              </a:lnSpc>
              <a:defRPr/>
            </a:pPr>
            <a:r>
              <a:rPr lang="en-GB" sz="1088" b="1" dirty="0">
                <a:solidFill>
                  <a:schemeClr val="tx2"/>
                </a:solidFill>
                <a:cs typeface="Helvetica"/>
                <a:sym typeface="Arial"/>
              </a:rPr>
              <a:t>Document Management</a:t>
            </a:r>
          </a:p>
        </p:txBody>
      </p:sp>
      <p:sp>
        <p:nvSpPr>
          <p:cNvPr id="2" name="TextBox 1">
            <a:extLst>
              <a:ext uri="{FF2B5EF4-FFF2-40B4-BE49-F238E27FC236}">
                <a16:creationId xmlns:a16="http://schemas.microsoft.com/office/drawing/2014/main" id="{8C012521-63C6-4A44-A0A8-06A6539D1FBB}"/>
              </a:ext>
            </a:extLst>
          </p:cNvPr>
          <p:cNvSpPr txBox="1"/>
          <p:nvPr/>
        </p:nvSpPr>
        <p:spPr>
          <a:xfrm>
            <a:off x="1404909" y="5749871"/>
            <a:ext cx="0" cy="0"/>
          </a:xfrm>
          <a:prstGeom prst="rect">
            <a:avLst/>
          </a:prstGeom>
          <a:noFill/>
        </p:spPr>
        <p:txBody>
          <a:bodyPr wrap="none" lIns="0" tIns="0" rIns="0" bIns="0" rtlCol="0" anchor="t">
            <a:noAutofit/>
          </a:bodyPr>
          <a:lstStyle/>
          <a:p>
            <a:endParaRPr lang="en-US" sz="1400" dirty="0" err="1"/>
          </a:p>
        </p:txBody>
      </p:sp>
      <p:sp>
        <p:nvSpPr>
          <p:cNvPr id="235" name="Rectangle 234">
            <a:extLst>
              <a:ext uri="{FF2B5EF4-FFF2-40B4-BE49-F238E27FC236}">
                <a16:creationId xmlns:a16="http://schemas.microsoft.com/office/drawing/2014/main" id="{90343701-4653-AF48-9F91-F4D0B92A98A9}"/>
              </a:ext>
            </a:extLst>
          </p:cNvPr>
          <p:cNvSpPr/>
          <p:nvPr/>
        </p:nvSpPr>
        <p:spPr>
          <a:xfrm>
            <a:off x="1152117" y="4286522"/>
            <a:ext cx="800812" cy="141310"/>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1796" rtl="0" eaLnBrk="1" fontAlgn="auto" latinLnBrk="0" hangingPunct="1">
              <a:lnSpc>
                <a:spcPct val="90000"/>
              </a:lnSpc>
              <a:spcBef>
                <a:spcPts val="0"/>
              </a:spcBef>
              <a:spcAft>
                <a:spcPts val="0"/>
              </a:spcAft>
              <a:buClrTx/>
              <a:buSzTx/>
              <a:buFontTx/>
              <a:buNone/>
              <a:tabLst/>
              <a:defRPr/>
            </a:pPr>
            <a:r>
              <a:rPr kumimoji="0" lang="en-GB" sz="1088" b="1" i="0" u="none" strike="noStrike" kern="1200" cap="none" spc="0" normalizeH="0" baseline="0" noProof="0" dirty="0">
                <a:ln>
                  <a:noFill/>
                </a:ln>
                <a:solidFill>
                  <a:schemeClr val="tx2"/>
                </a:solidFill>
                <a:effectLst/>
                <a:uLnTx/>
                <a:uFillTx/>
                <a:latin typeface="Arial"/>
                <a:ea typeface="+mn-ea"/>
                <a:cs typeface="Helvetica"/>
                <a:sym typeface="Arial"/>
              </a:rPr>
              <a:t>Electronic Signatures</a:t>
            </a:r>
          </a:p>
        </p:txBody>
      </p:sp>
      <p:pic>
        <p:nvPicPr>
          <p:cNvPr id="236" name="Picture 6" descr="Image result for DocuSign  logo">
            <a:extLst>
              <a:ext uri="{FF2B5EF4-FFF2-40B4-BE49-F238E27FC236}">
                <a16:creationId xmlns:a16="http://schemas.microsoft.com/office/drawing/2014/main" id="{B5BE1530-DB6F-8A40-AB58-7D4F7E968009}"/>
              </a:ext>
            </a:extLst>
          </p:cNvPr>
          <p:cNvPicPr>
            <a:picLocks noChangeAspect="1" noChangeArrowheads="1"/>
          </p:cNvPicPr>
          <p:nvPr/>
        </p:nvPicPr>
        <p:blipFill>
          <a:blip r:embed="rId20" cstate="screen">
            <a:extLst>
              <a:ext uri="{28A0092B-C50C-407E-A947-70E740481C1C}">
                <a14:useLocalDpi xmlns:a14="http://schemas.microsoft.com/office/drawing/2010/main"/>
              </a:ext>
            </a:extLst>
          </a:blip>
          <a:srcRect/>
          <a:stretch>
            <a:fillRect/>
          </a:stretch>
        </p:blipFill>
        <p:spPr bwMode="auto">
          <a:xfrm>
            <a:off x="1175165" y="4624817"/>
            <a:ext cx="757696" cy="213325"/>
          </a:xfrm>
          <a:prstGeom prst="rect">
            <a:avLst/>
          </a:prstGeom>
          <a:noFill/>
          <a:extLst>
            <a:ext uri="{909E8E84-426E-40DD-AFC4-6F175D3DCCD1}">
              <a14:hiddenFill xmlns:a14="http://schemas.microsoft.com/office/drawing/2010/main">
                <a:solidFill>
                  <a:srgbClr val="FFFFFF"/>
                </a:solidFill>
              </a14:hiddenFill>
            </a:ext>
          </a:extLst>
        </p:spPr>
      </p:pic>
      <p:pic>
        <p:nvPicPr>
          <p:cNvPr id="238" name="Picture 237">
            <a:extLst>
              <a:ext uri="{FF2B5EF4-FFF2-40B4-BE49-F238E27FC236}">
                <a16:creationId xmlns:a16="http://schemas.microsoft.com/office/drawing/2014/main" id="{6842D796-6DB6-3E40-BAAC-6D282C05B08D}"/>
              </a:ext>
            </a:extLst>
          </p:cNvPr>
          <p:cNvPicPr>
            <a:picLocks noChangeAspect="1"/>
          </p:cNvPicPr>
          <p:nvPr/>
        </p:nvPicPr>
        <p:blipFill rotWithShape="1">
          <a:blip r:embed="rId21" cstate="screen">
            <a:clrChange>
              <a:clrFrom>
                <a:srgbClr val="FFFFFF"/>
              </a:clrFrom>
              <a:clrTo>
                <a:srgbClr val="FFFFFF">
                  <a:alpha val="0"/>
                </a:srgbClr>
              </a:clrTo>
            </a:clrChange>
            <a:extLst>
              <a:ext uri="{28A0092B-C50C-407E-A947-70E740481C1C}">
                <a14:useLocalDpi xmlns:a14="http://schemas.microsoft.com/office/drawing/2010/main"/>
              </a:ext>
            </a:extLst>
          </a:blip>
          <a:srcRect t="27696" b="30314"/>
          <a:stretch/>
        </p:blipFill>
        <p:spPr>
          <a:xfrm>
            <a:off x="1126176" y="4862788"/>
            <a:ext cx="834826" cy="315046"/>
          </a:xfrm>
          <a:prstGeom prst="rect">
            <a:avLst/>
          </a:prstGeom>
        </p:spPr>
      </p:pic>
      <p:sp>
        <p:nvSpPr>
          <p:cNvPr id="240" name="Rectangle 239">
            <a:extLst>
              <a:ext uri="{FF2B5EF4-FFF2-40B4-BE49-F238E27FC236}">
                <a16:creationId xmlns:a16="http://schemas.microsoft.com/office/drawing/2014/main" id="{04789D59-A533-564E-B018-A6FF634A6DFD}"/>
              </a:ext>
            </a:extLst>
          </p:cNvPr>
          <p:cNvSpPr/>
          <p:nvPr/>
        </p:nvSpPr>
        <p:spPr>
          <a:xfrm>
            <a:off x="1261539" y="5381089"/>
            <a:ext cx="569267" cy="134048"/>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1796" rtl="0" eaLnBrk="1" fontAlgn="auto" latinLnBrk="0" hangingPunct="1">
              <a:lnSpc>
                <a:spcPct val="90000"/>
              </a:lnSpc>
              <a:spcBef>
                <a:spcPts val="0"/>
              </a:spcBef>
              <a:spcAft>
                <a:spcPts val="0"/>
              </a:spcAft>
              <a:buClrTx/>
              <a:buSzTx/>
              <a:buFontTx/>
              <a:buNone/>
              <a:tabLst/>
              <a:defRPr/>
            </a:pPr>
            <a:r>
              <a:rPr kumimoji="0" lang="en-GB" sz="1088" b="1" i="0" u="none" strike="noStrike" kern="1200" cap="none" spc="0" normalizeH="0" baseline="0" noProof="0">
                <a:ln>
                  <a:noFill/>
                </a:ln>
                <a:solidFill>
                  <a:schemeClr val="tx2"/>
                </a:solidFill>
                <a:effectLst/>
                <a:uLnTx/>
                <a:uFillTx/>
                <a:latin typeface="Arial"/>
                <a:ea typeface="+mn-ea"/>
                <a:cs typeface="Helvetica"/>
                <a:sym typeface="Arial"/>
              </a:rPr>
              <a:t>CRM</a:t>
            </a:r>
          </a:p>
        </p:txBody>
      </p:sp>
      <p:pic>
        <p:nvPicPr>
          <p:cNvPr id="241" name="Picture 240">
            <a:extLst>
              <a:ext uri="{FF2B5EF4-FFF2-40B4-BE49-F238E27FC236}">
                <a16:creationId xmlns:a16="http://schemas.microsoft.com/office/drawing/2014/main" id="{CB6D55DE-7A7D-A749-A5B4-8FBD75CA45BE}"/>
              </a:ext>
            </a:extLst>
          </p:cNvPr>
          <p:cNvPicPr>
            <a:picLocks noChangeAspect="1"/>
          </p:cNvPicPr>
          <p:nvPr/>
        </p:nvPicPr>
        <p:blipFill rotWithShape="1">
          <a:blip r:embed="rId2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892984" y="5877199"/>
            <a:ext cx="1320909" cy="134830"/>
          </a:xfrm>
          <a:prstGeom prst="rect">
            <a:avLst/>
          </a:prstGeom>
        </p:spPr>
      </p:pic>
      <p:sp>
        <p:nvSpPr>
          <p:cNvPr id="243" name="Rectangle 242">
            <a:extLst>
              <a:ext uri="{FF2B5EF4-FFF2-40B4-BE49-F238E27FC236}">
                <a16:creationId xmlns:a16="http://schemas.microsoft.com/office/drawing/2014/main" id="{1E4914F7-AB28-9D46-B0D5-36B3F8D85D5A}"/>
              </a:ext>
            </a:extLst>
          </p:cNvPr>
          <p:cNvSpPr/>
          <p:nvPr/>
        </p:nvSpPr>
        <p:spPr>
          <a:xfrm>
            <a:off x="1135279" y="3124552"/>
            <a:ext cx="791709" cy="204239"/>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1796" rtl="0" eaLnBrk="1" fontAlgn="auto" latinLnBrk="0" hangingPunct="1">
              <a:lnSpc>
                <a:spcPct val="90000"/>
              </a:lnSpc>
              <a:spcBef>
                <a:spcPts val="0"/>
              </a:spcBef>
              <a:spcAft>
                <a:spcPts val="0"/>
              </a:spcAft>
              <a:buClrTx/>
              <a:buSzTx/>
              <a:buFontTx/>
              <a:buNone/>
              <a:tabLst/>
              <a:defRPr/>
            </a:pPr>
            <a:r>
              <a:rPr kumimoji="0" lang="en-GB" sz="1088" b="1" i="0" u="none" strike="noStrike" kern="1200" cap="none" spc="0" normalizeH="0" baseline="0" noProof="0" dirty="0">
                <a:ln>
                  <a:noFill/>
                </a:ln>
                <a:solidFill>
                  <a:schemeClr val="tx2"/>
                </a:solidFill>
                <a:effectLst/>
                <a:uLnTx/>
                <a:uFillTx/>
                <a:latin typeface="Arial"/>
                <a:ea typeface="+mn-ea"/>
                <a:cs typeface="Helvetica"/>
                <a:sym typeface="Arial"/>
              </a:rPr>
              <a:t>Document Automation</a:t>
            </a:r>
          </a:p>
        </p:txBody>
      </p:sp>
      <p:pic>
        <p:nvPicPr>
          <p:cNvPr id="244" name="Picture 243" descr="A picture containing bird&#10;&#10;Description automatically generated">
            <a:extLst>
              <a:ext uri="{FF2B5EF4-FFF2-40B4-BE49-F238E27FC236}">
                <a16:creationId xmlns:a16="http://schemas.microsoft.com/office/drawing/2014/main" id="{3E2AE9E2-93EC-E645-96E0-C183C671C7C1}"/>
              </a:ext>
            </a:extLst>
          </p:cNvPr>
          <p:cNvPicPr>
            <a:picLocks noChangeAspect="1"/>
          </p:cNvPicPr>
          <p:nvPr/>
        </p:nvPicPr>
        <p:blipFill rotWithShape="1">
          <a:blip r:embed="rId23" cstate="hqprint">
            <a:extLst>
              <a:ext uri="{28A0092B-C50C-407E-A947-70E740481C1C}">
                <a14:useLocalDpi xmlns:a14="http://schemas.microsoft.com/office/drawing/2010/main"/>
              </a:ext>
            </a:extLst>
          </a:blip>
          <a:srcRect l="7797" t="31819" r="8495" b="36628"/>
          <a:stretch/>
        </p:blipFill>
        <p:spPr>
          <a:xfrm>
            <a:off x="877098" y="3489884"/>
            <a:ext cx="1325377" cy="332454"/>
          </a:xfrm>
          <a:prstGeom prst="rect">
            <a:avLst/>
          </a:prstGeom>
        </p:spPr>
      </p:pic>
      <p:pic>
        <p:nvPicPr>
          <p:cNvPr id="246" name="Picture 245" descr="A picture containing drawing&#10;&#10;Description automatically generated">
            <a:extLst>
              <a:ext uri="{FF2B5EF4-FFF2-40B4-BE49-F238E27FC236}">
                <a16:creationId xmlns:a16="http://schemas.microsoft.com/office/drawing/2014/main" id="{FE50706F-CEE6-D147-BF55-80D0A1CB5CBB}"/>
              </a:ext>
            </a:extLst>
          </p:cNvPr>
          <p:cNvPicPr>
            <a:picLocks noChangeAspect="1"/>
          </p:cNvPicPr>
          <p:nvPr/>
        </p:nvPicPr>
        <p:blipFill>
          <a:blip r:embed="rId24" cstate="print">
            <a:extLst>
              <a:ext uri="{28A0092B-C50C-407E-A947-70E740481C1C}">
                <a14:useLocalDpi xmlns:a14="http://schemas.microsoft.com/office/drawing/2010/main"/>
              </a:ext>
            </a:extLst>
          </a:blip>
          <a:stretch>
            <a:fillRect/>
          </a:stretch>
        </p:blipFill>
        <p:spPr>
          <a:xfrm>
            <a:off x="3346491" y="5792632"/>
            <a:ext cx="546090" cy="363399"/>
          </a:xfrm>
          <a:prstGeom prst="rect">
            <a:avLst/>
          </a:prstGeom>
        </p:spPr>
      </p:pic>
      <p:pic>
        <p:nvPicPr>
          <p:cNvPr id="247" name="Picture 246" descr="A picture containing drawing&#10;&#10;Description automatically generated">
            <a:extLst>
              <a:ext uri="{FF2B5EF4-FFF2-40B4-BE49-F238E27FC236}">
                <a16:creationId xmlns:a16="http://schemas.microsoft.com/office/drawing/2014/main" id="{CF7BACD6-DE95-1540-8810-24D3AA49A622}"/>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2682142" y="6093559"/>
            <a:ext cx="394477" cy="153835"/>
          </a:xfrm>
          <a:prstGeom prst="rect">
            <a:avLst/>
          </a:prstGeom>
        </p:spPr>
      </p:pic>
      <p:pic>
        <p:nvPicPr>
          <p:cNvPr id="248" name="Picture 247" descr="A picture containing drawing&#10;&#10;Description automatically generated">
            <a:extLst>
              <a:ext uri="{FF2B5EF4-FFF2-40B4-BE49-F238E27FC236}">
                <a16:creationId xmlns:a16="http://schemas.microsoft.com/office/drawing/2014/main" id="{59AD42A7-7AA6-3A4A-A309-D5563057582C}"/>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3275821" y="6130673"/>
            <a:ext cx="644471" cy="87003"/>
          </a:xfrm>
          <a:prstGeom prst="rect">
            <a:avLst/>
          </a:prstGeom>
        </p:spPr>
      </p:pic>
      <p:pic>
        <p:nvPicPr>
          <p:cNvPr id="249" name="Picture 248">
            <a:extLst>
              <a:ext uri="{FF2B5EF4-FFF2-40B4-BE49-F238E27FC236}">
                <a16:creationId xmlns:a16="http://schemas.microsoft.com/office/drawing/2014/main" id="{B2A7371C-F522-BF41-BFC8-5C74FF9FBF00}"/>
              </a:ext>
            </a:extLst>
          </p:cNvPr>
          <p:cNvPicPr>
            <a:picLocks noChangeAspect="1"/>
          </p:cNvPicPr>
          <p:nvPr/>
        </p:nvPicPr>
        <p:blipFill>
          <a:blip r:embed="rId27"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428279" y="5640185"/>
            <a:ext cx="433220" cy="145525"/>
          </a:xfrm>
          <a:prstGeom prst="rect">
            <a:avLst/>
          </a:prstGeom>
        </p:spPr>
      </p:pic>
      <p:pic>
        <p:nvPicPr>
          <p:cNvPr id="250" name="Picture 249">
            <a:extLst>
              <a:ext uri="{FF2B5EF4-FFF2-40B4-BE49-F238E27FC236}">
                <a16:creationId xmlns:a16="http://schemas.microsoft.com/office/drawing/2014/main" id="{DE56B049-C092-EF41-99BF-DDC4E4C96766}"/>
              </a:ext>
            </a:extLst>
          </p:cNvPr>
          <p:cNvPicPr>
            <a:picLocks noChangeAspect="1"/>
          </p:cNvPicPr>
          <p:nvPr/>
        </p:nvPicPr>
        <p:blipFill>
          <a:blip r:embed="rId28"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678792" y="5883278"/>
            <a:ext cx="511171" cy="146397"/>
          </a:xfrm>
          <a:prstGeom prst="rect">
            <a:avLst/>
          </a:prstGeom>
        </p:spPr>
      </p:pic>
      <p:pic>
        <p:nvPicPr>
          <p:cNvPr id="251" name="Picture 250">
            <a:extLst>
              <a:ext uri="{FF2B5EF4-FFF2-40B4-BE49-F238E27FC236}">
                <a16:creationId xmlns:a16="http://schemas.microsoft.com/office/drawing/2014/main" id="{ADCBE100-19C9-854E-9867-6E16CF33B7C4}"/>
              </a:ext>
            </a:extLst>
          </p:cNvPr>
          <p:cNvPicPr>
            <a:picLocks noChangeAspect="1"/>
          </p:cNvPicPr>
          <p:nvPr/>
        </p:nvPicPr>
        <p:blipFill>
          <a:blip r:embed="rId29"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593690" y="5537935"/>
            <a:ext cx="743240" cy="350026"/>
          </a:xfrm>
          <a:prstGeom prst="rect">
            <a:avLst/>
          </a:prstGeom>
        </p:spPr>
      </p:pic>
      <p:sp>
        <p:nvSpPr>
          <p:cNvPr id="253" name="Rectangle 252">
            <a:extLst>
              <a:ext uri="{FF2B5EF4-FFF2-40B4-BE49-F238E27FC236}">
                <a16:creationId xmlns:a16="http://schemas.microsoft.com/office/drawing/2014/main" id="{58FC9553-A404-3948-9AA8-0575883BD251}"/>
              </a:ext>
            </a:extLst>
          </p:cNvPr>
          <p:cNvSpPr/>
          <p:nvPr/>
        </p:nvSpPr>
        <p:spPr>
          <a:xfrm>
            <a:off x="2709462" y="5407380"/>
            <a:ext cx="1175107" cy="114162"/>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1796" rtl="0" eaLnBrk="1" fontAlgn="auto" latinLnBrk="0" hangingPunct="1">
              <a:lnSpc>
                <a:spcPct val="90000"/>
              </a:lnSpc>
              <a:spcBef>
                <a:spcPts val="0"/>
              </a:spcBef>
              <a:spcAft>
                <a:spcPts val="0"/>
              </a:spcAft>
              <a:buClrTx/>
              <a:buSzTx/>
              <a:buFontTx/>
              <a:buNone/>
              <a:tabLst/>
              <a:defRPr/>
            </a:pPr>
            <a:r>
              <a:rPr kumimoji="0" lang="en-GB" sz="1088" b="1" i="0" u="none" strike="noStrike" kern="1200" cap="none" spc="0" normalizeH="0" baseline="0" noProof="0" dirty="0">
                <a:ln>
                  <a:noFill/>
                </a:ln>
                <a:solidFill>
                  <a:schemeClr val="tx2"/>
                </a:solidFill>
                <a:effectLst/>
                <a:uLnTx/>
                <a:uFillTx/>
                <a:latin typeface="Arial"/>
                <a:ea typeface="+mn-ea"/>
                <a:cs typeface="Helvetica"/>
                <a:sym typeface="Arial"/>
              </a:rPr>
              <a:t>Identity Services</a:t>
            </a:r>
          </a:p>
        </p:txBody>
      </p:sp>
      <p:sp>
        <p:nvSpPr>
          <p:cNvPr id="255" name="Rectangle 254">
            <a:extLst>
              <a:ext uri="{FF2B5EF4-FFF2-40B4-BE49-F238E27FC236}">
                <a16:creationId xmlns:a16="http://schemas.microsoft.com/office/drawing/2014/main" id="{51AB63FC-7521-AA46-B409-A42EAB2D4974}"/>
              </a:ext>
            </a:extLst>
          </p:cNvPr>
          <p:cNvSpPr/>
          <p:nvPr/>
        </p:nvSpPr>
        <p:spPr>
          <a:xfrm>
            <a:off x="4410224" y="5381967"/>
            <a:ext cx="1234697" cy="141729"/>
          </a:xfrm>
          <a:prstGeom prst="rect">
            <a:avLst/>
          </a:prstGeom>
          <a:solidFill>
            <a:schemeClr val="bg1"/>
          </a:solidFill>
          <a:ln w="38100">
            <a:no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1796" rtl="0" eaLnBrk="1" fontAlgn="auto" latinLnBrk="0" hangingPunct="1">
              <a:lnSpc>
                <a:spcPct val="90000"/>
              </a:lnSpc>
              <a:spcBef>
                <a:spcPts val="0"/>
              </a:spcBef>
              <a:spcAft>
                <a:spcPts val="0"/>
              </a:spcAft>
              <a:buClrTx/>
              <a:buSzTx/>
              <a:buFontTx/>
              <a:buNone/>
              <a:tabLst/>
              <a:defRPr/>
            </a:pPr>
            <a:r>
              <a:rPr kumimoji="0" lang="en-GB" sz="1088" b="1" i="0" u="none" strike="noStrike" kern="1200" cap="none" spc="0" normalizeH="0" baseline="0" noProof="0" dirty="0">
                <a:ln>
                  <a:noFill/>
                </a:ln>
                <a:solidFill>
                  <a:schemeClr val="tx2"/>
                </a:solidFill>
                <a:effectLst/>
                <a:uLnTx/>
                <a:uFillTx/>
                <a:latin typeface="Arial"/>
                <a:ea typeface="+mn-ea"/>
                <a:cs typeface="Helvetica"/>
                <a:sym typeface="Arial"/>
              </a:rPr>
              <a:t>Other Connectors</a:t>
            </a:r>
          </a:p>
        </p:txBody>
      </p:sp>
      <p:pic>
        <p:nvPicPr>
          <p:cNvPr id="257" name="Picture 256">
            <a:extLst>
              <a:ext uri="{FF2B5EF4-FFF2-40B4-BE49-F238E27FC236}">
                <a16:creationId xmlns:a16="http://schemas.microsoft.com/office/drawing/2014/main" id="{25917B45-FBCC-B04F-81AD-5DCA201DE508}"/>
              </a:ext>
            </a:extLst>
          </p:cNvPr>
          <p:cNvPicPr>
            <a:picLocks noChangeAspect="1"/>
          </p:cNvPicPr>
          <p:nvPr/>
        </p:nvPicPr>
        <p:blipFill>
          <a:blip r:embed="rId30"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00294" y="5633211"/>
            <a:ext cx="574927" cy="464541"/>
          </a:xfrm>
          <a:prstGeom prst="rect">
            <a:avLst/>
          </a:prstGeom>
        </p:spPr>
      </p:pic>
      <p:pic>
        <p:nvPicPr>
          <p:cNvPr id="258" name="Picture 257">
            <a:extLst>
              <a:ext uri="{FF2B5EF4-FFF2-40B4-BE49-F238E27FC236}">
                <a16:creationId xmlns:a16="http://schemas.microsoft.com/office/drawing/2014/main" id="{6F726A4B-A573-734A-99B4-E7D4DB72F730}"/>
              </a:ext>
            </a:extLst>
          </p:cNvPr>
          <p:cNvPicPr>
            <a:picLocks noChangeAspect="1"/>
          </p:cNvPicPr>
          <p:nvPr/>
        </p:nvPicPr>
        <p:blipFill>
          <a:blip r:embed="rId31" cstate="screen">
            <a:clrChange>
              <a:clrFrom>
                <a:srgbClr val="000000"/>
              </a:clrFrom>
              <a:clrTo>
                <a:srgbClr val="000000">
                  <a:alpha val="0"/>
                </a:srgbClr>
              </a:clrTo>
            </a:clrChange>
            <a:extLst>
              <a:ext uri="{28A0092B-C50C-407E-A947-70E740481C1C}">
                <a14:useLocalDpi xmlns:a14="http://schemas.microsoft.com/office/drawing/2010/main"/>
              </a:ext>
            </a:extLst>
          </a:blip>
          <a:stretch>
            <a:fillRect/>
          </a:stretch>
        </p:blipFill>
        <p:spPr>
          <a:xfrm>
            <a:off x="5061023" y="5944614"/>
            <a:ext cx="551594" cy="150309"/>
          </a:xfrm>
          <a:prstGeom prst="rect">
            <a:avLst/>
          </a:prstGeom>
        </p:spPr>
      </p:pic>
      <p:cxnSp>
        <p:nvCxnSpPr>
          <p:cNvPr id="155" name="Straight Arrow Connector 154">
            <a:extLst>
              <a:ext uri="{FF2B5EF4-FFF2-40B4-BE49-F238E27FC236}">
                <a16:creationId xmlns:a16="http://schemas.microsoft.com/office/drawing/2014/main" id="{388E487B-3452-824D-804E-838CCBB07092}"/>
              </a:ext>
            </a:extLst>
          </p:cNvPr>
          <p:cNvCxnSpPr>
            <a:cxnSpLocks/>
          </p:cNvCxnSpPr>
          <p:nvPr/>
        </p:nvCxnSpPr>
        <p:spPr>
          <a:xfrm flipV="1">
            <a:off x="4721521" y="4619904"/>
            <a:ext cx="0" cy="726508"/>
          </a:xfrm>
          <a:prstGeom prst="straightConnector1">
            <a:avLst/>
          </a:prstGeom>
          <a:noFill/>
          <a:ln w="31750" cap="flat" cmpd="sng" algn="ctr">
            <a:solidFill>
              <a:srgbClr val="AFAFAF"/>
            </a:solidFill>
            <a:prstDash val="solid"/>
            <a:headEnd type="oval" w="med" len="med"/>
            <a:tailEnd type="none" w="lg" len="sm"/>
          </a:ln>
          <a:effectLst/>
        </p:spPr>
      </p:cxnSp>
      <p:sp>
        <p:nvSpPr>
          <p:cNvPr id="82" name="Arc 81">
            <a:extLst>
              <a:ext uri="{FF2B5EF4-FFF2-40B4-BE49-F238E27FC236}">
                <a16:creationId xmlns:a16="http://schemas.microsoft.com/office/drawing/2014/main" id="{06F7DC9C-3961-4D0B-8A11-C42A3E4B5654}"/>
              </a:ext>
            </a:extLst>
          </p:cNvPr>
          <p:cNvSpPr/>
          <p:nvPr/>
        </p:nvSpPr>
        <p:spPr>
          <a:xfrm rot="1989032" flipH="1" flipV="1">
            <a:off x="9262752" y="2232820"/>
            <a:ext cx="2998471" cy="1264064"/>
          </a:xfrm>
          <a:prstGeom prst="arc">
            <a:avLst>
              <a:gd name="adj1" fmla="val 15782777"/>
              <a:gd name="adj2" fmla="val 21041903"/>
            </a:avLst>
          </a:prstGeom>
          <a:noFill/>
          <a:ln w="19050" cap="flat" cmpd="sng" algn="ctr">
            <a:solidFill>
              <a:srgbClr val="262626"/>
            </a:solidFill>
            <a:prstDash val="solid"/>
            <a:headEnd type="triangle" w="med" len="med"/>
            <a:tailEnd type="none" w="med" len="med"/>
          </a:ln>
          <a:effectLst/>
        </p:spPr>
        <p:txBody>
          <a:bodyPr rtlCol="0" anchor="ctr"/>
          <a:lstStyle/>
          <a:p>
            <a:pPr marL="0" marR="0" lvl="0" indent="0" algn="ctr" defTabSz="461796" rtl="0" eaLnBrk="1" fontAlgn="auto" latinLnBrk="0" hangingPunct="1">
              <a:lnSpc>
                <a:spcPct val="100000"/>
              </a:lnSpc>
              <a:spcBef>
                <a:spcPts val="0"/>
              </a:spcBef>
              <a:spcAft>
                <a:spcPts val="0"/>
              </a:spcAft>
              <a:buClrTx/>
              <a:buSzTx/>
              <a:buFontTx/>
              <a:buNone/>
              <a:tabLst/>
              <a:defRPr/>
            </a:pPr>
            <a:endParaRPr kumimoji="0" lang="en-GB" sz="1813" b="0" i="0" u="none" strike="noStrike" kern="0" cap="none" spc="0" normalizeH="0" baseline="0" noProof="0">
              <a:ln>
                <a:noFill/>
              </a:ln>
              <a:solidFill>
                <a:srgbClr val="000000"/>
              </a:solidFill>
              <a:effectLst/>
              <a:uLnTx/>
              <a:uFillTx/>
              <a:latin typeface="FSAlbert" panose="02000603040000020004" pitchFamily="50" charset="0"/>
              <a:ea typeface="+mn-ea"/>
              <a:cs typeface="Helvetica"/>
              <a:sym typeface="Arial"/>
            </a:endParaRPr>
          </a:p>
        </p:txBody>
      </p:sp>
    </p:spTree>
    <p:extLst>
      <p:ext uri="{BB962C8B-B14F-4D97-AF65-F5344CB8AC3E}">
        <p14:creationId xmlns:p14="http://schemas.microsoft.com/office/powerpoint/2010/main" val="394205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35">
            <a:extLst>
              <a:ext uri="{FF2B5EF4-FFF2-40B4-BE49-F238E27FC236}">
                <a16:creationId xmlns:a16="http://schemas.microsoft.com/office/drawing/2014/main" id="{F937CA57-22A2-ED4B-BC15-1AB552F5AEA2}"/>
              </a:ext>
            </a:extLst>
          </p:cNvPr>
          <p:cNvSpPr/>
          <p:nvPr/>
        </p:nvSpPr>
        <p:spPr>
          <a:xfrm>
            <a:off x="-31751" y="-7340"/>
            <a:ext cx="10711528" cy="1811363"/>
          </a:xfrm>
          <a:custGeom>
            <a:avLst/>
            <a:gdLst>
              <a:gd name="connsiteX0" fmla="*/ 0 w 9920382"/>
              <a:gd name="connsiteY0" fmla="*/ 0 h 1677577"/>
              <a:gd name="connsiteX1" fmla="*/ 564209 w 9920382"/>
              <a:gd name="connsiteY1" fmla="*/ 0 h 1677577"/>
              <a:gd name="connsiteX2" fmla="*/ 626831 w 9920382"/>
              <a:gd name="connsiteY2" fmla="*/ 0 h 1677577"/>
              <a:gd name="connsiteX3" fmla="*/ 704882 w 9920382"/>
              <a:gd name="connsiteY3" fmla="*/ 0 h 1677577"/>
              <a:gd name="connsiteX4" fmla="*/ 1191040 w 9920382"/>
              <a:gd name="connsiteY4" fmla="*/ 0 h 1677577"/>
              <a:gd name="connsiteX5" fmla="*/ 1266825 w 9920382"/>
              <a:gd name="connsiteY5" fmla="*/ 0 h 1677577"/>
              <a:gd name="connsiteX6" fmla="*/ 1269091 w 9920382"/>
              <a:gd name="connsiteY6" fmla="*/ 0 h 1677577"/>
              <a:gd name="connsiteX7" fmla="*/ 1331713 w 9920382"/>
              <a:gd name="connsiteY7" fmla="*/ 0 h 1677577"/>
              <a:gd name="connsiteX8" fmla="*/ 1825454 w 9920382"/>
              <a:gd name="connsiteY8" fmla="*/ 0 h 1677577"/>
              <a:gd name="connsiteX9" fmla="*/ 1831034 w 9920382"/>
              <a:gd name="connsiteY9" fmla="*/ 0 h 1677577"/>
              <a:gd name="connsiteX10" fmla="*/ 1832207 w 9920382"/>
              <a:gd name="connsiteY10" fmla="*/ 0 h 1677577"/>
              <a:gd name="connsiteX11" fmla="*/ 1893656 w 9920382"/>
              <a:gd name="connsiteY11" fmla="*/ 0 h 1677577"/>
              <a:gd name="connsiteX12" fmla="*/ 1895922 w 9920382"/>
              <a:gd name="connsiteY12" fmla="*/ 0 h 1677577"/>
              <a:gd name="connsiteX13" fmla="*/ 1971707 w 9920382"/>
              <a:gd name="connsiteY13" fmla="*/ 0 h 1677577"/>
              <a:gd name="connsiteX14" fmla="*/ 2389663 w 9920382"/>
              <a:gd name="connsiteY14" fmla="*/ 0 h 1677577"/>
              <a:gd name="connsiteX15" fmla="*/ 2396416 w 9920382"/>
              <a:gd name="connsiteY15" fmla="*/ 0 h 1677577"/>
              <a:gd name="connsiteX16" fmla="*/ 2452285 w 9920382"/>
              <a:gd name="connsiteY16" fmla="*/ 0 h 1677577"/>
              <a:gd name="connsiteX17" fmla="*/ 2457865 w 9920382"/>
              <a:gd name="connsiteY17" fmla="*/ 0 h 1677577"/>
              <a:gd name="connsiteX18" fmla="*/ 2459038 w 9920382"/>
              <a:gd name="connsiteY18" fmla="*/ 0 h 1677577"/>
              <a:gd name="connsiteX19" fmla="*/ 2530336 w 9920382"/>
              <a:gd name="connsiteY19" fmla="*/ 0 h 1677577"/>
              <a:gd name="connsiteX20" fmla="*/ 2535916 w 9920382"/>
              <a:gd name="connsiteY20" fmla="*/ 0 h 1677577"/>
              <a:gd name="connsiteX21" fmla="*/ 2537089 w 9920382"/>
              <a:gd name="connsiteY21" fmla="*/ 0 h 1677577"/>
              <a:gd name="connsiteX22" fmla="*/ 2598538 w 9920382"/>
              <a:gd name="connsiteY22" fmla="*/ 0 h 1677577"/>
              <a:gd name="connsiteX23" fmla="*/ 3016493 w 9920382"/>
              <a:gd name="connsiteY23" fmla="*/ 0 h 1677577"/>
              <a:gd name="connsiteX24" fmla="*/ 3023248 w 9920382"/>
              <a:gd name="connsiteY24" fmla="*/ 0 h 1677577"/>
              <a:gd name="connsiteX25" fmla="*/ 3092279 w 9920382"/>
              <a:gd name="connsiteY25" fmla="*/ 0 h 1677577"/>
              <a:gd name="connsiteX26" fmla="*/ 3094545 w 9920382"/>
              <a:gd name="connsiteY26" fmla="*/ 0 h 1677577"/>
              <a:gd name="connsiteX27" fmla="*/ 3099032 w 9920382"/>
              <a:gd name="connsiteY27" fmla="*/ 0 h 1677577"/>
              <a:gd name="connsiteX28" fmla="*/ 3101299 w 9920382"/>
              <a:gd name="connsiteY28" fmla="*/ 0 h 1677577"/>
              <a:gd name="connsiteX29" fmla="*/ 3157166 w 9920382"/>
              <a:gd name="connsiteY29" fmla="*/ 0 h 1677577"/>
              <a:gd name="connsiteX30" fmla="*/ 3162747 w 9920382"/>
              <a:gd name="connsiteY30" fmla="*/ 0 h 1677577"/>
              <a:gd name="connsiteX31" fmla="*/ 3163919 w 9920382"/>
              <a:gd name="connsiteY31" fmla="*/ 0 h 1677577"/>
              <a:gd name="connsiteX32" fmla="*/ 3656488 w 9920382"/>
              <a:gd name="connsiteY32" fmla="*/ 0 h 1677577"/>
              <a:gd name="connsiteX33" fmla="*/ 3663242 w 9920382"/>
              <a:gd name="connsiteY33" fmla="*/ 0 h 1677577"/>
              <a:gd name="connsiteX34" fmla="*/ 3719110 w 9920382"/>
              <a:gd name="connsiteY34" fmla="*/ 0 h 1677577"/>
              <a:gd name="connsiteX35" fmla="*/ 3721375 w 9920382"/>
              <a:gd name="connsiteY35" fmla="*/ 0 h 1677577"/>
              <a:gd name="connsiteX36" fmla="*/ 3725863 w 9920382"/>
              <a:gd name="connsiteY36" fmla="*/ 0 h 1677577"/>
              <a:gd name="connsiteX37" fmla="*/ 3728129 w 9920382"/>
              <a:gd name="connsiteY37" fmla="*/ 0 h 1677577"/>
              <a:gd name="connsiteX38" fmla="*/ 3797161 w 9920382"/>
              <a:gd name="connsiteY38" fmla="*/ 0 h 1677577"/>
              <a:gd name="connsiteX39" fmla="*/ 3803914 w 9920382"/>
              <a:gd name="connsiteY39" fmla="*/ 0 h 1677577"/>
              <a:gd name="connsiteX40" fmla="*/ 4283318 w 9920382"/>
              <a:gd name="connsiteY40" fmla="*/ 0 h 1677577"/>
              <a:gd name="connsiteX41" fmla="*/ 4290072 w 9920382"/>
              <a:gd name="connsiteY41" fmla="*/ 0 h 1677577"/>
              <a:gd name="connsiteX42" fmla="*/ 4361370 w 9920382"/>
              <a:gd name="connsiteY42" fmla="*/ 0 h 1677577"/>
              <a:gd name="connsiteX43" fmla="*/ 4368123 w 9920382"/>
              <a:gd name="connsiteY43" fmla="*/ 0 h 1677577"/>
              <a:gd name="connsiteX44" fmla="*/ 4423991 w 9920382"/>
              <a:gd name="connsiteY44" fmla="*/ 0 h 1677577"/>
              <a:gd name="connsiteX45" fmla="*/ 4430744 w 9920382"/>
              <a:gd name="connsiteY45" fmla="*/ 0 h 1677577"/>
              <a:gd name="connsiteX46" fmla="*/ 4988200 w 9920382"/>
              <a:gd name="connsiteY46" fmla="*/ 0 h 1677577"/>
              <a:gd name="connsiteX47" fmla="*/ 4994954 w 9920382"/>
              <a:gd name="connsiteY47" fmla="*/ 0 h 1677577"/>
              <a:gd name="connsiteX48" fmla="*/ 5912092 w 9920382"/>
              <a:gd name="connsiteY48" fmla="*/ 0 h 1677577"/>
              <a:gd name="connsiteX49" fmla="*/ 5918846 w 9920382"/>
              <a:gd name="connsiteY49" fmla="*/ 0 h 1677577"/>
              <a:gd name="connsiteX50" fmla="*/ 6476302 w 9920382"/>
              <a:gd name="connsiteY50" fmla="*/ 0 h 1677577"/>
              <a:gd name="connsiteX51" fmla="*/ 6483055 w 9920382"/>
              <a:gd name="connsiteY51" fmla="*/ 0 h 1677577"/>
              <a:gd name="connsiteX52" fmla="*/ 6538923 w 9920382"/>
              <a:gd name="connsiteY52" fmla="*/ 0 h 1677577"/>
              <a:gd name="connsiteX53" fmla="*/ 6545677 w 9920382"/>
              <a:gd name="connsiteY53" fmla="*/ 0 h 1677577"/>
              <a:gd name="connsiteX54" fmla="*/ 6616974 w 9920382"/>
              <a:gd name="connsiteY54" fmla="*/ 0 h 1677577"/>
              <a:gd name="connsiteX55" fmla="*/ 6623728 w 9920382"/>
              <a:gd name="connsiteY55" fmla="*/ 0 h 1677577"/>
              <a:gd name="connsiteX56" fmla="*/ 7103133 w 9920382"/>
              <a:gd name="connsiteY56" fmla="*/ 0 h 1677577"/>
              <a:gd name="connsiteX57" fmla="*/ 7109886 w 9920382"/>
              <a:gd name="connsiteY57" fmla="*/ 0 h 1677577"/>
              <a:gd name="connsiteX58" fmla="*/ 7178917 w 9920382"/>
              <a:gd name="connsiteY58" fmla="*/ 0 h 1677577"/>
              <a:gd name="connsiteX59" fmla="*/ 7181184 w 9920382"/>
              <a:gd name="connsiteY59" fmla="*/ 0 h 1677577"/>
              <a:gd name="connsiteX60" fmla="*/ 7185671 w 9920382"/>
              <a:gd name="connsiteY60" fmla="*/ 0 h 1677577"/>
              <a:gd name="connsiteX61" fmla="*/ 7187937 w 9920382"/>
              <a:gd name="connsiteY61" fmla="*/ 0 h 1677577"/>
              <a:gd name="connsiteX62" fmla="*/ 7243804 w 9920382"/>
              <a:gd name="connsiteY62" fmla="*/ 0 h 1677577"/>
              <a:gd name="connsiteX63" fmla="*/ 7250559 w 9920382"/>
              <a:gd name="connsiteY63" fmla="*/ 0 h 1677577"/>
              <a:gd name="connsiteX64" fmla="*/ 7743127 w 9920382"/>
              <a:gd name="connsiteY64" fmla="*/ 0 h 1677577"/>
              <a:gd name="connsiteX65" fmla="*/ 7749880 w 9920382"/>
              <a:gd name="connsiteY65" fmla="*/ 0 h 1677577"/>
              <a:gd name="connsiteX66" fmla="*/ 7805748 w 9920382"/>
              <a:gd name="connsiteY66" fmla="*/ 0 h 1677577"/>
              <a:gd name="connsiteX67" fmla="*/ 7808014 w 9920382"/>
              <a:gd name="connsiteY67" fmla="*/ 0 h 1677577"/>
              <a:gd name="connsiteX68" fmla="*/ 7812502 w 9920382"/>
              <a:gd name="connsiteY68" fmla="*/ 0 h 1677577"/>
              <a:gd name="connsiteX69" fmla="*/ 7814768 w 9920382"/>
              <a:gd name="connsiteY69" fmla="*/ 0 h 1677577"/>
              <a:gd name="connsiteX70" fmla="*/ 7883799 w 9920382"/>
              <a:gd name="connsiteY70" fmla="*/ 0 h 1677577"/>
              <a:gd name="connsiteX71" fmla="*/ 7890553 w 9920382"/>
              <a:gd name="connsiteY71" fmla="*/ 0 h 1677577"/>
              <a:gd name="connsiteX72" fmla="*/ 8369958 w 9920382"/>
              <a:gd name="connsiteY72" fmla="*/ 0 h 1677577"/>
              <a:gd name="connsiteX73" fmla="*/ 8376711 w 9920382"/>
              <a:gd name="connsiteY73" fmla="*/ 0 h 1677577"/>
              <a:gd name="connsiteX74" fmla="*/ 8448008 w 9920382"/>
              <a:gd name="connsiteY74" fmla="*/ 0 h 1677577"/>
              <a:gd name="connsiteX75" fmla="*/ 8454762 w 9920382"/>
              <a:gd name="connsiteY75" fmla="*/ 0 h 1677577"/>
              <a:gd name="connsiteX76" fmla="*/ 8510629 w 9920382"/>
              <a:gd name="connsiteY76" fmla="*/ 0 h 1677577"/>
              <a:gd name="connsiteX77" fmla="*/ 8517384 w 9920382"/>
              <a:gd name="connsiteY77" fmla="*/ 0 h 1677577"/>
              <a:gd name="connsiteX78" fmla="*/ 9074839 w 9920382"/>
              <a:gd name="connsiteY78" fmla="*/ 0 h 1677577"/>
              <a:gd name="connsiteX79" fmla="*/ 9074839 w 9920382"/>
              <a:gd name="connsiteY79" fmla="*/ 680 h 1677577"/>
              <a:gd name="connsiteX80" fmla="*/ 9081592 w 9920382"/>
              <a:gd name="connsiteY80" fmla="*/ 0 h 1677577"/>
              <a:gd name="connsiteX81" fmla="*/ 9920382 w 9920382"/>
              <a:gd name="connsiteY81" fmla="*/ 838792 h 1677577"/>
              <a:gd name="connsiteX82" fmla="*/ 9081592 w 9920382"/>
              <a:gd name="connsiteY82" fmla="*/ 1677577 h 1677577"/>
              <a:gd name="connsiteX83" fmla="*/ 9074839 w 9920382"/>
              <a:gd name="connsiteY83" fmla="*/ 1676898 h 1677577"/>
              <a:gd name="connsiteX84" fmla="*/ 9074839 w 9920382"/>
              <a:gd name="connsiteY84" fmla="*/ 1677577 h 1677577"/>
              <a:gd name="connsiteX85" fmla="*/ 8517384 w 9920382"/>
              <a:gd name="connsiteY85" fmla="*/ 1677577 h 1677577"/>
              <a:gd name="connsiteX86" fmla="*/ 8510629 w 9920382"/>
              <a:gd name="connsiteY86" fmla="*/ 1677577 h 1677577"/>
              <a:gd name="connsiteX87" fmla="*/ 8454762 w 9920382"/>
              <a:gd name="connsiteY87" fmla="*/ 1677577 h 1677577"/>
              <a:gd name="connsiteX88" fmla="*/ 8448008 w 9920382"/>
              <a:gd name="connsiteY88" fmla="*/ 1677577 h 1677577"/>
              <a:gd name="connsiteX89" fmla="*/ 8376711 w 9920382"/>
              <a:gd name="connsiteY89" fmla="*/ 1677577 h 1677577"/>
              <a:gd name="connsiteX90" fmla="*/ 8369958 w 9920382"/>
              <a:gd name="connsiteY90" fmla="*/ 1677577 h 1677577"/>
              <a:gd name="connsiteX91" fmla="*/ 7890553 w 9920382"/>
              <a:gd name="connsiteY91" fmla="*/ 1677577 h 1677577"/>
              <a:gd name="connsiteX92" fmla="*/ 7883799 w 9920382"/>
              <a:gd name="connsiteY92" fmla="*/ 1677577 h 1677577"/>
              <a:gd name="connsiteX93" fmla="*/ 7814768 w 9920382"/>
              <a:gd name="connsiteY93" fmla="*/ 1677577 h 1677577"/>
              <a:gd name="connsiteX94" fmla="*/ 7812502 w 9920382"/>
              <a:gd name="connsiteY94" fmla="*/ 1677577 h 1677577"/>
              <a:gd name="connsiteX95" fmla="*/ 7808014 w 9920382"/>
              <a:gd name="connsiteY95" fmla="*/ 1677577 h 1677577"/>
              <a:gd name="connsiteX96" fmla="*/ 7805748 w 9920382"/>
              <a:gd name="connsiteY96" fmla="*/ 1677577 h 1677577"/>
              <a:gd name="connsiteX97" fmla="*/ 7749880 w 9920382"/>
              <a:gd name="connsiteY97" fmla="*/ 1677577 h 1677577"/>
              <a:gd name="connsiteX98" fmla="*/ 7743127 w 9920382"/>
              <a:gd name="connsiteY98" fmla="*/ 1677577 h 1677577"/>
              <a:gd name="connsiteX99" fmla="*/ 7250559 w 9920382"/>
              <a:gd name="connsiteY99" fmla="*/ 1677577 h 1677577"/>
              <a:gd name="connsiteX100" fmla="*/ 7243804 w 9920382"/>
              <a:gd name="connsiteY100" fmla="*/ 1677577 h 1677577"/>
              <a:gd name="connsiteX101" fmla="*/ 7187937 w 9920382"/>
              <a:gd name="connsiteY101" fmla="*/ 1677577 h 1677577"/>
              <a:gd name="connsiteX102" fmla="*/ 7185671 w 9920382"/>
              <a:gd name="connsiteY102" fmla="*/ 1677577 h 1677577"/>
              <a:gd name="connsiteX103" fmla="*/ 7181184 w 9920382"/>
              <a:gd name="connsiteY103" fmla="*/ 1677577 h 1677577"/>
              <a:gd name="connsiteX104" fmla="*/ 7178917 w 9920382"/>
              <a:gd name="connsiteY104" fmla="*/ 1677577 h 1677577"/>
              <a:gd name="connsiteX105" fmla="*/ 7109886 w 9920382"/>
              <a:gd name="connsiteY105" fmla="*/ 1677577 h 1677577"/>
              <a:gd name="connsiteX106" fmla="*/ 7103133 w 9920382"/>
              <a:gd name="connsiteY106" fmla="*/ 1677577 h 1677577"/>
              <a:gd name="connsiteX107" fmla="*/ 6623728 w 9920382"/>
              <a:gd name="connsiteY107" fmla="*/ 1677577 h 1677577"/>
              <a:gd name="connsiteX108" fmla="*/ 6616974 w 9920382"/>
              <a:gd name="connsiteY108" fmla="*/ 1677577 h 1677577"/>
              <a:gd name="connsiteX109" fmla="*/ 6545677 w 9920382"/>
              <a:gd name="connsiteY109" fmla="*/ 1677577 h 1677577"/>
              <a:gd name="connsiteX110" fmla="*/ 6538923 w 9920382"/>
              <a:gd name="connsiteY110" fmla="*/ 1677577 h 1677577"/>
              <a:gd name="connsiteX111" fmla="*/ 6483055 w 9920382"/>
              <a:gd name="connsiteY111" fmla="*/ 1677577 h 1677577"/>
              <a:gd name="connsiteX112" fmla="*/ 6476302 w 9920382"/>
              <a:gd name="connsiteY112" fmla="*/ 1677577 h 1677577"/>
              <a:gd name="connsiteX113" fmla="*/ 5918846 w 9920382"/>
              <a:gd name="connsiteY113" fmla="*/ 1677577 h 1677577"/>
              <a:gd name="connsiteX114" fmla="*/ 5912092 w 9920382"/>
              <a:gd name="connsiteY114" fmla="*/ 1677577 h 1677577"/>
              <a:gd name="connsiteX115" fmla="*/ 4994967 w 9920382"/>
              <a:gd name="connsiteY115" fmla="*/ 1677577 h 1677577"/>
              <a:gd name="connsiteX116" fmla="*/ 4994954 w 9920382"/>
              <a:gd name="connsiteY116" fmla="*/ 1677577 h 1677577"/>
              <a:gd name="connsiteX117" fmla="*/ 4994940 w 9920382"/>
              <a:gd name="connsiteY117" fmla="*/ 1677577 h 1677577"/>
              <a:gd name="connsiteX118" fmla="*/ 4988200 w 9920382"/>
              <a:gd name="connsiteY118" fmla="*/ 1677577 h 1677577"/>
              <a:gd name="connsiteX119" fmla="*/ 4430758 w 9920382"/>
              <a:gd name="connsiteY119" fmla="*/ 1677577 h 1677577"/>
              <a:gd name="connsiteX120" fmla="*/ 4430744 w 9920382"/>
              <a:gd name="connsiteY120" fmla="*/ 1677577 h 1677577"/>
              <a:gd name="connsiteX121" fmla="*/ 4430730 w 9920382"/>
              <a:gd name="connsiteY121" fmla="*/ 1677577 h 1677577"/>
              <a:gd name="connsiteX122" fmla="*/ 4423991 w 9920382"/>
              <a:gd name="connsiteY122" fmla="*/ 1677577 h 1677577"/>
              <a:gd name="connsiteX123" fmla="*/ 4368136 w 9920382"/>
              <a:gd name="connsiteY123" fmla="*/ 1677577 h 1677577"/>
              <a:gd name="connsiteX124" fmla="*/ 4368123 w 9920382"/>
              <a:gd name="connsiteY124" fmla="*/ 1677577 h 1677577"/>
              <a:gd name="connsiteX125" fmla="*/ 4368109 w 9920382"/>
              <a:gd name="connsiteY125" fmla="*/ 1677577 h 1677577"/>
              <a:gd name="connsiteX126" fmla="*/ 4361370 w 9920382"/>
              <a:gd name="connsiteY126" fmla="*/ 1677577 h 1677577"/>
              <a:gd name="connsiteX127" fmla="*/ 4290086 w 9920382"/>
              <a:gd name="connsiteY127" fmla="*/ 1677577 h 1677577"/>
              <a:gd name="connsiteX128" fmla="*/ 4290072 w 9920382"/>
              <a:gd name="connsiteY128" fmla="*/ 1677577 h 1677577"/>
              <a:gd name="connsiteX129" fmla="*/ 4290058 w 9920382"/>
              <a:gd name="connsiteY129" fmla="*/ 1677577 h 1677577"/>
              <a:gd name="connsiteX130" fmla="*/ 4283318 w 9920382"/>
              <a:gd name="connsiteY130" fmla="*/ 1677577 h 1677577"/>
              <a:gd name="connsiteX131" fmla="*/ 3803927 w 9920382"/>
              <a:gd name="connsiteY131" fmla="*/ 1677577 h 1677577"/>
              <a:gd name="connsiteX132" fmla="*/ 3803914 w 9920382"/>
              <a:gd name="connsiteY132" fmla="*/ 1677577 h 1677577"/>
              <a:gd name="connsiteX133" fmla="*/ 3803899 w 9920382"/>
              <a:gd name="connsiteY133" fmla="*/ 1677577 h 1677577"/>
              <a:gd name="connsiteX134" fmla="*/ 3797161 w 9920382"/>
              <a:gd name="connsiteY134" fmla="*/ 1677577 h 1677577"/>
              <a:gd name="connsiteX135" fmla="*/ 3728143 w 9920382"/>
              <a:gd name="connsiteY135" fmla="*/ 1677577 h 1677577"/>
              <a:gd name="connsiteX136" fmla="*/ 3728129 w 9920382"/>
              <a:gd name="connsiteY136" fmla="*/ 1677577 h 1677577"/>
              <a:gd name="connsiteX137" fmla="*/ 3728115 w 9920382"/>
              <a:gd name="connsiteY137" fmla="*/ 1677577 h 1677577"/>
              <a:gd name="connsiteX138" fmla="*/ 3725876 w 9920382"/>
              <a:gd name="connsiteY138" fmla="*/ 1677577 h 1677577"/>
              <a:gd name="connsiteX139" fmla="*/ 3725863 w 9920382"/>
              <a:gd name="connsiteY139" fmla="*/ 1677577 h 1677577"/>
              <a:gd name="connsiteX140" fmla="*/ 3725849 w 9920382"/>
              <a:gd name="connsiteY140" fmla="*/ 1677577 h 1677577"/>
              <a:gd name="connsiteX141" fmla="*/ 3721375 w 9920382"/>
              <a:gd name="connsiteY141" fmla="*/ 1677577 h 1677577"/>
              <a:gd name="connsiteX142" fmla="*/ 3719110 w 9920382"/>
              <a:gd name="connsiteY142" fmla="*/ 1677577 h 1677577"/>
              <a:gd name="connsiteX143" fmla="*/ 3663255 w 9920382"/>
              <a:gd name="connsiteY143" fmla="*/ 1677577 h 1677577"/>
              <a:gd name="connsiteX144" fmla="*/ 3663242 w 9920382"/>
              <a:gd name="connsiteY144" fmla="*/ 1677577 h 1677577"/>
              <a:gd name="connsiteX145" fmla="*/ 3663227 w 9920382"/>
              <a:gd name="connsiteY145" fmla="*/ 1677577 h 1677577"/>
              <a:gd name="connsiteX146" fmla="*/ 3656488 w 9920382"/>
              <a:gd name="connsiteY146" fmla="*/ 1677577 h 1677577"/>
              <a:gd name="connsiteX147" fmla="*/ 3163933 w 9920382"/>
              <a:gd name="connsiteY147" fmla="*/ 1677577 h 1677577"/>
              <a:gd name="connsiteX148" fmla="*/ 3163919 w 9920382"/>
              <a:gd name="connsiteY148" fmla="*/ 1677577 h 1677577"/>
              <a:gd name="connsiteX149" fmla="*/ 3163906 w 9920382"/>
              <a:gd name="connsiteY149" fmla="*/ 1677577 h 1677577"/>
              <a:gd name="connsiteX150" fmla="*/ 3162747 w 9920382"/>
              <a:gd name="connsiteY150" fmla="*/ 1677577 h 1677577"/>
              <a:gd name="connsiteX151" fmla="*/ 3157166 w 9920382"/>
              <a:gd name="connsiteY151" fmla="*/ 1677577 h 1677577"/>
              <a:gd name="connsiteX152" fmla="*/ 3101312 w 9920382"/>
              <a:gd name="connsiteY152" fmla="*/ 1677577 h 1677577"/>
              <a:gd name="connsiteX153" fmla="*/ 3101299 w 9920382"/>
              <a:gd name="connsiteY153" fmla="*/ 1677577 h 1677577"/>
              <a:gd name="connsiteX154" fmla="*/ 3101284 w 9920382"/>
              <a:gd name="connsiteY154" fmla="*/ 1677577 h 1677577"/>
              <a:gd name="connsiteX155" fmla="*/ 3099046 w 9920382"/>
              <a:gd name="connsiteY155" fmla="*/ 1677577 h 1677577"/>
              <a:gd name="connsiteX156" fmla="*/ 3099032 w 9920382"/>
              <a:gd name="connsiteY156" fmla="*/ 1677577 h 1677577"/>
              <a:gd name="connsiteX157" fmla="*/ 3099018 w 9920382"/>
              <a:gd name="connsiteY157" fmla="*/ 1677577 h 1677577"/>
              <a:gd name="connsiteX158" fmla="*/ 3094545 w 9920382"/>
              <a:gd name="connsiteY158" fmla="*/ 1677577 h 1677577"/>
              <a:gd name="connsiteX159" fmla="*/ 3092279 w 9920382"/>
              <a:gd name="connsiteY159" fmla="*/ 1677577 h 1677577"/>
              <a:gd name="connsiteX160" fmla="*/ 3023261 w 9920382"/>
              <a:gd name="connsiteY160" fmla="*/ 1677577 h 1677577"/>
              <a:gd name="connsiteX161" fmla="*/ 3023248 w 9920382"/>
              <a:gd name="connsiteY161" fmla="*/ 1677577 h 1677577"/>
              <a:gd name="connsiteX162" fmla="*/ 3023233 w 9920382"/>
              <a:gd name="connsiteY162" fmla="*/ 1677577 h 1677577"/>
              <a:gd name="connsiteX163" fmla="*/ 3016493 w 9920382"/>
              <a:gd name="connsiteY163" fmla="*/ 1677577 h 1677577"/>
              <a:gd name="connsiteX164" fmla="*/ 2598538 w 9920382"/>
              <a:gd name="connsiteY164" fmla="*/ 1677577 h 1677577"/>
              <a:gd name="connsiteX165" fmla="*/ 2537102 w 9920382"/>
              <a:gd name="connsiteY165" fmla="*/ 1677577 h 1677577"/>
              <a:gd name="connsiteX166" fmla="*/ 2537089 w 9920382"/>
              <a:gd name="connsiteY166" fmla="*/ 1677577 h 1677577"/>
              <a:gd name="connsiteX167" fmla="*/ 2537075 w 9920382"/>
              <a:gd name="connsiteY167" fmla="*/ 1677577 h 1677577"/>
              <a:gd name="connsiteX168" fmla="*/ 2535916 w 9920382"/>
              <a:gd name="connsiteY168" fmla="*/ 1677577 h 1677577"/>
              <a:gd name="connsiteX169" fmla="*/ 2530336 w 9920382"/>
              <a:gd name="connsiteY169" fmla="*/ 1677577 h 1677577"/>
              <a:gd name="connsiteX170" fmla="*/ 2459051 w 9920382"/>
              <a:gd name="connsiteY170" fmla="*/ 1677577 h 1677577"/>
              <a:gd name="connsiteX171" fmla="*/ 2459038 w 9920382"/>
              <a:gd name="connsiteY171" fmla="*/ 1677577 h 1677577"/>
              <a:gd name="connsiteX172" fmla="*/ 2459024 w 9920382"/>
              <a:gd name="connsiteY172" fmla="*/ 1677577 h 1677577"/>
              <a:gd name="connsiteX173" fmla="*/ 2457865 w 9920382"/>
              <a:gd name="connsiteY173" fmla="*/ 1677577 h 1677577"/>
              <a:gd name="connsiteX174" fmla="*/ 2452285 w 9920382"/>
              <a:gd name="connsiteY174" fmla="*/ 1677577 h 1677577"/>
              <a:gd name="connsiteX175" fmla="*/ 2396430 w 9920382"/>
              <a:gd name="connsiteY175" fmla="*/ 1677577 h 1677577"/>
              <a:gd name="connsiteX176" fmla="*/ 2396416 w 9920382"/>
              <a:gd name="connsiteY176" fmla="*/ 1677577 h 1677577"/>
              <a:gd name="connsiteX177" fmla="*/ 2396402 w 9920382"/>
              <a:gd name="connsiteY177" fmla="*/ 1677577 h 1677577"/>
              <a:gd name="connsiteX178" fmla="*/ 2389663 w 9920382"/>
              <a:gd name="connsiteY178" fmla="*/ 1677577 h 1677577"/>
              <a:gd name="connsiteX179" fmla="*/ 1971707 w 9920382"/>
              <a:gd name="connsiteY179" fmla="*/ 1677577 h 1677577"/>
              <a:gd name="connsiteX180" fmla="*/ 1895922 w 9920382"/>
              <a:gd name="connsiteY180" fmla="*/ 1677577 h 1677577"/>
              <a:gd name="connsiteX181" fmla="*/ 1893656 w 9920382"/>
              <a:gd name="connsiteY181" fmla="*/ 1677577 h 1677577"/>
              <a:gd name="connsiteX182" fmla="*/ 1832220 w 9920382"/>
              <a:gd name="connsiteY182" fmla="*/ 1677577 h 1677577"/>
              <a:gd name="connsiteX183" fmla="*/ 1832207 w 9920382"/>
              <a:gd name="connsiteY183" fmla="*/ 1677577 h 1677577"/>
              <a:gd name="connsiteX184" fmla="*/ 1832193 w 9920382"/>
              <a:gd name="connsiteY184" fmla="*/ 1677577 h 1677577"/>
              <a:gd name="connsiteX185" fmla="*/ 1831034 w 9920382"/>
              <a:gd name="connsiteY185" fmla="*/ 1677577 h 1677577"/>
              <a:gd name="connsiteX186" fmla="*/ 1825454 w 9920382"/>
              <a:gd name="connsiteY186" fmla="*/ 1677577 h 1677577"/>
              <a:gd name="connsiteX187" fmla="*/ 1331713 w 9920382"/>
              <a:gd name="connsiteY187" fmla="*/ 1677577 h 1677577"/>
              <a:gd name="connsiteX188" fmla="*/ 1269091 w 9920382"/>
              <a:gd name="connsiteY188" fmla="*/ 1677577 h 1677577"/>
              <a:gd name="connsiteX189" fmla="*/ 1266825 w 9920382"/>
              <a:gd name="connsiteY189" fmla="*/ 1677577 h 1677577"/>
              <a:gd name="connsiteX190" fmla="*/ 1191040 w 9920382"/>
              <a:gd name="connsiteY190" fmla="*/ 1677577 h 1677577"/>
              <a:gd name="connsiteX191" fmla="*/ 704882 w 9920382"/>
              <a:gd name="connsiteY191" fmla="*/ 1677577 h 1677577"/>
              <a:gd name="connsiteX192" fmla="*/ 626831 w 9920382"/>
              <a:gd name="connsiteY192" fmla="*/ 1677577 h 1677577"/>
              <a:gd name="connsiteX193" fmla="*/ 564209 w 9920382"/>
              <a:gd name="connsiteY193" fmla="*/ 1677577 h 1677577"/>
              <a:gd name="connsiteX194" fmla="*/ 0 w 9920382"/>
              <a:gd name="connsiteY194" fmla="*/ 1677577 h 1677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9920382" h="1677577">
                <a:moveTo>
                  <a:pt x="0" y="0"/>
                </a:moveTo>
                <a:lnTo>
                  <a:pt x="564209" y="0"/>
                </a:lnTo>
                <a:lnTo>
                  <a:pt x="626831" y="0"/>
                </a:lnTo>
                <a:lnTo>
                  <a:pt x="704882" y="0"/>
                </a:lnTo>
                <a:lnTo>
                  <a:pt x="1191040" y="0"/>
                </a:lnTo>
                <a:lnTo>
                  <a:pt x="1266825" y="0"/>
                </a:lnTo>
                <a:lnTo>
                  <a:pt x="1269091" y="0"/>
                </a:lnTo>
                <a:lnTo>
                  <a:pt x="1331713" y="0"/>
                </a:lnTo>
                <a:lnTo>
                  <a:pt x="1825454" y="0"/>
                </a:lnTo>
                <a:lnTo>
                  <a:pt x="1831034" y="0"/>
                </a:lnTo>
                <a:lnTo>
                  <a:pt x="1832207" y="0"/>
                </a:lnTo>
                <a:lnTo>
                  <a:pt x="1893656" y="0"/>
                </a:lnTo>
                <a:lnTo>
                  <a:pt x="1895922" y="0"/>
                </a:lnTo>
                <a:lnTo>
                  <a:pt x="1971707" y="0"/>
                </a:lnTo>
                <a:lnTo>
                  <a:pt x="2389663" y="0"/>
                </a:lnTo>
                <a:lnTo>
                  <a:pt x="2396416" y="0"/>
                </a:lnTo>
                <a:lnTo>
                  <a:pt x="2452285" y="0"/>
                </a:lnTo>
                <a:lnTo>
                  <a:pt x="2457865" y="0"/>
                </a:lnTo>
                <a:lnTo>
                  <a:pt x="2459038" y="0"/>
                </a:lnTo>
                <a:lnTo>
                  <a:pt x="2530336" y="0"/>
                </a:lnTo>
                <a:lnTo>
                  <a:pt x="2535916" y="0"/>
                </a:lnTo>
                <a:lnTo>
                  <a:pt x="2537089" y="0"/>
                </a:lnTo>
                <a:lnTo>
                  <a:pt x="2598538" y="0"/>
                </a:lnTo>
                <a:lnTo>
                  <a:pt x="3016493" y="0"/>
                </a:lnTo>
                <a:lnTo>
                  <a:pt x="3023248" y="0"/>
                </a:lnTo>
                <a:lnTo>
                  <a:pt x="3092279" y="0"/>
                </a:lnTo>
                <a:lnTo>
                  <a:pt x="3094545" y="0"/>
                </a:lnTo>
                <a:lnTo>
                  <a:pt x="3099032" y="0"/>
                </a:lnTo>
                <a:lnTo>
                  <a:pt x="3101299" y="0"/>
                </a:lnTo>
                <a:lnTo>
                  <a:pt x="3157166" y="0"/>
                </a:lnTo>
                <a:lnTo>
                  <a:pt x="3162747" y="0"/>
                </a:lnTo>
                <a:lnTo>
                  <a:pt x="3163919" y="0"/>
                </a:lnTo>
                <a:lnTo>
                  <a:pt x="3656488" y="0"/>
                </a:lnTo>
                <a:lnTo>
                  <a:pt x="3663242" y="0"/>
                </a:lnTo>
                <a:lnTo>
                  <a:pt x="3719110" y="0"/>
                </a:lnTo>
                <a:lnTo>
                  <a:pt x="3721375" y="0"/>
                </a:lnTo>
                <a:lnTo>
                  <a:pt x="3725863" y="0"/>
                </a:lnTo>
                <a:lnTo>
                  <a:pt x="3728129" y="0"/>
                </a:lnTo>
                <a:lnTo>
                  <a:pt x="3797161" y="0"/>
                </a:lnTo>
                <a:lnTo>
                  <a:pt x="3803914" y="0"/>
                </a:lnTo>
                <a:lnTo>
                  <a:pt x="4283318" y="0"/>
                </a:lnTo>
                <a:lnTo>
                  <a:pt x="4290072" y="0"/>
                </a:lnTo>
                <a:lnTo>
                  <a:pt x="4361370" y="0"/>
                </a:lnTo>
                <a:lnTo>
                  <a:pt x="4368123" y="0"/>
                </a:lnTo>
                <a:lnTo>
                  <a:pt x="4423991" y="0"/>
                </a:lnTo>
                <a:lnTo>
                  <a:pt x="4430744" y="0"/>
                </a:lnTo>
                <a:lnTo>
                  <a:pt x="4988200" y="0"/>
                </a:lnTo>
                <a:lnTo>
                  <a:pt x="4994954" y="0"/>
                </a:lnTo>
                <a:lnTo>
                  <a:pt x="5912092" y="0"/>
                </a:lnTo>
                <a:lnTo>
                  <a:pt x="5918846" y="0"/>
                </a:lnTo>
                <a:lnTo>
                  <a:pt x="6476302" y="0"/>
                </a:lnTo>
                <a:lnTo>
                  <a:pt x="6483055" y="0"/>
                </a:lnTo>
                <a:lnTo>
                  <a:pt x="6538923" y="0"/>
                </a:lnTo>
                <a:lnTo>
                  <a:pt x="6545677" y="0"/>
                </a:lnTo>
                <a:lnTo>
                  <a:pt x="6616974" y="0"/>
                </a:lnTo>
                <a:lnTo>
                  <a:pt x="6623728" y="0"/>
                </a:lnTo>
                <a:lnTo>
                  <a:pt x="7103133" y="0"/>
                </a:lnTo>
                <a:lnTo>
                  <a:pt x="7109886" y="0"/>
                </a:lnTo>
                <a:lnTo>
                  <a:pt x="7178917" y="0"/>
                </a:lnTo>
                <a:lnTo>
                  <a:pt x="7181184" y="0"/>
                </a:lnTo>
                <a:lnTo>
                  <a:pt x="7185671" y="0"/>
                </a:lnTo>
                <a:lnTo>
                  <a:pt x="7187937" y="0"/>
                </a:lnTo>
                <a:lnTo>
                  <a:pt x="7243804" y="0"/>
                </a:lnTo>
                <a:lnTo>
                  <a:pt x="7250559" y="0"/>
                </a:lnTo>
                <a:lnTo>
                  <a:pt x="7743127" y="0"/>
                </a:lnTo>
                <a:lnTo>
                  <a:pt x="7749880" y="0"/>
                </a:lnTo>
                <a:lnTo>
                  <a:pt x="7805748" y="0"/>
                </a:lnTo>
                <a:lnTo>
                  <a:pt x="7808014" y="0"/>
                </a:lnTo>
                <a:lnTo>
                  <a:pt x="7812502" y="0"/>
                </a:lnTo>
                <a:lnTo>
                  <a:pt x="7814768" y="0"/>
                </a:lnTo>
                <a:lnTo>
                  <a:pt x="7883799" y="0"/>
                </a:lnTo>
                <a:lnTo>
                  <a:pt x="7890553" y="0"/>
                </a:lnTo>
                <a:lnTo>
                  <a:pt x="8369958" y="0"/>
                </a:lnTo>
                <a:lnTo>
                  <a:pt x="8376711" y="0"/>
                </a:lnTo>
                <a:lnTo>
                  <a:pt x="8448008" y="0"/>
                </a:lnTo>
                <a:lnTo>
                  <a:pt x="8454762" y="0"/>
                </a:lnTo>
                <a:lnTo>
                  <a:pt x="8510629" y="0"/>
                </a:lnTo>
                <a:lnTo>
                  <a:pt x="8517384" y="0"/>
                </a:lnTo>
                <a:lnTo>
                  <a:pt x="9074839" y="0"/>
                </a:lnTo>
                <a:lnTo>
                  <a:pt x="9074839" y="680"/>
                </a:lnTo>
                <a:lnTo>
                  <a:pt x="9081592" y="0"/>
                </a:lnTo>
                <a:cubicBezTo>
                  <a:pt x="9544846" y="0"/>
                  <a:pt x="9920382" y="375538"/>
                  <a:pt x="9920382" y="838792"/>
                </a:cubicBezTo>
                <a:cubicBezTo>
                  <a:pt x="9920382" y="1302040"/>
                  <a:pt x="9544846" y="1677577"/>
                  <a:pt x="9081592" y="1677577"/>
                </a:cubicBezTo>
                <a:lnTo>
                  <a:pt x="9074839" y="1676898"/>
                </a:lnTo>
                <a:lnTo>
                  <a:pt x="9074839" y="1677577"/>
                </a:lnTo>
                <a:lnTo>
                  <a:pt x="8517384" y="1677577"/>
                </a:lnTo>
                <a:lnTo>
                  <a:pt x="8510629" y="1677577"/>
                </a:lnTo>
                <a:lnTo>
                  <a:pt x="8454762" y="1677577"/>
                </a:lnTo>
                <a:lnTo>
                  <a:pt x="8448008" y="1677577"/>
                </a:lnTo>
                <a:lnTo>
                  <a:pt x="8376711" y="1677577"/>
                </a:lnTo>
                <a:lnTo>
                  <a:pt x="8369958" y="1677577"/>
                </a:lnTo>
                <a:lnTo>
                  <a:pt x="7890553" y="1677577"/>
                </a:lnTo>
                <a:lnTo>
                  <a:pt x="7883799" y="1677577"/>
                </a:lnTo>
                <a:lnTo>
                  <a:pt x="7814768" y="1677577"/>
                </a:lnTo>
                <a:lnTo>
                  <a:pt x="7812502" y="1677577"/>
                </a:lnTo>
                <a:lnTo>
                  <a:pt x="7808014" y="1677577"/>
                </a:lnTo>
                <a:lnTo>
                  <a:pt x="7805748" y="1677577"/>
                </a:lnTo>
                <a:lnTo>
                  <a:pt x="7749880" y="1677577"/>
                </a:lnTo>
                <a:lnTo>
                  <a:pt x="7743127" y="1677577"/>
                </a:lnTo>
                <a:lnTo>
                  <a:pt x="7250559" y="1677577"/>
                </a:lnTo>
                <a:lnTo>
                  <a:pt x="7243804" y="1677577"/>
                </a:lnTo>
                <a:lnTo>
                  <a:pt x="7187937" y="1677577"/>
                </a:lnTo>
                <a:lnTo>
                  <a:pt x="7185671" y="1677577"/>
                </a:lnTo>
                <a:lnTo>
                  <a:pt x="7181184" y="1677577"/>
                </a:lnTo>
                <a:lnTo>
                  <a:pt x="7178917" y="1677577"/>
                </a:lnTo>
                <a:lnTo>
                  <a:pt x="7109886" y="1677577"/>
                </a:lnTo>
                <a:lnTo>
                  <a:pt x="7103133" y="1677577"/>
                </a:lnTo>
                <a:lnTo>
                  <a:pt x="6623728" y="1677577"/>
                </a:lnTo>
                <a:lnTo>
                  <a:pt x="6616974" y="1677577"/>
                </a:lnTo>
                <a:lnTo>
                  <a:pt x="6545677" y="1677577"/>
                </a:lnTo>
                <a:lnTo>
                  <a:pt x="6538923" y="1677577"/>
                </a:lnTo>
                <a:lnTo>
                  <a:pt x="6483055" y="1677577"/>
                </a:lnTo>
                <a:lnTo>
                  <a:pt x="6476302" y="1677577"/>
                </a:lnTo>
                <a:lnTo>
                  <a:pt x="5918846" y="1677577"/>
                </a:lnTo>
                <a:lnTo>
                  <a:pt x="5912092" y="1677577"/>
                </a:lnTo>
                <a:lnTo>
                  <a:pt x="4994967" y="1677577"/>
                </a:lnTo>
                <a:lnTo>
                  <a:pt x="4994954" y="1677577"/>
                </a:lnTo>
                <a:lnTo>
                  <a:pt x="4994940" y="1677577"/>
                </a:lnTo>
                <a:lnTo>
                  <a:pt x="4988200" y="1677577"/>
                </a:lnTo>
                <a:lnTo>
                  <a:pt x="4430758" y="1677577"/>
                </a:lnTo>
                <a:lnTo>
                  <a:pt x="4430744" y="1677577"/>
                </a:lnTo>
                <a:lnTo>
                  <a:pt x="4430730" y="1677577"/>
                </a:lnTo>
                <a:lnTo>
                  <a:pt x="4423991" y="1677577"/>
                </a:lnTo>
                <a:lnTo>
                  <a:pt x="4368136" y="1677577"/>
                </a:lnTo>
                <a:lnTo>
                  <a:pt x="4368123" y="1677577"/>
                </a:lnTo>
                <a:lnTo>
                  <a:pt x="4368109" y="1677577"/>
                </a:lnTo>
                <a:lnTo>
                  <a:pt x="4361370" y="1677577"/>
                </a:lnTo>
                <a:lnTo>
                  <a:pt x="4290086" y="1677577"/>
                </a:lnTo>
                <a:lnTo>
                  <a:pt x="4290072" y="1677577"/>
                </a:lnTo>
                <a:lnTo>
                  <a:pt x="4290058" y="1677577"/>
                </a:lnTo>
                <a:lnTo>
                  <a:pt x="4283318" y="1677577"/>
                </a:lnTo>
                <a:lnTo>
                  <a:pt x="3803927" y="1677577"/>
                </a:lnTo>
                <a:lnTo>
                  <a:pt x="3803914" y="1677577"/>
                </a:lnTo>
                <a:lnTo>
                  <a:pt x="3803899" y="1677577"/>
                </a:lnTo>
                <a:lnTo>
                  <a:pt x="3797161" y="1677577"/>
                </a:lnTo>
                <a:lnTo>
                  <a:pt x="3728143" y="1677577"/>
                </a:lnTo>
                <a:lnTo>
                  <a:pt x="3728129" y="1677577"/>
                </a:lnTo>
                <a:lnTo>
                  <a:pt x="3728115" y="1677577"/>
                </a:lnTo>
                <a:lnTo>
                  <a:pt x="3725876" y="1677577"/>
                </a:lnTo>
                <a:lnTo>
                  <a:pt x="3725863" y="1677577"/>
                </a:lnTo>
                <a:lnTo>
                  <a:pt x="3725849" y="1677577"/>
                </a:lnTo>
                <a:lnTo>
                  <a:pt x="3721375" y="1677577"/>
                </a:lnTo>
                <a:lnTo>
                  <a:pt x="3719110" y="1677577"/>
                </a:lnTo>
                <a:lnTo>
                  <a:pt x="3663255" y="1677577"/>
                </a:lnTo>
                <a:lnTo>
                  <a:pt x="3663242" y="1677577"/>
                </a:lnTo>
                <a:lnTo>
                  <a:pt x="3663227" y="1677577"/>
                </a:lnTo>
                <a:lnTo>
                  <a:pt x="3656488" y="1677577"/>
                </a:lnTo>
                <a:lnTo>
                  <a:pt x="3163933" y="1677577"/>
                </a:lnTo>
                <a:lnTo>
                  <a:pt x="3163919" y="1677577"/>
                </a:lnTo>
                <a:lnTo>
                  <a:pt x="3163906" y="1677577"/>
                </a:lnTo>
                <a:lnTo>
                  <a:pt x="3162747" y="1677577"/>
                </a:lnTo>
                <a:lnTo>
                  <a:pt x="3157166" y="1677577"/>
                </a:lnTo>
                <a:lnTo>
                  <a:pt x="3101312" y="1677577"/>
                </a:lnTo>
                <a:lnTo>
                  <a:pt x="3101299" y="1677577"/>
                </a:lnTo>
                <a:lnTo>
                  <a:pt x="3101284" y="1677577"/>
                </a:lnTo>
                <a:lnTo>
                  <a:pt x="3099046" y="1677577"/>
                </a:lnTo>
                <a:lnTo>
                  <a:pt x="3099032" y="1677577"/>
                </a:lnTo>
                <a:lnTo>
                  <a:pt x="3099018" y="1677577"/>
                </a:lnTo>
                <a:lnTo>
                  <a:pt x="3094545" y="1677577"/>
                </a:lnTo>
                <a:lnTo>
                  <a:pt x="3092279" y="1677577"/>
                </a:lnTo>
                <a:lnTo>
                  <a:pt x="3023261" y="1677577"/>
                </a:lnTo>
                <a:lnTo>
                  <a:pt x="3023248" y="1677577"/>
                </a:lnTo>
                <a:lnTo>
                  <a:pt x="3023233" y="1677577"/>
                </a:lnTo>
                <a:lnTo>
                  <a:pt x="3016493" y="1677577"/>
                </a:lnTo>
                <a:lnTo>
                  <a:pt x="2598538" y="1677577"/>
                </a:lnTo>
                <a:lnTo>
                  <a:pt x="2537102" y="1677577"/>
                </a:lnTo>
                <a:lnTo>
                  <a:pt x="2537089" y="1677577"/>
                </a:lnTo>
                <a:lnTo>
                  <a:pt x="2537075" y="1677577"/>
                </a:lnTo>
                <a:lnTo>
                  <a:pt x="2535916" y="1677577"/>
                </a:lnTo>
                <a:lnTo>
                  <a:pt x="2530336" y="1677577"/>
                </a:lnTo>
                <a:lnTo>
                  <a:pt x="2459051" y="1677577"/>
                </a:lnTo>
                <a:lnTo>
                  <a:pt x="2459038" y="1677577"/>
                </a:lnTo>
                <a:lnTo>
                  <a:pt x="2459024" y="1677577"/>
                </a:lnTo>
                <a:lnTo>
                  <a:pt x="2457865" y="1677577"/>
                </a:lnTo>
                <a:lnTo>
                  <a:pt x="2452285" y="1677577"/>
                </a:lnTo>
                <a:lnTo>
                  <a:pt x="2396430" y="1677577"/>
                </a:lnTo>
                <a:lnTo>
                  <a:pt x="2396416" y="1677577"/>
                </a:lnTo>
                <a:lnTo>
                  <a:pt x="2396402" y="1677577"/>
                </a:lnTo>
                <a:lnTo>
                  <a:pt x="2389663" y="1677577"/>
                </a:lnTo>
                <a:lnTo>
                  <a:pt x="1971707" y="1677577"/>
                </a:lnTo>
                <a:lnTo>
                  <a:pt x="1895922" y="1677577"/>
                </a:lnTo>
                <a:lnTo>
                  <a:pt x="1893656" y="1677577"/>
                </a:lnTo>
                <a:lnTo>
                  <a:pt x="1832220" y="1677577"/>
                </a:lnTo>
                <a:lnTo>
                  <a:pt x="1832207" y="1677577"/>
                </a:lnTo>
                <a:lnTo>
                  <a:pt x="1832193" y="1677577"/>
                </a:lnTo>
                <a:lnTo>
                  <a:pt x="1831034" y="1677577"/>
                </a:lnTo>
                <a:lnTo>
                  <a:pt x="1825454" y="1677577"/>
                </a:lnTo>
                <a:lnTo>
                  <a:pt x="1331713" y="1677577"/>
                </a:lnTo>
                <a:lnTo>
                  <a:pt x="1269091" y="1677577"/>
                </a:lnTo>
                <a:lnTo>
                  <a:pt x="1266825" y="1677577"/>
                </a:lnTo>
                <a:lnTo>
                  <a:pt x="1191040" y="1677577"/>
                </a:lnTo>
                <a:lnTo>
                  <a:pt x="704882" y="1677577"/>
                </a:lnTo>
                <a:lnTo>
                  <a:pt x="626831" y="1677577"/>
                </a:lnTo>
                <a:lnTo>
                  <a:pt x="564209" y="1677577"/>
                </a:lnTo>
                <a:lnTo>
                  <a:pt x="0" y="1677577"/>
                </a:ln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3590B9F0-B157-704B-8E93-165BD79CC235}"/>
              </a:ext>
            </a:extLst>
          </p:cNvPr>
          <p:cNvSpPr txBox="1"/>
          <p:nvPr/>
        </p:nvSpPr>
        <p:spPr>
          <a:xfrm>
            <a:off x="8710920" y="2056360"/>
            <a:ext cx="3091040" cy="87716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Portfolio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Capture, store, and search all information and files related to your portfolio, from private equity investments and real estate assets to trademarks.</a:t>
            </a:r>
          </a:p>
        </p:txBody>
      </p:sp>
      <p:sp>
        <p:nvSpPr>
          <p:cNvPr id="8" name="TextBox 7">
            <a:extLst>
              <a:ext uri="{FF2B5EF4-FFF2-40B4-BE49-F238E27FC236}">
                <a16:creationId xmlns:a16="http://schemas.microsoft.com/office/drawing/2014/main" id="{5894EE62-0DE2-2B4F-9A05-807E163DB484}"/>
              </a:ext>
            </a:extLst>
          </p:cNvPr>
          <p:cNvSpPr txBox="1"/>
          <p:nvPr/>
        </p:nvSpPr>
        <p:spPr>
          <a:xfrm>
            <a:off x="8710920" y="3121692"/>
            <a:ext cx="3161880" cy="1046440"/>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Litigation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Provide anywhere, anytime access to the critical documents and details of a case, including disclosure, evidence, and deposition tracking plus invoice and task management</a:t>
            </a:r>
          </a:p>
        </p:txBody>
      </p:sp>
      <p:sp>
        <p:nvSpPr>
          <p:cNvPr id="9" name="TextBox 8">
            <a:extLst>
              <a:ext uri="{FF2B5EF4-FFF2-40B4-BE49-F238E27FC236}">
                <a16:creationId xmlns:a16="http://schemas.microsoft.com/office/drawing/2014/main" id="{ECEF3F9E-8B62-E240-9379-4165973BE9F5}"/>
              </a:ext>
            </a:extLst>
          </p:cNvPr>
          <p:cNvSpPr txBox="1"/>
          <p:nvPr/>
        </p:nvSpPr>
        <p:spPr>
          <a:xfrm>
            <a:off x="8710919" y="4356256"/>
            <a:ext cx="3238626" cy="87716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Compliance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Easily track regulatory changes, manage compliance processes, and collaborate with outside parties to ensure effective risk management.</a:t>
            </a:r>
          </a:p>
        </p:txBody>
      </p:sp>
      <p:sp>
        <p:nvSpPr>
          <p:cNvPr id="10" name="TextBox 9">
            <a:extLst>
              <a:ext uri="{FF2B5EF4-FFF2-40B4-BE49-F238E27FC236}">
                <a16:creationId xmlns:a16="http://schemas.microsoft.com/office/drawing/2014/main" id="{D0EEED5E-80BB-2740-A5B1-D3EEA5D6708F}"/>
              </a:ext>
            </a:extLst>
          </p:cNvPr>
          <p:cNvSpPr txBox="1"/>
          <p:nvPr/>
        </p:nvSpPr>
        <p:spPr>
          <a:xfrm>
            <a:off x="314050" y="2056360"/>
            <a:ext cx="3163855" cy="907941"/>
          </a:xfrm>
          <a:prstGeom prst="rect">
            <a:avLst/>
          </a:prstGeom>
          <a:noFill/>
        </p:spPr>
        <p:txBody>
          <a:bodyPr wrap="square" lIns="0" tIns="0" rIns="0" bIns="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Client engagement</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GB" sz="13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Dramatically improve the way you collaborate with clients and partners by giving them simple, secure access to content and projects on your network</a:t>
            </a:r>
            <a:endParaRPr kumimoji="0" lang="en-GB" sz="11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1" name="TextBox 10">
            <a:extLst>
              <a:ext uri="{FF2B5EF4-FFF2-40B4-BE49-F238E27FC236}">
                <a16:creationId xmlns:a16="http://schemas.microsoft.com/office/drawing/2014/main" id="{21953165-E78B-FD45-9BB7-F567850EC0B9}"/>
              </a:ext>
            </a:extLst>
          </p:cNvPr>
          <p:cNvSpPr txBox="1"/>
          <p:nvPr/>
        </p:nvSpPr>
        <p:spPr>
          <a:xfrm>
            <a:off x="314050" y="3178103"/>
            <a:ext cx="3163855" cy="907941"/>
          </a:xfrm>
          <a:prstGeom prst="rect">
            <a:avLst/>
          </a:prstGeom>
          <a:noFill/>
        </p:spPr>
        <p:txBody>
          <a:bodyPr wrap="square" lIns="0" tIns="0" rIns="0" bIns="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Document collaboration</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GB" sz="13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Improve your team’s productivity and unlock its potential by introducing a more modern and social way to collaborate and communicate</a:t>
            </a:r>
            <a:endParaRPr kumimoji="0" lang="en-GB" sz="11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2" name="TextBox 11">
            <a:extLst>
              <a:ext uri="{FF2B5EF4-FFF2-40B4-BE49-F238E27FC236}">
                <a16:creationId xmlns:a16="http://schemas.microsoft.com/office/drawing/2014/main" id="{5CB8CB3A-973B-2C4F-88C6-08490414A981}"/>
              </a:ext>
            </a:extLst>
          </p:cNvPr>
          <p:cNvSpPr txBox="1"/>
          <p:nvPr/>
        </p:nvSpPr>
        <p:spPr>
          <a:xfrm>
            <a:off x="314050" y="4299845"/>
            <a:ext cx="3163855" cy="892552"/>
          </a:xfrm>
          <a:prstGeom prst="rect">
            <a:avLst/>
          </a:prstGeom>
          <a:noFill/>
        </p:spPr>
        <p:txBody>
          <a:bodyPr wrap="square" lIns="0" tIns="0" rIns="0" bIns="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3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Legal project management</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Plan, organize, track, and complete work more efficiently and intelligently with our agile project management and productivity tools</a:t>
            </a:r>
            <a:endParaRPr kumimoji="0" lang="en-GB" sz="11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pic>
        <p:nvPicPr>
          <p:cNvPr id="4" name="Picture 3" descr="A screenshot of a cell phone&#10;&#10;Description automatically generated">
            <a:extLst>
              <a:ext uri="{FF2B5EF4-FFF2-40B4-BE49-F238E27FC236}">
                <a16:creationId xmlns:a16="http://schemas.microsoft.com/office/drawing/2014/main" id="{0D2B0475-7B51-44C5-8390-4BE8FA9CEFC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663608" y="2194149"/>
            <a:ext cx="4861609" cy="3804209"/>
          </a:xfrm>
          <a:prstGeom prst="rect">
            <a:avLst/>
          </a:prstGeom>
        </p:spPr>
      </p:pic>
      <p:sp>
        <p:nvSpPr>
          <p:cNvPr id="13" name="TextBox 12">
            <a:extLst>
              <a:ext uri="{FF2B5EF4-FFF2-40B4-BE49-F238E27FC236}">
                <a16:creationId xmlns:a16="http://schemas.microsoft.com/office/drawing/2014/main" id="{57253ED8-471B-4B35-98F5-9E79DF67EE31}"/>
              </a:ext>
            </a:extLst>
          </p:cNvPr>
          <p:cNvSpPr txBox="1"/>
          <p:nvPr/>
        </p:nvSpPr>
        <p:spPr>
          <a:xfrm>
            <a:off x="8708944" y="5421588"/>
            <a:ext cx="3163855" cy="877163"/>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Team collaboration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Offer a complete digital workplace where staff can stay informed, communicate easily, collaborate on documents, and manage tasks.</a:t>
            </a:r>
          </a:p>
        </p:txBody>
      </p:sp>
      <p:sp>
        <p:nvSpPr>
          <p:cNvPr id="14" name="TextBox 13">
            <a:extLst>
              <a:ext uri="{FF2B5EF4-FFF2-40B4-BE49-F238E27FC236}">
                <a16:creationId xmlns:a16="http://schemas.microsoft.com/office/drawing/2014/main" id="{664257F4-37F7-4542-B613-2E3751227DF5}"/>
              </a:ext>
            </a:extLst>
          </p:cNvPr>
          <p:cNvSpPr txBox="1"/>
          <p:nvPr/>
        </p:nvSpPr>
        <p:spPr>
          <a:xfrm>
            <a:off x="312076" y="5421589"/>
            <a:ext cx="3163855" cy="907941"/>
          </a:xfrm>
          <a:prstGeom prst="rect">
            <a:avLst/>
          </a:prstGeom>
          <a:noFill/>
        </p:spPr>
        <p:txBody>
          <a:bodyPr wrap="square" lIns="0" tIns="0" rIns="0" bIns="0"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rPr>
              <a:t>Transaction management</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GB" sz="1300" b="1" u="none" strike="noStrike" kern="1200" cap="none" spc="0" normalizeH="0" baseline="0" noProof="0" dirty="0">
              <a:ln>
                <a:noFill/>
              </a:ln>
              <a:solidFill>
                <a:srgbClr val="4D4D4D"/>
              </a:solidFill>
              <a:effectLst/>
              <a:uLnTx/>
              <a:uFillTx/>
              <a:latin typeface="Arial Black" panose="020B0604020202020204" pitchFamily="34" charset="0"/>
              <a:ea typeface="FSAlbert" charset="0"/>
              <a:cs typeface="Arial Black" panose="020B0604020202020204" pitchFamily="34" charset="0"/>
            </a:endParaRP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D4D4D"/>
                </a:solidFill>
                <a:effectLst/>
                <a:uLnTx/>
                <a:uFillTx/>
                <a:latin typeface="Arial"/>
                <a:ea typeface="FSAlbert" charset="0"/>
                <a:cs typeface="FSAlbert" charset="0"/>
              </a:rPr>
              <a:t>Add efficiency and transparency to M&amp;A, property, and other deals with a centralized, secure place to manage all documents, tasks, and data</a:t>
            </a:r>
            <a:endParaRPr kumimoji="0" lang="en-GB" sz="1100" b="0" i="0" u="none" strike="noStrike" kern="1200" cap="none" spc="0" normalizeH="0" baseline="0" noProof="0" dirty="0">
              <a:ln>
                <a:noFill/>
              </a:ln>
              <a:solidFill>
                <a:srgbClr val="4D4D4D"/>
              </a:solidFill>
              <a:effectLst/>
              <a:uLnTx/>
              <a:uFillTx/>
              <a:latin typeface="Arial"/>
              <a:ea typeface="FSAlbert" charset="0"/>
              <a:cs typeface="FSAlbert" charset="0"/>
            </a:endParaRPr>
          </a:p>
        </p:txBody>
      </p:sp>
      <p:sp>
        <p:nvSpPr>
          <p:cNvPr id="18" name="Rectangle 17">
            <a:extLst>
              <a:ext uri="{FF2B5EF4-FFF2-40B4-BE49-F238E27FC236}">
                <a16:creationId xmlns:a16="http://schemas.microsoft.com/office/drawing/2014/main" id="{C5A8889C-639C-8940-A9D5-09ACFFD112BA}"/>
              </a:ext>
            </a:extLst>
          </p:cNvPr>
          <p:cNvSpPr/>
          <p:nvPr/>
        </p:nvSpPr>
        <p:spPr>
          <a:xfrm>
            <a:off x="774218" y="355161"/>
            <a:ext cx="4582556" cy="430887"/>
          </a:xfrm>
          <a:prstGeom prst="rect">
            <a:avLst/>
          </a:prstGeom>
          <a:noFill/>
        </p:spPr>
        <p:txBody>
          <a:bodyPr wrap="square" lIns="0" tIns="0" rIns="0" bIns="0">
            <a:spAutoFit/>
          </a:bodyPr>
          <a:lstStyle/>
          <a:p>
            <a:pPr>
              <a:spcBef>
                <a:spcPts val="400"/>
              </a:spcBef>
              <a:defRPr/>
            </a:pPr>
            <a:r>
              <a:rPr lang="en-US" sz="2800" spc="100" dirty="0">
                <a:solidFill>
                  <a:schemeClr val="bg1">
                    <a:alpha val="68000"/>
                  </a:schemeClr>
                </a:solidFill>
              </a:rPr>
              <a:t>HighQ for</a:t>
            </a:r>
          </a:p>
        </p:txBody>
      </p:sp>
      <p:cxnSp>
        <p:nvCxnSpPr>
          <p:cNvPr id="26" name="Straight Connector 25">
            <a:extLst>
              <a:ext uri="{FF2B5EF4-FFF2-40B4-BE49-F238E27FC236}">
                <a16:creationId xmlns:a16="http://schemas.microsoft.com/office/drawing/2014/main" id="{336B3F89-75AB-0F4B-931C-FC48656D8D6F}"/>
              </a:ext>
            </a:extLst>
          </p:cNvPr>
          <p:cNvCxnSpPr>
            <a:cxnSpLocks/>
          </p:cNvCxnSpPr>
          <p:nvPr/>
        </p:nvCxnSpPr>
        <p:spPr>
          <a:xfrm>
            <a:off x="2572719" y="3433165"/>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F1D6D03-1C26-F247-88A0-FF883D730B40}"/>
              </a:ext>
            </a:extLst>
          </p:cNvPr>
          <p:cNvCxnSpPr>
            <a:cxnSpLocks/>
          </p:cNvCxnSpPr>
          <p:nvPr/>
        </p:nvCxnSpPr>
        <p:spPr>
          <a:xfrm>
            <a:off x="2572719" y="2325036"/>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8A4A0A5-0CB5-7849-BD8A-A871E1FC1385}"/>
              </a:ext>
            </a:extLst>
          </p:cNvPr>
          <p:cNvCxnSpPr>
            <a:cxnSpLocks/>
          </p:cNvCxnSpPr>
          <p:nvPr/>
        </p:nvCxnSpPr>
        <p:spPr>
          <a:xfrm>
            <a:off x="2572719" y="4587788"/>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9ED106-370E-D846-ACFD-B0B011DDC8A5}"/>
              </a:ext>
            </a:extLst>
          </p:cNvPr>
          <p:cNvCxnSpPr>
            <a:cxnSpLocks/>
          </p:cNvCxnSpPr>
          <p:nvPr/>
        </p:nvCxnSpPr>
        <p:spPr>
          <a:xfrm>
            <a:off x="8710048" y="2325036"/>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38E94B5-B3A7-754B-8C11-5F7E8764D6FE}"/>
              </a:ext>
            </a:extLst>
          </p:cNvPr>
          <p:cNvCxnSpPr>
            <a:cxnSpLocks/>
          </p:cNvCxnSpPr>
          <p:nvPr/>
        </p:nvCxnSpPr>
        <p:spPr>
          <a:xfrm>
            <a:off x="8710048" y="3378920"/>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870E7AF-60D6-D044-97CE-F639020D4300}"/>
              </a:ext>
            </a:extLst>
          </p:cNvPr>
          <p:cNvCxnSpPr>
            <a:cxnSpLocks/>
          </p:cNvCxnSpPr>
          <p:nvPr/>
        </p:nvCxnSpPr>
        <p:spPr>
          <a:xfrm>
            <a:off x="8710048" y="4603286"/>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3B09ADC-2250-8247-8D66-CCB072A33840}"/>
              </a:ext>
            </a:extLst>
          </p:cNvPr>
          <p:cNvCxnSpPr>
            <a:cxnSpLocks/>
          </p:cNvCxnSpPr>
          <p:nvPr/>
        </p:nvCxnSpPr>
        <p:spPr>
          <a:xfrm>
            <a:off x="2572719" y="5688168"/>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5820A26-06E1-D646-9E2B-6FD73ADD7146}"/>
              </a:ext>
            </a:extLst>
          </p:cNvPr>
          <p:cNvCxnSpPr>
            <a:cxnSpLocks/>
          </p:cNvCxnSpPr>
          <p:nvPr/>
        </p:nvCxnSpPr>
        <p:spPr>
          <a:xfrm>
            <a:off x="8710048" y="5664919"/>
            <a:ext cx="903212"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4240FE8-7027-204D-BC6A-7E289FDE12B1}"/>
              </a:ext>
            </a:extLst>
          </p:cNvPr>
          <p:cNvSpPr/>
          <p:nvPr/>
        </p:nvSpPr>
        <p:spPr>
          <a:xfrm>
            <a:off x="726908" y="613370"/>
            <a:ext cx="5381540" cy="1077218"/>
          </a:xfrm>
          <a:prstGeom prst="rect">
            <a:avLst/>
          </a:prstGeom>
        </p:spPr>
        <p:txBody>
          <a:bodyPr wrap="square" lIns="0" tIns="0" rIns="0" bIns="0">
            <a:spAutoFit/>
          </a:bodyPr>
          <a:lstStyle/>
          <a:p>
            <a:pPr defTabSz="914126">
              <a:spcBef>
                <a:spcPts val="400"/>
              </a:spcBef>
              <a:defRPr/>
            </a:pPr>
            <a:r>
              <a:rPr lang="en-US" sz="7000" dirty="0">
                <a:solidFill>
                  <a:schemeClr val="bg1">
                    <a:alpha val="60000"/>
                  </a:schemeClr>
                </a:solidFill>
                <a:latin typeface="+mj-lt"/>
              </a:rPr>
              <a:t>Law Firm</a:t>
            </a:r>
          </a:p>
        </p:txBody>
      </p:sp>
    </p:spTree>
    <p:extLst>
      <p:ext uri="{BB962C8B-B14F-4D97-AF65-F5344CB8AC3E}">
        <p14:creationId xmlns:p14="http://schemas.microsoft.com/office/powerpoint/2010/main" val="230111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22" presetClass="entr" presetSubtype="2" fill="hold"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wipe(right)">
                                      <p:cBhvr>
                                        <p:cTn id="14" dur="500"/>
                                        <p:tgtEl>
                                          <p:spTgt spid="29"/>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childTnLst>
                                </p:cTn>
                              </p:par>
                              <p:par>
                                <p:cTn id="19" presetID="22" presetClass="entr" presetSubtype="2"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right)">
                                      <p:cBhvr>
                                        <p:cTn id="21" dur="500"/>
                                        <p:tgtEl>
                                          <p:spTgt spid="26"/>
                                        </p:tgtEl>
                                      </p:cBhvr>
                                    </p:animEffect>
                                  </p:childTnLst>
                                </p:cTn>
                              </p:par>
                            </p:childTnLst>
                          </p:cTn>
                        </p:par>
                        <p:par>
                          <p:cTn id="22" fill="hold">
                            <p:stCondLst>
                              <p:cond delay="3000"/>
                            </p:stCondLst>
                            <p:childTnLst>
                              <p:par>
                                <p:cTn id="23" presetID="10"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childTnLst>
                                </p:cTn>
                              </p:par>
                              <p:par>
                                <p:cTn id="26" presetID="22" presetClass="entr" presetSubtype="2"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right)">
                                      <p:cBhvr>
                                        <p:cTn id="28" dur="500"/>
                                        <p:tgtEl>
                                          <p:spTgt spid="30"/>
                                        </p:tgtEl>
                                      </p:cBhvr>
                                    </p:animEffect>
                                  </p:childTnLst>
                                </p:cTn>
                              </p:par>
                            </p:childTnLst>
                          </p:cTn>
                        </p:par>
                        <p:par>
                          <p:cTn id="29" fill="hold">
                            <p:stCondLst>
                              <p:cond delay="4000"/>
                            </p:stCondLst>
                            <p:childTnLst>
                              <p:par>
                                <p:cTn id="30" presetID="10" presetClass="entr" presetSubtype="0" fill="hold" grpId="0"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childTnLst>
                                </p:cTn>
                              </p:par>
                              <p:par>
                                <p:cTn id="33" presetID="22" presetClass="entr" presetSubtype="8" fill="hold"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wipe(left)">
                                      <p:cBhvr>
                                        <p:cTn id="35" dur="500"/>
                                        <p:tgtEl>
                                          <p:spTgt spid="32"/>
                                        </p:tgtEl>
                                      </p:cBhvr>
                                    </p:animEffect>
                                  </p:childTnLst>
                                </p:cTn>
                              </p:par>
                            </p:childTnLst>
                          </p:cTn>
                        </p:par>
                        <p:par>
                          <p:cTn id="36" fill="hold">
                            <p:stCondLst>
                              <p:cond delay="5000"/>
                            </p:stCondLst>
                            <p:childTnLst>
                              <p:par>
                                <p:cTn id="37" presetID="10"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childTnLst>
                                </p:cTn>
                              </p:par>
                              <p:par>
                                <p:cTn id="40" presetID="22" presetClass="entr" presetSubtype="8" fill="hold"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left)">
                                      <p:cBhvr>
                                        <p:cTn id="42" dur="500"/>
                                        <p:tgtEl>
                                          <p:spTgt spid="33"/>
                                        </p:tgtEl>
                                      </p:cBhvr>
                                    </p:animEffect>
                                  </p:childTnLst>
                                </p:cTn>
                              </p:par>
                            </p:childTnLst>
                          </p:cTn>
                        </p:par>
                        <p:par>
                          <p:cTn id="43" fill="hold">
                            <p:stCondLst>
                              <p:cond delay="6000"/>
                            </p:stCondLst>
                            <p:childTnLst>
                              <p:par>
                                <p:cTn id="44" presetID="10" presetClass="entr" presetSubtype="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childTnLst>
                                </p:cTn>
                              </p:par>
                              <p:par>
                                <p:cTn id="47" presetID="22" presetClass="entr" presetSubtype="8"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wipe(left)">
                                      <p:cBhvr>
                                        <p:cTn id="49" dur="500"/>
                                        <p:tgtEl>
                                          <p:spTgt spid="34"/>
                                        </p:tgtEl>
                                      </p:cBhvr>
                                    </p:animEffect>
                                  </p:childTnLst>
                                </p:cTn>
                              </p:par>
                            </p:childTnLst>
                          </p:cTn>
                        </p:par>
                        <p:par>
                          <p:cTn id="50" fill="hold">
                            <p:stCondLst>
                              <p:cond delay="7000"/>
                            </p:stCondLst>
                            <p:childTnLst>
                              <p:par>
                                <p:cTn id="51" presetID="10" presetClass="entr" presetSubtype="0" fill="hold" grpId="0" nodeType="after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childTnLst>
                                </p:cTn>
                              </p:par>
                              <p:par>
                                <p:cTn id="54" presetID="22" presetClass="entr" presetSubtype="2" fill="hold"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right)">
                                      <p:cBhvr>
                                        <p:cTn id="56" dur="500"/>
                                        <p:tgtEl>
                                          <p:spTgt spid="38"/>
                                        </p:tgtEl>
                                      </p:cBhvr>
                                    </p:animEffect>
                                  </p:childTnLst>
                                </p:cTn>
                              </p:par>
                            </p:childTnLst>
                          </p:cTn>
                        </p:par>
                        <p:par>
                          <p:cTn id="57" fill="hold">
                            <p:stCondLst>
                              <p:cond delay="8000"/>
                            </p:stCondLst>
                            <p:childTnLst>
                              <p:par>
                                <p:cTn id="58" presetID="10" presetClass="entr" presetSubtype="0"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1000"/>
                                        <p:tgtEl>
                                          <p:spTgt spid="13"/>
                                        </p:tgtEl>
                                      </p:cBhvr>
                                    </p:animEffect>
                                  </p:childTnLst>
                                </p:cTn>
                              </p:par>
                              <p:par>
                                <p:cTn id="61" presetID="22" presetClass="entr" presetSubtype="8" fill="hold"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wipe(left)">
                                      <p:cBhvr>
                                        <p:cTn id="6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AA45C1FA-19B5-254F-B966-19DB98A61A2D}"/>
              </a:ext>
            </a:extLst>
          </p:cNvPr>
          <p:cNvSpPr/>
          <p:nvPr/>
        </p:nvSpPr>
        <p:spPr>
          <a:xfrm flipV="1">
            <a:off x="-1" y="-1"/>
            <a:ext cx="12188825" cy="6266961"/>
          </a:xfrm>
          <a:prstGeom prst="rect">
            <a:avLst/>
          </a:prstGeom>
          <a:solidFill>
            <a:schemeClr val="bg1">
              <a:lumMod val="95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999" dirty="0">
              <a:solidFill>
                <a:srgbClr val="FFFFFF"/>
              </a:solidFill>
              <a:latin typeface="Arial" panose="020B0604020202020204"/>
            </a:endParaRPr>
          </a:p>
        </p:txBody>
      </p:sp>
      <p:sp>
        <p:nvSpPr>
          <p:cNvPr id="59" name="TextBox 58">
            <a:extLst>
              <a:ext uri="{FF2B5EF4-FFF2-40B4-BE49-F238E27FC236}">
                <a16:creationId xmlns:a16="http://schemas.microsoft.com/office/drawing/2014/main" id="{B9DBCAFD-2FE8-3948-AB89-F448BF9C9F55}"/>
              </a:ext>
            </a:extLst>
          </p:cNvPr>
          <p:cNvSpPr txBox="1"/>
          <p:nvPr/>
        </p:nvSpPr>
        <p:spPr>
          <a:xfrm>
            <a:off x="6061588" y="901700"/>
            <a:ext cx="6125894" cy="5373749"/>
          </a:xfrm>
          <a:prstGeom prst="rect">
            <a:avLst/>
          </a:prstGeom>
          <a:solidFill>
            <a:schemeClr val="accent6">
              <a:lumMod val="20000"/>
              <a:lumOff val="80000"/>
              <a:alpha val="54000"/>
            </a:schemeClr>
          </a:solidFill>
        </p:spPr>
        <p:txBody>
          <a:bodyPr wrap="square" lIns="0" tIns="0" rIns="0" bIns="0" rtlCol="0" anchor="t">
            <a:noAutofit/>
          </a:bodyPr>
          <a:lstStyle/>
          <a:p>
            <a:endParaRPr lang="en-US" sz="1400" dirty="0" err="1"/>
          </a:p>
        </p:txBody>
      </p:sp>
      <p:pic>
        <p:nvPicPr>
          <p:cNvPr id="91" name="Picture 90">
            <a:extLst>
              <a:ext uri="{FF2B5EF4-FFF2-40B4-BE49-F238E27FC236}">
                <a16:creationId xmlns:a16="http://schemas.microsoft.com/office/drawing/2014/main" id="{00B1B625-ABA7-9F4C-9785-0BE50E9049E5}"/>
              </a:ext>
            </a:extLst>
          </p:cNvPr>
          <p:cNvPicPr>
            <a:picLocks noChangeAspect="1"/>
          </p:cNvPicPr>
          <p:nvPr/>
        </p:nvPicPr>
        <p:blipFill rotWithShape="1">
          <a:blip r:embed="rId3"/>
          <a:srcRect t="929" b="10717"/>
          <a:stretch/>
        </p:blipFill>
        <p:spPr>
          <a:xfrm>
            <a:off x="-10354" y="-16120"/>
            <a:ext cx="12191999" cy="2782815"/>
          </a:xfrm>
          <a:prstGeom prst="rect">
            <a:avLst/>
          </a:prstGeom>
        </p:spPr>
      </p:pic>
      <p:sp>
        <p:nvSpPr>
          <p:cNvPr id="2" name="Slide Number Placeholder 1">
            <a:extLst>
              <a:ext uri="{FF2B5EF4-FFF2-40B4-BE49-F238E27FC236}">
                <a16:creationId xmlns:a16="http://schemas.microsoft.com/office/drawing/2014/main" id="{A79E231C-3546-974C-88FF-452000F1B3E5}"/>
              </a:ext>
            </a:extLst>
          </p:cNvPr>
          <p:cNvSpPr>
            <a:spLocks noGrp="1"/>
          </p:cNvSpPr>
          <p:nvPr>
            <p:ph type="sldNum"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655226-6E4F-8847-85CD-AF95F3D3F39A}" type="slidenum">
              <a:rPr kumimoji="0" lang="en-US" sz="1000" b="0" i="0" u="none" strike="noStrike" kern="1200" cap="none" spc="0" normalizeH="0" baseline="0" noProof="0" smtClean="0">
                <a:ln>
                  <a:noFill/>
                </a:ln>
                <a:solidFill>
                  <a:srgbClr val="666666"/>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27</a:t>
            </a:fld>
            <a:endParaRPr kumimoji="0" lang="en-US" sz="1000" b="0" i="0" u="none" strike="noStrike" kern="1200" cap="none" spc="0" normalizeH="0" baseline="0" noProof="0">
              <a:ln>
                <a:noFill/>
              </a:ln>
              <a:solidFill>
                <a:srgbClr val="666666"/>
              </a:solidFill>
              <a:effectLst/>
              <a:uLnTx/>
              <a:uFillTx/>
              <a:latin typeface="Arial"/>
              <a:ea typeface="+mn-ea"/>
              <a:cs typeface="+mn-cs"/>
            </a:endParaRPr>
          </a:p>
        </p:txBody>
      </p:sp>
      <p:sp>
        <p:nvSpPr>
          <p:cNvPr id="6" name="TextBox 5">
            <a:extLst>
              <a:ext uri="{FF2B5EF4-FFF2-40B4-BE49-F238E27FC236}">
                <a16:creationId xmlns:a16="http://schemas.microsoft.com/office/drawing/2014/main" id="{878CBC6B-E340-AA43-88A2-79EABDB3957A}"/>
              </a:ext>
            </a:extLst>
          </p:cNvPr>
          <p:cNvSpPr txBox="1"/>
          <p:nvPr/>
        </p:nvSpPr>
        <p:spPr>
          <a:xfrm>
            <a:off x="11406293" y="643467"/>
            <a:ext cx="0" cy="0"/>
          </a:xfrm>
          <a:prstGeom prst="rect">
            <a:avLst/>
          </a:prstGeom>
          <a:noFill/>
        </p:spPr>
        <p:txBody>
          <a:bodyPr wrap="non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4D4D4D"/>
              </a:solidFill>
              <a:effectLst/>
              <a:uLnTx/>
              <a:uFillTx/>
              <a:latin typeface="Arial"/>
              <a:ea typeface="+mn-ea"/>
              <a:cs typeface="+mn-cs"/>
            </a:endParaRPr>
          </a:p>
        </p:txBody>
      </p:sp>
      <p:grpSp>
        <p:nvGrpSpPr>
          <p:cNvPr id="28" name="Group 27" hidden="1">
            <a:extLst>
              <a:ext uri="{FF2B5EF4-FFF2-40B4-BE49-F238E27FC236}">
                <a16:creationId xmlns:a16="http://schemas.microsoft.com/office/drawing/2014/main" id="{4CCE6B30-95C0-6042-A11E-D524611B54B8}"/>
              </a:ext>
            </a:extLst>
          </p:cNvPr>
          <p:cNvGrpSpPr/>
          <p:nvPr/>
        </p:nvGrpSpPr>
        <p:grpSpPr>
          <a:xfrm>
            <a:off x="917285" y="3185362"/>
            <a:ext cx="6639598" cy="4797876"/>
            <a:chOff x="14632662" y="1755325"/>
            <a:chExt cx="6639598" cy="4797876"/>
          </a:xfrm>
        </p:grpSpPr>
        <p:pic>
          <p:nvPicPr>
            <p:cNvPr id="7" name="Picture 6">
              <a:extLst>
                <a:ext uri="{FF2B5EF4-FFF2-40B4-BE49-F238E27FC236}">
                  <a16:creationId xmlns:a16="http://schemas.microsoft.com/office/drawing/2014/main" id="{87C6CA9E-0CB9-B546-8686-F5AF0DF497CB}"/>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4632662" y="5695887"/>
              <a:ext cx="743046" cy="743046"/>
            </a:xfrm>
            <a:prstGeom prst="rect">
              <a:avLst/>
            </a:prstGeom>
          </p:spPr>
        </p:pic>
        <p:sp>
          <p:nvSpPr>
            <p:cNvPr id="8" name="Text Placeholder 6">
              <a:extLst>
                <a:ext uri="{FF2B5EF4-FFF2-40B4-BE49-F238E27FC236}">
                  <a16:creationId xmlns:a16="http://schemas.microsoft.com/office/drawing/2014/main" id="{955C4706-EB03-A44D-A289-F8680CED3F97}"/>
                </a:ext>
              </a:extLst>
            </p:cNvPr>
            <p:cNvSpPr txBox="1">
              <a:spLocks/>
            </p:cNvSpPr>
            <p:nvPr/>
          </p:nvSpPr>
          <p:spPr>
            <a:xfrm>
              <a:off x="15558631" y="1843837"/>
              <a:ext cx="1840990" cy="332925"/>
            </a:xfrm>
            <a:prstGeom prst="rect">
              <a:avLst/>
            </a:prstGeom>
          </p:spPr>
          <p:txBody>
            <a:bodyPr lIns="0"/>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600"/>
                </a:spcBef>
                <a:spcAft>
                  <a:spcPts val="1000"/>
                </a:spcAft>
                <a:buClrTx/>
                <a:buSzTx/>
                <a:buFontTx/>
                <a:buNone/>
                <a:tabLst/>
                <a:defRPr/>
              </a:pPr>
              <a:r>
                <a:rPr kumimoji="0" lang="en-US" sz="1100" b="1" i="0" u="none" strike="noStrike" kern="1200" cap="none" spc="0" normalizeH="0" baseline="0" noProof="0">
                  <a:ln>
                    <a:noFill/>
                  </a:ln>
                  <a:solidFill>
                    <a:srgbClr val="4D4D4D"/>
                  </a:solidFill>
                  <a:effectLst/>
                  <a:uLnTx/>
                  <a:uFillTx/>
                  <a:latin typeface="Arial"/>
                  <a:ea typeface="+mn-ea"/>
                  <a:cs typeface="+mn-cs"/>
                </a:rPr>
                <a:t>Client Engagement</a:t>
              </a:r>
              <a:br>
                <a:rPr kumimoji="0" lang="en-US" sz="1100" b="1" i="0" u="none" strike="noStrike" kern="1200" cap="none" spc="0" normalizeH="0" baseline="0" noProof="0">
                  <a:ln>
                    <a:noFill/>
                  </a:ln>
                  <a:solidFill>
                    <a:srgbClr val="4D4D4D"/>
                  </a:solidFill>
                  <a:effectLst/>
                  <a:uLnTx/>
                  <a:uFillTx/>
                  <a:latin typeface="Arial"/>
                  <a:ea typeface="+mn-ea"/>
                  <a:cs typeface="+mn-cs"/>
                </a:rPr>
              </a:br>
              <a:endParaRPr kumimoji="0" lang="en-US" sz="1100" b="1" i="0" u="none" strike="noStrike" kern="1200" cap="none" spc="0" normalizeH="0" baseline="0" noProof="0">
                <a:ln>
                  <a:noFill/>
                </a:ln>
                <a:solidFill>
                  <a:srgbClr val="4D4D4D"/>
                </a:solidFill>
                <a:effectLst/>
                <a:uLnTx/>
                <a:uFillTx/>
                <a:latin typeface="Arial"/>
                <a:ea typeface="+mn-ea"/>
                <a:cs typeface="+mn-cs"/>
              </a:endParaRPr>
            </a:p>
          </p:txBody>
        </p:sp>
        <p:sp>
          <p:nvSpPr>
            <p:cNvPr id="10" name="Text Placeholder 13">
              <a:extLst>
                <a:ext uri="{FF2B5EF4-FFF2-40B4-BE49-F238E27FC236}">
                  <a16:creationId xmlns:a16="http://schemas.microsoft.com/office/drawing/2014/main" id="{754A4FA3-8BAB-1542-9377-317A3851D4E3}"/>
                </a:ext>
              </a:extLst>
            </p:cNvPr>
            <p:cNvSpPr txBox="1">
              <a:spLocks/>
            </p:cNvSpPr>
            <p:nvPr/>
          </p:nvSpPr>
          <p:spPr>
            <a:xfrm>
              <a:off x="15597403" y="2283689"/>
              <a:ext cx="5355265" cy="47365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4D4D4D"/>
                </a:solidFill>
                <a:effectLst/>
                <a:uLnTx/>
                <a:uFillTx/>
                <a:latin typeface="FSAlbert" charset="0"/>
                <a:ea typeface="FSAlbert" charset="0"/>
                <a:cs typeface="FSAlbert" charset="0"/>
              </a:endParaRPr>
            </a:p>
          </p:txBody>
        </p:sp>
        <p:sp>
          <p:nvSpPr>
            <p:cNvPr id="11" name="Text Placeholder 15">
              <a:extLst>
                <a:ext uri="{FF2B5EF4-FFF2-40B4-BE49-F238E27FC236}">
                  <a16:creationId xmlns:a16="http://schemas.microsoft.com/office/drawing/2014/main" id="{F003F378-C4C9-5B4A-B088-9CCD0B6B8B9F}"/>
                </a:ext>
              </a:extLst>
            </p:cNvPr>
            <p:cNvSpPr txBox="1">
              <a:spLocks/>
            </p:cNvSpPr>
            <p:nvPr/>
          </p:nvSpPr>
          <p:spPr>
            <a:xfrm>
              <a:off x="15597404" y="3155272"/>
              <a:ext cx="5379272" cy="176578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srgbClr val="4D4D4D"/>
                </a:solidFill>
                <a:effectLst/>
                <a:uLnTx/>
                <a:uFillTx/>
                <a:latin typeface="FSAlbert" charset="0"/>
                <a:ea typeface="FSAlbert" charset="0"/>
                <a:cs typeface="FSAlbert" charset="0"/>
              </a:endParaRPr>
            </a:p>
          </p:txBody>
        </p:sp>
        <p:sp>
          <p:nvSpPr>
            <p:cNvPr id="12" name="Text Placeholder 17">
              <a:extLst>
                <a:ext uri="{FF2B5EF4-FFF2-40B4-BE49-F238E27FC236}">
                  <a16:creationId xmlns:a16="http://schemas.microsoft.com/office/drawing/2014/main" id="{E12C122A-EABB-6D4D-B97F-3255F936271D}"/>
                </a:ext>
              </a:extLst>
            </p:cNvPr>
            <p:cNvSpPr txBox="1">
              <a:spLocks/>
            </p:cNvSpPr>
            <p:nvPr/>
          </p:nvSpPr>
          <p:spPr>
            <a:xfrm>
              <a:off x="15597404" y="4049904"/>
              <a:ext cx="5587316" cy="1184923"/>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200" b="1" i="0" u="none" strike="noStrike" kern="1200" cap="none" spc="0" normalizeH="0" baseline="0" noProof="0">
                <a:ln>
                  <a:noFill/>
                </a:ln>
                <a:solidFill>
                  <a:srgbClr val="FFA100"/>
                </a:solidFill>
                <a:effectLst/>
                <a:uLnTx/>
                <a:uFillTx/>
                <a:latin typeface="FSAlbert" charset="0"/>
                <a:ea typeface="FSAlbert" charset="0"/>
                <a:cs typeface="FSAlbert" charset="0"/>
              </a:endParaRPr>
            </a:p>
          </p:txBody>
        </p:sp>
        <p:sp>
          <p:nvSpPr>
            <p:cNvPr id="13" name="Text Placeholder 15">
              <a:extLst>
                <a:ext uri="{FF2B5EF4-FFF2-40B4-BE49-F238E27FC236}">
                  <a16:creationId xmlns:a16="http://schemas.microsoft.com/office/drawing/2014/main" id="{65539999-975C-7243-8832-1EA317CC986A}"/>
                </a:ext>
              </a:extLst>
            </p:cNvPr>
            <p:cNvSpPr txBox="1">
              <a:spLocks/>
            </p:cNvSpPr>
            <p:nvPr/>
          </p:nvSpPr>
          <p:spPr>
            <a:xfrm>
              <a:off x="15597404" y="4967633"/>
              <a:ext cx="5587317" cy="10881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Tx/>
                <a:buNone/>
                <a:defRPr sz="2400" b="0" i="0" kern="1200">
                  <a:solidFill>
                    <a:schemeClr val="tx1"/>
                  </a:solidFill>
                  <a:latin typeface="FSAlbert" panose="02000603040000020004" pitchFamily="2" charset="0"/>
                  <a:ea typeface="+mn-ea"/>
                  <a:cs typeface="+mn-cs"/>
                </a:defRPr>
              </a:lvl1pPr>
              <a:lvl2pPr marL="457200" indent="0" algn="l" defTabSz="914400" rtl="0" eaLnBrk="1" latinLnBrk="0" hangingPunct="1">
                <a:lnSpc>
                  <a:spcPct val="100000"/>
                </a:lnSpc>
                <a:spcBef>
                  <a:spcPts val="500"/>
                </a:spcBef>
                <a:buFontTx/>
                <a:buNone/>
                <a:defRPr sz="14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Tx/>
                <a:buNone/>
                <a:defRPr sz="1200"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Tx/>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Tx/>
                <a:buNone/>
                <a:tabLst/>
                <a:defRPr/>
              </a:pPr>
              <a:endParaRPr kumimoji="0" lang="en-GB" sz="1200" b="0" i="0" u="none" strike="noStrike" kern="1200" cap="none" spc="0" normalizeH="0" baseline="0" noProof="0">
                <a:ln>
                  <a:noFill/>
                </a:ln>
                <a:solidFill>
                  <a:srgbClr val="4D4D4D"/>
                </a:solidFill>
                <a:effectLst/>
                <a:uLnTx/>
                <a:uFillTx/>
                <a:latin typeface="FSAlbert" charset="0"/>
                <a:ea typeface="FSAlbert" charset="0"/>
                <a:cs typeface="FSAlbert" charset="0"/>
              </a:endParaRPr>
            </a:p>
          </p:txBody>
        </p:sp>
        <p:pic>
          <p:nvPicPr>
            <p:cNvPr id="14" name="Picture 13">
              <a:extLst>
                <a:ext uri="{FF2B5EF4-FFF2-40B4-BE49-F238E27FC236}">
                  <a16:creationId xmlns:a16="http://schemas.microsoft.com/office/drawing/2014/main" id="{51F0853C-9BFB-424B-8E4A-8C61A7CCEB1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4703929" y="1818152"/>
              <a:ext cx="780288" cy="780288"/>
            </a:xfrm>
            <a:prstGeom prst="rect">
              <a:avLst/>
            </a:prstGeom>
          </p:spPr>
        </p:pic>
        <p:pic>
          <p:nvPicPr>
            <p:cNvPr id="15" name="Picture 14">
              <a:extLst>
                <a:ext uri="{FF2B5EF4-FFF2-40B4-BE49-F238E27FC236}">
                  <a16:creationId xmlns:a16="http://schemas.microsoft.com/office/drawing/2014/main" id="{BC80F85D-C3D2-8545-99F1-A98BC9745770}"/>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14752697" y="2986240"/>
              <a:ext cx="682752" cy="682752"/>
            </a:xfrm>
            <a:prstGeom prst="rect">
              <a:avLst/>
            </a:prstGeom>
          </p:spPr>
        </p:pic>
        <p:pic>
          <p:nvPicPr>
            <p:cNvPr id="16" name="Picture 15">
              <a:extLst>
                <a:ext uri="{FF2B5EF4-FFF2-40B4-BE49-F238E27FC236}">
                  <a16:creationId xmlns:a16="http://schemas.microsoft.com/office/drawing/2014/main" id="{5FDD0882-84B8-6743-A111-6D6C55E8DE99}"/>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14752697" y="4087658"/>
              <a:ext cx="682752" cy="682752"/>
            </a:xfrm>
            <a:prstGeom prst="rect">
              <a:avLst/>
            </a:prstGeom>
          </p:spPr>
        </p:pic>
        <p:pic>
          <p:nvPicPr>
            <p:cNvPr id="17" name="Picture 16">
              <a:extLst>
                <a:ext uri="{FF2B5EF4-FFF2-40B4-BE49-F238E27FC236}">
                  <a16:creationId xmlns:a16="http://schemas.microsoft.com/office/drawing/2014/main" id="{FC5B8C5E-4660-F846-9128-D7C4BD5DFB7A}"/>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20423819" y="5739315"/>
              <a:ext cx="780288" cy="780288"/>
            </a:xfrm>
            <a:prstGeom prst="rect">
              <a:avLst/>
            </a:prstGeom>
          </p:spPr>
        </p:pic>
        <p:pic>
          <p:nvPicPr>
            <p:cNvPr id="18" name="Picture 17">
              <a:extLst>
                <a:ext uri="{FF2B5EF4-FFF2-40B4-BE49-F238E27FC236}">
                  <a16:creationId xmlns:a16="http://schemas.microsoft.com/office/drawing/2014/main" id="{B6085090-F577-DF4A-B84B-4CD5DEF7E249}"/>
                </a:ext>
              </a:extLst>
            </p:cNvPr>
            <p:cNvPicPr>
              <a:picLocks noChangeAspect="1"/>
            </p:cNvPicPr>
            <p:nvPr/>
          </p:nvPicPr>
          <p:blipFill>
            <a:blip r:embed="rId9" cstate="hqprint">
              <a:extLst>
                <a:ext uri="{28A0092B-C50C-407E-A947-70E740481C1C}">
                  <a14:useLocalDpi xmlns:a14="http://schemas.microsoft.com/office/drawing/2010/main"/>
                </a:ext>
              </a:extLst>
            </a:blip>
            <a:stretch>
              <a:fillRect/>
            </a:stretch>
          </p:blipFill>
          <p:spPr>
            <a:xfrm>
              <a:off x="20540740" y="4392921"/>
              <a:ext cx="682752" cy="682752"/>
            </a:xfrm>
            <a:prstGeom prst="rect">
              <a:avLst/>
            </a:prstGeom>
          </p:spPr>
        </p:pic>
        <p:pic>
          <p:nvPicPr>
            <p:cNvPr id="19" name="Picture 18">
              <a:extLst>
                <a:ext uri="{FF2B5EF4-FFF2-40B4-BE49-F238E27FC236}">
                  <a16:creationId xmlns:a16="http://schemas.microsoft.com/office/drawing/2014/main" id="{8809521E-D8BB-934F-8C56-953C33A87980}"/>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20491972" y="1755325"/>
              <a:ext cx="780288" cy="780288"/>
            </a:xfrm>
            <a:prstGeom prst="rect">
              <a:avLst/>
            </a:prstGeom>
          </p:spPr>
        </p:pic>
        <p:pic>
          <p:nvPicPr>
            <p:cNvPr id="20" name="Picture 19">
              <a:extLst>
                <a:ext uri="{FF2B5EF4-FFF2-40B4-BE49-F238E27FC236}">
                  <a16:creationId xmlns:a16="http://schemas.microsoft.com/office/drawing/2014/main" id="{59926525-AF8F-484E-A9C7-71F1B1382910}"/>
                </a:ext>
              </a:extLst>
            </p:cNvPr>
            <p:cNvPicPr>
              <a:picLocks noChangeAspect="1"/>
            </p:cNvPicPr>
            <p:nvPr/>
          </p:nvPicPr>
          <p:blipFill>
            <a:blip r:embed="rId11" cstate="hqprint">
              <a:extLst>
                <a:ext uri="{28A0092B-C50C-407E-A947-70E740481C1C}">
                  <a14:useLocalDpi xmlns:a14="http://schemas.microsoft.com/office/drawing/2010/main"/>
                </a:ext>
              </a:extLst>
            </a:blip>
            <a:stretch>
              <a:fillRect/>
            </a:stretch>
          </p:blipFill>
          <p:spPr>
            <a:xfrm>
              <a:off x="20540740" y="3000657"/>
              <a:ext cx="682752" cy="682752"/>
            </a:xfrm>
            <a:prstGeom prst="rect">
              <a:avLst/>
            </a:prstGeom>
          </p:spPr>
        </p:pic>
        <p:sp>
          <p:nvSpPr>
            <p:cNvPr id="21" name="Rectangle 20">
              <a:extLst>
                <a:ext uri="{FF2B5EF4-FFF2-40B4-BE49-F238E27FC236}">
                  <a16:creationId xmlns:a16="http://schemas.microsoft.com/office/drawing/2014/main" id="{80C1C0CD-711B-CA4E-8165-D84B8855CF7B}"/>
                </a:ext>
              </a:extLst>
            </p:cNvPr>
            <p:cNvSpPr/>
            <p:nvPr/>
          </p:nvSpPr>
          <p:spPr>
            <a:xfrm>
              <a:off x="15484218" y="5953037"/>
              <a:ext cx="1420410" cy="600164"/>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100" b="1" i="0" u="none" strike="noStrike" kern="1200" cap="none" spc="0" normalizeH="0" baseline="0" noProof="0">
                  <a:ln>
                    <a:noFill/>
                  </a:ln>
                  <a:solidFill>
                    <a:srgbClr val="4D4D4D"/>
                  </a:solidFill>
                  <a:effectLst/>
                  <a:uLnTx/>
                  <a:uFillTx/>
                  <a:latin typeface="Arial"/>
                  <a:ea typeface="+mn-ea"/>
                  <a:cs typeface="+mn-cs"/>
                </a:rPr>
                <a:t>Team Collaboration</a:t>
              </a:r>
              <a:br>
                <a:rPr kumimoji="0" lang="en-US" sz="1100" b="1" i="0" u="none" strike="noStrike" kern="1200" cap="none" spc="0" normalizeH="0" baseline="0" noProof="0">
                  <a:ln>
                    <a:noFill/>
                  </a:ln>
                  <a:solidFill>
                    <a:srgbClr val="4D4D4D"/>
                  </a:solidFill>
                  <a:effectLst/>
                  <a:uLnTx/>
                  <a:uFillTx/>
                  <a:latin typeface="Arial"/>
                  <a:ea typeface="+mn-ea"/>
                  <a:cs typeface="+mn-cs"/>
                </a:rPr>
              </a:br>
              <a:endParaRPr kumimoji="0" lang="en-US" sz="1100" b="1" i="0" u="none" strike="noStrike" kern="1200" cap="none" spc="0" normalizeH="0" baseline="0" noProof="0">
                <a:ln>
                  <a:noFill/>
                </a:ln>
                <a:solidFill>
                  <a:srgbClr val="4D4D4D"/>
                </a:solidFill>
                <a:effectLst/>
                <a:uLnTx/>
                <a:uFillTx/>
                <a:latin typeface="Arial"/>
                <a:ea typeface="+mn-ea"/>
                <a:cs typeface="+mn-cs"/>
              </a:endParaRPr>
            </a:p>
          </p:txBody>
        </p:sp>
        <p:sp>
          <p:nvSpPr>
            <p:cNvPr id="26" name="Text Placeholder 6">
              <a:extLst>
                <a:ext uri="{FF2B5EF4-FFF2-40B4-BE49-F238E27FC236}">
                  <a16:creationId xmlns:a16="http://schemas.microsoft.com/office/drawing/2014/main" id="{C50ED726-29BE-7042-885C-1EB758427119}"/>
                </a:ext>
              </a:extLst>
            </p:cNvPr>
            <p:cNvSpPr txBox="1">
              <a:spLocks/>
            </p:cNvSpPr>
            <p:nvPr/>
          </p:nvSpPr>
          <p:spPr>
            <a:xfrm>
              <a:off x="15597403" y="2919603"/>
              <a:ext cx="1725166" cy="387460"/>
            </a:xfrm>
            <a:prstGeom prst="rect">
              <a:avLst/>
            </a:prstGeom>
          </p:spPr>
          <p:txBody>
            <a:bodyPr lIns="0"/>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600"/>
                </a:spcBef>
                <a:spcAft>
                  <a:spcPts val="1000"/>
                </a:spcAft>
                <a:buClrTx/>
                <a:buSzTx/>
                <a:buFontTx/>
                <a:buNone/>
                <a:tabLst/>
                <a:defRPr/>
              </a:pPr>
              <a:r>
                <a:rPr kumimoji="0" lang="en-US" sz="1100" b="1" i="0" u="none" strike="noStrike" kern="1200" cap="none" spc="0" normalizeH="0" baseline="0" noProof="0">
                  <a:ln>
                    <a:noFill/>
                  </a:ln>
                  <a:solidFill>
                    <a:srgbClr val="4D4D4D"/>
                  </a:solidFill>
                  <a:effectLst/>
                  <a:uLnTx/>
                  <a:uFillTx/>
                  <a:latin typeface="Arial"/>
                  <a:ea typeface="+mn-ea"/>
                  <a:cs typeface="+mn-cs"/>
                </a:rPr>
                <a:t>Document Collaboration</a:t>
              </a:r>
              <a:br>
                <a:rPr kumimoji="0" lang="en-US" sz="1100" b="1" i="0" u="none" strike="noStrike" kern="1200" cap="none" spc="0" normalizeH="0" baseline="0" noProof="0">
                  <a:ln>
                    <a:noFill/>
                  </a:ln>
                  <a:solidFill>
                    <a:srgbClr val="4D4D4D"/>
                  </a:solidFill>
                  <a:effectLst/>
                  <a:uLnTx/>
                  <a:uFillTx/>
                  <a:latin typeface="Arial"/>
                  <a:ea typeface="+mn-ea"/>
                  <a:cs typeface="+mn-cs"/>
                </a:rPr>
              </a:br>
              <a:endParaRPr kumimoji="0" lang="en-US" sz="1100" b="1" i="0" u="none" strike="noStrike" kern="1200" cap="none" spc="0" normalizeH="0" baseline="0" noProof="0">
                <a:ln>
                  <a:noFill/>
                </a:ln>
                <a:solidFill>
                  <a:srgbClr val="4D4D4D"/>
                </a:solidFill>
                <a:effectLst/>
                <a:uLnTx/>
                <a:uFillTx/>
                <a:latin typeface="Arial"/>
                <a:ea typeface="+mn-ea"/>
                <a:cs typeface="+mn-cs"/>
              </a:endParaRPr>
            </a:p>
          </p:txBody>
        </p:sp>
        <p:sp>
          <p:nvSpPr>
            <p:cNvPr id="27" name="Text Placeholder 6">
              <a:extLst>
                <a:ext uri="{FF2B5EF4-FFF2-40B4-BE49-F238E27FC236}">
                  <a16:creationId xmlns:a16="http://schemas.microsoft.com/office/drawing/2014/main" id="{EC522D46-9A36-3540-B00B-C3A0EA04D455}"/>
                </a:ext>
              </a:extLst>
            </p:cNvPr>
            <p:cNvSpPr txBox="1">
              <a:spLocks/>
            </p:cNvSpPr>
            <p:nvPr/>
          </p:nvSpPr>
          <p:spPr>
            <a:xfrm>
              <a:off x="15558632" y="4203797"/>
              <a:ext cx="1932084" cy="416326"/>
            </a:xfrm>
            <a:prstGeom prst="rect">
              <a:avLst/>
            </a:prstGeom>
          </p:spPr>
          <p:txBody>
            <a:bodyPr lIns="0"/>
            <a:lstStyle>
              <a:lvl1pPr marL="0" indent="0" algn="l" defTabSz="457200" rtl="0" eaLnBrk="1" latinLnBrk="0" hangingPunct="1">
                <a:lnSpc>
                  <a:spcPct val="100000"/>
                </a:lnSpc>
                <a:spcBef>
                  <a:spcPts val="0"/>
                </a:spcBef>
                <a:spcAft>
                  <a:spcPts val="1000"/>
                </a:spcAft>
                <a:buFontTx/>
                <a:buNone/>
                <a:defRPr sz="2200" kern="1200" baseline="0">
                  <a:solidFill>
                    <a:schemeClr val="tx1"/>
                  </a:solidFill>
                  <a:latin typeface="+mn-lt"/>
                  <a:ea typeface="+mn-ea"/>
                  <a:cs typeface="+mn-cs"/>
                </a:defRPr>
              </a:lvl1pPr>
              <a:lvl2pPr marL="227013" indent="-227013" algn="l" defTabSz="457200" rtl="0" eaLnBrk="1" latinLnBrk="0" hangingPunct="1">
                <a:lnSpc>
                  <a:spcPct val="100000"/>
                </a:lnSpc>
                <a:spcBef>
                  <a:spcPts val="0"/>
                </a:spcBef>
                <a:spcAft>
                  <a:spcPts val="800"/>
                </a:spcAft>
                <a:buClr>
                  <a:schemeClr val="tx2"/>
                </a:buClr>
                <a:buFont typeface="Arial"/>
                <a:buChar char="•"/>
                <a:defRPr sz="2000" kern="1200">
                  <a:solidFill>
                    <a:schemeClr val="tx1"/>
                  </a:solidFill>
                  <a:latin typeface="+mn-lt"/>
                  <a:ea typeface="+mn-ea"/>
                  <a:cs typeface="+mn-cs"/>
                </a:defRPr>
              </a:lvl2pPr>
              <a:lvl3pPr marL="457200" indent="-225425" algn="l" defTabSz="457200" rtl="0" eaLnBrk="1" latinLnBrk="0" hangingPunct="1">
                <a:lnSpc>
                  <a:spcPct val="100000"/>
                </a:lnSpc>
                <a:spcBef>
                  <a:spcPts val="0"/>
                </a:spcBef>
                <a:spcAft>
                  <a:spcPts val="600"/>
                </a:spcAft>
                <a:buClr>
                  <a:schemeClr val="tx2"/>
                </a:buClr>
                <a:buFont typeface="Lucida Grande"/>
                <a:buChar char="–"/>
                <a:defRPr sz="1800" kern="1200">
                  <a:solidFill>
                    <a:schemeClr val="tx1"/>
                  </a:solidFill>
                  <a:latin typeface="+mn-lt"/>
                  <a:ea typeface="+mn-ea"/>
                  <a:cs typeface="+mn-cs"/>
                </a:defRPr>
              </a:lvl3pPr>
              <a:lvl4pPr marL="685800" indent="-228600" algn="l" defTabSz="457200" rtl="0" eaLnBrk="1" latinLnBrk="0" hangingPunct="1">
                <a:lnSpc>
                  <a:spcPct val="100000"/>
                </a:lnSpc>
                <a:spcBef>
                  <a:spcPts val="0"/>
                </a:spcBef>
                <a:spcAft>
                  <a:spcPts val="600"/>
                </a:spcAft>
                <a:buClr>
                  <a:schemeClr val="tx2"/>
                </a:buClr>
                <a:buFont typeface="Arial"/>
                <a:buChar char="•"/>
                <a:defRPr sz="1600" kern="1200">
                  <a:solidFill>
                    <a:schemeClr val="tx1"/>
                  </a:solidFill>
                  <a:latin typeface="+mn-lt"/>
                  <a:ea typeface="+mn-ea"/>
                  <a:cs typeface="+mn-cs"/>
                </a:defRPr>
              </a:lvl4pPr>
              <a:lvl5pPr marL="917575" indent="-225425" algn="l" defTabSz="457200" rtl="0" eaLnBrk="1" latinLnBrk="0" hangingPunct="1">
                <a:lnSpc>
                  <a:spcPct val="100000"/>
                </a:lnSpc>
                <a:spcBef>
                  <a:spcPts val="0"/>
                </a:spcBef>
                <a:spcAft>
                  <a:spcPts val="600"/>
                </a:spcAft>
                <a:buClr>
                  <a:schemeClr val="tx2"/>
                </a:buClr>
                <a:buFont typeface="Arial"/>
                <a:buChar char="–"/>
                <a:defRPr sz="1400" kern="1200">
                  <a:solidFill>
                    <a:schemeClr val="tx1"/>
                  </a:solidFill>
                  <a:latin typeface="+mn-lt"/>
                  <a:ea typeface="+mn-ea"/>
                  <a:cs typeface="+mn-cs"/>
                </a:defRPr>
              </a:lvl5pPr>
              <a:lvl6pPr marL="1081088" indent="-163513" algn="l" defTabSz="457200" rtl="0" eaLnBrk="1" latinLnBrk="0" hangingPunct="1">
                <a:lnSpc>
                  <a:spcPct val="100000"/>
                </a:lnSpc>
                <a:spcBef>
                  <a:spcPts val="0"/>
                </a:spcBef>
                <a:spcAft>
                  <a:spcPts val="400"/>
                </a:spcAft>
                <a:buClr>
                  <a:schemeClr val="tx2"/>
                </a:buClr>
                <a:buFont typeface="Arial"/>
                <a:buChar char="•"/>
                <a:defRPr sz="1200" kern="1200">
                  <a:solidFill>
                    <a:schemeClr val="tx1"/>
                  </a:solidFill>
                  <a:latin typeface="+mn-lt"/>
                  <a:ea typeface="+mn-ea"/>
                  <a:cs typeface="+mn-cs"/>
                </a:defRPr>
              </a:lvl6pPr>
              <a:lvl7pPr marL="1243584" indent="-164592" algn="l" defTabSz="457200" rtl="0" eaLnBrk="1" latinLnBrk="0" hangingPunct="1">
                <a:lnSpc>
                  <a:spcPct val="100000"/>
                </a:lnSpc>
                <a:spcBef>
                  <a:spcPts val="0"/>
                </a:spcBef>
                <a:spcAft>
                  <a:spcPts val="400"/>
                </a:spcAft>
                <a:buClr>
                  <a:schemeClr val="tx2"/>
                </a:buClr>
                <a:buFont typeface="Lucida Grande"/>
                <a:buChar char="–"/>
                <a:defRPr sz="1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600"/>
                </a:spcBef>
                <a:spcAft>
                  <a:spcPts val="1000"/>
                </a:spcAft>
                <a:buClrTx/>
                <a:buSzTx/>
                <a:buFontTx/>
                <a:buNone/>
                <a:tabLst/>
                <a:defRPr/>
              </a:pPr>
              <a:r>
                <a:rPr kumimoji="0" lang="en-US" sz="1100" b="1" i="0" u="none" strike="noStrike" kern="1200" cap="none" spc="0" normalizeH="0" baseline="0" noProof="0">
                  <a:ln>
                    <a:noFill/>
                  </a:ln>
                  <a:solidFill>
                    <a:srgbClr val="4D4D4D"/>
                  </a:solidFill>
                  <a:effectLst/>
                  <a:uLnTx/>
                  <a:uFillTx/>
                  <a:latin typeface="Arial"/>
                  <a:ea typeface="+mn-ea"/>
                  <a:cs typeface="+mn-cs"/>
                </a:rPr>
                <a:t>Legal Project Management</a:t>
              </a:r>
              <a:br>
                <a:rPr kumimoji="0" lang="en-US" sz="1100" b="1" i="0" u="none" strike="noStrike" kern="1200" cap="none" spc="0" normalizeH="0" baseline="0" noProof="0">
                  <a:ln>
                    <a:noFill/>
                  </a:ln>
                  <a:solidFill>
                    <a:srgbClr val="4D4D4D"/>
                  </a:solidFill>
                  <a:effectLst/>
                  <a:uLnTx/>
                  <a:uFillTx/>
                  <a:latin typeface="Arial"/>
                  <a:ea typeface="+mn-ea"/>
                  <a:cs typeface="+mn-cs"/>
                </a:rPr>
              </a:br>
              <a:endParaRPr kumimoji="0" lang="en-US" sz="1100" b="1" i="0" u="none" strike="noStrike" kern="1200" cap="none" spc="0" normalizeH="0" baseline="0" noProof="0">
                <a:ln>
                  <a:noFill/>
                </a:ln>
                <a:solidFill>
                  <a:srgbClr val="4D4D4D"/>
                </a:solidFill>
                <a:effectLst/>
                <a:uLnTx/>
                <a:uFillTx/>
                <a:latin typeface="Arial"/>
                <a:ea typeface="+mn-ea"/>
                <a:cs typeface="+mn-cs"/>
              </a:endParaRPr>
            </a:p>
          </p:txBody>
        </p:sp>
      </p:grpSp>
      <p:grpSp>
        <p:nvGrpSpPr>
          <p:cNvPr id="39" name="Group 38" hidden="1">
            <a:extLst>
              <a:ext uri="{FF2B5EF4-FFF2-40B4-BE49-F238E27FC236}">
                <a16:creationId xmlns:a16="http://schemas.microsoft.com/office/drawing/2014/main" id="{21C403D8-2D95-A545-9733-D67FD67822DE}"/>
              </a:ext>
            </a:extLst>
          </p:cNvPr>
          <p:cNvGrpSpPr/>
          <p:nvPr/>
        </p:nvGrpSpPr>
        <p:grpSpPr>
          <a:xfrm>
            <a:off x="9340066" y="2020380"/>
            <a:ext cx="3432869" cy="1280631"/>
            <a:chOff x="10726650" y="3878267"/>
            <a:chExt cx="3432869" cy="1280631"/>
          </a:xfrm>
        </p:grpSpPr>
        <p:sp>
          <p:nvSpPr>
            <p:cNvPr id="40" name="TextBox 39">
              <a:extLst>
                <a:ext uri="{FF2B5EF4-FFF2-40B4-BE49-F238E27FC236}">
                  <a16:creationId xmlns:a16="http://schemas.microsoft.com/office/drawing/2014/main" id="{6382A1F6-0042-C142-BD7D-15022BC19465}"/>
                </a:ext>
              </a:extLst>
            </p:cNvPr>
            <p:cNvSpPr txBox="1"/>
            <p:nvPr/>
          </p:nvSpPr>
          <p:spPr>
            <a:xfrm>
              <a:off x="10726650" y="3878267"/>
              <a:ext cx="3432869" cy="1043093"/>
            </a:xfrm>
            <a:prstGeom prst="rect">
              <a:avLst/>
            </a:prstGeom>
            <a:noFill/>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all" spc="0" normalizeH="0" baseline="0" noProof="0">
                  <a:ln>
                    <a:noFill/>
                  </a:ln>
                  <a:solidFill>
                    <a:srgbClr val="FF5900"/>
                  </a:solidFill>
                  <a:effectLst/>
                  <a:uLnTx/>
                  <a:uFillTx/>
                  <a:latin typeface="Arial"/>
                  <a:ea typeface="+mn-ea"/>
                  <a:cs typeface="+mn-cs"/>
                </a:rPr>
                <a:t>Operations Trend</a:t>
              </a:r>
            </a:p>
          </p:txBody>
        </p:sp>
        <p:sp>
          <p:nvSpPr>
            <p:cNvPr id="41" name="TextBox 40">
              <a:extLst>
                <a:ext uri="{FF2B5EF4-FFF2-40B4-BE49-F238E27FC236}">
                  <a16:creationId xmlns:a16="http://schemas.microsoft.com/office/drawing/2014/main" id="{7A4A1A5A-867F-A543-A900-A38C7B9A8BA5}"/>
                </a:ext>
              </a:extLst>
            </p:cNvPr>
            <p:cNvSpPr txBox="1"/>
            <p:nvPr/>
          </p:nvSpPr>
          <p:spPr>
            <a:xfrm>
              <a:off x="10726651" y="4115804"/>
              <a:ext cx="2542216" cy="1043094"/>
            </a:xfrm>
            <a:prstGeom prst="rect">
              <a:avLst/>
            </a:prstGeom>
            <a:noFill/>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4D4D4D"/>
                  </a:solidFill>
                  <a:effectLst/>
                  <a:uLnTx/>
                  <a:uFillTx/>
                  <a:latin typeface="Arial"/>
                  <a:ea typeface="+mn-ea"/>
                  <a:cs typeface="+mn-cs"/>
                </a:rPr>
                <a:t>90% of respondents say </a:t>
              </a:r>
              <a:br>
                <a:rPr kumimoji="0" lang="en-US" sz="1400" b="0" i="0" u="none" strike="noStrike" kern="1200" cap="none" spc="0" normalizeH="0" baseline="0" noProof="0">
                  <a:ln>
                    <a:noFill/>
                  </a:ln>
                  <a:solidFill>
                    <a:srgbClr val="4D4D4D"/>
                  </a:solidFill>
                  <a:effectLst/>
                  <a:uLnTx/>
                  <a:uFillTx/>
                  <a:latin typeface="Arial"/>
                  <a:ea typeface="+mn-ea"/>
                  <a:cs typeface="+mn-cs"/>
                </a:rPr>
              </a:br>
              <a:r>
                <a:rPr kumimoji="0" lang="en-US" sz="1400" b="1" i="0" u="none" strike="noStrike" kern="1200" cap="none" spc="0" normalizeH="0" baseline="0" noProof="0">
                  <a:ln>
                    <a:noFill/>
                  </a:ln>
                  <a:solidFill>
                    <a:srgbClr val="4D4D4D"/>
                  </a:solidFill>
                  <a:effectLst/>
                  <a:uLnTx/>
                  <a:uFillTx/>
                  <a:latin typeface="Arial"/>
                  <a:ea typeface="+mn-ea"/>
                  <a:cs typeface="+mn-cs"/>
                </a:rPr>
                <a:t>client fee pressure</a:t>
              </a:r>
              <a:r>
                <a:rPr kumimoji="0" lang="en-US" sz="1400" b="0" i="0" u="none" strike="noStrike" kern="1200" cap="none" spc="0" normalizeH="0" baseline="0" noProof="0">
                  <a:ln>
                    <a:noFill/>
                  </a:ln>
                  <a:solidFill>
                    <a:srgbClr val="4D4D4D"/>
                  </a:solidFill>
                  <a:effectLst/>
                  <a:uLnTx/>
                  <a:uFillTx/>
                  <a:latin typeface="Arial"/>
                  <a:ea typeface="+mn-ea"/>
                  <a:cs typeface="+mn-cs"/>
                </a:rPr>
                <a:t> is a risk </a:t>
              </a:r>
              <a:br>
                <a:rPr kumimoji="0" lang="en-US" sz="1400" b="0" i="0" u="none" strike="noStrike" kern="1200" cap="none" spc="0" normalizeH="0" baseline="0" noProof="0">
                  <a:ln>
                    <a:noFill/>
                  </a:ln>
                  <a:solidFill>
                    <a:srgbClr val="4D4D4D"/>
                  </a:solidFill>
                  <a:effectLst/>
                  <a:uLnTx/>
                  <a:uFillTx/>
                  <a:latin typeface="Arial"/>
                  <a:ea typeface="+mn-ea"/>
                  <a:cs typeface="+mn-cs"/>
                </a:rPr>
              </a:br>
              <a:r>
                <a:rPr kumimoji="0" lang="en-US" sz="1400" b="0" i="0" u="none" strike="noStrike" kern="1200" cap="none" spc="0" normalizeH="0" baseline="0" noProof="0">
                  <a:ln>
                    <a:noFill/>
                  </a:ln>
                  <a:solidFill>
                    <a:srgbClr val="4D4D4D"/>
                  </a:solidFill>
                  <a:effectLst/>
                  <a:uLnTx/>
                  <a:uFillTx/>
                  <a:latin typeface="Arial"/>
                  <a:ea typeface="+mn-ea"/>
                  <a:cs typeface="+mn-cs"/>
                </a:rPr>
                <a:t>with 37% saying it’s a high risk.</a:t>
              </a:r>
              <a:endParaRPr kumimoji="0" lang="en-US" sz="1200" b="0" i="0" u="none" strike="noStrike" kern="1200" cap="none" spc="0" normalizeH="0" baseline="0" noProof="0">
                <a:ln>
                  <a:noFill/>
                </a:ln>
                <a:solidFill>
                  <a:srgbClr val="4D4D4D"/>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4D4D4D"/>
                  </a:solidFill>
                  <a:effectLst/>
                  <a:uLnTx/>
                  <a:uFillTx/>
                  <a:latin typeface="Arial"/>
                  <a:ea typeface="+mn-ea"/>
                  <a:cs typeface="+mn-cs"/>
                </a:rPr>
                <a:t>2019 Law Firm Business Leaders Report: Outlook for U.S.-Based Local and Regional Firms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4D4D4D"/>
                </a:solidFill>
                <a:effectLst/>
                <a:uLnTx/>
                <a:uFillTx/>
                <a:latin typeface="Arial"/>
                <a:ea typeface="+mn-ea"/>
                <a:cs typeface="+mn-cs"/>
              </a:endParaRPr>
            </a:p>
          </p:txBody>
        </p:sp>
      </p:grpSp>
      <p:grpSp>
        <p:nvGrpSpPr>
          <p:cNvPr id="44" name="Group 43" hidden="1">
            <a:extLst>
              <a:ext uri="{FF2B5EF4-FFF2-40B4-BE49-F238E27FC236}">
                <a16:creationId xmlns:a16="http://schemas.microsoft.com/office/drawing/2014/main" id="{4257AADB-6130-134A-A25D-C1DB28E61CE3}"/>
              </a:ext>
            </a:extLst>
          </p:cNvPr>
          <p:cNvGrpSpPr/>
          <p:nvPr/>
        </p:nvGrpSpPr>
        <p:grpSpPr>
          <a:xfrm>
            <a:off x="9340066" y="3744999"/>
            <a:ext cx="3432869" cy="1280631"/>
            <a:chOff x="10726650" y="3878267"/>
            <a:chExt cx="3432869" cy="1280631"/>
          </a:xfrm>
        </p:grpSpPr>
        <p:sp>
          <p:nvSpPr>
            <p:cNvPr id="45" name="TextBox 44">
              <a:extLst>
                <a:ext uri="{FF2B5EF4-FFF2-40B4-BE49-F238E27FC236}">
                  <a16:creationId xmlns:a16="http://schemas.microsoft.com/office/drawing/2014/main" id="{F05EA257-3EB1-AE48-A4BF-0225968BF914}"/>
                </a:ext>
              </a:extLst>
            </p:cNvPr>
            <p:cNvSpPr txBox="1"/>
            <p:nvPr/>
          </p:nvSpPr>
          <p:spPr>
            <a:xfrm>
              <a:off x="10726650" y="3878267"/>
              <a:ext cx="3432869" cy="1043093"/>
            </a:xfrm>
            <a:prstGeom prst="rect">
              <a:avLst/>
            </a:prstGeom>
            <a:noFill/>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all" spc="0" normalizeH="0" baseline="0" noProof="0">
                  <a:ln>
                    <a:noFill/>
                  </a:ln>
                  <a:solidFill>
                    <a:srgbClr val="FF5900"/>
                  </a:solidFill>
                  <a:effectLst/>
                  <a:uLnTx/>
                  <a:uFillTx/>
                  <a:latin typeface="Arial"/>
                  <a:ea typeface="+mn-ea"/>
                  <a:cs typeface="+mn-cs"/>
                </a:rPr>
                <a:t>Practice Area Trend</a:t>
              </a:r>
            </a:p>
          </p:txBody>
        </p:sp>
        <p:sp>
          <p:nvSpPr>
            <p:cNvPr id="46" name="TextBox 45">
              <a:extLst>
                <a:ext uri="{FF2B5EF4-FFF2-40B4-BE49-F238E27FC236}">
                  <a16:creationId xmlns:a16="http://schemas.microsoft.com/office/drawing/2014/main" id="{A93F6707-911F-DC41-B655-D520B1DA5C38}"/>
                </a:ext>
              </a:extLst>
            </p:cNvPr>
            <p:cNvSpPr txBox="1"/>
            <p:nvPr/>
          </p:nvSpPr>
          <p:spPr>
            <a:xfrm>
              <a:off x="10726651" y="4115804"/>
              <a:ext cx="2542219" cy="1043094"/>
            </a:xfrm>
            <a:prstGeom prst="rect">
              <a:avLst/>
            </a:prstGeom>
            <a:noFill/>
          </p:spPr>
          <p:txBody>
            <a:bodyPr wrap="square" lIns="0" tIns="0" rIns="0" bIns="0" rtlCol="0" anchor="t">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4D4D4D"/>
                  </a:solidFill>
                  <a:effectLst/>
                  <a:uLnTx/>
                  <a:uFillTx/>
                  <a:latin typeface="Arial"/>
                  <a:ea typeface="+mn-ea"/>
                  <a:cs typeface="+mn-cs"/>
                </a:rPr>
                <a:t>90% of respondents say </a:t>
              </a:r>
              <a:br>
                <a:rPr kumimoji="0" lang="en-US" sz="1400" b="0" i="0" u="none" strike="noStrike" kern="1200" cap="none" spc="0" normalizeH="0" baseline="0" noProof="0">
                  <a:ln>
                    <a:noFill/>
                  </a:ln>
                  <a:solidFill>
                    <a:srgbClr val="4D4D4D"/>
                  </a:solidFill>
                  <a:effectLst/>
                  <a:uLnTx/>
                  <a:uFillTx/>
                  <a:latin typeface="Arial"/>
                  <a:ea typeface="+mn-ea"/>
                  <a:cs typeface="+mn-cs"/>
                </a:rPr>
              </a:br>
              <a:r>
                <a:rPr kumimoji="0" lang="en-US" sz="1400" b="1" i="0" u="none" strike="noStrike" kern="1200" cap="none" spc="0" normalizeH="0" baseline="0" noProof="0">
                  <a:ln>
                    <a:noFill/>
                  </a:ln>
                  <a:solidFill>
                    <a:srgbClr val="4D4D4D"/>
                  </a:solidFill>
                  <a:effectLst/>
                  <a:uLnTx/>
                  <a:uFillTx/>
                  <a:latin typeface="Arial"/>
                  <a:ea typeface="+mn-ea"/>
                  <a:cs typeface="+mn-cs"/>
                </a:rPr>
                <a:t>client fee pressure</a:t>
              </a:r>
              <a:r>
                <a:rPr kumimoji="0" lang="en-US" sz="1400" b="0" i="0" u="none" strike="noStrike" kern="1200" cap="none" spc="0" normalizeH="0" baseline="0" noProof="0">
                  <a:ln>
                    <a:noFill/>
                  </a:ln>
                  <a:solidFill>
                    <a:srgbClr val="4D4D4D"/>
                  </a:solidFill>
                  <a:effectLst/>
                  <a:uLnTx/>
                  <a:uFillTx/>
                  <a:latin typeface="Arial"/>
                  <a:ea typeface="+mn-ea"/>
                  <a:cs typeface="+mn-cs"/>
                </a:rPr>
                <a:t> is a risk </a:t>
              </a:r>
              <a:br>
                <a:rPr kumimoji="0" lang="en-US" sz="1400" b="0" i="0" u="none" strike="noStrike" kern="1200" cap="none" spc="0" normalizeH="0" baseline="0" noProof="0">
                  <a:ln>
                    <a:noFill/>
                  </a:ln>
                  <a:solidFill>
                    <a:srgbClr val="4D4D4D"/>
                  </a:solidFill>
                  <a:effectLst/>
                  <a:uLnTx/>
                  <a:uFillTx/>
                  <a:latin typeface="Arial"/>
                  <a:ea typeface="+mn-ea"/>
                  <a:cs typeface="+mn-cs"/>
                </a:rPr>
              </a:br>
              <a:r>
                <a:rPr kumimoji="0" lang="en-US" sz="1400" b="0" i="0" u="none" strike="noStrike" kern="1200" cap="none" spc="0" normalizeH="0" baseline="0" noProof="0">
                  <a:ln>
                    <a:noFill/>
                  </a:ln>
                  <a:solidFill>
                    <a:srgbClr val="4D4D4D"/>
                  </a:solidFill>
                  <a:effectLst/>
                  <a:uLnTx/>
                  <a:uFillTx/>
                  <a:latin typeface="Arial"/>
                  <a:ea typeface="+mn-ea"/>
                  <a:cs typeface="+mn-cs"/>
                </a:rPr>
                <a:t>with 37% saying it’s a high risk.</a:t>
              </a:r>
              <a:endParaRPr kumimoji="0" lang="en-US" sz="1200" b="0" i="0" u="none" strike="noStrike" kern="1200" cap="none" spc="0" normalizeH="0" baseline="0" noProof="0">
                <a:ln>
                  <a:noFill/>
                </a:ln>
                <a:solidFill>
                  <a:srgbClr val="4D4D4D"/>
                </a:solidFill>
                <a:effectLst/>
                <a:uLnTx/>
                <a:uFillTx/>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4D4D4D"/>
                  </a:solidFill>
                  <a:effectLst/>
                  <a:uLnTx/>
                  <a:uFillTx/>
                  <a:latin typeface="Arial"/>
                  <a:ea typeface="+mn-ea"/>
                  <a:cs typeface="+mn-cs"/>
                </a:rPr>
                <a:t>2019 Law Firm Business Leaders Report: Outlook for U.S.-Based Local and Regional Firms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4D4D4D"/>
                </a:solidFill>
                <a:effectLst/>
                <a:uLnTx/>
                <a:uFillTx/>
                <a:latin typeface="Arial"/>
                <a:ea typeface="+mn-ea"/>
                <a:cs typeface="+mn-cs"/>
              </a:endParaRPr>
            </a:p>
          </p:txBody>
        </p:sp>
      </p:grpSp>
      <p:sp>
        <p:nvSpPr>
          <p:cNvPr id="9" name="TextBox 8">
            <a:extLst>
              <a:ext uri="{FF2B5EF4-FFF2-40B4-BE49-F238E27FC236}">
                <a16:creationId xmlns:a16="http://schemas.microsoft.com/office/drawing/2014/main" id="{38A4D456-65E1-F64A-A749-B0F91A2A143D}"/>
              </a:ext>
            </a:extLst>
          </p:cNvPr>
          <p:cNvSpPr txBox="1"/>
          <p:nvPr/>
        </p:nvSpPr>
        <p:spPr>
          <a:xfrm>
            <a:off x="9004300" y="825500"/>
            <a:ext cx="0" cy="0"/>
          </a:xfrm>
          <a:prstGeom prst="rect">
            <a:avLst/>
          </a:prstGeom>
          <a:noFill/>
        </p:spPr>
        <p:txBody>
          <a:bodyPr wrap="none" lIns="0" tIns="0" rIns="0" bIns="0" rtlCol="0" anchor="t">
            <a:noAutofit/>
          </a:bodyPr>
          <a:lstStyle/>
          <a:p>
            <a:endParaRPr lang="en-US" sz="1400" dirty="0" err="1"/>
          </a:p>
        </p:txBody>
      </p:sp>
      <p:sp>
        <p:nvSpPr>
          <p:cNvPr id="53" name="Rectangle 52">
            <a:extLst>
              <a:ext uri="{FF2B5EF4-FFF2-40B4-BE49-F238E27FC236}">
                <a16:creationId xmlns:a16="http://schemas.microsoft.com/office/drawing/2014/main" id="{59795A95-C3C7-F644-800F-EC72C689F936}"/>
              </a:ext>
            </a:extLst>
          </p:cNvPr>
          <p:cNvSpPr/>
          <p:nvPr/>
        </p:nvSpPr>
        <p:spPr>
          <a:xfrm>
            <a:off x="670" y="-1686"/>
            <a:ext cx="12187482" cy="2776426"/>
          </a:xfrm>
          <a:prstGeom prst="rect">
            <a:avLst/>
          </a:prstGeom>
          <a:gradFill>
            <a:gsLst>
              <a:gs pos="46000">
                <a:schemeClr val="tx1">
                  <a:lumMod val="50000"/>
                  <a:alpha val="53000"/>
                </a:schemeClr>
              </a:gs>
              <a:gs pos="0">
                <a:schemeClr val="tx1">
                  <a:lumMod val="50000"/>
                  <a:alpha val="73000"/>
                </a:schemeClr>
              </a:gs>
              <a:gs pos="99000">
                <a:schemeClr val="tx1">
                  <a:lumMod val="50000"/>
                  <a:alpha val="42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prstClr val="white"/>
              </a:solidFill>
              <a:latin typeface="Arial"/>
            </a:endParaRPr>
          </a:p>
        </p:txBody>
      </p:sp>
      <p:sp>
        <p:nvSpPr>
          <p:cNvPr id="57" name="Rectangle 56">
            <a:extLst>
              <a:ext uri="{FF2B5EF4-FFF2-40B4-BE49-F238E27FC236}">
                <a16:creationId xmlns:a16="http://schemas.microsoft.com/office/drawing/2014/main" id="{D23F8A9E-7064-EE41-B6B6-65F6AD731CF4}"/>
              </a:ext>
            </a:extLst>
          </p:cNvPr>
          <p:cNvSpPr/>
          <p:nvPr/>
        </p:nvSpPr>
        <p:spPr>
          <a:xfrm>
            <a:off x="650292" y="1658618"/>
            <a:ext cx="10964192" cy="1384995"/>
          </a:xfrm>
          <a:prstGeom prst="rect">
            <a:avLst/>
          </a:prstGeom>
        </p:spPr>
        <p:txBody>
          <a:bodyPr wrap="square" lIns="0" tIns="0" rIns="0" bIns="0">
            <a:spAutoFit/>
          </a:bodyPr>
          <a:lstStyle/>
          <a:p>
            <a:pPr defTabSz="914126">
              <a:spcBef>
                <a:spcPts val="400"/>
              </a:spcBef>
              <a:defRPr/>
            </a:pPr>
            <a:r>
              <a:rPr lang="en-US" sz="9000" dirty="0">
                <a:solidFill>
                  <a:prstClr val="white">
                    <a:alpha val="60000"/>
                  </a:prstClr>
                </a:solidFill>
              </a:rPr>
              <a:t>FIRM CHALLENGES</a:t>
            </a:r>
          </a:p>
        </p:txBody>
      </p:sp>
      <p:sp>
        <p:nvSpPr>
          <p:cNvPr id="60" name="Rectangle 59">
            <a:extLst>
              <a:ext uri="{FF2B5EF4-FFF2-40B4-BE49-F238E27FC236}">
                <a16:creationId xmlns:a16="http://schemas.microsoft.com/office/drawing/2014/main" id="{573983D4-05EF-5144-881E-B2A44628773F}"/>
              </a:ext>
            </a:extLst>
          </p:cNvPr>
          <p:cNvSpPr/>
          <p:nvPr/>
        </p:nvSpPr>
        <p:spPr>
          <a:xfrm>
            <a:off x="759758" y="3248460"/>
            <a:ext cx="2558673" cy="307777"/>
          </a:xfrm>
          <a:prstGeom prst="rect">
            <a:avLst/>
          </a:prstGeom>
        </p:spPr>
        <p:txBody>
          <a:bodyPr wrap="square" lIns="0" tIns="0" rIns="0" bIns="0">
            <a:spAutoFit/>
          </a:bodyPr>
          <a:lstStyle/>
          <a:p>
            <a:r>
              <a:rPr lang="en-US" sz="2000" b="1" dirty="0">
                <a:latin typeface="Arial Black" panose="020B0604020202020204" pitchFamily="34" charset="0"/>
                <a:cs typeface="Arial Black" panose="020B0604020202020204" pitchFamily="34" charset="0"/>
              </a:rPr>
              <a:t>Firm Operations</a:t>
            </a:r>
          </a:p>
        </p:txBody>
      </p:sp>
      <p:sp>
        <p:nvSpPr>
          <p:cNvPr id="61" name="Rectangle 60">
            <a:extLst>
              <a:ext uri="{FF2B5EF4-FFF2-40B4-BE49-F238E27FC236}">
                <a16:creationId xmlns:a16="http://schemas.microsoft.com/office/drawing/2014/main" id="{98A80546-9E32-AD4E-BF59-E905D0A291C2}"/>
              </a:ext>
            </a:extLst>
          </p:cNvPr>
          <p:cNvSpPr/>
          <p:nvPr/>
        </p:nvSpPr>
        <p:spPr>
          <a:xfrm>
            <a:off x="759757" y="3871851"/>
            <a:ext cx="3469877" cy="1685077"/>
          </a:xfrm>
          <a:prstGeom prst="rect">
            <a:avLst/>
          </a:prstGeom>
        </p:spPr>
        <p:txBody>
          <a:bodyPr wrap="square" lIns="0" tIns="0" rIns="0" bIns="0">
            <a:spAutoFit/>
          </a:bodyPr>
          <a:lstStyle/>
          <a:p>
            <a:pPr>
              <a:spcAft>
                <a:spcPts val="1500"/>
              </a:spcAft>
            </a:pPr>
            <a:r>
              <a:rPr lang="en-US" sz="1700" dirty="0">
                <a:latin typeface="+mj-lt"/>
              </a:rPr>
              <a:t>Client Engagement</a:t>
            </a:r>
          </a:p>
          <a:p>
            <a:pPr>
              <a:spcAft>
                <a:spcPts val="1500"/>
              </a:spcAft>
            </a:pPr>
            <a:r>
              <a:rPr lang="en-US" sz="1700" dirty="0">
                <a:latin typeface="+mj-lt"/>
              </a:rPr>
              <a:t>Document Collaboration</a:t>
            </a:r>
          </a:p>
          <a:p>
            <a:pPr>
              <a:spcAft>
                <a:spcPts val="1500"/>
              </a:spcAft>
            </a:pPr>
            <a:r>
              <a:rPr lang="en-US" sz="1700" dirty="0">
                <a:latin typeface="+mj-lt"/>
              </a:rPr>
              <a:t>Legal Project Management</a:t>
            </a:r>
          </a:p>
          <a:p>
            <a:pPr>
              <a:spcAft>
                <a:spcPts val="1500"/>
              </a:spcAft>
            </a:pPr>
            <a:r>
              <a:rPr lang="en-US" sz="1700" dirty="0">
                <a:latin typeface="+mj-lt"/>
              </a:rPr>
              <a:t>Team Collaboration</a:t>
            </a:r>
          </a:p>
        </p:txBody>
      </p:sp>
      <p:cxnSp>
        <p:nvCxnSpPr>
          <p:cNvPr id="62" name="Straight Connector 61">
            <a:extLst>
              <a:ext uri="{FF2B5EF4-FFF2-40B4-BE49-F238E27FC236}">
                <a16:creationId xmlns:a16="http://schemas.microsoft.com/office/drawing/2014/main" id="{DE2186EA-4E84-194E-8880-9D34629876C7}"/>
              </a:ext>
            </a:extLst>
          </p:cNvPr>
          <p:cNvCxnSpPr>
            <a:cxnSpLocks/>
          </p:cNvCxnSpPr>
          <p:nvPr/>
        </p:nvCxnSpPr>
        <p:spPr>
          <a:xfrm>
            <a:off x="759758" y="3713726"/>
            <a:ext cx="1279336" cy="0"/>
          </a:xfrm>
          <a:prstGeom prst="line">
            <a:avLst/>
          </a:prstGeom>
          <a:ln w="7302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C2D84B30-EEAF-214E-9C6C-0851328B512E}"/>
              </a:ext>
            </a:extLst>
          </p:cNvPr>
          <p:cNvSpPr/>
          <p:nvPr/>
        </p:nvSpPr>
        <p:spPr>
          <a:xfrm>
            <a:off x="6741458" y="3248460"/>
            <a:ext cx="2558673" cy="307777"/>
          </a:xfrm>
          <a:prstGeom prst="rect">
            <a:avLst/>
          </a:prstGeom>
        </p:spPr>
        <p:txBody>
          <a:bodyPr wrap="square" lIns="0" tIns="0" rIns="0" bIns="0">
            <a:spAutoFit/>
          </a:bodyPr>
          <a:lstStyle/>
          <a:p>
            <a:r>
              <a:rPr lang="en-US" sz="2000" b="1" dirty="0">
                <a:latin typeface="Arial Black" panose="020B0604020202020204" pitchFamily="34" charset="0"/>
                <a:cs typeface="Arial Black" panose="020B0604020202020204" pitchFamily="34" charset="0"/>
              </a:rPr>
              <a:t>Practice Areas</a:t>
            </a:r>
          </a:p>
        </p:txBody>
      </p:sp>
      <p:sp>
        <p:nvSpPr>
          <p:cNvPr id="72" name="Rectangle 71">
            <a:extLst>
              <a:ext uri="{FF2B5EF4-FFF2-40B4-BE49-F238E27FC236}">
                <a16:creationId xmlns:a16="http://schemas.microsoft.com/office/drawing/2014/main" id="{AEAB14A0-08F9-1A45-8219-FAE51D7E8A2B}"/>
              </a:ext>
            </a:extLst>
          </p:cNvPr>
          <p:cNvSpPr/>
          <p:nvPr/>
        </p:nvSpPr>
        <p:spPr>
          <a:xfrm>
            <a:off x="6741457" y="3871851"/>
            <a:ext cx="3469877" cy="1638910"/>
          </a:xfrm>
          <a:prstGeom prst="rect">
            <a:avLst/>
          </a:prstGeom>
        </p:spPr>
        <p:txBody>
          <a:bodyPr wrap="square" lIns="0" tIns="0" rIns="0" bIns="0">
            <a:spAutoFit/>
          </a:bodyPr>
          <a:lstStyle/>
          <a:p>
            <a:pPr>
              <a:spcAft>
                <a:spcPts val="1500"/>
              </a:spcAft>
            </a:pPr>
            <a:r>
              <a:rPr lang="en-US" sz="1700" dirty="0">
                <a:latin typeface="+mj-lt"/>
              </a:rPr>
              <a:t>Portfolio Management</a:t>
            </a:r>
          </a:p>
          <a:p>
            <a:pPr>
              <a:spcAft>
                <a:spcPts val="1500"/>
              </a:spcAft>
            </a:pPr>
            <a:r>
              <a:rPr lang="en-US" sz="1700" dirty="0">
                <a:latin typeface="+mj-lt"/>
              </a:rPr>
              <a:t>Litigation Management</a:t>
            </a:r>
          </a:p>
          <a:p>
            <a:pPr>
              <a:spcAft>
                <a:spcPts val="1500"/>
              </a:spcAft>
            </a:pPr>
            <a:r>
              <a:rPr lang="en-US" sz="1700" dirty="0">
                <a:latin typeface="+mj-lt"/>
              </a:rPr>
              <a:t>Compliance Management</a:t>
            </a:r>
          </a:p>
          <a:p>
            <a:pPr>
              <a:spcAft>
                <a:spcPts val="1500"/>
              </a:spcAft>
            </a:pPr>
            <a:r>
              <a:rPr lang="en-US" sz="1700" dirty="0">
                <a:latin typeface="+mj-lt"/>
              </a:rPr>
              <a:t>Transaction Management</a:t>
            </a:r>
          </a:p>
        </p:txBody>
      </p:sp>
      <p:cxnSp>
        <p:nvCxnSpPr>
          <p:cNvPr id="73" name="Straight Connector 72">
            <a:extLst>
              <a:ext uri="{FF2B5EF4-FFF2-40B4-BE49-F238E27FC236}">
                <a16:creationId xmlns:a16="http://schemas.microsoft.com/office/drawing/2014/main" id="{7F9C435C-1CA8-9549-AEC3-49E8CA9E00FA}"/>
              </a:ext>
            </a:extLst>
          </p:cNvPr>
          <p:cNvCxnSpPr>
            <a:cxnSpLocks/>
          </p:cNvCxnSpPr>
          <p:nvPr/>
        </p:nvCxnSpPr>
        <p:spPr>
          <a:xfrm>
            <a:off x="6741458" y="3713726"/>
            <a:ext cx="1279336" cy="0"/>
          </a:xfrm>
          <a:prstGeom prst="line">
            <a:avLst/>
          </a:prstGeom>
          <a:ln w="7302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42" name="Freeform 41">
            <a:extLst>
              <a:ext uri="{FF2B5EF4-FFF2-40B4-BE49-F238E27FC236}">
                <a16:creationId xmlns:a16="http://schemas.microsoft.com/office/drawing/2014/main" id="{3507DFB1-725A-594E-AF5A-B89FCD04599B}"/>
              </a:ext>
            </a:extLst>
          </p:cNvPr>
          <p:cNvSpPr/>
          <p:nvPr/>
        </p:nvSpPr>
        <p:spPr>
          <a:xfrm rot="10800000">
            <a:off x="7368765" y="-2"/>
            <a:ext cx="3623598" cy="365790"/>
          </a:xfrm>
          <a:custGeom>
            <a:avLst/>
            <a:gdLst>
              <a:gd name="connsiteX0" fmla="*/ 3500053 w 3686103"/>
              <a:gd name="connsiteY0" fmla="*/ 372099 h 372099"/>
              <a:gd name="connsiteX1" fmla="*/ 3498555 w 3686103"/>
              <a:gd name="connsiteY1" fmla="*/ 371948 h 372099"/>
              <a:gd name="connsiteX2" fmla="*/ 3498555 w 3686103"/>
              <a:gd name="connsiteY2" fmla="*/ 372099 h 372099"/>
              <a:gd name="connsiteX3" fmla="*/ 2593607 w 3686103"/>
              <a:gd name="connsiteY3" fmla="*/ 372099 h 372099"/>
              <a:gd name="connsiteX4" fmla="*/ 2593604 w 3686103"/>
              <a:gd name="connsiteY4" fmla="*/ 372099 h 372099"/>
              <a:gd name="connsiteX5" fmla="*/ 2593601 w 3686103"/>
              <a:gd name="connsiteY5" fmla="*/ 372099 h 372099"/>
              <a:gd name="connsiteX6" fmla="*/ 2592106 w 3686103"/>
              <a:gd name="connsiteY6" fmla="*/ 372099 h 372099"/>
              <a:gd name="connsiteX7" fmla="*/ 906449 w 3686103"/>
              <a:gd name="connsiteY7" fmla="*/ 372099 h 372099"/>
              <a:gd name="connsiteX8" fmla="*/ 0 w 3686103"/>
              <a:gd name="connsiteY8" fmla="*/ 372099 h 372099"/>
              <a:gd name="connsiteX9" fmla="*/ 0 w 3686103"/>
              <a:gd name="connsiteY9" fmla="*/ 0 h 372099"/>
              <a:gd name="connsiteX10" fmla="*/ 906449 w 3686103"/>
              <a:gd name="connsiteY10" fmla="*/ 0 h 372099"/>
              <a:gd name="connsiteX11" fmla="*/ 2592106 w 3686103"/>
              <a:gd name="connsiteY11" fmla="*/ 0 h 372099"/>
              <a:gd name="connsiteX12" fmla="*/ 2593604 w 3686103"/>
              <a:gd name="connsiteY12" fmla="*/ 0 h 372099"/>
              <a:gd name="connsiteX13" fmla="*/ 3498555 w 3686103"/>
              <a:gd name="connsiteY13" fmla="*/ 0 h 372099"/>
              <a:gd name="connsiteX14" fmla="*/ 3498555 w 3686103"/>
              <a:gd name="connsiteY14" fmla="*/ 151 h 372099"/>
              <a:gd name="connsiteX15" fmla="*/ 3500053 w 3686103"/>
              <a:gd name="connsiteY15" fmla="*/ 0 h 372099"/>
              <a:gd name="connsiteX16" fmla="*/ 3686103 w 3686103"/>
              <a:gd name="connsiteY16" fmla="*/ 186050 h 372099"/>
              <a:gd name="connsiteX17" fmla="*/ 3500053 w 3686103"/>
              <a:gd name="connsiteY17" fmla="*/ 372099 h 3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86103" h="372099">
                <a:moveTo>
                  <a:pt x="3500053" y="372099"/>
                </a:moveTo>
                <a:lnTo>
                  <a:pt x="3498555" y="371948"/>
                </a:lnTo>
                <a:lnTo>
                  <a:pt x="3498555" y="372099"/>
                </a:lnTo>
                <a:lnTo>
                  <a:pt x="2593607" y="372099"/>
                </a:lnTo>
                <a:lnTo>
                  <a:pt x="2593604" y="372099"/>
                </a:lnTo>
                <a:lnTo>
                  <a:pt x="2593601" y="372099"/>
                </a:lnTo>
                <a:lnTo>
                  <a:pt x="2592106" y="372099"/>
                </a:lnTo>
                <a:lnTo>
                  <a:pt x="906449" y="372099"/>
                </a:lnTo>
                <a:lnTo>
                  <a:pt x="0" y="372099"/>
                </a:lnTo>
                <a:lnTo>
                  <a:pt x="0" y="0"/>
                </a:lnTo>
                <a:lnTo>
                  <a:pt x="906449" y="0"/>
                </a:lnTo>
                <a:lnTo>
                  <a:pt x="2592106" y="0"/>
                </a:lnTo>
                <a:lnTo>
                  <a:pt x="2593604" y="0"/>
                </a:lnTo>
                <a:lnTo>
                  <a:pt x="3498555" y="0"/>
                </a:lnTo>
                <a:lnTo>
                  <a:pt x="3498555" y="151"/>
                </a:lnTo>
                <a:lnTo>
                  <a:pt x="3500053" y="0"/>
                </a:lnTo>
                <a:cubicBezTo>
                  <a:pt x="3602806" y="0"/>
                  <a:pt x="3686103" y="83297"/>
                  <a:pt x="3686103" y="186050"/>
                </a:cubicBezTo>
                <a:cubicBezTo>
                  <a:pt x="3686103" y="288802"/>
                  <a:pt x="3602806" y="372099"/>
                  <a:pt x="3500053" y="372099"/>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Freeform 42">
            <a:extLst>
              <a:ext uri="{FF2B5EF4-FFF2-40B4-BE49-F238E27FC236}">
                <a16:creationId xmlns:a16="http://schemas.microsoft.com/office/drawing/2014/main" id="{385484EC-0A69-D84B-8B18-E04870D7CD75}"/>
              </a:ext>
            </a:extLst>
          </p:cNvPr>
          <p:cNvSpPr/>
          <p:nvPr/>
        </p:nvSpPr>
        <p:spPr>
          <a:xfrm rot="10800000">
            <a:off x="10054538" y="-1"/>
            <a:ext cx="2134288" cy="365790"/>
          </a:xfrm>
          <a:custGeom>
            <a:avLst/>
            <a:gdLst>
              <a:gd name="connsiteX0" fmla="*/ 1951393 w 2134288"/>
              <a:gd name="connsiteY0" fmla="*/ 365790 h 365790"/>
              <a:gd name="connsiteX1" fmla="*/ 1949920 w 2134288"/>
              <a:gd name="connsiteY1" fmla="*/ 365642 h 365790"/>
              <a:gd name="connsiteX2" fmla="*/ 1949920 w 2134288"/>
              <a:gd name="connsiteY2" fmla="*/ 365790 h 365790"/>
              <a:gd name="connsiteX3" fmla="*/ 0 w 2134288"/>
              <a:gd name="connsiteY3" fmla="*/ 365790 h 365790"/>
              <a:gd name="connsiteX4" fmla="*/ 0 w 2134288"/>
              <a:gd name="connsiteY4" fmla="*/ 0 h 365790"/>
              <a:gd name="connsiteX5" fmla="*/ 1949920 w 2134288"/>
              <a:gd name="connsiteY5" fmla="*/ 0 h 365790"/>
              <a:gd name="connsiteX6" fmla="*/ 1949920 w 2134288"/>
              <a:gd name="connsiteY6" fmla="*/ 149 h 365790"/>
              <a:gd name="connsiteX7" fmla="*/ 1951393 w 2134288"/>
              <a:gd name="connsiteY7" fmla="*/ 0 h 365790"/>
              <a:gd name="connsiteX8" fmla="*/ 2134288 w 2134288"/>
              <a:gd name="connsiteY8" fmla="*/ 182895 h 365790"/>
              <a:gd name="connsiteX9" fmla="*/ 1951393 w 2134288"/>
              <a:gd name="connsiteY9" fmla="*/ 365790 h 36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4288" h="365790">
                <a:moveTo>
                  <a:pt x="1951393" y="365790"/>
                </a:moveTo>
                <a:lnTo>
                  <a:pt x="1949920" y="365642"/>
                </a:lnTo>
                <a:lnTo>
                  <a:pt x="1949920" y="365790"/>
                </a:lnTo>
                <a:lnTo>
                  <a:pt x="0" y="365790"/>
                </a:lnTo>
                <a:lnTo>
                  <a:pt x="0" y="0"/>
                </a:lnTo>
                <a:lnTo>
                  <a:pt x="1949920" y="0"/>
                </a:lnTo>
                <a:lnTo>
                  <a:pt x="1949920" y="149"/>
                </a:lnTo>
                <a:lnTo>
                  <a:pt x="1951393" y="0"/>
                </a:lnTo>
                <a:cubicBezTo>
                  <a:pt x="2052403" y="0"/>
                  <a:pt x="2134288" y="81885"/>
                  <a:pt x="2134288" y="182895"/>
                </a:cubicBezTo>
                <a:cubicBezTo>
                  <a:pt x="2134288" y="283905"/>
                  <a:pt x="2052403" y="365790"/>
                  <a:pt x="1951393" y="365790"/>
                </a:cubicBezTo>
                <a:close/>
              </a:path>
            </a:pathLst>
          </a:custGeom>
          <a:gradFill>
            <a:gsLst>
              <a:gs pos="68000">
                <a:schemeClr val="accent5"/>
              </a:gs>
              <a:gs pos="22000">
                <a:schemeClr val="tx2"/>
              </a:gs>
              <a:gs pos="0">
                <a:schemeClr val="tx2"/>
              </a:gs>
              <a:gs pos="100000">
                <a:schemeClr val="accent5"/>
              </a:gs>
            </a:gsLst>
            <a:lin ang="6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6176409"/>
      </p:ext>
    </p:extLst>
  </p:cSld>
  <p:clrMapOvr>
    <a:masterClrMapping/>
  </p:clrMapOvr>
</p:sld>
</file>

<file path=ppt/theme/theme1.xml><?xml version="1.0" encoding="utf-8"?>
<a:theme xmlns:a="http://schemas.openxmlformats.org/drawingml/2006/main" name="TR_2020">
  <a:themeElements>
    <a:clrScheme name="TR_2020">
      <a:dk1>
        <a:srgbClr val="404040"/>
      </a:dk1>
      <a:lt1>
        <a:srgbClr val="FFFFFF"/>
      </a:lt1>
      <a:dk2>
        <a:srgbClr val="FA6400"/>
      </a:dk2>
      <a:lt2>
        <a:srgbClr val="D0D0D0"/>
      </a:lt2>
      <a:accent1>
        <a:srgbClr val="FA6400"/>
      </a:accent1>
      <a:accent2>
        <a:srgbClr val="3F403F"/>
      </a:accent2>
      <a:accent3>
        <a:srgbClr val="DC4300"/>
      </a:accent3>
      <a:accent4>
        <a:srgbClr val="AEAFAE"/>
      </a:accent4>
      <a:accent5>
        <a:srgbClr val="FFA000"/>
      </a:accent5>
      <a:accent6>
        <a:srgbClr val="666666"/>
      </a:accent6>
      <a:hlink>
        <a:srgbClr val="005DA2"/>
      </a:hlink>
      <a:folHlink>
        <a:srgbClr val="621F95"/>
      </a:folHlink>
    </a:clrScheme>
    <a:fontScheme name="T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noAutofit/>
      </a:bodyPr>
      <a:lstStyle>
        <a:defPPr>
          <a:defRPr sz="1400" dirty="0" err="1" smtClean="0"/>
        </a:defPPr>
      </a:lstStyle>
    </a:txDef>
  </a:objectDefaults>
  <a:extraClrSchemeLst/>
  <a:extLst>
    <a:ext uri="{05A4C25C-085E-4340-85A3-A5531E510DB2}">
      <thm15:themeFamily xmlns:thm15="http://schemas.microsoft.com/office/thememl/2012/main" name="Presentation1" id="{278ED972-521D-B148-B4F9-2DA4B63C9386}" vid="{86C83830-0834-C645-A6A7-D9062E6D23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53C3C5ACA03742A224FDE5367DBFB6" ma:contentTypeVersion="6" ma:contentTypeDescription="Create a new document." ma:contentTypeScope="" ma:versionID="9f4415eeec8784330eef5b3d16642779">
  <xsd:schema xmlns:xsd="http://www.w3.org/2001/XMLSchema" xmlns:xs="http://www.w3.org/2001/XMLSchema" xmlns:p="http://schemas.microsoft.com/office/2006/metadata/properties" xmlns:ns2="b3fae276-d34a-4cce-94de-3564b42e252d" xmlns:ns3="abe18e48-76e9-44a0-9594-9f61b769aa06" targetNamespace="http://schemas.microsoft.com/office/2006/metadata/properties" ma:root="true" ma:fieldsID="a3a7e58acdc69a464be1d27aff18a673" ns2:_="" ns3:_="">
    <xsd:import namespace="b3fae276-d34a-4cce-94de-3564b42e252d"/>
    <xsd:import namespace="abe18e48-76e9-44a0-9594-9f61b769aa0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fae276-d34a-4cce-94de-3564b42e25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be18e48-76e9-44a0-9594-9f61b769aa0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abe18e48-76e9-44a0-9594-9f61b769aa06">
      <UserInfo>
        <DisplayName/>
        <AccountId xsi:nil="true"/>
        <AccountType/>
      </UserInfo>
    </SharedWithUsers>
    <MediaLengthInSeconds xmlns="b3fae276-d34a-4cce-94de-3564b42e252d" xsi:nil="true"/>
  </documentManagement>
</p:properties>
</file>

<file path=customXml/itemProps1.xml><?xml version="1.0" encoding="utf-8"?>
<ds:datastoreItem xmlns:ds="http://schemas.openxmlformats.org/officeDocument/2006/customXml" ds:itemID="{B4F66C47-818F-4659-BF25-268621BA58BA}"/>
</file>

<file path=customXml/itemProps2.xml><?xml version="1.0" encoding="utf-8"?>
<ds:datastoreItem xmlns:ds="http://schemas.openxmlformats.org/officeDocument/2006/customXml" ds:itemID="{F21249C1-8248-4516-A521-349D9702099A}"/>
</file>

<file path=customXml/itemProps3.xml><?xml version="1.0" encoding="utf-8"?>
<ds:datastoreItem xmlns:ds="http://schemas.openxmlformats.org/officeDocument/2006/customXml" ds:itemID="{C60A871A-DA95-4F53-99B5-E513FE3048AB}"/>
</file>

<file path=docProps/app.xml><?xml version="1.0" encoding="utf-8"?>
<Properties xmlns="http://schemas.openxmlformats.org/officeDocument/2006/extended-properties" xmlns:vt="http://schemas.openxmlformats.org/officeDocument/2006/docPropsVTypes">
  <Template/>
  <TotalTime>9668</TotalTime>
  <Words>8338</Words>
  <Application>Microsoft Office PowerPoint</Application>
  <PresentationFormat>Custom</PresentationFormat>
  <Paragraphs>827</Paragraphs>
  <Slides>27</Slides>
  <Notes>24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27</vt:i4>
      </vt:variant>
    </vt:vector>
  </HeadingPairs>
  <TitlesOfParts>
    <vt:vector size="39" baseType="lpstr">
      <vt:lpstr>Arial</vt:lpstr>
      <vt:lpstr>Arial Black</vt:lpstr>
      <vt:lpstr>Calibri</vt:lpstr>
      <vt:lpstr>FSAlbert</vt:lpstr>
      <vt:lpstr>Knowledge Bold</vt:lpstr>
      <vt:lpstr>Knowledge Light</vt:lpstr>
      <vt:lpstr>Knowledge2017</vt:lpstr>
      <vt:lpstr>Knowledge2017 Medium</vt:lpstr>
      <vt:lpstr>Lucida Grande</vt:lpstr>
      <vt:lpstr>System Font Regular</vt:lpstr>
      <vt:lpstr>Times</vt:lpstr>
      <vt:lpstr>TR_2020</vt:lpstr>
      <vt:lpstr>Thomson Reuters HighQ  </vt:lpstr>
      <vt:lpstr>Today’s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HighQ for Team Collaboration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option 2 with horizontal picture</dc:title>
  <dc:creator>Bauch, Tony</dc:creator>
  <cp:lastModifiedBy>Christina Black</cp:lastModifiedBy>
  <cp:revision>144</cp:revision>
  <dcterms:created xsi:type="dcterms:W3CDTF">2020-12-18T15:21:54Z</dcterms:created>
  <dcterms:modified xsi:type="dcterms:W3CDTF">2021-11-19T17:20:18Z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0x010100A653C3C5ACA03742A224FDE5367DBFB6</vt:lpwstr>
  </property>
  <property fmtid="{D5CDD505-2E9C-101B-9397-08002B2CF9AE}" pid="3" name="Order">
    <vt:lpwstr>542500.000000000</vt:lpwstr>
  </property>
  <property fmtid="{D5CDD505-2E9C-101B-9397-08002B2CF9AE}" pid="4" name="xd_Signature">
    <vt:lpwstr/>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